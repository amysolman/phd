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A07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352"/>
    <p:restoredTop sz="94625"/>
  </p:normalViewPr>
  <p:slideViewPr>
    <p:cSldViewPr snapToGrid="0" snapToObjects="1">
      <p:cViewPr>
        <p:scale>
          <a:sx n="110" d="100"/>
          <a:sy n="110" d="100"/>
        </p:scale>
        <p:origin x="1104" y="3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0CB0AE-FC86-E046-BD3E-7F914F3F36B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9D0681D-1ADA-6C40-A4B3-CAF5D36302A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42CA82-7EFB-7145-B778-03B0099581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86F7AB-8ACF-DC4A-BA30-08186D5383B9}" type="datetimeFigureOut">
              <a:rPr lang="en-US" smtClean="0"/>
              <a:t>1/27/21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6B7ED8-33B3-7F46-921B-4083C3E472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C9F1B2-ADDF-DE40-B704-D66F69E469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1E6C9-7F3D-754F-8F7E-A463D00C4F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73753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7A76E3-F11C-D044-87A8-6902521B1D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FC4583-059B-5949-8DD3-89E11A9AE4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F2AFCC-B092-024F-ABE4-03C3025570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86F7AB-8ACF-DC4A-BA30-08186D5383B9}" type="datetimeFigureOut">
              <a:rPr lang="en-US" smtClean="0"/>
              <a:t>1/27/21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9AAC32-BEA1-CE4D-8B0B-D598BC701B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B3CF6F-E11A-A048-918B-7AF320D7CD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1E6C9-7F3D-754F-8F7E-A463D00C4F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53721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58D10F-753C-BC46-A6A1-4CCDC37DCD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26154F-BDEE-9545-99DD-6BCCCC3EF13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58FC4B-7AAF-EE49-83B2-71D40035EC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86F7AB-8ACF-DC4A-BA30-08186D5383B9}" type="datetimeFigureOut">
              <a:rPr lang="en-US" smtClean="0"/>
              <a:t>1/27/21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6393D6-FA75-C940-B881-2A9F5DDB64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3A4D9-88D6-2644-9EED-B67F12A7A7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1E6C9-7F3D-754F-8F7E-A463D00C4F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97542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121AD9-A45F-2F4D-A8E9-8F40EC5371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E86E58-16D9-D144-AD33-109EB900DDB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476FB06-14F3-2F40-A003-5CEE66EE1EF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52781FA-9ED4-C441-8574-9DCF354913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86F7AB-8ACF-DC4A-BA30-08186D5383B9}" type="datetimeFigureOut">
              <a:rPr lang="en-US" smtClean="0"/>
              <a:t>1/27/21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C0D7532-E7E2-3F4E-A026-9C2565AF4B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95EE7AE-E01E-884D-AD5A-483170DC17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1E6C9-7F3D-754F-8F7E-A463D00C4F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20036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9E4A4D-6C36-D64B-AA82-B4DD291862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796ACF7-0719-804B-B82D-8EEE17FE5D7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B21D6CF-C8A7-8D4B-8E94-F0B45A818DE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C810C0D-CA1B-7549-9D16-402DAC993F4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EBA7EB4-BEF0-2946-A34E-67563028B0C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A0C7936-6DC4-3F46-BA7C-961B9EE5EE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86F7AB-8ACF-DC4A-BA30-08186D5383B9}" type="datetimeFigureOut">
              <a:rPr lang="en-US" smtClean="0"/>
              <a:t>1/27/21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A4E23A9-48C6-B74F-9B85-528054E87F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FF3B628-77D6-5642-8112-AEF721ED96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1E6C9-7F3D-754F-8F7E-A463D00C4F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60007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B86B97-D850-AF48-87D3-F1CD417E1B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F4580B0-8A32-DC44-AE4F-4984E38AD0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86F7AB-8ACF-DC4A-BA30-08186D5383B9}" type="datetimeFigureOut">
              <a:rPr lang="en-US" smtClean="0"/>
              <a:t>1/27/21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642E230-FAB8-464C-AA66-2633D4A5C8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7C547FA-1E8C-DD4F-85DB-B3E0537FC0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1E6C9-7F3D-754F-8F7E-A463D00C4F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46528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EFACBDB-EC5E-F44E-B84D-5FEEAD5209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86F7AB-8ACF-DC4A-BA30-08186D5383B9}" type="datetimeFigureOut">
              <a:rPr lang="en-US" smtClean="0"/>
              <a:t>1/27/21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C4848A6-6642-0D41-94DE-F30746CE54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6E92271-C4CA-1145-AB85-1E94DF2DFF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1E6C9-7F3D-754F-8F7E-A463D00C4F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26460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ACBE1A-B936-FB47-921B-B79E83FE96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EF42B5-C0E4-174A-9964-EE8C6801A9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001A476-5CCE-CE41-8F11-BFDA47FE29C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5018859-21BF-8E42-BCF5-8456C3CDF7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86F7AB-8ACF-DC4A-BA30-08186D5383B9}" type="datetimeFigureOut">
              <a:rPr lang="en-US" smtClean="0"/>
              <a:t>1/27/21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5ACE6BB-89EA-BF4B-B42A-07B1DEA04F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0446FED-2CA8-664E-BC3F-3E63543D6C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1E6C9-7F3D-754F-8F7E-A463D00C4F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2267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F92F7C-9E2F-1143-8ED6-30C752B245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7156082-6ABE-8148-841E-A85BDB0A52C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227082E-07C9-5F44-9975-10D1FE40F80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A5E2055-AA50-E34E-B66C-7EDCFF19C4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86F7AB-8ACF-DC4A-BA30-08186D5383B9}" type="datetimeFigureOut">
              <a:rPr lang="en-US" smtClean="0"/>
              <a:t>1/27/21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E939B7E-43ED-1449-BEF7-DEF38E4B57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A68DB8B-38FA-A84A-B9E6-ED2700FFAF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1E6C9-7F3D-754F-8F7E-A463D00C4F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91158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922069-D4F1-F144-A47C-7A8552182B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1ACC50D-4256-B348-AB13-C9380726BC8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AD276C-1FD9-D242-AE6E-A4CA5C9AFF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86F7AB-8ACF-DC4A-BA30-08186D5383B9}" type="datetimeFigureOut">
              <a:rPr lang="en-US" smtClean="0"/>
              <a:t>1/27/21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67A318-7973-914E-B08F-44236855C0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8DFE0A-A942-DC48-9B2F-6E3CCA0B37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1E6C9-7F3D-754F-8F7E-A463D00C4F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87567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7A46CDD-F836-234D-ACAE-61ABC178C9D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09F69FC-9124-2D4F-A52C-DB6209E2D37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3F45236-BE01-DC45-97AE-726C108F12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86F7AB-8ACF-DC4A-BA30-08186D5383B9}" type="datetimeFigureOut">
              <a:rPr lang="en-US" smtClean="0"/>
              <a:t>1/27/21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EBF267-81AC-5642-A3AE-45BE3BBF30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E838F5-3A99-1A40-A77E-A5FE9DDB8B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1E6C9-7F3D-754F-8F7E-A463D00C4F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9673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C57C070-EB85-804E-8FA1-FFEFBE711B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8EBF558-6BBC-7D49-891B-62BC680C58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C2D3BF-D61F-1D43-97D5-8A8F2305380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886F7AB-8ACF-DC4A-BA30-08186D5383B9}" type="datetimeFigureOut">
              <a:rPr lang="en-US" smtClean="0"/>
              <a:t>1/27/21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EAE0DE-AB6D-5A42-BDA0-164F334A108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C904A1-B62A-F049-ACE2-8E156A5F424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D51E6C9-7F3D-754F-8F7E-A463D00C4F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29573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7157D5-F863-0248-B07E-C3C66BFDB72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BA75B02-2DBF-B043-9767-18B3540174C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57034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7B118072-E0C3-F540-8D32-F092A0FB9061}"/>
              </a:ext>
            </a:extLst>
          </p:cNvPr>
          <p:cNvSpPr/>
          <p:nvPr/>
        </p:nvSpPr>
        <p:spPr>
          <a:xfrm>
            <a:off x="1909917" y="5109186"/>
            <a:ext cx="2159306" cy="157541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Cyanobacteria algae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D309FCC1-74DE-2C46-8110-E13FD6E02E0C}"/>
              </a:ext>
            </a:extLst>
          </p:cNvPr>
          <p:cNvSpPr/>
          <p:nvPr/>
        </p:nvSpPr>
        <p:spPr>
          <a:xfrm>
            <a:off x="7064540" y="5109186"/>
            <a:ext cx="2159306" cy="157541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Heterotrophic bacteria, fungi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A3436362-DB97-7549-A62B-BCD2502F1AFE}"/>
              </a:ext>
            </a:extLst>
          </p:cNvPr>
          <p:cNvSpPr/>
          <p:nvPr/>
        </p:nvSpPr>
        <p:spPr>
          <a:xfrm>
            <a:off x="4526423" y="1467124"/>
            <a:ext cx="2159306" cy="157541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Tardigrades rotifers ciliates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ECA97C33-6AC0-F749-9F19-8EE264396022}"/>
              </a:ext>
            </a:extLst>
          </p:cNvPr>
          <p:cNvCxnSpPr>
            <a:cxnSpLocks/>
          </p:cNvCxnSpPr>
          <p:nvPr/>
        </p:nvCxnSpPr>
        <p:spPr>
          <a:xfrm>
            <a:off x="4112595" y="6040571"/>
            <a:ext cx="584147" cy="0"/>
          </a:xfrm>
          <a:prstGeom prst="straightConnector1">
            <a:avLst/>
          </a:prstGeom>
          <a:ln w="57150">
            <a:solidFill>
              <a:srgbClr val="92D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E6645005-37FB-3A47-89DF-73F4CB99BD61}"/>
              </a:ext>
            </a:extLst>
          </p:cNvPr>
          <p:cNvCxnSpPr>
            <a:cxnSpLocks/>
          </p:cNvCxnSpPr>
          <p:nvPr/>
        </p:nvCxnSpPr>
        <p:spPr>
          <a:xfrm flipV="1">
            <a:off x="3204610" y="3042536"/>
            <a:ext cx="1590172" cy="1947725"/>
          </a:xfrm>
          <a:prstGeom prst="straightConnector1">
            <a:avLst/>
          </a:prstGeom>
          <a:ln w="57150">
            <a:solidFill>
              <a:srgbClr val="92D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F3EE13B4-6BE2-974C-85E5-C26597F83802}"/>
              </a:ext>
            </a:extLst>
          </p:cNvPr>
          <p:cNvCxnSpPr>
            <a:cxnSpLocks/>
          </p:cNvCxnSpPr>
          <p:nvPr/>
        </p:nvCxnSpPr>
        <p:spPr>
          <a:xfrm flipV="1">
            <a:off x="3999696" y="4780435"/>
            <a:ext cx="883966" cy="743792"/>
          </a:xfrm>
          <a:prstGeom prst="straightConnector1">
            <a:avLst/>
          </a:prstGeom>
          <a:ln w="57150">
            <a:solidFill>
              <a:srgbClr val="92D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6715E77B-1EE1-6049-A9DE-0A5324AB75D6}"/>
              </a:ext>
            </a:extLst>
          </p:cNvPr>
          <p:cNvCxnSpPr>
            <a:cxnSpLocks/>
          </p:cNvCxnSpPr>
          <p:nvPr/>
        </p:nvCxnSpPr>
        <p:spPr>
          <a:xfrm flipH="1" flipV="1">
            <a:off x="6384954" y="3042536"/>
            <a:ext cx="1410090" cy="1883459"/>
          </a:xfrm>
          <a:prstGeom prst="straightConnector1">
            <a:avLst/>
          </a:prstGeom>
          <a:ln w="57150">
            <a:solidFill>
              <a:srgbClr val="92D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Oval 17">
            <a:extLst>
              <a:ext uri="{FF2B5EF4-FFF2-40B4-BE49-F238E27FC236}">
                <a16:creationId xmlns:a16="http://schemas.microsoft.com/office/drawing/2014/main" id="{39277D71-ADBA-474B-8D15-C1DFF40EF0D9}"/>
              </a:ext>
            </a:extLst>
          </p:cNvPr>
          <p:cNvSpPr/>
          <p:nvPr/>
        </p:nvSpPr>
        <p:spPr>
          <a:xfrm>
            <a:off x="4784927" y="3812048"/>
            <a:ext cx="1544198" cy="112663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Dissolved organic carbon</a:t>
            </a:r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16BE1110-2BBD-F640-8D08-A0F083B3576D}"/>
              </a:ext>
            </a:extLst>
          </p:cNvPr>
          <p:cNvCxnSpPr>
            <a:cxnSpLocks/>
          </p:cNvCxnSpPr>
          <p:nvPr/>
        </p:nvCxnSpPr>
        <p:spPr>
          <a:xfrm flipH="1">
            <a:off x="5566881" y="3187755"/>
            <a:ext cx="1" cy="538120"/>
          </a:xfrm>
          <a:prstGeom prst="straightConnector1">
            <a:avLst/>
          </a:prstGeom>
          <a:ln w="57150">
            <a:solidFill>
              <a:srgbClr val="92D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E2897272-C8E5-684E-9B79-CBC38627CD0C}"/>
              </a:ext>
            </a:extLst>
          </p:cNvPr>
          <p:cNvCxnSpPr>
            <a:cxnSpLocks/>
          </p:cNvCxnSpPr>
          <p:nvPr/>
        </p:nvCxnSpPr>
        <p:spPr>
          <a:xfrm flipH="1" flipV="1">
            <a:off x="6292476" y="4695238"/>
            <a:ext cx="944097" cy="621467"/>
          </a:xfrm>
          <a:prstGeom prst="straightConnector1">
            <a:avLst/>
          </a:prstGeom>
          <a:ln w="57150">
            <a:solidFill>
              <a:srgbClr val="92D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Oval 40">
            <a:extLst>
              <a:ext uri="{FF2B5EF4-FFF2-40B4-BE49-F238E27FC236}">
                <a16:creationId xmlns:a16="http://schemas.microsoft.com/office/drawing/2014/main" id="{BB9FA925-8471-2744-8D09-C42EF4DCAC6E}"/>
              </a:ext>
            </a:extLst>
          </p:cNvPr>
          <p:cNvSpPr/>
          <p:nvPr/>
        </p:nvSpPr>
        <p:spPr>
          <a:xfrm>
            <a:off x="4794782" y="5570734"/>
            <a:ext cx="1544198" cy="112663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Viruses</a:t>
            </a:r>
          </a:p>
        </p:txBody>
      </p: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64D33BB4-4EFD-6544-83FF-6F35669CF57A}"/>
              </a:ext>
            </a:extLst>
          </p:cNvPr>
          <p:cNvCxnSpPr>
            <a:cxnSpLocks/>
          </p:cNvCxnSpPr>
          <p:nvPr/>
        </p:nvCxnSpPr>
        <p:spPr>
          <a:xfrm>
            <a:off x="6060384" y="4869846"/>
            <a:ext cx="1007056" cy="694853"/>
          </a:xfrm>
          <a:prstGeom prst="straightConnector1">
            <a:avLst/>
          </a:prstGeom>
          <a:ln w="57150">
            <a:solidFill>
              <a:srgbClr val="92D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0DC2ED57-DE24-274D-8CAD-6705881FDCE3}"/>
              </a:ext>
            </a:extLst>
          </p:cNvPr>
          <p:cNvCxnSpPr>
            <a:cxnSpLocks/>
          </p:cNvCxnSpPr>
          <p:nvPr/>
        </p:nvCxnSpPr>
        <p:spPr>
          <a:xfrm flipH="1">
            <a:off x="6418005" y="6040571"/>
            <a:ext cx="580665" cy="0"/>
          </a:xfrm>
          <a:prstGeom prst="straightConnector1">
            <a:avLst/>
          </a:prstGeom>
          <a:ln w="57150">
            <a:solidFill>
              <a:srgbClr val="92D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10FABC84-103F-7640-89FC-D1576AFB27D2}"/>
              </a:ext>
            </a:extLst>
          </p:cNvPr>
          <p:cNvCxnSpPr>
            <a:cxnSpLocks/>
          </p:cNvCxnSpPr>
          <p:nvPr/>
        </p:nvCxnSpPr>
        <p:spPr>
          <a:xfrm>
            <a:off x="2989570" y="3247569"/>
            <a:ext cx="0" cy="1742692"/>
          </a:xfrm>
          <a:prstGeom prst="straightConnector1">
            <a:avLst/>
          </a:prstGeom>
          <a:ln w="5715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5B8251A4-A989-AE48-A491-ED663AE302B2}"/>
              </a:ext>
            </a:extLst>
          </p:cNvPr>
          <p:cNvCxnSpPr>
            <a:cxnSpLocks/>
          </p:cNvCxnSpPr>
          <p:nvPr/>
        </p:nvCxnSpPr>
        <p:spPr>
          <a:xfrm flipV="1">
            <a:off x="8144193" y="3171973"/>
            <a:ext cx="0" cy="1818288"/>
          </a:xfrm>
          <a:prstGeom prst="straightConnector1">
            <a:avLst/>
          </a:prstGeom>
          <a:ln w="5715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0838B1A6-C8F4-6149-89A8-8D602CFCB8D1}"/>
              </a:ext>
            </a:extLst>
          </p:cNvPr>
          <p:cNvCxnSpPr>
            <a:cxnSpLocks/>
          </p:cNvCxnSpPr>
          <p:nvPr/>
        </p:nvCxnSpPr>
        <p:spPr>
          <a:xfrm flipV="1">
            <a:off x="2744092" y="3247569"/>
            <a:ext cx="0" cy="1765149"/>
          </a:xfrm>
          <a:prstGeom prst="straightConnector1">
            <a:avLst/>
          </a:prstGeom>
          <a:ln w="5715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E17646B2-9AE6-064D-9BED-C43C70F32B36}"/>
              </a:ext>
            </a:extLst>
          </p:cNvPr>
          <p:cNvCxnSpPr>
            <a:cxnSpLocks/>
          </p:cNvCxnSpPr>
          <p:nvPr/>
        </p:nvCxnSpPr>
        <p:spPr>
          <a:xfrm flipV="1">
            <a:off x="5630511" y="363255"/>
            <a:ext cx="0" cy="994688"/>
          </a:xfrm>
          <a:prstGeom prst="straightConnector1">
            <a:avLst/>
          </a:prstGeom>
          <a:ln w="5715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Arrow Connector 56">
            <a:extLst>
              <a:ext uri="{FF2B5EF4-FFF2-40B4-BE49-F238E27FC236}">
                <a16:creationId xmlns:a16="http://schemas.microsoft.com/office/drawing/2014/main" id="{B13DB48D-3781-D44D-BCD7-4F15C2B4B674}"/>
              </a:ext>
            </a:extLst>
          </p:cNvPr>
          <p:cNvCxnSpPr>
            <a:cxnSpLocks/>
          </p:cNvCxnSpPr>
          <p:nvPr/>
        </p:nvCxnSpPr>
        <p:spPr>
          <a:xfrm>
            <a:off x="6123275" y="894324"/>
            <a:ext cx="818972" cy="0"/>
          </a:xfrm>
          <a:prstGeom prst="straightConnector1">
            <a:avLst/>
          </a:prstGeom>
          <a:ln w="5715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B9DC977C-DDB0-B54F-A709-A504B90DCCD8}"/>
              </a:ext>
            </a:extLst>
          </p:cNvPr>
          <p:cNvCxnSpPr>
            <a:cxnSpLocks/>
          </p:cNvCxnSpPr>
          <p:nvPr/>
        </p:nvCxnSpPr>
        <p:spPr>
          <a:xfrm>
            <a:off x="6123275" y="1188666"/>
            <a:ext cx="818972" cy="0"/>
          </a:xfrm>
          <a:prstGeom prst="straightConnector1">
            <a:avLst/>
          </a:prstGeom>
          <a:ln w="57150">
            <a:solidFill>
              <a:srgbClr val="92D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TextBox 60">
            <a:extLst>
              <a:ext uri="{FF2B5EF4-FFF2-40B4-BE49-F238E27FC236}">
                <a16:creationId xmlns:a16="http://schemas.microsoft.com/office/drawing/2014/main" id="{ECFD848E-3B14-5B48-9A50-C005CC5D8DF5}"/>
              </a:ext>
            </a:extLst>
          </p:cNvPr>
          <p:cNvSpPr txBox="1"/>
          <p:nvPr/>
        </p:nvSpPr>
        <p:spPr>
          <a:xfrm>
            <a:off x="6942247" y="705134"/>
            <a:ext cx="274941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Flow of inorganic carbon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BE6AC250-92FF-E340-9EAB-B4EC5215840B}"/>
              </a:ext>
            </a:extLst>
          </p:cNvPr>
          <p:cNvSpPr txBox="1"/>
          <p:nvPr/>
        </p:nvSpPr>
        <p:spPr>
          <a:xfrm>
            <a:off x="6942247" y="1019389"/>
            <a:ext cx="274941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Flow of organic carbon</a:t>
            </a:r>
          </a:p>
        </p:txBody>
      </p:sp>
      <p:cxnSp>
        <p:nvCxnSpPr>
          <p:cNvPr id="64" name="Straight Arrow Connector 63">
            <a:extLst>
              <a:ext uri="{FF2B5EF4-FFF2-40B4-BE49-F238E27FC236}">
                <a16:creationId xmlns:a16="http://schemas.microsoft.com/office/drawing/2014/main" id="{BD665FA5-2A21-E943-A635-0E1AA7589E3E}"/>
              </a:ext>
            </a:extLst>
          </p:cNvPr>
          <p:cNvCxnSpPr>
            <a:cxnSpLocks/>
          </p:cNvCxnSpPr>
          <p:nvPr/>
        </p:nvCxnSpPr>
        <p:spPr>
          <a:xfrm flipV="1">
            <a:off x="5557026" y="5012718"/>
            <a:ext cx="0" cy="488099"/>
          </a:xfrm>
          <a:prstGeom prst="straightConnector1">
            <a:avLst/>
          </a:prstGeom>
          <a:ln w="57150">
            <a:solidFill>
              <a:srgbClr val="92D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" name="TextBox 69">
            <a:extLst>
              <a:ext uri="{FF2B5EF4-FFF2-40B4-BE49-F238E27FC236}">
                <a16:creationId xmlns:a16="http://schemas.microsoft.com/office/drawing/2014/main" id="{6DAF9350-A59A-D540-BE6C-685BB199B68D}"/>
              </a:ext>
            </a:extLst>
          </p:cNvPr>
          <p:cNvSpPr txBox="1"/>
          <p:nvPr/>
        </p:nvSpPr>
        <p:spPr>
          <a:xfrm rot="18442880">
            <a:off x="3195465" y="3541208"/>
            <a:ext cx="16084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Grazing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4061C2AF-4028-294C-A020-60F13777FD71}"/>
              </a:ext>
            </a:extLst>
          </p:cNvPr>
          <p:cNvSpPr txBox="1"/>
          <p:nvPr/>
        </p:nvSpPr>
        <p:spPr>
          <a:xfrm rot="3027190">
            <a:off x="6722594" y="4014093"/>
            <a:ext cx="16084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Grazing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3E1AAF02-10DC-B14A-8259-E58DBC50C53E}"/>
              </a:ext>
            </a:extLst>
          </p:cNvPr>
          <p:cNvSpPr txBox="1"/>
          <p:nvPr/>
        </p:nvSpPr>
        <p:spPr>
          <a:xfrm rot="19066120">
            <a:off x="3585215" y="4685537"/>
            <a:ext cx="16084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Death/decay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1FC2DACC-3CD3-4244-83F9-BDADD1BEC445}"/>
              </a:ext>
            </a:extLst>
          </p:cNvPr>
          <p:cNvSpPr txBox="1"/>
          <p:nvPr/>
        </p:nvSpPr>
        <p:spPr>
          <a:xfrm rot="1930483">
            <a:off x="6207829" y="4718977"/>
            <a:ext cx="16084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Death/decay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9AA57BE0-6B78-8A49-89AB-DD8620059B4A}"/>
              </a:ext>
            </a:extLst>
          </p:cNvPr>
          <p:cNvSpPr txBox="1"/>
          <p:nvPr/>
        </p:nvSpPr>
        <p:spPr>
          <a:xfrm rot="5400000">
            <a:off x="5045902" y="3706341"/>
            <a:ext cx="16084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Death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810D08B2-8755-A144-AF98-FE3E8E19104F}"/>
              </a:ext>
            </a:extLst>
          </p:cNvPr>
          <p:cNvSpPr txBox="1"/>
          <p:nvPr/>
        </p:nvSpPr>
        <p:spPr>
          <a:xfrm rot="16200000">
            <a:off x="4511081" y="2850608"/>
            <a:ext cx="16084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Decay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669CD245-4483-B346-8B9A-53BF374AE81C}"/>
              </a:ext>
            </a:extLst>
          </p:cNvPr>
          <p:cNvSpPr txBox="1"/>
          <p:nvPr/>
        </p:nvSpPr>
        <p:spPr>
          <a:xfrm rot="16200000">
            <a:off x="1689390" y="3791538"/>
            <a:ext cx="16084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Respiration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9F54B9F3-EDFA-A74B-BDC7-1BAAF0EB775D}"/>
              </a:ext>
            </a:extLst>
          </p:cNvPr>
          <p:cNvSpPr txBox="1"/>
          <p:nvPr/>
        </p:nvSpPr>
        <p:spPr>
          <a:xfrm rot="5400000">
            <a:off x="7604018" y="4120289"/>
            <a:ext cx="16084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Respiration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D8E926BB-17C6-0749-BBD9-7778337E541B}"/>
              </a:ext>
            </a:extLst>
          </p:cNvPr>
          <p:cNvSpPr txBox="1"/>
          <p:nvPr/>
        </p:nvSpPr>
        <p:spPr>
          <a:xfrm rot="16200000">
            <a:off x="4577984" y="512946"/>
            <a:ext cx="16084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Respiration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65EB73A5-85C5-4E4A-9151-3B0A45F5F9F9}"/>
              </a:ext>
            </a:extLst>
          </p:cNvPr>
          <p:cNvSpPr txBox="1"/>
          <p:nvPr/>
        </p:nvSpPr>
        <p:spPr>
          <a:xfrm rot="5400000">
            <a:off x="2433518" y="3867134"/>
            <a:ext cx="16084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Photosynthesis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A80320A6-9035-F447-BEE2-037D21C08967}"/>
              </a:ext>
            </a:extLst>
          </p:cNvPr>
          <p:cNvSpPr txBox="1"/>
          <p:nvPr/>
        </p:nvSpPr>
        <p:spPr>
          <a:xfrm>
            <a:off x="4096531" y="5627429"/>
            <a:ext cx="6192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Lysis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B208EF08-2339-294E-B8D2-F0DACF22F36A}"/>
              </a:ext>
            </a:extLst>
          </p:cNvPr>
          <p:cNvSpPr txBox="1"/>
          <p:nvPr/>
        </p:nvSpPr>
        <p:spPr>
          <a:xfrm>
            <a:off x="6390925" y="5607911"/>
            <a:ext cx="6192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Lysis</a:t>
            </a:r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36ECEA0E-C803-424F-9CD8-8F802F762445}"/>
              </a:ext>
            </a:extLst>
          </p:cNvPr>
          <p:cNvSpPr/>
          <p:nvPr/>
        </p:nvSpPr>
        <p:spPr>
          <a:xfrm>
            <a:off x="6034799" y="705134"/>
            <a:ext cx="3115500" cy="65280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01610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32F23838-B042-0F42-BE53-258A56F5E957}"/>
              </a:ext>
            </a:extLst>
          </p:cNvPr>
          <p:cNvCxnSpPr>
            <a:cxnSpLocks/>
          </p:cNvCxnSpPr>
          <p:nvPr/>
        </p:nvCxnSpPr>
        <p:spPr>
          <a:xfrm flipH="1">
            <a:off x="1464160" y="887996"/>
            <a:ext cx="31712" cy="686431"/>
          </a:xfrm>
          <a:prstGeom prst="straightConnector1">
            <a:avLst/>
          </a:prstGeom>
          <a:ln w="5715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1DF6A418-9E97-4244-9E39-D46E12D8AEBB}"/>
              </a:ext>
            </a:extLst>
          </p:cNvPr>
          <p:cNvCxnSpPr>
            <a:cxnSpLocks/>
          </p:cNvCxnSpPr>
          <p:nvPr/>
        </p:nvCxnSpPr>
        <p:spPr>
          <a:xfrm>
            <a:off x="1499634" y="3974225"/>
            <a:ext cx="0" cy="506818"/>
          </a:xfrm>
          <a:prstGeom prst="straightConnector1">
            <a:avLst/>
          </a:prstGeom>
          <a:ln w="5715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Rectangle 10">
            <a:extLst>
              <a:ext uri="{FF2B5EF4-FFF2-40B4-BE49-F238E27FC236}">
                <a16:creationId xmlns:a16="http://schemas.microsoft.com/office/drawing/2014/main" id="{E81D76DD-697E-194F-921D-90AB7E4F4C92}"/>
              </a:ext>
            </a:extLst>
          </p:cNvPr>
          <p:cNvSpPr/>
          <p:nvPr/>
        </p:nvSpPr>
        <p:spPr>
          <a:xfrm>
            <a:off x="724848" y="4497836"/>
            <a:ext cx="1455025" cy="48841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Ammonium (NH</a:t>
            </a:r>
            <a:r>
              <a:rPr lang="en-US" sz="1100" baseline="-25000" dirty="0"/>
              <a:t>4</a:t>
            </a:r>
            <a:r>
              <a:rPr lang="en-US" sz="1100" baseline="30000" dirty="0"/>
              <a:t>+</a:t>
            </a:r>
            <a:r>
              <a:rPr lang="en-US" sz="1100" dirty="0"/>
              <a:t>)</a:t>
            </a: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0E281171-0296-1544-B4F0-DF7DD4D65CD2}"/>
              </a:ext>
            </a:extLst>
          </p:cNvPr>
          <p:cNvSpPr/>
          <p:nvPr/>
        </p:nvSpPr>
        <p:spPr>
          <a:xfrm>
            <a:off x="4625660" y="4227634"/>
            <a:ext cx="1313751" cy="97683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Nitrifying bacteria</a:t>
            </a: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C17E2F92-E666-5843-B3B8-82732F7C3089}"/>
              </a:ext>
            </a:extLst>
          </p:cNvPr>
          <p:cNvCxnSpPr>
            <a:cxnSpLocks/>
          </p:cNvCxnSpPr>
          <p:nvPr/>
        </p:nvCxnSpPr>
        <p:spPr>
          <a:xfrm>
            <a:off x="2307819" y="4742043"/>
            <a:ext cx="2166529" cy="24296"/>
          </a:xfrm>
          <a:prstGeom prst="straightConnector1">
            <a:avLst/>
          </a:prstGeom>
          <a:ln w="5715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Rectangle 22">
            <a:extLst>
              <a:ext uri="{FF2B5EF4-FFF2-40B4-BE49-F238E27FC236}">
                <a16:creationId xmlns:a16="http://schemas.microsoft.com/office/drawing/2014/main" id="{C430A677-3395-254C-A241-CAD0FC98415A}"/>
              </a:ext>
            </a:extLst>
          </p:cNvPr>
          <p:cNvSpPr/>
          <p:nvPr/>
        </p:nvSpPr>
        <p:spPr>
          <a:xfrm>
            <a:off x="8124264" y="4522132"/>
            <a:ext cx="1455025" cy="48841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Nitrite (NO</a:t>
            </a:r>
            <a:r>
              <a:rPr lang="en-US" sz="1100" baseline="-25000" dirty="0"/>
              <a:t>2</a:t>
            </a:r>
            <a:r>
              <a:rPr lang="en-US" sz="1100" dirty="0"/>
              <a:t>-)</a:t>
            </a:r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3A5C10C6-924E-B446-9173-F392295E03FB}"/>
              </a:ext>
            </a:extLst>
          </p:cNvPr>
          <p:cNvCxnSpPr>
            <a:cxnSpLocks/>
          </p:cNvCxnSpPr>
          <p:nvPr/>
        </p:nvCxnSpPr>
        <p:spPr>
          <a:xfrm>
            <a:off x="6090723" y="4729812"/>
            <a:ext cx="1880970" cy="24379"/>
          </a:xfrm>
          <a:prstGeom prst="straightConnector1">
            <a:avLst/>
          </a:prstGeom>
          <a:ln w="5715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6354B9C9-9AF5-DD47-B7F8-757F8C1A4801}"/>
              </a:ext>
            </a:extLst>
          </p:cNvPr>
          <p:cNvSpPr txBox="1"/>
          <p:nvPr/>
        </p:nvSpPr>
        <p:spPr>
          <a:xfrm>
            <a:off x="6814600" y="4228604"/>
            <a:ext cx="149370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dirty="0"/>
              <a:t>Nitrification</a:t>
            </a:r>
            <a:endParaRPr lang="en-US" sz="1100" baseline="-25000" dirty="0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53AF86AF-2312-6645-9159-7DA7CB2D49EA}"/>
              </a:ext>
            </a:extLst>
          </p:cNvPr>
          <p:cNvSpPr/>
          <p:nvPr/>
        </p:nvSpPr>
        <p:spPr>
          <a:xfrm>
            <a:off x="9862710" y="2791716"/>
            <a:ext cx="1313751" cy="97683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Nitrifying bacteria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6276BAD5-A432-9446-9CF0-59FAC2B12AD5}"/>
              </a:ext>
            </a:extLst>
          </p:cNvPr>
          <p:cNvSpPr/>
          <p:nvPr/>
        </p:nvSpPr>
        <p:spPr>
          <a:xfrm>
            <a:off x="9721436" y="399581"/>
            <a:ext cx="1455025" cy="48841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Nitrate (NO</a:t>
            </a:r>
            <a:r>
              <a:rPr lang="en-US" sz="1100" baseline="-25000" dirty="0"/>
              <a:t>3</a:t>
            </a:r>
            <a:r>
              <a:rPr lang="en-US" sz="1100" dirty="0"/>
              <a:t>-)</a:t>
            </a:r>
          </a:p>
        </p:txBody>
      </p: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47B4B9F3-1EF2-B446-9878-650E17BF92A5}"/>
              </a:ext>
            </a:extLst>
          </p:cNvPr>
          <p:cNvCxnSpPr>
            <a:cxnSpLocks/>
          </p:cNvCxnSpPr>
          <p:nvPr/>
        </p:nvCxnSpPr>
        <p:spPr>
          <a:xfrm flipV="1">
            <a:off x="9731860" y="3920672"/>
            <a:ext cx="717088" cy="795377"/>
          </a:xfrm>
          <a:prstGeom prst="straightConnector1">
            <a:avLst/>
          </a:prstGeom>
          <a:ln w="5715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1884488B-059E-9F4A-BF91-046D05E4224A}"/>
              </a:ext>
            </a:extLst>
          </p:cNvPr>
          <p:cNvCxnSpPr>
            <a:cxnSpLocks/>
          </p:cNvCxnSpPr>
          <p:nvPr/>
        </p:nvCxnSpPr>
        <p:spPr>
          <a:xfrm flipV="1">
            <a:off x="10438524" y="1105529"/>
            <a:ext cx="0" cy="1502653"/>
          </a:xfrm>
          <a:prstGeom prst="straightConnector1">
            <a:avLst/>
          </a:prstGeom>
          <a:ln w="5715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342994D0-B547-6F42-8B0F-42308D9FE62F}"/>
              </a:ext>
            </a:extLst>
          </p:cNvPr>
          <p:cNvSpPr txBox="1"/>
          <p:nvPr/>
        </p:nvSpPr>
        <p:spPr>
          <a:xfrm>
            <a:off x="9115856" y="1850696"/>
            <a:ext cx="149370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dirty="0"/>
              <a:t>Nitrification</a:t>
            </a:r>
            <a:endParaRPr lang="en-US" sz="1100" baseline="-25000" dirty="0"/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39B39F10-D0D8-214A-B208-DA26E9B55256}"/>
              </a:ext>
            </a:extLst>
          </p:cNvPr>
          <p:cNvSpPr/>
          <p:nvPr/>
        </p:nvSpPr>
        <p:spPr>
          <a:xfrm>
            <a:off x="7922551" y="298261"/>
            <a:ext cx="1131824" cy="79077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Denitrifying bacteria</a:t>
            </a:r>
          </a:p>
        </p:txBody>
      </p: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0CB1B0AD-CDB0-394F-8A78-393F3C78BCA8}"/>
              </a:ext>
            </a:extLst>
          </p:cNvPr>
          <p:cNvCxnSpPr>
            <a:cxnSpLocks/>
          </p:cNvCxnSpPr>
          <p:nvPr/>
        </p:nvCxnSpPr>
        <p:spPr>
          <a:xfrm flipH="1" flipV="1">
            <a:off x="9115856" y="643788"/>
            <a:ext cx="463434" cy="1"/>
          </a:xfrm>
          <a:prstGeom prst="straightConnector1">
            <a:avLst/>
          </a:prstGeom>
          <a:ln w="5715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Rectangle 38">
            <a:extLst>
              <a:ext uri="{FF2B5EF4-FFF2-40B4-BE49-F238E27FC236}">
                <a16:creationId xmlns:a16="http://schemas.microsoft.com/office/drawing/2014/main" id="{47B123FA-F07F-E44D-8376-D3BEE60012F7}"/>
              </a:ext>
            </a:extLst>
          </p:cNvPr>
          <p:cNvSpPr/>
          <p:nvPr/>
        </p:nvSpPr>
        <p:spPr>
          <a:xfrm>
            <a:off x="862805" y="395037"/>
            <a:ext cx="1242082" cy="39102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Atmospheric nitrogen (N</a:t>
            </a:r>
            <a:r>
              <a:rPr lang="en-US" sz="1100" baseline="-25000" dirty="0"/>
              <a:t>2</a:t>
            </a:r>
            <a:r>
              <a:rPr lang="en-US" sz="1100" dirty="0"/>
              <a:t>)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636F3A5C-8C23-5641-8002-7FCCE0496B2E}"/>
              </a:ext>
            </a:extLst>
          </p:cNvPr>
          <p:cNvSpPr txBox="1"/>
          <p:nvPr/>
        </p:nvSpPr>
        <p:spPr>
          <a:xfrm>
            <a:off x="6914937" y="152635"/>
            <a:ext cx="149370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dirty="0"/>
              <a:t>Denitrification</a:t>
            </a:r>
            <a:endParaRPr lang="en-US" sz="1100" baseline="-25000" dirty="0"/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878C7DD1-2441-2B42-B192-E82CB2B90EFC}"/>
              </a:ext>
            </a:extLst>
          </p:cNvPr>
          <p:cNvSpPr/>
          <p:nvPr/>
        </p:nvSpPr>
        <p:spPr>
          <a:xfrm>
            <a:off x="724848" y="3368819"/>
            <a:ext cx="1455025" cy="48841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Ammonia (NH</a:t>
            </a:r>
            <a:r>
              <a:rPr lang="en-US" sz="1100" baseline="-25000" dirty="0"/>
              <a:t>3</a:t>
            </a:r>
            <a:r>
              <a:rPr lang="en-US" sz="1100" baseline="30000" dirty="0"/>
              <a:t>+</a:t>
            </a:r>
            <a:r>
              <a:rPr lang="en-US" sz="1100" dirty="0"/>
              <a:t>)</a:t>
            </a:r>
          </a:p>
        </p:txBody>
      </p:sp>
      <p:cxnSp>
        <p:nvCxnSpPr>
          <p:cNvPr id="57" name="Straight Arrow Connector 56">
            <a:extLst>
              <a:ext uri="{FF2B5EF4-FFF2-40B4-BE49-F238E27FC236}">
                <a16:creationId xmlns:a16="http://schemas.microsoft.com/office/drawing/2014/main" id="{D170872A-9134-7240-980C-5B636A186469}"/>
              </a:ext>
            </a:extLst>
          </p:cNvPr>
          <p:cNvCxnSpPr>
            <a:cxnSpLocks/>
          </p:cNvCxnSpPr>
          <p:nvPr/>
        </p:nvCxnSpPr>
        <p:spPr>
          <a:xfrm>
            <a:off x="1464160" y="2637957"/>
            <a:ext cx="0" cy="677453"/>
          </a:xfrm>
          <a:prstGeom prst="straightConnector1">
            <a:avLst/>
          </a:prstGeom>
          <a:ln w="5715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TextBox 59">
            <a:extLst>
              <a:ext uri="{FF2B5EF4-FFF2-40B4-BE49-F238E27FC236}">
                <a16:creationId xmlns:a16="http://schemas.microsoft.com/office/drawing/2014/main" id="{3A853FA7-2A47-FF4C-B0FD-66E4CB4CF0E2}"/>
              </a:ext>
            </a:extLst>
          </p:cNvPr>
          <p:cNvSpPr txBox="1"/>
          <p:nvPr/>
        </p:nvSpPr>
        <p:spPr>
          <a:xfrm>
            <a:off x="27219" y="2751345"/>
            <a:ext cx="152783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Nitrogen fixation</a:t>
            </a:r>
            <a:endParaRPr lang="en-US" sz="1400" baseline="-25000" dirty="0"/>
          </a:p>
        </p:txBody>
      </p:sp>
      <p:sp>
        <p:nvSpPr>
          <p:cNvPr id="65" name="Oval 64">
            <a:extLst>
              <a:ext uri="{FF2B5EF4-FFF2-40B4-BE49-F238E27FC236}">
                <a16:creationId xmlns:a16="http://schemas.microsoft.com/office/drawing/2014/main" id="{B10C2625-376D-D64B-96B9-682FB0FBDED6}"/>
              </a:ext>
            </a:extLst>
          </p:cNvPr>
          <p:cNvSpPr/>
          <p:nvPr/>
        </p:nvSpPr>
        <p:spPr>
          <a:xfrm>
            <a:off x="7244026" y="1583529"/>
            <a:ext cx="1024101" cy="75307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Nitrate reducing bacteria</a:t>
            </a:r>
          </a:p>
        </p:txBody>
      </p:sp>
      <p:cxnSp>
        <p:nvCxnSpPr>
          <p:cNvPr id="66" name="Straight Arrow Connector 65">
            <a:extLst>
              <a:ext uri="{FF2B5EF4-FFF2-40B4-BE49-F238E27FC236}">
                <a16:creationId xmlns:a16="http://schemas.microsoft.com/office/drawing/2014/main" id="{8C876FA9-4780-6141-9B16-A5B8F3FF121D}"/>
              </a:ext>
            </a:extLst>
          </p:cNvPr>
          <p:cNvCxnSpPr>
            <a:cxnSpLocks/>
          </p:cNvCxnSpPr>
          <p:nvPr/>
        </p:nvCxnSpPr>
        <p:spPr>
          <a:xfrm flipH="1">
            <a:off x="8311075" y="1005027"/>
            <a:ext cx="1268214" cy="686929"/>
          </a:xfrm>
          <a:prstGeom prst="straightConnector1">
            <a:avLst/>
          </a:prstGeom>
          <a:ln w="5715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1" name="Rectangle 70">
            <a:extLst>
              <a:ext uri="{FF2B5EF4-FFF2-40B4-BE49-F238E27FC236}">
                <a16:creationId xmlns:a16="http://schemas.microsoft.com/office/drawing/2014/main" id="{898D9623-2FBB-ED44-9F61-6D53D0FC6098}"/>
              </a:ext>
            </a:extLst>
          </p:cNvPr>
          <p:cNvSpPr/>
          <p:nvPr/>
        </p:nvSpPr>
        <p:spPr>
          <a:xfrm>
            <a:off x="4045052" y="1573966"/>
            <a:ext cx="1455025" cy="48841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Nitrite (NO</a:t>
            </a:r>
            <a:r>
              <a:rPr lang="en-US" sz="1100" baseline="-25000" dirty="0"/>
              <a:t>2</a:t>
            </a:r>
            <a:r>
              <a:rPr lang="en-US" sz="1100" dirty="0"/>
              <a:t>-)</a:t>
            </a:r>
          </a:p>
        </p:txBody>
      </p:sp>
      <p:cxnSp>
        <p:nvCxnSpPr>
          <p:cNvPr id="72" name="Straight Arrow Connector 71">
            <a:extLst>
              <a:ext uri="{FF2B5EF4-FFF2-40B4-BE49-F238E27FC236}">
                <a16:creationId xmlns:a16="http://schemas.microsoft.com/office/drawing/2014/main" id="{415F8595-7F5B-4E42-8A46-15DF22D2AC1E}"/>
              </a:ext>
            </a:extLst>
          </p:cNvPr>
          <p:cNvCxnSpPr>
            <a:cxnSpLocks/>
          </p:cNvCxnSpPr>
          <p:nvPr/>
        </p:nvCxnSpPr>
        <p:spPr>
          <a:xfrm flipH="1" flipV="1">
            <a:off x="5618323" y="1889624"/>
            <a:ext cx="1443309" cy="20991"/>
          </a:xfrm>
          <a:prstGeom prst="straightConnector1">
            <a:avLst/>
          </a:prstGeom>
          <a:ln w="5715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Straight Arrow Connector 73">
            <a:extLst>
              <a:ext uri="{FF2B5EF4-FFF2-40B4-BE49-F238E27FC236}">
                <a16:creationId xmlns:a16="http://schemas.microsoft.com/office/drawing/2014/main" id="{484CABC6-B32F-A54B-ACC7-B5E7E1381DDB}"/>
              </a:ext>
            </a:extLst>
          </p:cNvPr>
          <p:cNvCxnSpPr>
            <a:cxnSpLocks/>
          </p:cNvCxnSpPr>
          <p:nvPr/>
        </p:nvCxnSpPr>
        <p:spPr>
          <a:xfrm flipH="1">
            <a:off x="3968632" y="2190043"/>
            <a:ext cx="743735" cy="813594"/>
          </a:xfrm>
          <a:prstGeom prst="straightConnector1">
            <a:avLst/>
          </a:prstGeom>
          <a:ln w="5715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7" name="Oval 76">
            <a:extLst>
              <a:ext uri="{FF2B5EF4-FFF2-40B4-BE49-F238E27FC236}">
                <a16:creationId xmlns:a16="http://schemas.microsoft.com/office/drawing/2014/main" id="{BA8F61BC-C506-D943-95C8-3EA72990DF41}"/>
              </a:ext>
            </a:extLst>
          </p:cNvPr>
          <p:cNvSpPr/>
          <p:nvPr/>
        </p:nvSpPr>
        <p:spPr>
          <a:xfrm>
            <a:off x="3079094" y="2976683"/>
            <a:ext cx="1024101" cy="75307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Nitrate reducing bacteria</a:t>
            </a:r>
          </a:p>
        </p:txBody>
      </p:sp>
      <p:cxnSp>
        <p:nvCxnSpPr>
          <p:cNvPr id="80" name="Straight Arrow Connector 79">
            <a:extLst>
              <a:ext uri="{FF2B5EF4-FFF2-40B4-BE49-F238E27FC236}">
                <a16:creationId xmlns:a16="http://schemas.microsoft.com/office/drawing/2014/main" id="{2E4A9997-32A7-F349-AB2F-EEFC9FEB4431}"/>
              </a:ext>
            </a:extLst>
          </p:cNvPr>
          <p:cNvCxnSpPr>
            <a:cxnSpLocks/>
          </p:cNvCxnSpPr>
          <p:nvPr/>
        </p:nvCxnSpPr>
        <p:spPr>
          <a:xfrm flipH="1">
            <a:off x="2297638" y="3729755"/>
            <a:ext cx="962571" cy="884626"/>
          </a:xfrm>
          <a:prstGeom prst="straightConnector1">
            <a:avLst/>
          </a:prstGeom>
          <a:ln w="5715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2" name="Oval 101">
            <a:extLst>
              <a:ext uri="{FF2B5EF4-FFF2-40B4-BE49-F238E27FC236}">
                <a16:creationId xmlns:a16="http://schemas.microsoft.com/office/drawing/2014/main" id="{D352169D-25FE-9649-B17D-5221F981E333}"/>
              </a:ext>
            </a:extLst>
          </p:cNvPr>
          <p:cNvSpPr/>
          <p:nvPr/>
        </p:nvSpPr>
        <p:spPr>
          <a:xfrm>
            <a:off x="939779" y="1734225"/>
            <a:ext cx="1080474" cy="83072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Nitrogen fixing bacteria</a:t>
            </a:r>
          </a:p>
        </p:txBody>
      </p:sp>
      <p:sp>
        <p:nvSpPr>
          <p:cNvPr id="104" name="Oval 103">
            <a:extLst>
              <a:ext uri="{FF2B5EF4-FFF2-40B4-BE49-F238E27FC236}">
                <a16:creationId xmlns:a16="http://schemas.microsoft.com/office/drawing/2014/main" id="{4F7C200B-D981-C643-A978-4641F770B971}"/>
              </a:ext>
            </a:extLst>
          </p:cNvPr>
          <p:cNvSpPr/>
          <p:nvPr/>
        </p:nvSpPr>
        <p:spPr>
          <a:xfrm>
            <a:off x="773737" y="5641883"/>
            <a:ext cx="1313751" cy="97683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Organic N</a:t>
            </a:r>
          </a:p>
        </p:txBody>
      </p:sp>
      <p:cxnSp>
        <p:nvCxnSpPr>
          <p:cNvPr id="109" name="Straight Arrow Connector 108">
            <a:extLst>
              <a:ext uri="{FF2B5EF4-FFF2-40B4-BE49-F238E27FC236}">
                <a16:creationId xmlns:a16="http://schemas.microsoft.com/office/drawing/2014/main" id="{B5C27E80-3095-D144-8172-0AF1A6D91D1D}"/>
              </a:ext>
            </a:extLst>
          </p:cNvPr>
          <p:cNvCxnSpPr>
            <a:cxnSpLocks/>
          </p:cNvCxnSpPr>
          <p:nvPr/>
        </p:nvCxnSpPr>
        <p:spPr>
          <a:xfrm>
            <a:off x="1430613" y="5075339"/>
            <a:ext cx="0" cy="506818"/>
          </a:xfrm>
          <a:prstGeom prst="straightConnector1">
            <a:avLst/>
          </a:prstGeom>
          <a:ln w="5715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0" name="TextBox 109">
            <a:extLst>
              <a:ext uri="{FF2B5EF4-FFF2-40B4-BE49-F238E27FC236}">
                <a16:creationId xmlns:a16="http://schemas.microsoft.com/office/drawing/2014/main" id="{0AE3F2CC-86AB-D042-B16C-87A2570FFC2A}"/>
              </a:ext>
            </a:extLst>
          </p:cNvPr>
          <p:cNvSpPr txBox="1"/>
          <p:nvPr/>
        </p:nvSpPr>
        <p:spPr>
          <a:xfrm>
            <a:off x="5612458" y="1472615"/>
            <a:ext cx="149370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dirty="0"/>
              <a:t>Nitrate reduction</a:t>
            </a:r>
            <a:endParaRPr lang="en-US" sz="1100" baseline="-25000" dirty="0"/>
          </a:p>
        </p:txBody>
      </p:sp>
      <p:sp>
        <p:nvSpPr>
          <p:cNvPr id="111" name="TextBox 110">
            <a:extLst>
              <a:ext uri="{FF2B5EF4-FFF2-40B4-BE49-F238E27FC236}">
                <a16:creationId xmlns:a16="http://schemas.microsoft.com/office/drawing/2014/main" id="{35E57D68-BA5B-614B-803C-629A0FCC433D}"/>
              </a:ext>
            </a:extLst>
          </p:cNvPr>
          <p:cNvSpPr txBox="1"/>
          <p:nvPr/>
        </p:nvSpPr>
        <p:spPr>
          <a:xfrm>
            <a:off x="2778923" y="3982750"/>
            <a:ext cx="149370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dirty="0"/>
              <a:t>Nitrate reduction</a:t>
            </a:r>
            <a:endParaRPr lang="en-US" sz="1100" baseline="-25000" dirty="0"/>
          </a:p>
        </p:txBody>
      </p:sp>
      <p:sp>
        <p:nvSpPr>
          <p:cNvPr id="112" name="TextBox 111">
            <a:extLst>
              <a:ext uri="{FF2B5EF4-FFF2-40B4-BE49-F238E27FC236}">
                <a16:creationId xmlns:a16="http://schemas.microsoft.com/office/drawing/2014/main" id="{837AB981-EC7C-5840-92E1-CF59EEBBEC4E}"/>
              </a:ext>
            </a:extLst>
          </p:cNvPr>
          <p:cNvSpPr txBox="1"/>
          <p:nvPr/>
        </p:nvSpPr>
        <p:spPr>
          <a:xfrm>
            <a:off x="-223677" y="5174859"/>
            <a:ext cx="171954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Assimilation</a:t>
            </a:r>
            <a:endParaRPr lang="en-US" sz="1400" baseline="-25000" dirty="0"/>
          </a:p>
        </p:txBody>
      </p:sp>
      <p:cxnSp>
        <p:nvCxnSpPr>
          <p:cNvPr id="113" name="Straight Arrow Connector 112">
            <a:extLst>
              <a:ext uri="{FF2B5EF4-FFF2-40B4-BE49-F238E27FC236}">
                <a16:creationId xmlns:a16="http://schemas.microsoft.com/office/drawing/2014/main" id="{339C1738-8A7D-AE4A-A8E0-CBAC5142314C}"/>
              </a:ext>
            </a:extLst>
          </p:cNvPr>
          <p:cNvCxnSpPr>
            <a:cxnSpLocks/>
          </p:cNvCxnSpPr>
          <p:nvPr/>
        </p:nvCxnSpPr>
        <p:spPr>
          <a:xfrm flipV="1">
            <a:off x="1597037" y="5088940"/>
            <a:ext cx="0" cy="552943"/>
          </a:xfrm>
          <a:prstGeom prst="straightConnector1">
            <a:avLst/>
          </a:prstGeom>
          <a:ln w="5715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0" name="TextBox 119">
            <a:extLst>
              <a:ext uri="{FF2B5EF4-FFF2-40B4-BE49-F238E27FC236}">
                <a16:creationId xmlns:a16="http://schemas.microsoft.com/office/drawing/2014/main" id="{37A0C4E9-EFFE-D346-8112-853B6DC45D8D}"/>
              </a:ext>
            </a:extLst>
          </p:cNvPr>
          <p:cNvSpPr txBox="1"/>
          <p:nvPr/>
        </p:nvSpPr>
        <p:spPr>
          <a:xfrm>
            <a:off x="1480016" y="5224340"/>
            <a:ext cx="171954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Ammonification</a:t>
            </a:r>
            <a:endParaRPr lang="en-US" sz="1400" baseline="-25000" dirty="0"/>
          </a:p>
        </p:txBody>
      </p:sp>
      <p:sp>
        <p:nvSpPr>
          <p:cNvPr id="121" name="Rectangle 120">
            <a:extLst>
              <a:ext uri="{FF2B5EF4-FFF2-40B4-BE49-F238E27FC236}">
                <a16:creationId xmlns:a16="http://schemas.microsoft.com/office/drawing/2014/main" id="{420F20FC-DE7D-0F49-8ADB-5244B8058552}"/>
              </a:ext>
            </a:extLst>
          </p:cNvPr>
          <p:cNvSpPr/>
          <p:nvPr/>
        </p:nvSpPr>
        <p:spPr>
          <a:xfrm>
            <a:off x="6400624" y="508192"/>
            <a:ext cx="1261167" cy="3626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Nitrogen oxide (NO)</a:t>
            </a:r>
          </a:p>
        </p:txBody>
      </p:sp>
      <p:sp>
        <p:nvSpPr>
          <p:cNvPr id="123" name="Oval 122">
            <a:extLst>
              <a:ext uri="{FF2B5EF4-FFF2-40B4-BE49-F238E27FC236}">
                <a16:creationId xmlns:a16="http://schemas.microsoft.com/office/drawing/2014/main" id="{D630B79C-ECC1-AC46-9D6B-525CE36BB653}"/>
              </a:ext>
            </a:extLst>
          </p:cNvPr>
          <p:cNvSpPr/>
          <p:nvPr/>
        </p:nvSpPr>
        <p:spPr>
          <a:xfrm>
            <a:off x="4798903" y="273624"/>
            <a:ext cx="1307091" cy="78702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Denitrifying bacteria</a:t>
            </a:r>
          </a:p>
        </p:txBody>
      </p:sp>
      <p:sp>
        <p:nvSpPr>
          <p:cNvPr id="125" name="Rectangle 124">
            <a:extLst>
              <a:ext uri="{FF2B5EF4-FFF2-40B4-BE49-F238E27FC236}">
                <a16:creationId xmlns:a16="http://schemas.microsoft.com/office/drawing/2014/main" id="{1FD38965-DC18-E04A-9066-7F614923EFD5}"/>
              </a:ext>
            </a:extLst>
          </p:cNvPr>
          <p:cNvSpPr/>
          <p:nvPr/>
        </p:nvSpPr>
        <p:spPr>
          <a:xfrm>
            <a:off x="3591144" y="495532"/>
            <a:ext cx="987188" cy="37526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Nitrous oxide (N</a:t>
            </a:r>
            <a:r>
              <a:rPr lang="en-US" sz="1100" baseline="-25000" dirty="0"/>
              <a:t>2</a:t>
            </a:r>
            <a:r>
              <a:rPr lang="en-US" sz="1100" dirty="0"/>
              <a:t>O)</a:t>
            </a:r>
          </a:p>
        </p:txBody>
      </p:sp>
      <p:sp>
        <p:nvSpPr>
          <p:cNvPr id="126" name="Oval 125">
            <a:extLst>
              <a:ext uri="{FF2B5EF4-FFF2-40B4-BE49-F238E27FC236}">
                <a16:creationId xmlns:a16="http://schemas.microsoft.com/office/drawing/2014/main" id="{F3E9B0F7-1E1A-4744-B00F-66CE0FEF7111}"/>
              </a:ext>
            </a:extLst>
          </p:cNvPr>
          <p:cNvSpPr/>
          <p:nvPr/>
        </p:nvSpPr>
        <p:spPr>
          <a:xfrm>
            <a:off x="2212981" y="495532"/>
            <a:ext cx="1083534" cy="54177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Denitrifying bacteria</a:t>
            </a:r>
          </a:p>
        </p:txBody>
      </p:sp>
      <p:sp>
        <p:nvSpPr>
          <p:cNvPr id="127" name="TextBox 126">
            <a:extLst>
              <a:ext uri="{FF2B5EF4-FFF2-40B4-BE49-F238E27FC236}">
                <a16:creationId xmlns:a16="http://schemas.microsoft.com/office/drawing/2014/main" id="{4A20BFFE-56ED-1B42-BC56-9837F78F2839}"/>
              </a:ext>
            </a:extLst>
          </p:cNvPr>
          <p:cNvSpPr txBox="1"/>
          <p:nvPr/>
        </p:nvSpPr>
        <p:spPr>
          <a:xfrm>
            <a:off x="1592936" y="68245"/>
            <a:ext cx="149370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dirty="0"/>
              <a:t>Denitrification</a:t>
            </a:r>
            <a:endParaRPr lang="en-US" sz="1100" baseline="-25000" dirty="0"/>
          </a:p>
        </p:txBody>
      </p:sp>
      <p:sp>
        <p:nvSpPr>
          <p:cNvPr id="128" name="TextBox 127">
            <a:extLst>
              <a:ext uri="{FF2B5EF4-FFF2-40B4-BE49-F238E27FC236}">
                <a16:creationId xmlns:a16="http://schemas.microsoft.com/office/drawing/2014/main" id="{81E546A8-399B-864E-A688-A3218425AE04}"/>
              </a:ext>
            </a:extLst>
          </p:cNvPr>
          <p:cNvSpPr txBox="1"/>
          <p:nvPr/>
        </p:nvSpPr>
        <p:spPr>
          <a:xfrm>
            <a:off x="3958740" y="83570"/>
            <a:ext cx="149370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dirty="0"/>
              <a:t>Denitrification</a:t>
            </a:r>
            <a:endParaRPr lang="en-US" sz="1100" baseline="-25000" dirty="0"/>
          </a:p>
        </p:txBody>
      </p:sp>
    </p:spTree>
    <p:extLst>
      <p:ext uri="{BB962C8B-B14F-4D97-AF65-F5344CB8AC3E}">
        <p14:creationId xmlns:p14="http://schemas.microsoft.com/office/powerpoint/2010/main" val="213108292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Hexagon 8">
            <a:extLst>
              <a:ext uri="{FF2B5EF4-FFF2-40B4-BE49-F238E27FC236}">
                <a16:creationId xmlns:a16="http://schemas.microsoft.com/office/drawing/2014/main" id="{72A6A9FE-68E8-BC48-9C04-43187A8AFC3C}"/>
              </a:ext>
            </a:extLst>
          </p:cNvPr>
          <p:cNvSpPr/>
          <p:nvPr/>
        </p:nvSpPr>
        <p:spPr>
          <a:xfrm>
            <a:off x="5491041" y="5522975"/>
            <a:ext cx="946334" cy="804673"/>
          </a:xfrm>
          <a:prstGeom prst="hexagon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100" dirty="0"/>
              <a:t>Organic N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5554B70-7CE1-094D-A25E-8691E75F7D51}"/>
              </a:ext>
            </a:extLst>
          </p:cNvPr>
          <p:cNvSpPr txBox="1"/>
          <p:nvPr/>
        </p:nvSpPr>
        <p:spPr>
          <a:xfrm>
            <a:off x="4861990" y="5166156"/>
            <a:ext cx="98384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Assimilation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3B0D7C1-9685-024F-9CA2-EFBB6340CA10}"/>
              </a:ext>
            </a:extLst>
          </p:cNvPr>
          <p:cNvSpPr txBox="1"/>
          <p:nvPr/>
        </p:nvSpPr>
        <p:spPr>
          <a:xfrm>
            <a:off x="6208907" y="5166156"/>
            <a:ext cx="115035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Ammonification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5178264-F0DB-5848-A20F-C65C92072054}"/>
              </a:ext>
            </a:extLst>
          </p:cNvPr>
          <p:cNvSpPr txBox="1"/>
          <p:nvPr/>
        </p:nvSpPr>
        <p:spPr>
          <a:xfrm>
            <a:off x="2051630" y="4719633"/>
            <a:ext cx="116353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Nitrogen fixation</a:t>
            </a: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A1F11A5F-78AB-344E-8044-2975B943ABFD}"/>
              </a:ext>
            </a:extLst>
          </p:cNvPr>
          <p:cNvSpPr/>
          <p:nvPr/>
        </p:nvSpPr>
        <p:spPr>
          <a:xfrm>
            <a:off x="7851345" y="995671"/>
            <a:ext cx="1199082" cy="615093"/>
          </a:xfrm>
          <a:prstGeom prst="ellips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Denitrifiers</a:t>
            </a:r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4CDDA6F3-8C75-5B43-AB06-C3691E253171}"/>
              </a:ext>
            </a:extLst>
          </p:cNvPr>
          <p:cNvSpPr/>
          <p:nvPr/>
        </p:nvSpPr>
        <p:spPr>
          <a:xfrm>
            <a:off x="2238062" y="3927799"/>
            <a:ext cx="1199082" cy="615093"/>
          </a:xfrm>
          <a:prstGeom prst="ellips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Nitrogen fixers</a:t>
            </a:r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267897C0-D840-4546-A250-7E847C0D9EB7}"/>
              </a:ext>
            </a:extLst>
          </p:cNvPr>
          <p:cNvSpPr/>
          <p:nvPr/>
        </p:nvSpPr>
        <p:spPr>
          <a:xfrm>
            <a:off x="7281662" y="4542892"/>
            <a:ext cx="1199082" cy="615093"/>
          </a:xfrm>
          <a:prstGeom prst="ellips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Nitrifiers</a:t>
            </a:r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E7F3B3A1-2516-054B-B588-81C0BF0415CC}"/>
              </a:ext>
            </a:extLst>
          </p:cNvPr>
          <p:cNvSpPr/>
          <p:nvPr/>
        </p:nvSpPr>
        <p:spPr>
          <a:xfrm>
            <a:off x="8711226" y="2918063"/>
            <a:ext cx="1199082" cy="615093"/>
          </a:xfrm>
          <a:prstGeom prst="ellips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Nitrifiers</a:t>
            </a:r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EAE07672-90A1-434F-8CBD-8C9EC1CB8BAC}"/>
              </a:ext>
            </a:extLst>
          </p:cNvPr>
          <p:cNvSpPr/>
          <p:nvPr/>
        </p:nvSpPr>
        <p:spPr>
          <a:xfrm>
            <a:off x="4326196" y="272118"/>
            <a:ext cx="1199082" cy="615093"/>
          </a:xfrm>
          <a:prstGeom prst="ellips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Denitrifiers</a:t>
            </a:r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E55508C4-FB2D-A54F-8D67-5CE6126209A1}"/>
              </a:ext>
            </a:extLst>
          </p:cNvPr>
          <p:cNvSpPr/>
          <p:nvPr/>
        </p:nvSpPr>
        <p:spPr>
          <a:xfrm>
            <a:off x="2208349" y="1845800"/>
            <a:ext cx="1199082" cy="615093"/>
          </a:xfrm>
          <a:prstGeom prst="ellips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Denitrifiers</a:t>
            </a:r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00DE0D5F-D02A-074A-ACDB-B5A9188D2771}"/>
              </a:ext>
            </a:extLst>
          </p:cNvPr>
          <p:cNvSpPr/>
          <p:nvPr/>
        </p:nvSpPr>
        <p:spPr>
          <a:xfrm>
            <a:off x="5364666" y="2018579"/>
            <a:ext cx="1199082" cy="615093"/>
          </a:xfrm>
          <a:prstGeom prst="ellipse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Nitrate reducers</a:t>
            </a:r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E4F0BA32-C532-7748-A2ED-8B6F8F119684}"/>
              </a:ext>
            </a:extLst>
          </p:cNvPr>
          <p:cNvSpPr/>
          <p:nvPr/>
        </p:nvSpPr>
        <p:spPr>
          <a:xfrm>
            <a:off x="5364666" y="3706642"/>
            <a:ext cx="1199082" cy="615093"/>
          </a:xfrm>
          <a:prstGeom prst="ellipse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Nitrate reducers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19905BD8-09C9-5448-8379-94A775A4F34B}"/>
              </a:ext>
            </a:extLst>
          </p:cNvPr>
          <p:cNvSpPr/>
          <p:nvPr/>
        </p:nvSpPr>
        <p:spPr>
          <a:xfrm>
            <a:off x="8792527" y="2085040"/>
            <a:ext cx="1036481" cy="442314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Nitrate (NO</a:t>
            </a:r>
            <a:r>
              <a:rPr lang="en-US" sz="1100" baseline="-25000" dirty="0"/>
              <a:t>3</a:t>
            </a:r>
            <a:r>
              <a:rPr lang="en-US" sz="1100" dirty="0"/>
              <a:t>-)</a:t>
            </a:r>
            <a:endParaRPr lang="en-US" sz="1100" baseline="-25000" dirty="0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B70A7C50-8DC4-334F-944E-AC87A426EF0B}"/>
              </a:ext>
            </a:extLst>
          </p:cNvPr>
          <p:cNvSpPr/>
          <p:nvPr/>
        </p:nvSpPr>
        <p:spPr>
          <a:xfrm>
            <a:off x="2075214" y="2932988"/>
            <a:ext cx="1036481" cy="442314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100" dirty="0"/>
              <a:t>Atmospheric N</a:t>
            </a:r>
            <a:r>
              <a:rPr lang="en-US" sz="1100" baseline="-25000" dirty="0"/>
              <a:t>2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07DDCD64-8E6B-B243-B904-92A0BDC55ACB}"/>
              </a:ext>
            </a:extLst>
          </p:cNvPr>
          <p:cNvSpPr/>
          <p:nvPr/>
        </p:nvSpPr>
        <p:spPr>
          <a:xfrm>
            <a:off x="8450886" y="4014189"/>
            <a:ext cx="1036481" cy="442314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Nitrite (NO</a:t>
            </a:r>
            <a:r>
              <a:rPr lang="en-US" sz="1100" baseline="-25000" dirty="0"/>
              <a:t>2</a:t>
            </a:r>
            <a:r>
              <a:rPr lang="en-US" sz="1100" dirty="0"/>
              <a:t>-)</a:t>
            </a:r>
            <a:endParaRPr lang="en-US" sz="1100" baseline="-25000" dirty="0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5517E241-8292-CE42-AE3C-807F7356200E}"/>
              </a:ext>
            </a:extLst>
          </p:cNvPr>
          <p:cNvSpPr/>
          <p:nvPr/>
        </p:nvSpPr>
        <p:spPr>
          <a:xfrm>
            <a:off x="3467013" y="4621051"/>
            <a:ext cx="1036481" cy="442314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Ammonia (NH</a:t>
            </a:r>
            <a:r>
              <a:rPr lang="en-US" sz="1100" baseline="-25000" dirty="0"/>
              <a:t>3</a:t>
            </a:r>
            <a:r>
              <a:rPr lang="en-US" sz="1100" baseline="30000" dirty="0"/>
              <a:t>+</a:t>
            </a:r>
            <a:r>
              <a:rPr lang="en-US" sz="1100" dirty="0"/>
              <a:t>)</a:t>
            </a:r>
            <a:endParaRPr lang="en-US" sz="1100" baseline="-25000" dirty="0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669A221B-8368-6149-980F-3F99FDB182A3}"/>
              </a:ext>
            </a:extLst>
          </p:cNvPr>
          <p:cNvSpPr/>
          <p:nvPr/>
        </p:nvSpPr>
        <p:spPr>
          <a:xfrm>
            <a:off x="5455418" y="4626557"/>
            <a:ext cx="1036481" cy="442314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100" dirty="0"/>
              <a:t>Ammonium (NH</a:t>
            </a:r>
            <a:r>
              <a:rPr lang="en-US" sz="1100" baseline="-25000" dirty="0"/>
              <a:t>4</a:t>
            </a:r>
            <a:r>
              <a:rPr lang="en-US" sz="1100" baseline="30000" dirty="0"/>
              <a:t>+</a:t>
            </a:r>
            <a:r>
              <a:rPr lang="en-US" sz="1100" dirty="0"/>
              <a:t>)</a:t>
            </a:r>
            <a:endParaRPr lang="en-US" sz="1100" baseline="-25000" dirty="0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E547F1CA-C857-7247-AE64-35320CE8AC97}"/>
              </a:ext>
            </a:extLst>
          </p:cNvPr>
          <p:cNvSpPr/>
          <p:nvPr/>
        </p:nvSpPr>
        <p:spPr>
          <a:xfrm>
            <a:off x="6322785" y="365829"/>
            <a:ext cx="1036481" cy="442314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Nitrogen oxide (NO)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ADA66A01-055F-064C-9237-828592F38A60}"/>
              </a:ext>
            </a:extLst>
          </p:cNvPr>
          <p:cNvSpPr/>
          <p:nvPr/>
        </p:nvSpPr>
        <p:spPr>
          <a:xfrm>
            <a:off x="2725029" y="995671"/>
            <a:ext cx="1036481" cy="442314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Nitrous oxide (N</a:t>
            </a:r>
            <a:r>
              <a:rPr lang="en-US" sz="1100" baseline="-25000" dirty="0"/>
              <a:t>2</a:t>
            </a:r>
            <a:r>
              <a:rPr lang="en-US" sz="1100" dirty="0"/>
              <a:t>O)</a:t>
            </a:r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7314285E-F931-1D42-BCF6-3AD1D49ABD8F}"/>
              </a:ext>
            </a:extLst>
          </p:cNvPr>
          <p:cNvSpPr/>
          <p:nvPr/>
        </p:nvSpPr>
        <p:spPr>
          <a:xfrm>
            <a:off x="5445966" y="2949000"/>
            <a:ext cx="1036481" cy="442314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Nitrite (NO</a:t>
            </a:r>
            <a:r>
              <a:rPr lang="en-US" sz="1100" baseline="-25000" dirty="0"/>
              <a:t>2</a:t>
            </a:r>
            <a:r>
              <a:rPr lang="en-US" sz="1100" dirty="0"/>
              <a:t>-)</a:t>
            </a:r>
            <a:endParaRPr lang="en-US" sz="1100" baseline="-25000" dirty="0"/>
          </a:p>
        </p:txBody>
      </p:sp>
      <p:cxnSp>
        <p:nvCxnSpPr>
          <p:cNvPr id="65" name="Straight Arrow Connector 64">
            <a:extLst>
              <a:ext uri="{FF2B5EF4-FFF2-40B4-BE49-F238E27FC236}">
                <a16:creationId xmlns:a16="http://schemas.microsoft.com/office/drawing/2014/main" id="{3837E7CD-84D3-7E47-9CF0-83209F9195FE}"/>
              </a:ext>
            </a:extLst>
          </p:cNvPr>
          <p:cNvCxnSpPr>
            <a:cxnSpLocks/>
          </p:cNvCxnSpPr>
          <p:nvPr/>
        </p:nvCxnSpPr>
        <p:spPr>
          <a:xfrm flipH="1">
            <a:off x="3761510" y="718201"/>
            <a:ext cx="544838" cy="277470"/>
          </a:xfrm>
          <a:prstGeom prst="straightConnector1">
            <a:avLst/>
          </a:prstGeom>
          <a:ln w="5715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Straight Arrow Connector 66">
            <a:extLst>
              <a:ext uri="{FF2B5EF4-FFF2-40B4-BE49-F238E27FC236}">
                <a16:creationId xmlns:a16="http://schemas.microsoft.com/office/drawing/2014/main" id="{0BB9B59C-5447-A745-98ED-434CF98337A9}"/>
              </a:ext>
            </a:extLst>
          </p:cNvPr>
          <p:cNvCxnSpPr>
            <a:cxnSpLocks/>
          </p:cNvCxnSpPr>
          <p:nvPr/>
        </p:nvCxnSpPr>
        <p:spPr>
          <a:xfrm flipH="1">
            <a:off x="2974128" y="1466200"/>
            <a:ext cx="269141" cy="351384"/>
          </a:xfrm>
          <a:prstGeom prst="straightConnector1">
            <a:avLst/>
          </a:prstGeom>
          <a:ln w="5715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Straight Arrow Connector 68">
            <a:extLst>
              <a:ext uri="{FF2B5EF4-FFF2-40B4-BE49-F238E27FC236}">
                <a16:creationId xmlns:a16="http://schemas.microsoft.com/office/drawing/2014/main" id="{2C531E0A-68C8-AB4B-8A8A-B724A73F7CEA}"/>
              </a:ext>
            </a:extLst>
          </p:cNvPr>
          <p:cNvCxnSpPr>
            <a:cxnSpLocks/>
          </p:cNvCxnSpPr>
          <p:nvPr/>
        </p:nvCxnSpPr>
        <p:spPr>
          <a:xfrm flipH="1">
            <a:off x="2725029" y="2535766"/>
            <a:ext cx="1" cy="332942"/>
          </a:xfrm>
          <a:prstGeom prst="straightConnector1">
            <a:avLst/>
          </a:prstGeom>
          <a:ln w="5715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Straight Arrow Connector 70">
            <a:extLst>
              <a:ext uri="{FF2B5EF4-FFF2-40B4-BE49-F238E27FC236}">
                <a16:creationId xmlns:a16="http://schemas.microsoft.com/office/drawing/2014/main" id="{B998732D-EF53-E04F-A3A2-97FB5D796991}"/>
              </a:ext>
            </a:extLst>
          </p:cNvPr>
          <p:cNvCxnSpPr>
            <a:cxnSpLocks/>
          </p:cNvCxnSpPr>
          <p:nvPr/>
        </p:nvCxnSpPr>
        <p:spPr>
          <a:xfrm>
            <a:off x="2632817" y="3439582"/>
            <a:ext cx="175073" cy="479587"/>
          </a:xfrm>
          <a:prstGeom prst="straightConnector1">
            <a:avLst/>
          </a:prstGeom>
          <a:ln w="5715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Straight Arrow Connector 72">
            <a:extLst>
              <a:ext uri="{FF2B5EF4-FFF2-40B4-BE49-F238E27FC236}">
                <a16:creationId xmlns:a16="http://schemas.microsoft.com/office/drawing/2014/main" id="{6BD59EAD-0AA6-8C43-A20D-D3F6BC97440A}"/>
              </a:ext>
            </a:extLst>
          </p:cNvPr>
          <p:cNvCxnSpPr>
            <a:cxnSpLocks/>
          </p:cNvCxnSpPr>
          <p:nvPr/>
        </p:nvCxnSpPr>
        <p:spPr>
          <a:xfrm>
            <a:off x="3015330" y="4587308"/>
            <a:ext cx="392101" cy="254900"/>
          </a:xfrm>
          <a:prstGeom prst="straightConnector1">
            <a:avLst/>
          </a:prstGeom>
          <a:ln w="5715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Straight Arrow Connector 75">
            <a:extLst>
              <a:ext uri="{FF2B5EF4-FFF2-40B4-BE49-F238E27FC236}">
                <a16:creationId xmlns:a16="http://schemas.microsoft.com/office/drawing/2014/main" id="{C5405577-1369-7444-8596-EF150A314EDE}"/>
              </a:ext>
            </a:extLst>
          </p:cNvPr>
          <p:cNvCxnSpPr>
            <a:cxnSpLocks/>
            <a:endCxn id="38" idx="1"/>
          </p:cNvCxnSpPr>
          <p:nvPr/>
        </p:nvCxnSpPr>
        <p:spPr>
          <a:xfrm>
            <a:off x="4570511" y="4847714"/>
            <a:ext cx="884907" cy="0"/>
          </a:xfrm>
          <a:prstGeom prst="straightConnector1">
            <a:avLst/>
          </a:prstGeom>
          <a:ln w="5715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Straight Arrow Connector 79">
            <a:extLst>
              <a:ext uri="{FF2B5EF4-FFF2-40B4-BE49-F238E27FC236}">
                <a16:creationId xmlns:a16="http://schemas.microsoft.com/office/drawing/2014/main" id="{2FD42A59-1623-B24E-91FD-A1E2C59D2AEB}"/>
              </a:ext>
            </a:extLst>
          </p:cNvPr>
          <p:cNvCxnSpPr>
            <a:cxnSpLocks/>
          </p:cNvCxnSpPr>
          <p:nvPr/>
        </p:nvCxnSpPr>
        <p:spPr>
          <a:xfrm>
            <a:off x="6529883" y="4830484"/>
            <a:ext cx="751779" cy="0"/>
          </a:xfrm>
          <a:prstGeom prst="straightConnector1">
            <a:avLst/>
          </a:prstGeom>
          <a:ln w="5715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Straight Arrow Connector 81">
            <a:extLst>
              <a:ext uri="{FF2B5EF4-FFF2-40B4-BE49-F238E27FC236}">
                <a16:creationId xmlns:a16="http://schemas.microsoft.com/office/drawing/2014/main" id="{7EF63EA5-10DA-BF47-89B2-34B9A3644C36}"/>
              </a:ext>
            </a:extLst>
          </p:cNvPr>
          <p:cNvCxnSpPr>
            <a:cxnSpLocks/>
          </p:cNvCxnSpPr>
          <p:nvPr/>
        </p:nvCxnSpPr>
        <p:spPr>
          <a:xfrm flipV="1">
            <a:off x="8509297" y="4477255"/>
            <a:ext cx="403860" cy="287592"/>
          </a:xfrm>
          <a:prstGeom prst="straightConnector1">
            <a:avLst/>
          </a:prstGeom>
          <a:ln w="5715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Straight Arrow Connector 84">
            <a:extLst>
              <a:ext uri="{FF2B5EF4-FFF2-40B4-BE49-F238E27FC236}">
                <a16:creationId xmlns:a16="http://schemas.microsoft.com/office/drawing/2014/main" id="{E5407D03-0E3D-D34F-99D2-8C8004110367}"/>
              </a:ext>
            </a:extLst>
          </p:cNvPr>
          <p:cNvCxnSpPr>
            <a:cxnSpLocks/>
          </p:cNvCxnSpPr>
          <p:nvPr/>
        </p:nvCxnSpPr>
        <p:spPr>
          <a:xfrm flipV="1">
            <a:off x="9120524" y="3570695"/>
            <a:ext cx="104499" cy="422742"/>
          </a:xfrm>
          <a:prstGeom prst="straightConnector1">
            <a:avLst/>
          </a:prstGeom>
          <a:ln w="5715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Straight Arrow Connector 87">
            <a:extLst>
              <a:ext uri="{FF2B5EF4-FFF2-40B4-BE49-F238E27FC236}">
                <a16:creationId xmlns:a16="http://schemas.microsoft.com/office/drawing/2014/main" id="{F4B1A098-25CE-3640-957A-3D04E48ABEEB}"/>
              </a:ext>
            </a:extLst>
          </p:cNvPr>
          <p:cNvCxnSpPr>
            <a:cxnSpLocks/>
          </p:cNvCxnSpPr>
          <p:nvPr/>
        </p:nvCxnSpPr>
        <p:spPr>
          <a:xfrm flipV="1">
            <a:off x="9310767" y="2527354"/>
            <a:ext cx="0" cy="341354"/>
          </a:xfrm>
          <a:prstGeom prst="straightConnector1">
            <a:avLst/>
          </a:prstGeom>
          <a:ln w="5715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Straight Arrow Connector 96">
            <a:extLst>
              <a:ext uri="{FF2B5EF4-FFF2-40B4-BE49-F238E27FC236}">
                <a16:creationId xmlns:a16="http://schemas.microsoft.com/office/drawing/2014/main" id="{1682D81A-1C80-8F48-91A2-5CE6A4B179A0}"/>
              </a:ext>
            </a:extLst>
          </p:cNvPr>
          <p:cNvCxnSpPr>
            <a:cxnSpLocks/>
          </p:cNvCxnSpPr>
          <p:nvPr/>
        </p:nvCxnSpPr>
        <p:spPr>
          <a:xfrm flipH="1" flipV="1">
            <a:off x="8764453" y="1620308"/>
            <a:ext cx="408320" cy="398271"/>
          </a:xfrm>
          <a:prstGeom prst="straightConnector1">
            <a:avLst/>
          </a:prstGeom>
          <a:ln w="5715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" name="Straight Arrow Connector 98">
            <a:extLst>
              <a:ext uri="{FF2B5EF4-FFF2-40B4-BE49-F238E27FC236}">
                <a16:creationId xmlns:a16="http://schemas.microsoft.com/office/drawing/2014/main" id="{AB5AD5CE-7A1A-7646-AFEC-04E8547F5F56}"/>
              </a:ext>
            </a:extLst>
          </p:cNvPr>
          <p:cNvCxnSpPr>
            <a:cxnSpLocks/>
          </p:cNvCxnSpPr>
          <p:nvPr/>
        </p:nvCxnSpPr>
        <p:spPr>
          <a:xfrm flipH="1" flipV="1">
            <a:off x="7443025" y="575896"/>
            <a:ext cx="713748" cy="410231"/>
          </a:xfrm>
          <a:prstGeom prst="straightConnector1">
            <a:avLst/>
          </a:prstGeom>
          <a:ln w="5715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Straight Arrow Connector 100">
            <a:extLst>
              <a:ext uri="{FF2B5EF4-FFF2-40B4-BE49-F238E27FC236}">
                <a16:creationId xmlns:a16="http://schemas.microsoft.com/office/drawing/2014/main" id="{072B6AFE-80B4-D146-BA29-F23F5B61B803}"/>
              </a:ext>
            </a:extLst>
          </p:cNvPr>
          <p:cNvCxnSpPr>
            <a:cxnSpLocks/>
          </p:cNvCxnSpPr>
          <p:nvPr/>
        </p:nvCxnSpPr>
        <p:spPr>
          <a:xfrm flipH="1">
            <a:off x="5583094" y="557704"/>
            <a:ext cx="655054" cy="0"/>
          </a:xfrm>
          <a:prstGeom prst="straightConnector1">
            <a:avLst/>
          </a:prstGeom>
          <a:ln w="5715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" name="Straight Arrow Connector 104">
            <a:extLst>
              <a:ext uri="{FF2B5EF4-FFF2-40B4-BE49-F238E27FC236}">
                <a16:creationId xmlns:a16="http://schemas.microsoft.com/office/drawing/2014/main" id="{6533AD07-18AA-EC48-9F24-374F078A373D}"/>
              </a:ext>
            </a:extLst>
          </p:cNvPr>
          <p:cNvCxnSpPr>
            <a:cxnSpLocks/>
          </p:cNvCxnSpPr>
          <p:nvPr/>
        </p:nvCxnSpPr>
        <p:spPr>
          <a:xfrm flipH="1">
            <a:off x="6626608" y="2306197"/>
            <a:ext cx="2084618" cy="12402"/>
          </a:xfrm>
          <a:prstGeom prst="straightConnector1">
            <a:avLst/>
          </a:prstGeom>
          <a:ln w="5715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Straight Arrow Connector 106">
            <a:extLst>
              <a:ext uri="{FF2B5EF4-FFF2-40B4-BE49-F238E27FC236}">
                <a16:creationId xmlns:a16="http://schemas.microsoft.com/office/drawing/2014/main" id="{5B1E63A5-D797-C140-B2CC-BBDFB3E83E96}"/>
              </a:ext>
            </a:extLst>
          </p:cNvPr>
          <p:cNvCxnSpPr>
            <a:cxnSpLocks/>
          </p:cNvCxnSpPr>
          <p:nvPr/>
        </p:nvCxnSpPr>
        <p:spPr>
          <a:xfrm flipH="1">
            <a:off x="5973659" y="2698353"/>
            <a:ext cx="1" cy="219710"/>
          </a:xfrm>
          <a:prstGeom prst="straightConnector1">
            <a:avLst/>
          </a:prstGeom>
          <a:ln w="5715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" name="Straight Arrow Connector 109">
            <a:extLst>
              <a:ext uri="{FF2B5EF4-FFF2-40B4-BE49-F238E27FC236}">
                <a16:creationId xmlns:a16="http://schemas.microsoft.com/office/drawing/2014/main" id="{6854A98E-17D2-5047-8BA4-95BE910B5364}"/>
              </a:ext>
            </a:extLst>
          </p:cNvPr>
          <p:cNvCxnSpPr>
            <a:cxnSpLocks/>
          </p:cNvCxnSpPr>
          <p:nvPr/>
        </p:nvCxnSpPr>
        <p:spPr>
          <a:xfrm flipH="1">
            <a:off x="5973658" y="3465722"/>
            <a:ext cx="1" cy="219710"/>
          </a:xfrm>
          <a:prstGeom prst="straightConnector1">
            <a:avLst/>
          </a:prstGeom>
          <a:ln w="5715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" name="Straight Arrow Connector 110">
            <a:extLst>
              <a:ext uri="{FF2B5EF4-FFF2-40B4-BE49-F238E27FC236}">
                <a16:creationId xmlns:a16="http://schemas.microsoft.com/office/drawing/2014/main" id="{A2A00D09-3691-A340-8001-F77165CD032D}"/>
              </a:ext>
            </a:extLst>
          </p:cNvPr>
          <p:cNvCxnSpPr>
            <a:cxnSpLocks/>
          </p:cNvCxnSpPr>
          <p:nvPr/>
        </p:nvCxnSpPr>
        <p:spPr>
          <a:xfrm flipH="1">
            <a:off x="5973220" y="4367598"/>
            <a:ext cx="1" cy="219710"/>
          </a:xfrm>
          <a:prstGeom prst="straightConnector1">
            <a:avLst/>
          </a:prstGeom>
          <a:ln w="5715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" name="Straight Arrow Connector 111">
            <a:extLst>
              <a:ext uri="{FF2B5EF4-FFF2-40B4-BE49-F238E27FC236}">
                <a16:creationId xmlns:a16="http://schemas.microsoft.com/office/drawing/2014/main" id="{D6B4ACC7-1E4B-F142-9E20-4330B428BFC2}"/>
              </a:ext>
            </a:extLst>
          </p:cNvPr>
          <p:cNvCxnSpPr>
            <a:cxnSpLocks/>
          </p:cNvCxnSpPr>
          <p:nvPr/>
        </p:nvCxnSpPr>
        <p:spPr>
          <a:xfrm>
            <a:off x="5701651" y="5108120"/>
            <a:ext cx="1" cy="390978"/>
          </a:xfrm>
          <a:prstGeom prst="straightConnector1">
            <a:avLst/>
          </a:prstGeom>
          <a:ln w="5715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4" name="Straight Arrow Connector 113">
            <a:extLst>
              <a:ext uri="{FF2B5EF4-FFF2-40B4-BE49-F238E27FC236}">
                <a16:creationId xmlns:a16="http://schemas.microsoft.com/office/drawing/2014/main" id="{18CCE7D4-8E33-CF47-91C7-79291F82C80B}"/>
              </a:ext>
            </a:extLst>
          </p:cNvPr>
          <p:cNvCxnSpPr>
            <a:cxnSpLocks/>
          </p:cNvCxnSpPr>
          <p:nvPr/>
        </p:nvCxnSpPr>
        <p:spPr>
          <a:xfrm flipV="1">
            <a:off x="6208907" y="5108120"/>
            <a:ext cx="0" cy="390978"/>
          </a:xfrm>
          <a:prstGeom prst="straightConnector1">
            <a:avLst/>
          </a:prstGeom>
          <a:ln w="5715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8" name="Straight Arrow Connector 117">
            <a:extLst>
              <a:ext uri="{FF2B5EF4-FFF2-40B4-BE49-F238E27FC236}">
                <a16:creationId xmlns:a16="http://schemas.microsoft.com/office/drawing/2014/main" id="{8F81250A-EDC2-BC4E-A1A0-3C023360A2D4}"/>
              </a:ext>
            </a:extLst>
          </p:cNvPr>
          <p:cNvCxnSpPr>
            <a:cxnSpLocks/>
          </p:cNvCxnSpPr>
          <p:nvPr/>
        </p:nvCxnSpPr>
        <p:spPr>
          <a:xfrm>
            <a:off x="3915645" y="1692972"/>
            <a:ext cx="818972" cy="0"/>
          </a:xfrm>
          <a:prstGeom prst="straightConnector1">
            <a:avLst/>
          </a:prstGeom>
          <a:ln w="5715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0" name="TextBox 119">
            <a:extLst>
              <a:ext uri="{FF2B5EF4-FFF2-40B4-BE49-F238E27FC236}">
                <a16:creationId xmlns:a16="http://schemas.microsoft.com/office/drawing/2014/main" id="{E8088647-D7EE-E34D-846E-055EC48B4E5E}"/>
              </a:ext>
            </a:extLst>
          </p:cNvPr>
          <p:cNvSpPr txBox="1"/>
          <p:nvPr/>
        </p:nvSpPr>
        <p:spPr>
          <a:xfrm>
            <a:off x="4739494" y="1547736"/>
            <a:ext cx="189432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Flow of nitrogen</a:t>
            </a:r>
          </a:p>
        </p:txBody>
      </p:sp>
      <p:sp>
        <p:nvSpPr>
          <p:cNvPr id="122" name="Rectangle 121">
            <a:extLst>
              <a:ext uri="{FF2B5EF4-FFF2-40B4-BE49-F238E27FC236}">
                <a16:creationId xmlns:a16="http://schemas.microsoft.com/office/drawing/2014/main" id="{3687A0F1-1B16-5149-99F1-52830EB1841E}"/>
              </a:ext>
            </a:extLst>
          </p:cNvPr>
          <p:cNvSpPr/>
          <p:nvPr/>
        </p:nvSpPr>
        <p:spPr>
          <a:xfrm>
            <a:off x="3827169" y="1503782"/>
            <a:ext cx="2018670" cy="33799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3" name="TextBox 122">
            <a:extLst>
              <a:ext uri="{FF2B5EF4-FFF2-40B4-BE49-F238E27FC236}">
                <a16:creationId xmlns:a16="http://schemas.microsoft.com/office/drawing/2014/main" id="{4A631CB2-83DD-C64D-9CFA-5B3C823AD104}"/>
              </a:ext>
            </a:extLst>
          </p:cNvPr>
          <p:cNvSpPr txBox="1"/>
          <p:nvPr/>
        </p:nvSpPr>
        <p:spPr>
          <a:xfrm>
            <a:off x="8729001" y="4656461"/>
            <a:ext cx="116353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Nitrification</a:t>
            </a:r>
          </a:p>
        </p:txBody>
      </p:sp>
      <p:sp>
        <p:nvSpPr>
          <p:cNvPr id="124" name="TextBox 123">
            <a:extLst>
              <a:ext uri="{FF2B5EF4-FFF2-40B4-BE49-F238E27FC236}">
                <a16:creationId xmlns:a16="http://schemas.microsoft.com/office/drawing/2014/main" id="{512705C4-6F92-A446-B6A2-74713399BA5D}"/>
              </a:ext>
            </a:extLst>
          </p:cNvPr>
          <p:cNvSpPr txBox="1"/>
          <p:nvPr/>
        </p:nvSpPr>
        <p:spPr>
          <a:xfrm>
            <a:off x="9558917" y="2622599"/>
            <a:ext cx="116353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Nitrification</a:t>
            </a:r>
          </a:p>
        </p:txBody>
      </p:sp>
      <p:sp>
        <p:nvSpPr>
          <p:cNvPr id="125" name="TextBox 124">
            <a:extLst>
              <a:ext uri="{FF2B5EF4-FFF2-40B4-BE49-F238E27FC236}">
                <a16:creationId xmlns:a16="http://schemas.microsoft.com/office/drawing/2014/main" id="{1B77ADFF-EADD-C143-A31D-C88682B51C0C}"/>
              </a:ext>
            </a:extLst>
          </p:cNvPr>
          <p:cNvSpPr txBox="1"/>
          <p:nvPr/>
        </p:nvSpPr>
        <p:spPr>
          <a:xfrm>
            <a:off x="7820051" y="480651"/>
            <a:ext cx="116353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Denitrification</a:t>
            </a:r>
          </a:p>
        </p:txBody>
      </p:sp>
      <p:sp>
        <p:nvSpPr>
          <p:cNvPr id="126" name="TextBox 125">
            <a:extLst>
              <a:ext uri="{FF2B5EF4-FFF2-40B4-BE49-F238E27FC236}">
                <a16:creationId xmlns:a16="http://schemas.microsoft.com/office/drawing/2014/main" id="{3CAB7149-4D0F-1948-960D-8673253F2D56}"/>
              </a:ext>
            </a:extLst>
          </p:cNvPr>
          <p:cNvSpPr txBox="1"/>
          <p:nvPr/>
        </p:nvSpPr>
        <p:spPr>
          <a:xfrm>
            <a:off x="3133757" y="515650"/>
            <a:ext cx="116353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Denitrification</a:t>
            </a:r>
          </a:p>
        </p:txBody>
      </p:sp>
      <p:sp>
        <p:nvSpPr>
          <p:cNvPr id="127" name="TextBox 126">
            <a:extLst>
              <a:ext uri="{FF2B5EF4-FFF2-40B4-BE49-F238E27FC236}">
                <a16:creationId xmlns:a16="http://schemas.microsoft.com/office/drawing/2014/main" id="{AD5D58CD-46DD-3240-A2B3-4E90B7523BFA}"/>
              </a:ext>
            </a:extLst>
          </p:cNvPr>
          <p:cNvSpPr txBox="1"/>
          <p:nvPr/>
        </p:nvSpPr>
        <p:spPr>
          <a:xfrm>
            <a:off x="1569047" y="2542558"/>
            <a:ext cx="116353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Denitrification</a:t>
            </a:r>
          </a:p>
        </p:txBody>
      </p:sp>
      <p:sp>
        <p:nvSpPr>
          <p:cNvPr id="128" name="TextBox 127">
            <a:extLst>
              <a:ext uri="{FF2B5EF4-FFF2-40B4-BE49-F238E27FC236}">
                <a16:creationId xmlns:a16="http://schemas.microsoft.com/office/drawing/2014/main" id="{AD173A98-7EFB-D447-AC2D-E2D9F5D1955D}"/>
              </a:ext>
            </a:extLst>
          </p:cNvPr>
          <p:cNvSpPr txBox="1"/>
          <p:nvPr/>
        </p:nvSpPr>
        <p:spPr>
          <a:xfrm>
            <a:off x="4663623" y="4336893"/>
            <a:ext cx="116353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Nitrate reduction</a:t>
            </a:r>
          </a:p>
        </p:txBody>
      </p:sp>
      <p:sp>
        <p:nvSpPr>
          <p:cNvPr id="129" name="TextBox 128">
            <a:extLst>
              <a:ext uri="{FF2B5EF4-FFF2-40B4-BE49-F238E27FC236}">
                <a16:creationId xmlns:a16="http://schemas.microsoft.com/office/drawing/2014/main" id="{7F8EBF4F-BB63-7848-9E1F-852BD188A1DC}"/>
              </a:ext>
            </a:extLst>
          </p:cNvPr>
          <p:cNvSpPr txBox="1"/>
          <p:nvPr/>
        </p:nvSpPr>
        <p:spPr>
          <a:xfrm>
            <a:off x="4682307" y="2662087"/>
            <a:ext cx="116353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Nitrate reduction</a:t>
            </a:r>
          </a:p>
        </p:txBody>
      </p:sp>
    </p:spTree>
    <p:extLst>
      <p:ext uri="{BB962C8B-B14F-4D97-AF65-F5344CB8AC3E}">
        <p14:creationId xmlns:p14="http://schemas.microsoft.com/office/powerpoint/2010/main" val="415545810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Hexagon 8">
            <a:extLst>
              <a:ext uri="{FF2B5EF4-FFF2-40B4-BE49-F238E27FC236}">
                <a16:creationId xmlns:a16="http://schemas.microsoft.com/office/drawing/2014/main" id="{72A6A9FE-68E8-BC48-9C04-43187A8AFC3C}"/>
              </a:ext>
            </a:extLst>
          </p:cNvPr>
          <p:cNvSpPr/>
          <p:nvPr/>
        </p:nvSpPr>
        <p:spPr>
          <a:xfrm>
            <a:off x="5491041" y="5522975"/>
            <a:ext cx="946334" cy="804673"/>
          </a:xfrm>
          <a:prstGeom prst="hexagon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100" dirty="0"/>
              <a:t>Organic N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5554B70-7CE1-094D-A25E-8691E75F7D51}"/>
              </a:ext>
            </a:extLst>
          </p:cNvPr>
          <p:cNvSpPr txBox="1"/>
          <p:nvPr/>
        </p:nvSpPr>
        <p:spPr>
          <a:xfrm>
            <a:off x="4861990" y="5166156"/>
            <a:ext cx="98384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Assimilation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3B0D7C1-9685-024F-9CA2-EFBB6340CA10}"/>
              </a:ext>
            </a:extLst>
          </p:cNvPr>
          <p:cNvSpPr txBox="1"/>
          <p:nvPr/>
        </p:nvSpPr>
        <p:spPr>
          <a:xfrm>
            <a:off x="6208907" y="5166156"/>
            <a:ext cx="115035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Ammonification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5178264-F0DB-5848-A20F-C65C92072054}"/>
              </a:ext>
            </a:extLst>
          </p:cNvPr>
          <p:cNvSpPr txBox="1"/>
          <p:nvPr/>
        </p:nvSpPr>
        <p:spPr>
          <a:xfrm>
            <a:off x="1989372" y="5063365"/>
            <a:ext cx="205191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FFA073"/>
                </a:solidFill>
              </a:rPr>
              <a:t>Nitrogen fixation</a:t>
            </a: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A1F11A5F-78AB-344E-8044-2975B943ABFD}"/>
              </a:ext>
            </a:extLst>
          </p:cNvPr>
          <p:cNvSpPr/>
          <p:nvPr/>
        </p:nvSpPr>
        <p:spPr>
          <a:xfrm>
            <a:off x="7851345" y="995671"/>
            <a:ext cx="1199082" cy="615093"/>
          </a:xfrm>
          <a:prstGeom prst="ellips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Denitrifiers</a:t>
            </a:r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4CDDA6F3-8C75-5B43-AB06-C3691E253171}"/>
              </a:ext>
            </a:extLst>
          </p:cNvPr>
          <p:cNvSpPr/>
          <p:nvPr/>
        </p:nvSpPr>
        <p:spPr>
          <a:xfrm>
            <a:off x="2238062" y="3927799"/>
            <a:ext cx="1199082" cy="615093"/>
          </a:xfrm>
          <a:prstGeom prst="ellips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Nitrogen fixers</a:t>
            </a:r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267897C0-D840-4546-A250-7E847C0D9EB7}"/>
              </a:ext>
            </a:extLst>
          </p:cNvPr>
          <p:cNvSpPr/>
          <p:nvPr/>
        </p:nvSpPr>
        <p:spPr>
          <a:xfrm>
            <a:off x="7281662" y="4542892"/>
            <a:ext cx="1199082" cy="615093"/>
          </a:xfrm>
          <a:prstGeom prst="ellips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Nitrifiers</a:t>
            </a:r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E7F3B3A1-2516-054B-B588-81C0BF0415CC}"/>
              </a:ext>
            </a:extLst>
          </p:cNvPr>
          <p:cNvSpPr/>
          <p:nvPr/>
        </p:nvSpPr>
        <p:spPr>
          <a:xfrm>
            <a:off x="8711226" y="2918063"/>
            <a:ext cx="1199082" cy="615093"/>
          </a:xfrm>
          <a:prstGeom prst="ellips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Nitrifiers</a:t>
            </a:r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EAE07672-90A1-434F-8CBD-8C9EC1CB8BAC}"/>
              </a:ext>
            </a:extLst>
          </p:cNvPr>
          <p:cNvSpPr/>
          <p:nvPr/>
        </p:nvSpPr>
        <p:spPr>
          <a:xfrm>
            <a:off x="4326196" y="272118"/>
            <a:ext cx="1199082" cy="615093"/>
          </a:xfrm>
          <a:prstGeom prst="ellips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Denitrifiers</a:t>
            </a:r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E55508C4-FB2D-A54F-8D67-5CE6126209A1}"/>
              </a:ext>
            </a:extLst>
          </p:cNvPr>
          <p:cNvSpPr/>
          <p:nvPr/>
        </p:nvSpPr>
        <p:spPr>
          <a:xfrm>
            <a:off x="2208349" y="1845800"/>
            <a:ext cx="1199082" cy="615093"/>
          </a:xfrm>
          <a:prstGeom prst="ellips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Denitrifiers</a:t>
            </a:r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00DE0D5F-D02A-074A-ACDB-B5A9188D2771}"/>
              </a:ext>
            </a:extLst>
          </p:cNvPr>
          <p:cNvSpPr/>
          <p:nvPr/>
        </p:nvSpPr>
        <p:spPr>
          <a:xfrm>
            <a:off x="5364666" y="2018579"/>
            <a:ext cx="1199082" cy="615093"/>
          </a:xfrm>
          <a:prstGeom prst="ellipse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Nitrate reducers</a:t>
            </a:r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E4F0BA32-C532-7748-A2ED-8B6F8F119684}"/>
              </a:ext>
            </a:extLst>
          </p:cNvPr>
          <p:cNvSpPr/>
          <p:nvPr/>
        </p:nvSpPr>
        <p:spPr>
          <a:xfrm>
            <a:off x="5364666" y="3706642"/>
            <a:ext cx="1199082" cy="615093"/>
          </a:xfrm>
          <a:prstGeom prst="ellipse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Nitrate reducers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19905BD8-09C9-5448-8379-94A775A4F34B}"/>
              </a:ext>
            </a:extLst>
          </p:cNvPr>
          <p:cNvSpPr/>
          <p:nvPr/>
        </p:nvSpPr>
        <p:spPr>
          <a:xfrm>
            <a:off x="8792527" y="2085040"/>
            <a:ext cx="1036481" cy="442314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Nitrate (NO</a:t>
            </a:r>
            <a:r>
              <a:rPr lang="en-US" sz="1100" baseline="-25000" dirty="0"/>
              <a:t>3</a:t>
            </a:r>
            <a:r>
              <a:rPr lang="en-US" sz="1100" dirty="0"/>
              <a:t>-)</a:t>
            </a:r>
            <a:endParaRPr lang="en-US" sz="1100" baseline="-25000" dirty="0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B70A7C50-8DC4-334F-944E-AC87A426EF0B}"/>
              </a:ext>
            </a:extLst>
          </p:cNvPr>
          <p:cNvSpPr/>
          <p:nvPr/>
        </p:nvSpPr>
        <p:spPr>
          <a:xfrm>
            <a:off x="2075214" y="2932988"/>
            <a:ext cx="1036481" cy="442314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100" dirty="0"/>
              <a:t>Atmospheric N</a:t>
            </a:r>
            <a:r>
              <a:rPr lang="en-US" sz="1100" baseline="-25000" dirty="0"/>
              <a:t>2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07DDCD64-8E6B-B243-B904-92A0BDC55ACB}"/>
              </a:ext>
            </a:extLst>
          </p:cNvPr>
          <p:cNvSpPr/>
          <p:nvPr/>
        </p:nvSpPr>
        <p:spPr>
          <a:xfrm>
            <a:off x="8450886" y="4014189"/>
            <a:ext cx="1036481" cy="442314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Nitrite (NO</a:t>
            </a:r>
            <a:r>
              <a:rPr lang="en-US" sz="1100" baseline="-25000" dirty="0"/>
              <a:t>2</a:t>
            </a:r>
            <a:r>
              <a:rPr lang="en-US" sz="1100" dirty="0"/>
              <a:t>-)</a:t>
            </a:r>
            <a:endParaRPr lang="en-US" sz="1100" baseline="-25000" dirty="0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5517E241-8292-CE42-AE3C-807F7356200E}"/>
              </a:ext>
            </a:extLst>
          </p:cNvPr>
          <p:cNvSpPr/>
          <p:nvPr/>
        </p:nvSpPr>
        <p:spPr>
          <a:xfrm>
            <a:off x="3467013" y="4621051"/>
            <a:ext cx="1036481" cy="442314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Ammonia (NH</a:t>
            </a:r>
            <a:r>
              <a:rPr lang="en-US" sz="1100" baseline="-25000" dirty="0"/>
              <a:t>3</a:t>
            </a:r>
            <a:r>
              <a:rPr lang="en-US" sz="1100" baseline="30000" dirty="0"/>
              <a:t>+</a:t>
            </a:r>
            <a:r>
              <a:rPr lang="en-US" sz="1100" dirty="0"/>
              <a:t>)</a:t>
            </a:r>
            <a:endParaRPr lang="en-US" sz="1100" baseline="-25000" dirty="0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669A221B-8368-6149-980F-3F99FDB182A3}"/>
              </a:ext>
            </a:extLst>
          </p:cNvPr>
          <p:cNvSpPr/>
          <p:nvPr/>
        </p:nvSpPr>
        <p:spPr>
          <a:xfrm>
            <a:off x="5455418" y="4626557"/>
            <a:ext cx="1036481" cy="442314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100" dirty="0"/>
              <a:t>Ammonium (NH</a:t>
            </a:r>
            <a:r>
              <a:rPr lang="en-US" sz="1100" baseline="-25000" dirty="0"/>
              <a:t>4</a:t>
            </a:r>
            <a:r>
              <a:rPr lang="en-US" sz="1100" baseline="30000" dirty="0"/>
              <a:t>+</a:t>
            </a:r>
            <a:r>
              <a:rPr lang="en-US" sz="1100" dirty="0"/>
              <a:t>)</a:t>
            </a:r>
            <a:endParaRPr lang="en-US" sz="1100" baseline="-25000" dirty="0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E547F1CA-C857-7247-AE64-35320CE8AC97}"/>
              </a:ext>
            </a:extLst>
          </p:cNvPr>
          <p:cNvSpPr/>
          <p:nvPr/>
        </p:nvSpPr>
        <p:spPr>
          <a:xfrm>
            <a:off x="6322785" y="365829"/>
            <a:ext cx="1036481" cy="442314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Nitrogen oxide (NO)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ADA66A01-055F-064C-9237-828592F38A60}"/>
              </a:ext>
            </a:extLst>
          </p:cNvPr>
          <p:cNvSpPr/>
          <p:nvPr/>
        </p:nvSpPr>
        <p:spPr>
          <a:xfrm>
            <a:off x="2725029" y="995671"/>
            <a:ext cx="1036481" cy="442314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Nitrous oxide (N</a:t>
            </a:r>
            <a:r>
              <a:rPr lang="en-US" sz="1100" baseline="-25000" dirty="0"/>
              <a:t>2</a:t>
            </a:r>
            <a:r>
              <a:rPr lang="en-US" sz="1100" dirty="0"/>
              <a:t>O)</a:t>
            </a:r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7314285E-F931-1D42-BCF6-3AD1D49ABD8F}"/>
              </a:ext>
            </a:extLst>
          </p:cNvPr>
          <p:cNvSpPr/>
          <p:nvPr/>
        </p:nvSpPr>
        <p:spPr>
          <a:xfrm>
            <a:off x="5445966" y="2949000"/>
            <a:ext cx="1036481" cy="442314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Nitrite (NO</a:t>
            </a:r>
            <a:r>
              <a:rPr lang="en-US" sz="1100" baseline="-25000" dirty="0"/>
              <a:t>2</a:t>
            </a:r>
            <a:r>
              <a:rPr lang="en-US" sz="1100" dirty="0"/>
              <a:t>-)</a:t>
            </a:r>
            <a:endParaRPr lang="en-US" sz="1100" baseline="-25000" dirty="0"/>
          </a:p>
        </p:txBody>
      </p:sp>
      <p:cxnSp>
        <p:nvCxnSpPr>
          <p:cNvPr id="65" name="Straight Arrow Connector 64">
            <a:extLst>
              <a:ext uri="{FF2B5EF4-FFF2-40B4-BE49-F238E27FC236}">
                <a16:creationId xmlns:a16="http://schemas.microsoft.com/office/drawing/2014/main" id="{3837E7CD-84D3-7E47-9CF0-83209F9195FE}"/>
              </a:ext>
            </a:extLst>
          </p:cNvPr>
          <p:cNvCxnSpPr>
            <a:cxnSpLocks/>
          </p:cNvCxnSpPr>
          <p:nvPr/>
        </p:nvCxnSpPr>
        <p:spPr>
          <a:xfrm flipH="1">
            <a:off x="3761510" y="718201"/>
            <a:ext cx="544838" cy="277470"/>
          </a:xfrm>
          <a:prstGeom prst="straightConnector1">
            <a:avLst/>
          </a:prstGeom>
          <a:ln w="5715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Straight Arrow Connector 66">
            <a:extLst>
              <a:ext uri="{FF2B5EF4-FFF2-40B4-BE49-F238E27FC236}">
                <a16:creationId xmlns:a16="http://schemas.microsoft.com/office/drawing/2014/main" id="{0BB9B59C-5447-A745-98ED-434CF98337A9}"/>
              </a:ext>
            </a:extLst>
          </p:cNvPr>
          <p:cNvCxnSpPr>
            <a:cxnSpLocks/>
          </p:cNvCxnSpPr>
          <p:nvPr/>
        </p:nvCxnSpPr>
        <p:spPr>
          <a:xfrm flipH="1">
            <a:off x="2974128" y="1466200"/>
            <a:ext cx="269141" cy="351384"/>
          </a:xfrm>
          <a:prstGeom prst="straightConnector1">
            <a:avLst/>
          </a:prstGeom>
          <a:ln w="5715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Straight Arrow Connector 68">
            <a:extLst>
              <a:ext uri="{FF2B5EF4-FFF2-40B4-BE49-F238E27FC236}">
                <a16:creationId xmlns:a16="http://schemas.microsoft.com/office/drawing/2014/main" id="{2C531E0A-68C8-AB4B-8A8A-B724A73F7CEA}"/>
              </a:ext>
            </a:extLst>
          </p:cNvPr>
          <p:cNvCxnSpPr>
            <a:cxnSpLocks/>
          </p:cNvCxnSpPr>
          <p:nvPr/>
        </p:nvCxnSpPr>
        <p:spPr>
          <a:xfrm flipH="1">
            <a:off x="2725029" y="2535766"/>
            <a:ext cx="1" cy="332942"/>
          </a:xfrm>
          <a:prstGeom prst="straightConnector1">
            <a:avLst/>
          </a:prstGeom>
          <a:ln w="5715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Straight Arrow Connector 70">
            <a:extLst>
              <a:ext uri="{FF2B5EF4-FFF2-40B4-BE49-F238E27FC236}">
                <a16:creationId xmlns:a16="http://schemas.microsoft.com/office/drawing/2014/main" id="{B998732D-EF53-E04F-A3A2-97FB5D796991}"/>
              </a:ext>
            </a:extLst>
          </p:cNvPr>
          <p:cNvCxnSpPr>
            <a:cxnSpLocks/>
          </p:cNvCxnSpPr>
          <p:nvPr/>
        </p:nvCxnSpPr>
        <p:spPr>
          <a:xfrm>
            <a:off x="2632817" y="3439582"/>
            <a:ext cx="175073" cy="479587"/>
          </a:xfrm>
          <a:prstGeom prst="straightConnector1">
            <a:avLst/>
          </a:prstGeom>
          <a:ln w="5715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Straight Arrow Connector 72">
            <a:extLst>
              <a:ext uri="{FF2B5EF4-FFF2-40B4-BE49-F238E27FC236}">
                <a16:creationId xmlns:a16="http://schemas.microsoft.com/office/drawing/2014/main" id="{6BD59EAD-0AA6-8C43-A20D-D3F6BC97440A}"/>
              </a:ext>
            </a:extLst>
          </p:cNvPr>
          <p:cNvCxnSpPr>
            <a:cxnSpLocks/>
          </p:cNvCxnSpPr>
          <p:nvPr/>
        </p:nvCxnSpPr>
        <p:spPr>
          <a:xfrm>
            <a:off x="3015330" y="4587308"/>
            <a:ext cx="392101" cy="254900"/>
          </a:xfrm>
          <a:prstGeom prst="straightConnector1">
            <a:avLst/>
          </a:prstGeom>
          <a:ln w="5715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Straight Arrow Connector 75">
            <a:extLst>
              <a:ext uri="{FF2B5EF4-FFF2-40B4-BE49-F238E27FC236}">
                <a16:creationId xmlns:a16="http://schemas.microsoft.com/office/drawing/2014/main" id="{C5405577-1369-7444-8596-EF150A314EDE}"/>
              </a:ext>
            </a:extLst>
          </p:cNvPr>
          <p:cNvCxnSpPr>
            <a:cxnSpLocks/>
            <a:endCxn id="38" idx="1"/>
          </p:cNvCxnSpPr>
          <p:nvPr/>
        </p:nvCxnSpPr>
        <p:spPr>
          <a:xfrm>
            <a:off x="4570511" y="4847714"/>
            <a:ext cx="884907" cy="0"/>
          </a:xfrm>
          <a:prstGeom prst="straightConnector1">
            <a:avLst/>
          </a:prstGeom>
          <a:ln w="5715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Straight Arrow Connector 79">
            <a:extLst>
              <a:ext uri="{FF2B5EF4-FFF2-40B4-BE49-F238E27FC236}">
                <a16:creationId xmlns:a16="http://schemas.microsoft.com/office/drawing/2014/main" id="{2FD42A59-1623-B24E-91FD-A1E2C59D2AEB}"/>
              </a:ext>
            </a:extLst>
          </p:cNvPr>
          <p:cNvCxnSpPr>
            <a:cxnSpLocks/>
          </p:cNvCxnSpPr>
          <p:nvPr/>
        </p:nvCxnSpPr>
        <p:spPr>
          <a:xfrm>
            <a:off x="6529883" y="4830484"/>
            <a:ext cx="751779" cy="0"/>
          </a:xfrm>
          <a:prstGeom prst="straightConnector1">
            <a:avLst/>
          </a:prstGeom>
          <a:ln w="5715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Straight Arrow Connector 81">
            <a:extLst>
              <a:ext uri="{FF2B5EF4-FFF2-40B4-BE49-F238E27FC236}">
                <a16:creationId xmlns:a16="http://schemas.microsoft.com/office/drawing/2014/main" id="{7EF63EA5-10DA-BF47-89B2-34B9A3644C36}"/>
              </a:ext>
            </a:extLst>
          </p:cNvPr>
          <p:cNvCxnSpPr>
            <a:cxnSpLocks/>
          </p:cNvCxnSpPr>
          <p:nvPr/>
        </p:nvCxnSpPr>
        <p:spPr>
          <a:xfrm flipV="1">
            <a:off x="8509297" y="4477255"/>
            <a:ext cx="403860" cy="287592"/>
          </a:xfrm>
          <a:prstGeom prst="straightConnector1">
            <a:avLst/>
          </a:prstGeom>
          <a:ln w="5715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Straight Arrow Connector 84">
            <a:extLst>
              <a:ext uri="{FF2B5EF4-FFF2-40B4-BE49-F238E27FC236}">
                <a16:creationId xmlns:a16="http://schemas.microsoft.com/office/drawing/2014/main" id="{E5407D03-0E3D-D34F-99D2-8C8004110367}"/>
              </a:ext>
            </a:extLst>
          </p:cNvPr>
          <p:cNvCxnSpPr>
            <a:cxnSpLocks/>
          </p:cNvCxnSpPr>
          <p:nvPr/>
        </p:nvCxnSpPr>
        <p:spPr>
          <a:xfrm flipV="1">
            <a:off x="9120524" y="3570695"/>
            <a:ext cx="104499" cy="422742"/>
          </a:xfrm>
          <a:prstGeom prst="straightConnector1">
            <a:avLst/>
          </a:prstGeom>
          <a:ln w="5715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Straight Arrow Connector 87">
            <a:extLst>
              <a:ext uri="{FF2B5EF4-FFF2-40B4-BE49-F238E27FC236}">
                <a16:creationId xmlns:a16="http://schemas.microsoft.com/office/drawing/2014/main" id="{F4B1A098-25CE-3640-957A-3D04E48ABEEB}"/>
              </a:ext>
            </a:extLst>
          </p:cNvPr>
          <p:cNvCxnSpPr>
            <a:cxnSpLocks/>
          </p:cNvCxnSpPr>
          <p:nvPr/>
        </p:nvCxnSpPr>
        <p:spPr>
          <a:xfrm flipV="1">
            <a:off x="9310767" y="2527354"/>
            <a:ext cx="0" cy="341354"/>
          </a:xfrm>
          <a:prstGeom prst="straightConnector1">
            <a:avLst/>
          </a:prstGeom>
          <a:ln w="5715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Straight Arrow Connector 96">
            <a:extLst>
              <a:ext uri="{FF2B5EF4-FFF2-40B4-BE49-F238E27FC236}">
                <a16:creationId xmlns:a16="http://schemas.microsoft.com/office/drawing/2014/main" id="{1682D81A-1C80-8F48-91A2-5CE6A4B179A0}"/>
              </a:ext>
            </a:extLst>
          </p:cNvPr>
          <p:cNvCxnSpPr>
            <a:cxnSpLocks/>
          </p:cNvCxnSpPr>
          <p:nvPr/>
        </p:nvCxnSpPr>
        <p:spPr>
          <a:xfrm flipH="1" flipV="1">
            <a:off x="8764453" y="1620308"/>
            <a:ext cx="408320" cy="398271"/>
          </a:xfrm>
          <a:prstGeom prst="straightConnector1">
            <a:avLst/>
          </a:prstGeom>
          <a:ln w="5715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" name="Straight Arrow Connector 98">
            <a:extLst>
              <a:ext uri="{FF2B5EF4-FFF2-40B4-BE49-F238E27FC236}">
                <a16:creationId xmlns:a16="http://schemas.microsoft.com/office/drawing/2014/main" id="{AB5AD5CE-7A1A-7646-AFEC-04E8547F5F56}"/>
              </a:ext>
            </a:extLst>
          </p:cNvPr>
          <p:cNvCxnSpPr>
            <a:cxnSpLocks/>
          </p:cNvCxnSpPr>
          <p:nvPr/>
        </p:nvCxnSpPr>
        <p:spPr>
          <a:xfrm flipH="1" flipV="1">
            <a:off x="7443025" y="575896"/>
            <a:ext cx="713748" cy="410231"/>
          </a:xfrm>
          <a:prstGeom prst="straightConnector1">
            <a:avLst/>
          </a:prstGeom>
          <a:ln w="5715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Straight Arrow Connector 100">
            <a:extLst>
              <a:ext uri="{FF2B5EF4-FFF2-40B4-BE49-F238E27FC236}">
                <a16:creationId xmlns:a16="http://schemas.microsoft.com/office/drawing/2014/main" id="{072B6AFE-80B4-D146-BA29-F23F5B61B803}"/>
              </a:ext>
            </a:extLst>
          </p:cNvPr>
          <p:cNvCxnSpPr>
            <a:cxnSpLocks/>
          </p:cNvCxnSpPr>
          <p:nvPr/>
        </p:nvCxnSpPr>
        <p:spPr>
          <a:xfrm flipH="1">
            <a:off x="5583094" y="557704"/>
            <a:ext cx="655054" cy="0"/>
          </a:xfrm>
          <a:prstGeom prst="straightConnector1">
            <a:avLst/>
          </a:prstGeom>
          <a:ln w="5715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" name="Straight Arrow Connector 104">
            <a:extLst>
              <a:ext uri="{FF2B5EF4-FFF2-40B4-BE49-F238E27FC236}">
                <a16:creationId xmlns:a16="http://schemas.microsoft.com/office/drawing/2014/main" id="{6533AD07-18AA-EC48-9F24-374F078A373D}"/>
              </a:ext>
            </a:extLst>
          </p:cNvPr>
          <p:cNvCxnSpPr>
            <a:cxnSpLocks/>
          </p:cNvCxnSpPr>
          <p:nvPr/>
        </p:nvCxnSpPr>
        <p:spPr>
          <a:xfrm flipH="1">
            <a:off x="6626608" y="2306197"/>
            <a:ext cx="2084618" cy="12402"/>
          </a:xfrm>
          <a:prstGeom prst="straightConnector1">
            <a:avLst/>
          </a:prstGeom>
          <a:ln w="5715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Straight Arrow Connector 106">
            <a:extLst>
              <a:ext uri="{FF2B5EF4-FFF2-40B4-BE49-F238E27FC236}">
                <a16:creationId xmlns:a16="http://schemas.microsoft.com/office/drawing/2014/main" id="{5B1E63A5-D797-C140-B2CC-BBDFB3E83E96}"/>
              </a:ext>
            </a:extLst>
          </p:cNvPr>
          <p:cNvCxnSpPr>
            <a:cxnSpLocks/>
          </p:cNvCxnSpPr>
          <p:nvPr/>
        </p:nvCxnSpPr>
        <p:spPr>
          <a:xfrm flipH="1">
            <a:off x="5973659" y="2698353"/>
            <a:ext cx="1" cy="219710"/>
          </a:xfrm>
          <a:prstGeom prst="straightConnector1">
            <a:avLst/>
          </a:prstGeom>
          <a:ln w="5715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" name="Straight Arrow Connector 109">
            <a:extLst>
              <a:ext uri="{FF2B5EF4-FFF2-40B4-BE49-F238E27FC236}">
                <a16:creationId xmlns:a16="http://schemas.microsoft.com/office/drawing/2014/main" id="{6854A98E-17D2-5047-8BA4-95BE910B5364}"/>
              </a:ext>
            </a:extLst>
          </p:cNvPr>
          <p:cNvCxnSpPr>
            <a:cxnSpLocks/>
          </p:cNvCxnSpPr>
          <p:nvPr/>
        </p:nvCxnSpPr>
        <p:spPr>
          <a:xfrm flipH="1">
            <a:off x="5973658" y="3465722"/>
            <a:ext cx="1" cy="219710"/>
          </a:xfrm>
          <a:prstGeom prst="straightConnector1">
            <a:avLst/>
          </a:prstGeom>
          <a:ln w="5715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" name="Straight Arrow Connector 110">
            <a:extLst>
              <a:ext uri="{FF2B5EF4-FFF2-40B4-BE49-F238E27FC236}">
                <a16:creationId xmlns:a16="http://schemas.microsoft.com/office/drawing/2014/main" id="{A2A00D09-3691-A340-8001-F77165CD032D}"/>
              </a:ext>
            </a:extLst>
          </p:cNvPr>
          <p:cNvCxnSpPr>
            <a:cxnSpLocks/>
          </p:cNvCxnSpPr>
          <p:nvPr/>
        </p:nvCxnSpPr>
        <p:spPr>
          <a:xfrm flipH="1">
            <a:off x="5973220" y="4367598"/>
            <a:ext cx="1" cy="219710"/>
          </a:xfrm>
          <a:prstGeom prst="straightConnector1">
            <a:avLst/>
          </a:prstGeom>
          <a:ln w="5715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" name="Straight Arrow Connector 111">
            <a:extLst>
              <a:ext uri="{FF2B5EF4-FFF2-40B4-BE49-F238E27FC236}">
                <a16:creationId xmlns:a16="http://schemas.microsoft.com/office/drawing/2014/main" id="{D6B4ACC7-1E4B-F142-9E20-4330B428BFC2}"/>
              </a:ext>
            </a:extLst>
          </p:cNvPr>
          <p:cNvCxnSpPr>
            <a:cxnSpLocks/>
          </p:cNvCxnSpPr>
          <p:nvPr/>
        </p:nvCxnSpPr>
        <p:spPr>
          <a:xfrm>
            <a:off x="5701651" y="5108120"/>
            <a:ext cx="1" cy="390978"/>
          </a:xfrm>
          <a:prstGeom prst="straightConnector1">
            <a:avLst/>
          </a:prstGeom>
          <a:ln w="5715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4" name="Straight Arrow Connector 113">
            <a:extLst>
              <a:ext uri="{FF2B5EF4-FFF2-40B4-BE49-F238E27FC236}">
                <a16:creationId xmlns:a16="http://schemas.microsoft.com/office/drawing/2014/main" id="{18CCE7D4-8E33-CF47-91C7-79291F82C80B}"/>
              </a:ext>
            </a:extLst>
          </p:cNvPr>
          <p:cNvCxnSpPr>
            <a:cxnSpLocks/>
          </p:cNvCxnSpPr>
          <p:nvPr/>
        </p:nvCxnSpPr>
        <p:spPr>
          <a:xfrm flipV="1">
            <a:off x="6208907" y="5108120"/>
            <a:ext cx="0" cy="390978"/>
          </a:xfrm>
          <a:prstGeom prst="straightConnector1">
            <a:avLst/>
          </a:prstGeom>
          <a:ln w="5715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8" name="Straight Arrow Connector 117">
            <a:extLst>
              <a:ext uri="{FF2B5EF4-FFF2-40B4-BE49-F238E27FC236}">
                <a16:creationId xmlns:a16="http://schemas.microsoft.com/office/drawing/2014/main" id="{8F81250A-EDC2-BC4E-A1A0-3C023360A2D4}"/>
              </a:ext>
            </a:extLst>
          </p:cNvPr>
          <p:cNvCxnSpPr>
            <a:cxnSpLocks/>
          </p:cNvCxnSpPr>
          <p:nvPr/>
        </p:nvCxnSpPr>
        <p:spPr>
          <a:xfrm>
            <a:off x="3915645" y="1692972"/>
            <a:ext cx="818972" cy="0"/>
          </a:xfrm>
          <a:prstGeom prst="straightConnector1">
            <a:avLst/>
          </a:prstGeom>
          <a:ln w="5715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0" name="TextBox 119">
            <a:extLst>
              <a:ext uri="{FF2B5EF4-FFF2-40B4-BE49-F238E27FC236}">
                <a16:creationId xmlns:a16="http://schemas.microsoft.com/office/drawing/2014/main" id="{E8088647-D7EE-E34D-846E-055EC48B4E5E}"/>
              </a:ext>
            </a:extLst>
          </p:cNvPr>
          <p:cNvSpPr txBox="1"/>
          <p:nvPr/>
        </p:nvSpPr>
        <p:spPr>
          <a:xfrm>
            <a:off x="4739494" y="1547736"/>
            <a:ext cx="189432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Flow of nitrogen</a:t>
            </a:r>
          </a:p>
        </p:txBody>
      </p:sp>
      <p:sp>
        <p:nvSpPr>
          <p:cNvPr id="122" name="Rectangle 121">
            <a:extLst>
              <a:ext uri="{FF2B5EF4-FFF2-40B4-BE49-F238E27FC236}">
                <a16:creationId xmlns:a16="http://schemas.microsoft.com/office/drawing/2014/main" id="{3687A0F1-1B16-5149-99F1-52830EB1841E}"/>
              </a:ext>
            </a:extLst>
          </p:cNvPr>
          <p:cNvSpPr/>
          <p:nvPr/>
        </p:nvSpPr>
        <p:spPr>
          <a:xfrm>
            <a:off x="3827169" y="1503782"/>
            <a:ext cx="2018670" cy="33799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4" name="TextBox 123">
            <a:extLst>
              <a:ext uri="{FF2B5EF4-FFF2-40B4-BE49-F238E27FC236}">
                <a16:creationId xmlns:a16="http://schemas.microsoft.com/office/drawing/2014/main" id="{512705C4-6F92-A446-B6A2-74713399BA5D}"/>
              </a:ext>
            </a:extLst>
          </p:cNvPr>
          <p:cNvSpPr txBox="1"/>
          <p:nvPr/>
        </p:nvSpPr>
        <p:spPr>
          <a:xfrm>
            <a:off x="9376748" y="3634270"/>
            <a:ext cx="161065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Nitrification</a:t>
            </a:r>
          </a:p>
        </p:txBody>
      </p:sp>
      <p:sp>
        <p:nvSpPr>
          <p:cNvPr id="126" name="TextBox 125">
            <a:extLst>
              <a:ext uri="{FF2B5EF4-FFF2-40B4-BE49-F238E27FC236}">
                <a16:creationId xmlns:a16="http://schemas.microsoft.com/office/drawing/2014/main" id="{3CAB7149-4D0F-1948-960D-8673253F2D56}"/>
              </a:ext>
            </a:extLst>
          </p:cNvPr>
          <p:cNvSpPr txBox="1"/>
          <p:nvPr/>
        </p:nvSpPr>
        <p:spPr>
          <a:xfrm>
            <a:off x="2508040" y="341340"/>
            <a:ext cx="170943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92D050"/>
                </a:solidFill>
              </a:rPr>
              <a:t>Denitrification</a:t>
            </a:r>
          </a:p>
        </p:txBody>
      </p:sp>
      <p:sp>
        <p:nvSpPr>
          <p:cNvPr id="129" name="TextBox 128">
            <a:extLst>
              <a:ext uri="{FF2B5EF4-FFF2-40B4-BE49-F238E27FC236}">
                <a16:creationId xmlns:a16="http://schemas.microsoft.com/office/drawing/2014/main" id="{7F8EBF4F-BB63-7848-9E1F-852BD188A1DC}"/>
              </a:ext>
            </a:extLst>
          </p:cNvPr>
          <p:cNvSpPr txBox="1"/>
          <p:nvPr/>
        </p:nvSpPr>
        <p:spPr>
          <a:xfrm>
            <a:off x="4267262" y="2831804"/>
            <a:ext cx="137309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00B0F0"/>
                </a:solidFill>
              </a:rPr>
              <a:t>Nitrate reduction</a:t>
            </a:r>
          </a:p>
        </p:txBody>
      </p:sp>
    </p:spTree>
    <p:extLst>
      <p:ext uri="{BB962C8B-B14F-4D97-AF65-F5344CB8AC3E}">
        <p14:creationId xmlns:p14="http://schemas.microsoft.com/office/powerpoint/2010/main" val="366977570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7208</TotalTime>
  <Words>223</Words>
  <Application>Microsoft Macintosh PowerPoint</Application>
  <PresentationFormat>Widescreen</PresentationFormat>
  <Paragraphs>98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16.0016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Microsoft Office User</dc:creator>
  <cp:lastModifiedBy>Microsoft Office User</cp:lastModifiedBy>
  <cp:revision>16</cp:revision>
  <dcterms:created xsi:type="dcterms:W3CDTF">2021-01-27T07:10:25Z</dcterms:created>
  <dcterms:modified xsi:type="dcterms:W3CDTF">2021-02-01T07:18:42Z</dcterms:modified>
</cp:coreProperties>
</file>