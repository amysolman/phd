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70" r:id="rId3"/>
    <p:sldId id="280" r:id="rId4"/>
    <p:sldId id="281" r:id="rId5"/>
    <p:sldId id="283" r:id="rId6"/>
    <p:sldId id="282" r:id="rId7"/>
    <p:sldId id="287" r:id="rId8"/>
    <p:sldId id="299" r:id="rId9"/>
    <p:sldId id="300" r:id="rId10"/>
    <p:sldId id="301" r:id="rId11"/>
    <p:sldId id="302" r:id="rId12"/>
    <p:sldId id="309" r:id="rId13"/>
    <p:sldId id="310" r:id="rId14"/>
    <p:sldId id="258" r:id="rId15"/>
    <p:sldId id="259" r:id="rId16"/>
    <p:sldId id="261" r:id="rId17"/>
    <p:sldId id="277" r:id="rId18"/>
    <p:sldId id="278" r:id="rId19"/>
    <p:sldId id="293" r:id="rId20"/>
    <p:sldId id="271" r:id="rId21"/>
    <p:sldId id="265" r:id="rId22"/>
    <p:sldId id="260" r:id="rId23"/>
    <p:sldId id="295" r:id="rId24"/>
    <p:sldId id="262" r:id="rId25"/>
    <p:sldId id="294" r:id="rId26"/>
    <p:sldId id="298" r:id="rId27"/>
    <p:sldId id="296" r:id="rId28"/>
    <p:sldId id="29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3"/>
    <a:srgbClr val="5C9BD5"/>
    <a:srgbClr val="3CE29B"/>
    <a:srgbClr val="7A81FF"/>
    <a:srgbClr val="909090"/>
    <a:srgbClr val="76D6FF"/>
    <a:srgbClr val="0096FF"/>
    <a:srgbClr val="00FB92"/>
    <a:srgbClr val="00FDFF"/>
    <a:srgbClr val="8E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4"/>
    <p:restoredTop sz="83266"/>
  </p:normalViewPr>
  <p:slideViewPr>
    <p:cSldViewPr snapToGrid="0" snapToObjects="1">
      <p:cViewPr>
        <p:scale>
          <a:sx n="90" d="100"/>
          <a:sy n="90" d="100"/>
        </p:scale>
        <p:origin x="1992"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B4054-FB37-8840-90AB-98D7FF6893B3}" type="doc">
      <dgm:prSet loTypeId="urn:microsoft.com/office/officeart/2005/8/layout/chevron1" loCatId="" qsTypeId="urn:microsoft.com/office/officeart/2005/8/quickstyle/simple1" qsCatId="simple" csTypeId="urn:microsoft.com/office/officeart/2005/8/colors/colorful4" csCatId="colorful" phldr="1"/>
      <dgm:spPr/>
    </dgm:pt>
    <dgm:pt modelId="{85A8E8F9-220E-2E4B-BD17-17B84BAFCEE3}">
      <dgm:prSet phldrT="[Text]"/>
      <dgm:spPr/>
      <dgm:t>
        <a:bodyPr/>
        <a:lstStyle/>
        <a:p>
          <a:r>
            <a:rPr lang="en-US" dirty="0"/>
            <a:t>Multivariate Analysis</a:t>
          </a:r>
        </a:p>
      </dgm:t>
    </dgm:pt>
    <dgm:pt modelId="{2F98D148-B91A-6C4F-955D-7EF70029142A}" type="parTrans" cxnId="{3B2C89EA-8598-A44E-8425-4DFD9B15F114}">
      <dgm:prSet/>
      <dgm:spPr/>
      <dgm:t>
        <a:bodyPr/>
        <a:lstStyle/>
        <a:p>
          <a:endParaRPr lang="en-US"/>
        </a:p>
      </dgm:t>
    </dgm:pt>
    <dgm:pt modelId="{774C9424-02F2-6340-9585-68BEEC283337}" type="sibTrans" cxnId="{3B2C89EA-8598-A44E-8425-4DFD9B15F114}">
      <dgm:prSet/>
      <dgm:spPr/>
      <dgm:t>
        <a:bodyPr/>
        <a:lstStyle/>
        <a:p>
          <a:endParaRPr lang="en-US"/>
        </a:p>
      </dgm:t>
    </dgm:pt>
    <dgm:pt modelId="{B5958D73-7CAF-0C4E-93E6-55A6971A912F}">
      <dgm:prSet/>
      <dgm:spPr/>
      <dgm:t>
        <a:bodyPr/>
        <a:lstStyle/>
        <a:p>
          <a:r>
            <a:rPr lang="en-US" dirty="0"/>
            <a:t>Neutral Model</a:t>
          </a:r>
        </a:p>
      </dgm:t>
    </dgm:pt>
    <dgm:pt modelId="{9B3B1D5C-9D31-F94E-BD16-E7D062719ED5}" type="parTrans" cxnId="{F6E6DCDC-089A-6B43-B024-03C361F43633}">
      <dgm:prSet/>
      <dgm:spPr/>
      <dgm:t>
        <a:bodyPr/>
        <a:lstStyle/>
        <a:p>
          <a:endParaRPr lang="en-US"/>
        </a:p>
      </dgm:t>
    </dgm:pt>
    <dgm:pt modelId="{84D8F0DF-497A-B248-B6BD-53C772326452}" type="sibTrans" cxnId="{F6E6DCDC-089A-6B43-B024-03C361F43633}">
      <dgm:prSet/>
      <dgm:spPr/>
      <dgm:t>
        <a:bodyPr/>
        <a:lstStyle/>
        <a:p>
          <a:endParaRPr lang="en-US"/>
        </a:p>
      </dgm:t>
    </dgm:pt>
    <dgm:pt modelId="{611AFF1D-5007-4F44-AF6E-6B036E64DD0B}">
      <dgm:prSet/>
      <dgm:spPr/>
      <dgm:t>
        <a:bodyPr/>
        <a:lstStyle/>
        <a:p>
          <a:r>
            <a:rPr lang="en-US" dirty="0"/>
            <a:t>Null Model</a:t>
          </a:r>
        </a:p>
      </dgm:t>
    </dgm:pt>
    <dgm:pt modelId="{B1290F56-1B2F-A84E-A54F-60F5DA1B7882}" type="parTrans" cxnId="{34659777-6745-184E-B0FD-81FA3738ADE1}">
      <dgm:prSet/>
      <dgm:spPr/>
      <dgm:t>
        <a:bodyPr/>
        <a:lstStyle/>
        <a:p>
          <a:endParaRPr lang="en-US"/>
        </a:p>
      </dgm:t>
    </dgm:pt>
    <dgm:pt modelId="{C2B5D443-1AEA-284F-B1EB-11FBB145377B}" type="sibTrans" cxnId="{34659777-6745-184E-B0FD-81FA3738ADE1}">
      <dgm:prSet/>
      <dgm:spPr/>
      <dgm:t>
        <a:bodyPr/>
        <a:lstStyle/>
        <a:p>
          <a:endParaRPr lang="en-US"/>
        </a:p>
      </dgm:t>
    </dgm:pt>
    <dgm:pt modelId="{7EFDD187-55F0-6147-A8DE-A95F6FE37D83}">
      <dgm:prSet/>
      <dgm:spPr/>
      <dgm:t>
        <a:bodyPr/>
        <a:lstStyle/>
        <a:p>
          <a:r>
            <a:rPr lang="en-US" dirty="0"/>
            <a:t>Network Analysis</a:t>
          </a:r>
        </a:p>
      </dgm:t>
    </dgm:pt>
    <dgm:pt modelId="{9A7ECF4C-1FDC-4241-AD73-239FB1D43CF9}" type="parTrans" cxnId="{3502BEA6-6CBA-2447-A2DA-5FA519569872}">
      <dgm:prSet/>
      <dgm:spPr/>
      <dgm:t>
        <a:bodyPr/>
        <a:lstStyle/>
        <a:p>
          <a:endParaRPr lang="en-US"/>
        </a:p>
      </dgm:t>
    </dgm:pt>
    <dgm:pt modelId="{16FE4422-765B-2144-99EA-F3FECE73A4D8}" type="sibTrans" cxnId="{3502BEA6-6CBA-2447-A2DA-5FA519569872}">
      <dgm:prSet/>
      <dgm:spPr/>
      <dgm:t>
        <a:bodyPr/>
        <a:lstStyle/>
        <a:p>
          <a:endParaRPr lang="en-US"/>
        </a:p>
      </dgm:t>
    </dgm:pt>
    <dgm:pt modelId="{8B93FFDE-05A5-1545-8E2F-A0B473160679}" type="pres">
      <dgm:prSet presAssocID="{633B4054-FB37-8840-90AB-98D7FF6893B3}" presName="Name0" presStyleCnt="0">
        <dgm:presLayoutVars>
          <dgm:dir/>
          <dgm:animLvl val="lvl"/>
          <dgm:resizeHandles val="exact"/>
        </dgm:presLayoutVars>
      </dgm:prSet>
      <dgm:spPr/>
    </dgm:pt>
    <dgm:pt modelId="{DBC67D4B-288C-C941-9948-4D7CB11DC5C5}" type="pres">
      <dgm:prSet presAssocID="{85A8E8F9-220E-2E4B-BD17-17B84BAFCEE3}" presName="parTxOnly" presStyleLbl="node1" presStyleIdx="0" presStyleCnt="4">
        <dgm:presLayoutVars>
          <dgm:chMax val="0"/>
          <dgm:chPref val="0"/>
          <dgm:bulletEnabled val="1"/>
        </dgm:presLayoutVars>
      </dgm:prSet>
      <dgm:spPr/>
    </dgm:pt>
    <dgm:pt modelId="{D10A12CF-7369-5641-88E3-F51093964655}" type="pres">
      <dgm:prSet presAssocID="{774C9424-02F2-6340-9585-68BEEC283337}" presName="parTxOnlySpace" presStyleCnt="0"/>
      <dgm:spPr/>
    </dgm:pt>
    <dgm:pt modelId="{27C5A505-81DC-A445-992D-1BC4566AB6F2}" type="pres">
      <dgm:prSet presAssocID="{B5958D73-7CAF-0C4E-93E6-55A6971A912F}" presName="parTxOnly" presStyleLbl="node1" presStyleIdx="1" presStyleCnt="4">
        <dgm:presLayoutVars>
          <dgm:chMax val="0"/>
          <dgm:chPref val="0"/>
          <dgm:bulletEnabled val="1"/>
        </dgm:presLayoutVars>
      </dgm:prSet>
      <dgm:spPr/>
    </dgm:pt>
    <dgm:pt modelId="{7864293B-1409-F449-B4CF-BF9CB218EB2D}" type="pres">
      <dgm:prSet presAssocID="{84D8F0DF-497A-B248-B6BD-53C772326452}" presName="parTxOnlySpace" presStyleCnt="0"/>
      <dgm:spPr/>
    </dgm:pt>
    <dgm:pt modelId="{CF60189A-F0BD-1B41-89D2-307F1DA955E7}" type="pres">
      <dgm:prSet presAssocID="{611AFF1D-5007-4F44-AF6E-6B036E64DD0B}" presName="parTxOnly" presStyleLbl="node1" presStyleIdx="2" presStyleCnt="4">
        <dgm:presLayoutVars>
          <dgm:chMax val="0"/>
          <dgm:chPref val="0"/>
          <dgm:bulletEnabled val="1"/>
        </dgm:presLayoutVars>
      </dgm:prSet>
      <dgm:spPr/>
    </dgm:pt>
    <dgm:pt modelId="{EEAAC419-0981-234A-943A-98901572F4FF}" type="pres">
      <dgm:prSet presAssocID="{C2B5D443-1AEA-284F-B1EB-11FBB145377B}" presName="parTxOnlySpace" presStyleCnt="0"/>
      <dgm:spPr/>
    </dgm:pt>
    <dgm:pt modelId="{4C6D95A5-AC6D-914C-B774-93CD0C61E4A3}" type="pres">
      <dgm:prSet presAssocID="{7EFDD187-55F0-6147-A8DE-A95F6FE37D83}" presName="parTxOnly" presStyleLbl="node1" presStyleIdx="3" presStyleCnt="4">
        <dgm:presLayoutVars>
          <dgm:chMax val="0"/>
          <dgm:chPref val="0"/>
          <dgm:bulletEnabled val="1"/>
        </dgm:presLayoutVars>
      </dgm:prSet>
      <dgm:spPr/>
    </dgm:pt>
  </dgm:ptLst>
  <dgm:cxnLst>
    <dgm:cxn modelId="{22A64944-DBAC-4041-AD50-EE115E7AF28A}" type="presOf" srcId="{7EFDD187-55F0-6147-A8DE-A95F6FE37D83}" destId="{4C6D95A5-AC6D-914C-B774-93CD0C61E4A3}" srcOrd="0" destOrd="0" presId="urn:microsoft.com/office/officeart/2005/8/layout/chevron1"/>
    <dgm:cxn modelId="{D6504845-27F3-A74D-AB4F-750BB5048E25}" type="presOf" srcId="{611AFF1D-5007-4F44-AF6E-6B036E64DD0B}" destId="{CF60189A-F0BD-1B41-89D2-307F1DA955E7}" srcOrd="0" destOrd="0" presId="urn:microsoft.com/office/officeart/2005/8/layout/chevron1"/>
    <dgm:cxn modelId="{03D37A73-2A07-0748-860F-A0885E972A90}" type="presOf" srcId="{B5958D73-7CAF-0C4E-93E6-55A6971A912F}" destId="{27C5A505-81DC-A445-992D-1BC4566AB6F2}" srcOrd="0" destOrd="0" presId="urn:microsoft.com/office/officeart/2005/8/layout/chevron1"/>
    <dgm:cxn modelId="{34659777-6745-184E-B0FD-81FA3738ADE1}" srcId="{633B4054-FB37-8840-90AB-98D7FF6893B3}" destId="{611AFF1D-5007-4F44-AF6E-6B036E64DD0B}" srcOrd="2" destOrd="0" parTransId="{B1290F56-1B2F-A84E-A54F-60F5DA1B7882}" sibTransId="{C2B5D443-1AEA-284F-B1EB-11FBB145377B}"/>
    <dgm:cxn modelId="{3502BEA6-6CBA-2447-A2DA-5FA519569872}" srcId="{633B4054-FB37-8840-90AB-98D7FF6893B3}" destId="{7EFDD187-55F0-6147-A8DE-A95F6FE37D83}" srcOrd="3" destOrd="0" parTransId="{9A7ECF4C-1FDC-4241-AD73-239FB1D43CF9}" sibTransId="{16FE4422-765B-2144-99EA-F3FECE73A4D8}"/>
    <dgm:cxn modelId="{F6E6DCDC-089A-6B43-B024-03C361F43633}" srcId="{633B4054-FB37-8840-90AB-98D7FF6893B3}" destId="{B5958D73-7CAF-0C4E-93E6-55A6971A912F}" srcOrd="1" destOrd="0" parTransId="{9B3B1D5C-9D31-F94E-BD16-E7D062719ED5}" sibTransId="{84D8F0DF-497A-B248-B6BD-53C772326452}"/>
    <dgm:cxn modelId="{3B2C89EA-8598-A44E-8425-4DFD9B15F114}" srcId="{633B4054-FB37-8840-90AB-98D7FF6893B3}" destId="{85A8E8F9-220E-2E4B-BD17-17B84BAFCEE3}" srcOrd="0" destOrd="0" parTransId="{2F98D148-B91A-6C4F-955D-7EF70029142A}" sibTransId="{774C9424-02F2-6340-9585-68BEEC283337}"/>
    <dgm:cxn modelId="{DBF1B7F3-8B73-B341-8E27-F6D19D91A509}" type="presOf" srcId="{85A8E8F9-220E-2E4B-BD17-17B84BAFCEE3}" destId="{DBC67D4B-288C-C941-9948-4D7CB11DC5C5}" srcOrd="0" destOrd="0" presId="urn:microsoft.com/office/officeart/2005/8/layout/chevron1"/>
    <dgm:cxn modelId="{08BD6DF7-4250-7B40-9621-75A884093113}" type="presOf" srcId="{633B4054-FB37-8840-90AB-98D7FF6893B3}" destId="{8B93FFDE-05A5-1545-8E2F-A0B473160679}" srcOrd="0" destOrd="0" presId="urn:microsoft.com/office/officeart/2005/8/layout/chevron1"/>
    <dgm:cxn modelId="{050D51D1-30B7-6E48-8815-41564E7AB669}" type="presParOf" srcId="{8B93FFDE-05A5-1545-8E2F-A0B473160679}" destId="{DBC67D4B-288C-C941-9948-4D7CB11DC5C5}" srcOrd="0" destOrd="0" presId="urn:microsoft.com/office/officeart/2005/8/layout/chevron1"/>
    <dgm:cxn modelId="{11F89015-2AF5-3544-B5F4-9D2993813F3A}" type="presParOf" srcId="{8B93FFDE-05A5-1545-8E2F-A0B473160679}" destId="{D10A12CF-7369-5641-88E3-F51093964655}" srcOrd="1" destOrd="0" presId="urn:microsoft.com/office/officeart/2005/8/layout/chevron1"/>
    <dgm:cxn modelId="{EFAF16B3-B0A3-2841-86AD-17CF0028B934}" type="presParOf" srcId="{8B93FFDE-05A5-1545-8E2F-A0B473160679}" destId="{27C5A505-81DC-A445-992D-1BC4566AB6F2}" srcOrd="2" destOrd="0" presId="urn:microsoft.com/office/officeart/2005/8/layout/chevron1"/>
    <dgm:cxn modelId="{42DF9720-F235-6748-8AF6-FB220F535113}" type="presParOf" srcId="{8B93FFDE-05A5-1545-8E2F-A0B473160679}" destId="{7864293B-1409-F449-B4CF-BF9CB218EB2D}" srcOrd="3" destOrd="0" presId="urn:microsoft.com/office/officeart/2005/8/layout/chevron1"/>
    <dgm:cxn modelId="{FB251CEA-D66E-F940-A69E-6683039EB759}" type="presParOf" srcId="{8B93FFDE-05A5-1545-8E2F-A0B473160679}" destId="{CF60189A-F0BD-1B41-89D2-307F1DA955E7}" srcOrd="4" destOrd="0" presId="urn:microsoft.com/office/officeart/2005/8/layout/chevron1"/>
    <dgm:cxn modelId="{D3FAC9EE-20AF-1C46-A3B9-E26F2ECCCDDF}" type="presParOf" srcId="{8B93FFDE-05A5-1545-8E2F-A0B473160679}" destId="{EEAAC419-0981-234A-943A-98901572F4FF}" srcOrd="5" destOrd="0" presId="urn:microsoft.com/office/officeart/2005/8/layout/chevron1"/>
    <dgm:cxn modelId="{179A5595-00EA-3144-B2DC-EA82F593D236}" type="presParOf" srcId="{8B93FFDE-05A5-1545-8E2F-A0B473160679}" destId="{4C6D95A5-AC6D-914C-B774-93CD0C61E4A3}"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B5498DE5-7CDC-0347-BA87-FB91FE15E435}">
      <dgm:prSet phldrT="[Text]"/>
      <dgm:spPr/>
      <dgm:t>
        <a:bodyPr/>
        <a:lstStyle/>
        <a:p>
          <a:r>
            <a:rPr lang="en-US" dirty="0"/>
            <a:t>Download sequence data and metadata in command line using SRA toolbox</a:t>
          </a:r>
        </a:p>
      </dgm:t>
    </dgm:pt>
    <dgm:pt modelId="{A4B182FE-28CF-CC4A-A857-D974481A212A}" type="parTrans" cxnId="{6F8A8218-A43D-754D-AC34-7D7A44CB7D31}">
      <dgm:prSet/>
      <dgm:spPr/>
      <dgm:t>
        <a:bodyPr/>
        <a:lstStyle/>
        <a:p>
          <a:endParaRPr lang="en-US"/>
        </a:p>
      </dgm:t>
    </dgm:pt>
    <dgm:pt modelId="{30256DA3-2063-6145-A40C-3F213F51F903}" type="sibTrans" cxnId="{6F8A8218-A43D-754D-AC34-7D7A44CB7D31}">
      <dgm:prSet/>
      <dgm:spPr/>
      <dgm:t>
        <a:bodyPr/>
        <a:lstStyle/>
        <a:p>
          <a:endParaRPr lang="en-US"/>
        </a:p>
      </dgm:t>
    </dgm:pt>
    <dgm:pt modelId="{6D80D72C-DBB2-D94A-BCBD-1B0C1C35E98A}">
      <dgm:prSet phldrT="[Text]"/>
      <dgm:spPr/>
      <dgm:t>
        <a:bodyPr/>
        <a:lstStyle/>
        <a:p>
          <a:r>
            <a:rPr lang="en-US" dirty="0"/>
            <a:t>QIIME2: Modify/convert files to QIIME2 formats</a:t>
          </a:r>
          <a:endParaRPr lang="en-US" i="1" dirty="0"/>
        </a:p>
      </dgm:t>
    </dgm:pt>
    <dgm:pt modelId="{7A0A85DE-826D-F943-B70A-C309B2E35E00}" type="parTrans" cxnId="{A399560D-2686-BB49-BEC8-16E0E59F898C}">
      <dgm:prSet/>
      <dgm:spPr/>
      <dgm:t>
        <a:bodyPr/>
        <a:lstStyle/>
        <a:p>
          <a:endParaRPr lang="en-US"/>
        </a:p>
      </dgm:t>
    </dgm:pt>
    <dgm:pt modelId="{ECF5917A-5A86-4945-92ED-C3A30B725FE7}" type="sibTrans" cxnId="{A399560D-2686-BB49-BEC8-16E0E59F898C}">
      <dgm:prSet/>
      <dgm:spPr/>
      <dgm:t>
        <a:bodyPr/>
        <a:lstStyle/>
        <a:p>
          <a:endParaRPr lang="en-US"/>
        </a:p>
      </dgm:t>
    </dgm:pt>
    <dgm:pt modelId="{3AAD80AB-86BA-354D-A91B-40CE06269A51}">
      <dgm:prSet phldrT="[Text]"/>
      <dgm:spPr/>
      <dgm:t>
        <a:bodyPr/>
        <a:lstStyle/>
        <a:p>
          <a:r>
            <a:rPr lang="en-US" dirty="0"/>
            <a:t>QIIME2: Trim primers</a:t>
          </a:r>
        </a:p>
      </dgm:t>
    </dgm:pt>
    <dgm:pt modelId="{3035F67B-CB08-4446-AE7D-48C039F6D2DF}" type="parTrans" cxnId="{6CC7BC8F-A4DC-3E43-A468-7FE509ECF895}">
      <dgm:prSet/>
      <dgm:spPr/>
      <dgm:t>
        <a:bodyPr/>
        <a:lstStyle/>
        <a:p>
          <a:endParaRPr lang="en-US"/>
        </a:p>
      </dgm:t>
    </dgm:pt>
    <dgm:pt modelId="{C215D862-A291-E848-A659-5797AEF6E6A2}" type="sibTrans" cxnId="{6CC7BC8F-A4DC-3E43-A468-7FE509ECF895}">
      <dgm:prSet/>
      <dgm:spPr/>
      <dgm:t>
        <a:bodyPr/>
        <a:lstStyle/>
        <a:p>
          <a:endParaRPr lang="en-US"/>
        </a:p>
      </dgm:t>
    </dgm:pt>
    <dgm:pt modelId="{99CAAEDC-6392-D343-9A6F-7F5A17C79600}">
      <dgm:prSet/>
      <dgm:spPr/>
      <dgm:t>
        <a:bodyPr/>
        <a:lstStyle/>
        <a:p>
          <a:r>
            <a:rPr lang="en-US" dirty="0"/>
            <a:t>DADA2: Denoise data</a:t>
          </a:r>
        </a:p>
      </dgm:t>
    </dgm:pt>
    <dgm:pt modelId="{C17FB67C-707B-D74A-80D6-94F7481B177D}" type="parTrans" cxnId="{850E1FA5-AA48-724C-8558-F11B12C530EE}">
      <dgm:prSet/>
      <dgm:spPr/>
      <dgm:t>
        <a:bodyPr/>
        <a:lstStyle/>
        <a:p>
          <a:endParaRPr lang="en-US"/>
        </a:p>
      </dgm:t>
    </dgm:pt>
    <dgm:pt modelId="{E9E523D2-25B5-CD4B-9629-508B4D79D50B}" type="sibTrans" cxnId="{850E1FA5-AA48-724C-8558-F11B12C530EE}">
      <dgm:prSet/>
      <dgm:spPr/>
      <dgm:t>
        <a:bodyPr/>
        <a:lstStyle/>
        <a:p>
          <a:endParaRPr lang="en-US"/>
        </a:p>
      </dgm:t>
    </dgm:pt>
    <dgm:pt modelId="{7FA26DE3-9601-BF47-AC3A-1976221D9FF7}">
      <dgm:prSet/>
      <dgm:spPr/>
      <dgm:t>
        <a:bodyPr/>
        <a:lstStyle/>
        <a:p>
          <a:r>
            <a:rPr lang="en-US" dirty="0"/>
            <a:t>QIIME2:  Use SILVA classifier to classify representative sequences</a:t>
          </a:r>
        </a:p>
      </dgm:t>
    </dgm:pt>
    <dgm:pt modelId="{DA997D57-FC54-1543-8E4F-C5A29391F936}" type="parTrans" cxnId="{26E3548D-A542-114A-9949-6B29D19AA1AB}">
      <dgm:prSet/>
      <dgm:spPr/>
      <dgm:t>
        <a:bodyPr/>
        <a:lstStyle/>
        <a:p>
          <a:endParaRPr lang="en-US"/>
        </a:p>
      </dgm:t>
    </dgm:pt>
    <dgm:pt modelId="{6BBB6159-CF03-854D-ADAC-23CBD22E850F}" type="sibTrans" cxnId="{26E3548D-A542-114A-9949-6B29D19AA1AB}">
      <dgm:prSet/>
      <dgm:spPr/>
      <dgm:t>
        <a:bodyPr/>
        <a:lstStyle/>
        <a:p>
          <a:endParaRPr lang="en-US"/>
        </a:p>
      </dgm:t>
    </dgm:pt>
    <dgm:pt modelId="{AF485B0E-A33B-9844-9210-9C1E1BDA0205}">
      <dgm:prSet/>
      <dgm:spPr/>
      <dgm:t>
        <a:bodyPr/>
        <a:lstStyle/>
        <a:p>
          <a:r>
            <a:rPr lang="en-US" dirty="0"/>
            <a:t>QIIME2: Generate feature table </a:t>
          </a:r>
        </a:p>
      </dgm:t>
    </dgm:pt>
    <dgm:pt modelId="{B92E333E-CB20-8E47-8AF4-6EBADD828377}" type="parTrans" cxnId="{06E07FA7-2DFD-C043-8B9F-CA0C5BDC5089}">
      <dgm:prSet/>
      <dgm:spPr/>
      <dgm:t>
        <a:bodyPr/>
        <a:lstStyle/>
        <a:p>
          <a:endParaRPr lang="en-US"/>
        </a:p>
      </dgm:t>
    </dgm:pt>
    <dgm:pt modelId="{F898BA7A-4505-614F-B67E-8FA6BAB686B5}" type="sibTrans" cxnId="{06E07FA7-2DFD-C043-8B9F-CA0C5BDC5089}">
      <dgm:prSet/>
      <dgm:spPr/>
      <dgm:t>
        <a:bodyPr/>
        <a:lstStyle/>
        <a:p>
          <a:endParaRPr lang="en-US"/>
        </a:p>
      </dgm:t>
    </dgm:pt>
    <dgm:pt modelId="{015830E8-F665-B44B-9DB8-53596A8F4B44}">
      <dgm:prSet/>
      <dgm:spPr/>
      <dgm:t>
        <a:bodyPr/>
        <a:lstStyle/>
        <a:p>
          <a:r>
            <a:rPr lang="en-US" dirty="0"/>
            <a:t>QIIME2: Make multiple sequence alignment with MAFFT, construct phylogenetic tree and root.</a:t>
          </a:r>
        </a:p>
      </dgm:t>
    </dgm:pt>
    <dgm:pt modelId="{D463BB94-01E0-5C47-B176-131A99D94AA7}" type="parTrans" cxnId="{DF6E2BC5-4846-D943-9EA0-B9E719A59245}">
      <dgm:prSet/>
      <dgm:spPr/>
      <dgm:t>
        <a:bodyPr/>
        <a:lstStyle/>
        <a:p>
          <a:endParaRPr lang="en-US"/>
        </a:p>
      </dgm:t>
    </dgm:pt>
    <dgm:pt modelId="{762744FF-B12D-B048-A7F9-0D25528B3DD4}" type="sibTrans" cxnId="{DF6E2BC5-4846-D943-9EA0-B9E719A59245}">
      <dgm:prSet/>
      <dgm:spPr/>
      <dgm:t>
        <a:bodyPr/>
        <a:lstStyle/>
        <a:p>
          <a:endParaRPr lang="en-US"/>
        </a:p>
      </dgm:t>
    </dgm:pt>
    <dgm:pt modelId="{4BA86EBA-301B-894C-9E58-371F1419EEF2}">
      <dgm:prSet/>
      <dgm:spPr/>
      <dgm:t>
        <a:bodyPr/>
        <a:lstStyle/>
        <a:p>
          <a:r>
            <a:rPr lang="en-US" dirty="0"/>
            <a:t>QIIME2: Export feature table, ASV count table, representative sequences, taxonomy table and rooted phylogenetic tree.</a:t>
          </a:r>
        </a:p>
      </dgm:t>
    </dgm:pt>
    <dgm:pt modelId="{F0DE1318-0E22-3447-AABB-108F63AEBF76}" type="parTrans" cxnId="{DFDC9720-DA41-4347-BBAC-0777E0F9CD5E}">
      <dgm:prSet/>
      <dgm:spPr/>
      <dgm:t>
        <a:bodyPr/>
        <a:lstStyle/>
        <a:p>
          <a:endParaRPr lang="en-US"/>
        </a:p>
      </dgm:t>
    </dgm:pt>
    <dgm:pt modelId="{374085FA-BF47-3A48-BEA6-BD8154C1D35B}" type="sibTrans" cxnId="{DFDC9720-DA41-4347-BBAC-0777E0F9CD5E}">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8" custScaleX="349935" custScaleY="53000">
        <dgm:presLayoutVars>
          <dgm:bulletEnabled val="1"/>
        </dgm:presLayoutVars>
      </dgm:prSet>
      <dgm:spPr/>
    </dgm:pt>
    <dgm:pt modelId="{91DA19BA-A0AB-564A-8A9E-322DF18B64CF}" type="pres">
      <dgm:prSet presAssocID="{30256DA3-2063-6145-A40C-3F213F51F903}" presName="sibTrans" presStyleLbl="sibTrans2D1" presStyleIdx="0" presStyleCnt="7"/>
      <dgm:spPr/>
    </dgm:pt>
    <dgm:pt modelId="{93A03A25-0C23-0B49-A801-B6DF4800FF1C}" type="pres">
      <dgm:prSet presAssocID="{30256DA3-2063-6145-A40C-3F213F51F903}" presName="connectorText" presStyleLbl="sibTrans2D1" presStyleIdx="0" presStyleCnt="7"/>
      <dgm:spPr/>
    </dgm:pt>
    <dgm:pt modelId="{43D2067A-91F6-8745-98BA-D6A10B24950A}" type="pres">
      <dgm:prSet presAssocID="{6D80D72C-DBB2-D94A-BCBD-1B0C1C35E98A}" presName="node" presStyleLbl="node1" presStyleIdx="1" presStyleCnt="8" custScaleX="349941" custScaleY="53000">
        <dgm:presLayoutVars>
          <dgm:bulletEnabled val="1"/>
        </dgm:presLayoutVars>
      </dgm:prSet>
      <dgm:spPr/>
    </dgm:pt>
    <dgm:pt modelId="{D067C965-9057-9C4A-A1D2-4912C14C50F7}" type="pres">
      <dgm:prSet presAssocID="{ECF5917A-5A86-4945-92ED-C3A30B725FE7}" presName="sibTrans" presStyleLbl="sibTrans2D1" presStyleIdx="1" presStyleCnt="7"/>
      <dgm:spPr/>
    </dgm:pt>
    <dgm:pt modelId="{5030DE2C-F3D5-7E44-98C9-D5A5317CA56C}" type="pres">
      <dgm:prSet presAssocID="{ECF5917A-5A86-4945-92ED-C3A30B725FE7}" presName="connectorText" presStyleLbl="sibTrans2D1" presStyleIdx="1" presStyleCnt="7"/>
      <dgm:spPr/>
    </dgm:pt>
    <dgm:pt modelId="{80C05A4E-2A0A-294C-8DDC-052E97D834DA}" type="pres">
      <dgm:prSet presAssocID="{3AAD80AB-86BA-354D-A91B-40CE06269A51}" presName="node" presStyleLbl="node1" presStyleIdx="2" presStyleCnt="8" custScaleX="349941" custScaleY="53000">
        <dgm:presLayoutVars>
          <dgm:bulletEnabled val="1"/>
        </dgm:presLayoutVars>
      </dgm:prSet>
      <dgm:spPr/>
    </dgm:pt>
    <dgm:pt modelId="{B3C2DB7A-EC33-6544-A09D-B1205728770A}" type="pres">
      <dgm:prSet presAssocID="{C215D862-A291-E848-A659-5797AEF6E6A2}" presName="sibTrans" presStyleLbl="sibTrans2D1" presStyleIdx="2" presStyleCnt="7"/>
      <dgm:spPr/>
    </dgm:pt>
    <dgm:pt modelId="{14D2D5CD-E619-2C4C-83EC-B8786FE7D09C}" type="pres">
      <dgm:prSet presAssocID="{C215D862-A291-E848-A659-5797AEF6E6A2}" presName="connectorText" presStyleLbl="sibTrans2D1" presStyleIdx="2" presStyleCnt="7"/>
      <dgm:spPr/>
    </dgm:pt>
    <dgm:pt modelId="{6F6C8E07-FBAD-3F4D-A906-27ECCF26E70E}" type="pres">
      <dgm:prSet presAssocID="{99CAAEDC-6392-D343-9A6F-7F5A17C79600}" presName="node" presStyleLbl="node1" presStyleIdx="3" presStyleCnt="8" custScaleX="349941" custScaleY="53000">
        <dgm:presLayoutVars>
          <dgm:bulletEnabled val="1"/>
        </dgm:presLayoutVars>
      </dgm:prSet>
      <dgm:spPr/>
    </dgm:pt>
    <dgm:pt modelId="{48489AC1-89DA-0F48-B940-23505B5798FF}" type="pres">
      <dgm:prSet presAssocID="{E9E523D2-25B5-CD4B-9629-508B4D79D50B}" presName="sibTrans" presStyleLbl="sibTrans2D1" presStyleIdx="3" presStyleCnt="7"/>
      <dgm:spPr/>
    </dgm:pt>
    <dgm:pt modelId="{3C8009BD-6E6B-AA43-B36E-EB048E42CE59}" type="pres">
      <dgm:prSet presAssocID="{E9E523D2-25B5-CD4B-9629-508B4D79D50B}" presName="connectorText" presStyleLbl="sibTrans2D1" presStyleIdx="3" presStyleCnt="7"/>
      <dgm:spPr/>
    </dgm:pt>
    <dgm:pt modelId="{BEBB65BD-4B92-BC44-96A8-BAAA586B7BF5}" type="pres">
      <dgm:prSet presAssocID="{AF485B0E-A33B-9844-9210-9C1E1BDA0205}" presName="node" presStyleLbl="node1" presStyleIdx="4" presStyleCnt="8" custScaleX="349941" custScaleY="53000">
        <dgm:presLayoutVars>
          <dgm:bulletEnabled val="1"/>
        </dgm:presLayoutVars>
      </dgm:prSet>
      <dgm:spPr/>
    </dgm:pt>
    <dgm:pt modelId="{2839F08F-24F1-614A-A1A4-847F111C0482}" type="pres">
      <dgm:prSet presAssocID="{F898BA7A-4505-614F-B67E-8FA6BAB686B5}" presName="sibTrans" presStyleLbl="sibTrans2D1" presStyleIdx="4" presStyleCnt="7"/>
      <dgm:spPr/>
    </dgm:pt>
    <dgm:pt modelId="{7F333F59-D690-B24C-ABEB-6EE4EB2A6CE1}" type="pres">
      <dgm:prSet presAssocID="{F898BA7A-4505-614F-B67E-8FA6BAB686B5}" presName="connectorText" presStyleLbl="sibTrans2D1" presStyleIdx="4" presStyleCnt="7"/>
      <dgm:spPr/>
    </dgm:pt>
    <dgm:pt modelId="{80377AF5-BC76-FB40-840E-12C9D1BDB641}" type="pres">
      <dgm:prSet presAssocID="{7FA26DE3-9601-BF47-AC3A-1976221D9FF7}" presName="node" presStyleLbl="node1" presStyleIdx="5" presStyleCnt="8" custScaleX="349941" custScaleY="53000">
        <dgm:presLayoutVars>
          <dgm:bulletEnabled val="1"/>
        </dgm:presLayoutVars>
      </dgm:prSet>
      <dgm:spPr/>
    </dgm:pt>
    <dgm:pt modelId="{C9A34051-A77A-F049-83DF-B23743A74457}" type="pres">
      <dgm:prSet presAssocID="{6BBB6159-CF03-854D-ADAC-23CBD22E850F}" presName="sibTrans" presStyleLbl="sibTrans2D1" presStyleIdx="5" presStyleCnt="7"/>
      <dgm:spPr/>
    </dgm:pt>
    <dgm:pt modelId="{B372B6F6-AA4E-0A43-A234-81DA0BBCD8AB}" type="pres">
      <dgm:prSet presAssocID="{6BBB6159-CF03-854D-ADAC-23CBD22E850F}" presName="connectorText" presStyleLbl="sibTrans2D1" presStyleIdx="5" presStyleCnt="7"/>
      <dgm:spPr/>
    </dgm:pt>
    <dgm:pt modelId="{77F0190E-9B2D-0449-9A36-A264480F521F}" type="pres">
      <dgm:prSet presAssocID="{015830E8-F665-B44B-9DB8-53596A8F4B44}" presName="node" presStyleLbl="node1" presStyleIdx="6" presStyleCnt="8" custScaleX="349941" custScaleY="53000">
        <dgm:presLayoutVars>
          <dgm:bulletEnabled val="1"/>
        </dgm:presLayoutVars>
      </dgm:prSet>
      <dgm:spPr/>
    </dgm:pt>
    <dgm:pt modelId="{26A17077-D919-4B4F-8DCF-A621A4F50A35}" type="pres">
      <dgm:prSet presAssocID="{762744FF-B12D-B048-A7F9-0D25528B3DD4}" presName="sibTrans" presStyleLbl="sibTrans2D1" presStyleIdx="6" presStyleCnt="7"/>
      <dgm:spPr/>
    </dgm:pt>
    <dgm:pt modelId="{1C85A635-76EE-CB45-B9FA-7B7A76246FB3}" type="pres">
      <dgm:prSet presAssocID="{762744FF-B12D-B048-A7F9-0D25528B3DD4}" presName="connectorText" presStyleLbl="sibTrans2D1" presStyleIdx="6" presStyleCnt="7"/>
      <dgm:spPr/>
    </dgm:pt>
    <dgm:pt modelId="{218DEA2E-8D5B-8741-B88A-2B31902D6D39}" type="pres">
      <dgm:prSet presAssocID="{4BA86EBA-301B-894C-9E58-371F1419EEF2}" presName="node" presStyleLbl="node1" presStyleIdx="7" presStyleCnt="8" custScaleX="349941" custScaleY="53000">
        <dgm:presLayoutVars>
          <dgm:bulletEnabled val="1"/>
        </dgm:presLayoutVars>
      </dgm:prSet>
      <dgm:spPr/>
    </dgm:pt>
  </dgm:ptLst>
  <dgm:cxnLst>
    <dgm:cxn modelId="{C7731D08-B68F-EA49-A139-9AE53C623103}" type="presOf" srcId="{762744FF-B12D-B048-A7F9-0D25528B3DD4}" destId="{1C85A635-76EE-CB45-B9FA-7B7A76246FB3}" srcOrd="1" destOrd="0" presId="urn:microsoft.com/office/officeart/2005/8/layout/process2"/>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C16B0C15-CF6C-284A-A383-0640B635E0E2}" type="presOf" srcId="{7FA26DE3-9601-BF47-AC3A-1976221D9FF7}" destId="{80377AF5-BC76-FB40-840E-12C9D1BDB641}"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C0931419-B5B5-9741-91F2-A3180203F038}" type="presOf" srcId="{F898BA7A-4505-614F-B67E-8FA6BAB686B5}" destId="{7F333F59-D690-B24C-ABEB-6EE4EB2A6CE1}" srcOrd="1" destOrd="0" presId="urn:microsoft.com/office/officeart/2005/8/layout/process2"/>
    <dgm:cxn modelId="{4E285119-2459-8646-A275-E2ED993B432A}" type="presOf" srcId="{C215D862-A291-E848-A659-5797AEF6E6A2}" destId="{14D2D5CD-E619-2C4C-83EC-B8786FE7D09C}" srcOrd="1" destOrd="0" presId="urn:microsoft.com/office/officeart/2005/8/layout/process2"/>
    <dgm:cxn modelId="{DFDC9720-DA41-4347-BBAC-0777E0F9CD5E}" srcId="{CB88F0E7-4140-1B4D-A33B-6563FB2E1C23}" destId="{4BA86EBA-301B-894C-9E58-371F1419EEF2}" srcOrd="7" destOrd="0" parTransId="{F0DE1318-0E22-3447-AABB-108F63AEBF76}" sibTransId="{374085FA-BF47-3A48-BEA6-BD8154C1D35B}"/>
    <dgm:cxn modelId="{85095E25-989E-8644-8FAC-8BF624EEEE21}" type="presOf" srcId="{C215D862-A291-E848-A659-5797AEF6E6A2}" destId="{B3C2DB7A-EC33-6544-A09D-B1205728770A}" srcOrd="0" destOrd="0" presId="urn:microsoft.com/office/officeart/2005/8/layout/process2"/>
    <dgm:cxn modelId="{5E573632-5F57-F24C-A760-D2988D36FDA8}" type="presOf" srcId="{6BBB6159-CF03-854D-ADAC-23CBD22E850F}" destId="{C9A34051-A77A-F049-83DF-B23743A74457}"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45637A5C-225F-734B-86EB-139616362E27}" type="presOf" srcId="{6BBB6159-CF03-854D-ADAC-23CBD22E850F}" destId="{B372B6F6-AA4E-0A43-A234-81DA0BBCD8AB}" srcOrd="1" destOrd="0" presId="urn:microsoft.com/office/officeart/2005/8/layout/process2"/>
    <dgm:cxn modelId="{29C6B55E-D2F5-EE46-A8EF-509405DE8534}" type="presOf" srcId="{015830E8-F665-B44B-9DB8-53596A8F4B44}" destId="{77F0190E-9B2D-0449-9A36-A264480F521F}" srcOrd="0" destOrd="0" presId="urn:microsoft.com/office/officeart/2005/8/layout/process2"/>
    <dgm:cxn modelId="{08CFD367-D1E2-774B-B131-FBDC4B1434F3}" type="presOf" srcId="{E9E523D2-25B5-CD4B-9629-508B4D79D50B}" destId="{3C8009BD-6E6B-AA43-B36E-EB048E42CE59}" srcOrd="1" destOrd="0" presId="urn:microsoft.com/office/officeart/2005/8/layout/process2"/>
    <dgm:cxn modelId="{D4EC3F6A-DC63-AB42-84D5-064E1774991E}" type="presOf" srcId="{762744FF-B12D-B048-A7F9-0D25528B3DD4}" destId="{26A17077-D919-4B4F-8DCF-A621A4F50A35}" srcOrd="0"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42693C70-6993-8D4E-8B1C-9211A8B5A1F6}" type="presOf" srcId="{4BA86EBA-301B-894C-9E58-371F1419EEF2}" destId="{218DEA2E-8D5B-8741-B88A-2B31902D6D39}" srcOrd="0" destOrd="0" presId="urn:microsoft.com/office/officeart/2005/8/layout/process2"/>
    <dgm:cxn modelId="{26E3548D-A542-114A-9949-6B29D19AA1AB}" srcId="{CB88F0E7-4140-1B4D-A33B-6563FB2E1C23}" destId="{7FA26DE3-9601-BF47-AC3A-1976221D9FF7}" srcOrd="5" destOrd="0" parTransId="{DA997D57-FC54-1543-8E4F-C5A29391F936}" sibTransId="{6BBB6159-CF03-854D-ADAC-23CBD22E850F}"/>
    <dgm:cxn modelId="{6CC7BC8F-A4DC-3E43-A468-7FE509ECF895}" srcId="{CB88F0E7-4140-1B4D-A33B-6563FB2E1C23}" destId="{3AAD80AB-86BA-354D-A91B-40CE06269A51}" srcOrd="2" destOrd="0" parTransId="{3035F67B-CB08-4446-AE7D-48C039F6D2DF}" sibTransId="{C215D862-A291-E848-A659-5797AEF6E6A2}"/>
    <dgm:cxn modelId="{3A86D698-1F94-304C-A18C-CF7C34B962A8}" type="presOf" srcId="{AF485B0E-A33B-9844-9210-9C1E1BDA0205}" destId="{BEBB65BD-4B92-BC44-96A8-BAAA586B7BF5}" srcOrd="0" destOrd="0" presId="urn:microsoft.com/office/officeart/2005/8/layout/process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06E07FA7-2DFD-C043-8B9F-CA0C5BDC5089}" srcId="{CB88F0E7-4140-1B4D-A33B-6563FB2E1C23}" destId="{AF485B0E-A33B-9844-9210-9C1E1BDA0205}" srcOrd="4" destOrd="0" parTransId="{B92E333E-CB20-8E47-8AF4-6EBADD828377}" sibTransId="{F898BA7A-4505-614F-B67E-8FA6BAB686B5}"/>
    <dgm:cxn modelId="{0C5B59B5-F8B1-E84F-A770-CFDEED93C193}" type="presOf" srcId="{E9E523D2-25B5-CD4B-9629-508B4D79D50B}" destId="{48489AC1-89DA-0F48-B940-23505B5798FF}" srcOrd="0" destOrd="0" presId="urn:microsoft.com/office/officeart/2005/8/layout/process2"/>
    <dgm:cxn modelId="{DF6E2BC5-4846-D943-9EA0-B9E719A59245}" srcId="{CB88F0E7-4140-1B4D-A33B-6563FB2E1C23}" destId="{015830E8-F665-B44B-9DB8-53596A8F4B44}" srcOrd="6" destOrd="0" parTransId="{D463BB94-01E0-5C47-B176-131A99D94AA7}" sibTransId="{762744FF-B12D-B048-A7F9-0D25528B3DD4}"/>
    <dgm:cxn modelId="{4B8D3CDA-C71C-8644-BEF2-25F7C84E26CD}" type="presOf" srcId="{CB88F0E7-4140-1B4D-A33B-6563FB2E1C23}" destId="{55F5C254-F149-8D49-B068-DD2BB6700AB1}" srcOrd="0" destOrd="0" presId="urn:microsoft.com/office/officeart/2005/8/layout/process2"/>
    <dgm:cxn modelId="{48E459E6-5F42-A649-A8DE-8CFE3B1E5409}" type="presOf" srcId="{F898BA7A-4505-614F-B67E-8FA6BAB686B5}" destId="{2839F08F-24F1-614A-A1A4-847F111C0482}"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 modelId="{D858F26B-4C1F-A94D-A8E0-A7E3177794AA}" type="presParOf" srcId="{55F5C254-F149-8D49-B068-DD2BB6700AB1}" destId="{48489AC1-89DA-0F48-B940-23505B5798FF}" srcOrd="7" destOrd="0" presId="urn:microsoft.com/office/officeart/2005/8/layout/process2"/>
    <dgm:cxn modelId="{784D6DCE-95A6-2B43-928C-01BEE8EB9D44}" type="presParOf" srcId="{48489AC1-89DA-0F48-B940-23505B5798FF}" destId="{3C8009BD-6E6B-AA43-B36E-EB048E42CE59}" srcOrd="0" destOrd="0" presId="urn:microsoft.com/office/officeart/2005/8/layout/process2"/>
    <dgm:cxn modelId="{49ED3757-CA91-6F44-A756-371AA5450956}" type="presParOf" srcId="{55F5C254-F149-8D49-B068-DD2BB6700AB1}" destId="{BEBB65BD-4B92-BC44-96A8-BAAA586B7BF5}" srcOrd="8" destOrd="0" presId="urn:microsoft.com/office/officeart/2005/8/layout/process2"/>
    <dgm:cxn modelId="{5D8A5D0C-B77F-CF44-B0BA-6BB9116C2102}" type="presParOf" srcId="{55F5C254-F149-8D49-B068-DD2BB6700AB1}" destId="{2839F08F-24F1-614A-A1A4-847F111C0482}" srcOrd="9" destOrd="0" presId="urn:microsoft.com/office/officeart/2005/8/layout/process2"/>
    <dgm:cxn modelId="{8CA0BD0B-2AA9-F545-98A9-597F9A4172E8}" type="presParOf" srcId="{2839F08F-24F1-614A-A1A4-847F111C0482}" destId="{7F333F59-D690-B24C-ABEB-6EE4EB2A6CE1}" srcOrd="0" destOrd="0" presId="urn:microsoft.com/office/officeart/2005/8/layout/process2"/>
    <dgm:cxn modelId="{D889FC8E-DA0F-DB4D-B68C-E9542CE782E5}" type="presParOf" srcId="{55F5C254-F149-8D49-B068-DD2BB6700AB1}" destId="{80377AF5-BC76-FB40-840E-12C9D1BDB641}" srcOrd="10" destOrd="0" presId="urn:microsoft.com/office/officeart/2005/8/layout/process2"/>
    <dgm:cxn modelId="{9E09BCF5-E8B7-1846-93BF-609BCA819B6B}" type="presParOf" srcId="{55F5C254-F149-8D49-B068-DD2BB6700AB1}" destId="{C9A34051-A77A-F049-83DF-B23743A74457}" srcOrd="11" destOrd="0" presId="urn:microsoft.com/office/officeart/2005/8/layout/process2"/>
    <dgm:cxn modelId="{46CB4DBC-9D42-CE47-8CFC-1F4B2D1AC9FE}" type="presParOf" srcId="{C9A34051-A77A-F049-83DF-B23743A74457}" destId="{B372B6F6-AA4E-0A43-A234-81DA0BBCD8AB}" srcOrd="0" destOrd="0" presId="urn:microsoft.com/office/officeart/2005/8/layout/process2"/>
    <dgm:cxn modelId="{2A289DDD-E86F-8946-9C9E-367E49FE4E4A}" type="presParOf" srcId="{55F5C254-F149-8D49-B068-DD2BB6700AB1}" destId="{77F0190E-9B2D-0449-9A36-A264480F521F}" srcOrd="12" destOrd="0" presId="urn:microsoft.com/office/officeart/2005/8/layout/process2"/>
    <dgm:cxn modelId="{8BCC7B57-EA12-CF40-992C-2CA263431C3B}" type="presParOf" srcId="{55F5C254-F149-8D49-B068-DD2BB6700AB1}" destId="{26A17077-D919-4B4F-8DCF-A621A4F50A35}" srcOrd="13" destOrd="0" presId="urn:microsoft.com/office/officeart/2005/8/layout/process2"/>
    <dgm:cxn modelId="{D5E49362-F01C-2241-A185-9002A1C58B3C}" type="presParOf" srcId="{26A17077-D919-4B4F-8DCF-A621A4F50A35}" destId="{1C85A635-76EE-CB45-B9FA-7B7A76246FB3}" srcOrd="0" destOrd="0" presId="urn:microsoft.com/office/officeart/2005/8/layout/process2"/>
    <dgm:cxn modelId="{9D2BDECB-E8D9-0C4D-8CC4-1D870363DD2D}" type="presParOf" srcId="{55F5C254-F149-8D49-B068-DD2BB6700AB1}" destId="{218DEA2E-8D5B-8741-B88A-2B31902D6D39}" srcOrd="1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6D80D72C-DBB2-D94A-BCBD-1B0C1C35E98A}">
      <dgm:prSet phldrT="[Text]"/>
      <dgm:spPr/>
      <dgm:t>
        <a:bodyPr/>
        <a:lstStyle/>
        <a:p>
          <a:r>
            <a:rPr lang="en-US" dirty="0"/>
            <a:t>Wrangle metadata</a:t>
          </a:r>
          <a:endParaRPr lang="en-US" i="1" dirty="0"/>
        </a:p>
      </dgm:t>
    </dgm:pt>
    <dgm:pt modelId="{7A0A85DE-826D-F943-B70A-C309B2E35E00}" type="parTrans" cxnId="{A399560D-2686-BB49-BEC8-16E0E59F898C}">
      <dgm:prSet/>
      <dgm:spPr/>
      <dgm:t>
        <a:bodyPr/>
        <a:lstStyle/>
        <a:p>
          <a:endParaRPr lang="en-US"/>
        </a:p>
      </dgm:t>
    </dgm:pt>
    <dgm:pt modelId="{ECF5917A-5A86-4945-92ED-C3A30B725FE7}" type="sibTrans" cxnId="{A399560D-2686-BB49-BEC8-16E0E59F898C}">
      <dgm:prSet/>
      <dgm:spPr/>
      <dgm:t>
        <a:bodyPr/>
        <a:lstStyle/>
        <a:p>
          <a:endParaRPr lang="en-US"/>
        </a:p>
      </dgm:t>
    </dgm:pt>
    <dgm:pt modelId="{3AAD80AB-86BA-354D-A91B-40CE06269A51}">
      <dgm:prSet phldrT="[Text]"/>
      <dgm:spPr/>
      <dgm:t>
        <a:bodyPr/>
        <a:lstStyle/>
        <a:p>
          <a:r>
            <a:rPr lang="en-US" dirty="0"/>
            <a:t>Identify and remove contaminant ASVs</a:t>
          </a:r>
        </a:p>
      </dgm:t>
    </dgm:pt>
    <dgm:pt modelId="{3035F67B-CB08-4446-AE7D-48C039F6D2DF}" type="parTrans" cxnId="{6CC7BC8F-A4DC-3E43-A468-7FE509ECF895}">
      <dgm:prSet/>
      <dgm:spPr/>
      <dgm:t>
        <a:bodyPr/>
        <a:lstStyle/>
        <a:p>
          <a:endParaRPr lang="en-US"/>
        </a:p>
      </dgm:t>
    </dgm:pt>
    <dgm:pt modelId="{C215D862-A291-E848-A659-5797AEF6E6A2}" type="sibTrans" cxnId="{6CC7BC8F-A4DC-3E43-A468-7FE509ECF895}">
      <dgm:prSet/>
      <dgm:spPr/>
      <dgm:t>
        <a:bodyPr/>
        <a:lstStyle/>
        <a:p>
          <a:endParaRPr lang="en-US"/>
        </a:p>
      </dgm:t>
    </dgm:pt>
    <dgm:pt modelId="{99CAAEDC-6392-D343-9A6F-7F5A17C79600}">
      <dgm:prSet/>
      <dgm:spPr/>
      <dgm:t>
        <a:bodyPr/>
        <a:lstStyle/>
        <a:p>
          <a:r>
            <a:rPr lang="en-US" dirty="0"/>
            <a:t>Remove singletons</a:t>
          </a:r>
        </a:p>
      </dgm:t>
    </dgm:pt>
    <dgm:pt modelId="{C17FB67C-707B-D74A-80D6-94F7481B177D}" type="parTrans" cxnId="{850E1FA5-AA48-724C-8558-F11B12C530EE}">
      <dgm:prSet/>
      <dgm:spPr/>
      <dgm:t>
        <a:bodyPr/>
        <a:lstStyle/>
        <a:p>
          <a:endParaRPr lang="en-US"/>
        </a:p>
      </dgm:t>
    </dgm:pt>
    <dgm:pt modelId="{E9E523D2-25B5-CD4B-9629-508B4D79D50B}" type="sibTrans" cxnId="{850E1FA5-AA48-724C-8558-F11B12C530EE}">
      <dgm:prSet/>
      <dgm:spPr/>
      <dgm:t>
        <a:bodyPr/>
        <a:lstStyle/>
        <a:p>
          <a:endParaRPr lang="en-US"/>
        </a:p>
      </dgm:t>
    </dgm:pt>
    <dgm:pt modelId="{7FA26DE3-9601-BF47-AC3A-1976221D9FF7}">
      <dgm:prSet/>
      <dgm:spPr/>
      <dgm:t>
        <a:bodyPr/>
        <a:lstStyle/>
        <a:p>
          <a:r>
            <a:rPr lang="en-US" dirty="0"/>
            <a:t>Re-root phylogenetic tree</a:t>
          </a:r>
        </a:p>
      </dgm:t>
    </dgm:pt>
    <dgm:pt modelId="{DA997D57-FC54-1543-8E4F-C5A29391F936}" type="parTrans" cxnId="{26E3548D-A542-114A-9949-6B29D19AA1AB}">
      <dgm:prSet/>
      <dgm:spPr/>
      <dgm:t>
        <a:bodyPr/>
        <a:lstStyle/>
        <a:p>
          <a:endParaRPr lang="en-US"/>
        </a:p>
      </dgm:t>
    </dgm:pt>
    <dgm:pt modelId="{6BBB6159-CF03-854D-ADAC-23CBD22E850F}" type="sibTrans" cxnId="{26E3548D-A542-114A-9949-6B29D19AA1AB}">
      <dgm:prSet/>
      <dgm:spPr/>
      <dgm:t>
        <a:bodyPr/>
        <a:lstStyle/>
        <a:p>
          <a:endParaRPr lang="en-US"/>
        </a:p>
      </dgm:t>
    </dgm:pt>
    <dgm:pt modelId="{AF485B0E-A33B-9844-9210-9C1E1BDA0205}">
      <dgm:prSet/>
      <dgm:spPr/>
      <dgm:t>
        <a:bodyPr/>
        <a:lstStyle/>
        <a:p>
          <a:r>
            <a:rPr lang="en-US" dirty="0"/>
            <a:t>Remove ambiguous annotations and low abundance phyla</a:t>
          </a:r>
        </a:p>
      </dgm:t>
    </dgm:pt>
    <dgm:pt modelId="{B92E333E-CB20-8E47-8AF4-6EBADD828377}" type="parTrans" cxnId="{06E07FA7-2DFD-C043-8B9F-CA0C5BDC5089}">
      <dgm:prSet/>
      <dgm:spPr/>
      <dgm:t>
        <a:bodyPr/>
        <a:lstStyle/>
        <a:p>
          <a:endParaRPr lang="en-US"/>
        </a:p>
      </dgm:t>
    </dgm:pt>
    <dgm:pt modelId="{F898BA7A-4505-614F-B67E-8FA6BAB686B5}" type="sibTrans" cxnId="{06E07FA7-2DFD-C043-8B9F-CA0C5BDC5089}">
      <dgm:prSet/>
      <dgm:spPr/>
      <dgm:t>
        <a:bodyPr/>
        <a:lstStyle/>
        <a:p>
          <a:endParaRPr lang="en-US"/>
        </a:p>
      </dgm:t>
    </dgm:pt>
    <dgm:pt modelId="{015830E8-F665-B44B-9DB8-53596A8F4B44}">
      <dgm:prSet/>
      <dgm:spPr/>
      <dgm:t>
        <a:bodyPr/>
        <a:lstStyle/>
        <a:p>
          <a:r>
            <a:rPr lang="en-US" dirty="0"/>
            <a:t>Construct </a:t>
          </a:r>
          <a:r>
            <a:rPr lang="en-US" dirty="0" err="1"/>
            <a:t>phyloseq</a:t>
          </a:r>
          <a:r>
            <a:rPr lang="en-US" dirty="0"/>
            <a:t> object and export </a:t>
          </a:r>
        </a:p>
      </dgm:t>
    </dgm:pt>
    <dgm:pt modelId="{D463BB94-01E0-5C47-B176-131A99D94AA7}" type="parTrans" cxnId="{DF6E2BC5-4846-D943-9EA0-B9E719A59245}">
      <dgm:prSet/>
      <dgm:spPr/>
      <dgm:t>
        <a:bodyPr/>
        <a:lstStyle/>
        <a:p>
          <a:endParaRPr lang="en-US"/>
        </a:p>
      </dgm:t>
    </dgm:pt>
    <dgm:pt modelId="{762744FF-B12D-B048-A7F9-0D25528B3DD4}" type="sibTrans" cxnId="{DF6E2BC5-4846-D943-9EA0-B9E719A59245}">
      <dgm:prSet/>
      <dgm:spPr/>
      <dgm:t>
        <a:bodyPr/>
        <a:lstStyle/>
        <a:p>
          <a:endParaRPr lang="en-US"/>
        </a:p>
      </dgm:t>
    </dgm:pt>
    <dgm:pt modelId="{B5498DE5-7CDC-0347-BA87-FB91FE15E435}">
      <dgm:prSet phldrT="[Text]"/>
      <dgm:spPr/>
      <dgm:t>
        <a:bodyPr/>
        <a:lstStyle/>
        <a:p>
          <a:r>
            <a:rPr lang="en-US" dirty="0"/>
            <a:t>Load in data from QIIME2 step</a:t>
          </a:r>
        </a:p>
      </dgm:t>
    </dgm:pt>
    <dgm:pt modelId="{30256DA3-2063-6145-A40C-3F213F51F903}" type="sibTrans" cxnId="{6F8A8218-A43D-754D-AC34-7D7A44CB7D31}">
      <dgm:prSet/>
      <dgm:spPr/>
      <dgm:t>
        <a:bodyPr/>
        <a:lstStyle/>
        <a:p>
          <a:endParaRPr lang="en-US"/>
        </a:p>
      </dgm:t>
    </dgm:pt>
    <dgm:pt modelId="{A4B182FE-28CF-CC4A-A857-D974481A212A}" type="parTrans" cxnId="{6F8A8218-A43D-754D-AC34-7D7A44CB7D31}">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7" custScaleX="349941" custScaleY="53000">
        <dgm:presLayoutVars>
          <dgm:bulletEnabled val="1"/>
        </dgm:presLayoutVars>
      </dgm:prSet>
      <dgm:spPr/>
    </dgm:pt>
    <dgm:pt modelId="{91DA19BA-A0AB-564A-8A9E-322DF18B64CF}" type="pres">
      <dgm:prSet presAssocID="{30256DA3-2063-6145-A40C-3F213F51F903}" presName="sibTrans" presStyleLbl="sibTrans2D1" presStyleIdx="0" presStyleCnt="6"/>
      <dgm:spPr/>
    </dgm:pt>
    <dgm:pt modelId="{93A03A25-0C23-0B49-A801-B6DF4800FF1C}" type="pres">
      <dgm:prSet presAssocID="{30256DA3-2063-6145-A40C-3F213F51F903}" presName="connectorText" presStyleLbl="sibTrans2D1" presStyleIdx="0" presStyleCnt="6"/>
      <dgm:spPr/>
    </dgm:pt>
    <dgm:pt modelId="{43D2067A-91F6-8745-98BA-D6A10B24950A}" type="pres">
      <dgm:prSet presAssocID="{6D80D72C-DBB2-D94A-BCBD-1B0C1C35E98A}" presName="node" presStyleLbl="node1" presStyleIdx="1" presStyleCnt="7" custScaleX="349941" custScaleY="53000">
        <dgm:presLayoutVars>
          <dgm:bulletEnabled val="1"/>
        </dgm:presLayoutVars>
      </dgm:prSet>
      <dgm:spPr/>
    </dgm:pt>
    <dgm:pt modelId="{D067C965-9057-9C4A-A1D2-4912C14C50F7}" type="pres">
      <dgm:prSet presAssocID="{ECF5917A-5A86-4945-92ED-C3A30B725FE7}" presName="sibTrans" presStyleLbl="sibTrans2D1" presStyleIdx="1" presStyleCnt="6"/>
      <dgm:spPr/>
    </dgm:pt>
    <dgm:pt modelId="{5030DE2C-F3D5-7E44-98C9-D5A5317CA56C}" type="pres">
      <dgm:prSet presAssocID="{ECF5917A-5A86-4945-92ED-C3A30B725FE7}" presName="connectorText" presStyleLbl="sibTrans2D1" presStyleIdx="1" presStyleCnt="6"/>
      <dgm:spPr/>
    </dgm:pt>
    <dgm:pt modelId="{80C05A4E-2A0A-294C-8DDC-052E97D834DA}" type="pres">
      <dgm:prSet presAssocID="{3AAD80AB-86BA-354D-A91B-40CE06269A51}" presName="node" presStyleLbl="node1" presStyleIdx="2" presStyleCnt="7" custScaleX="349941" custScaleY="53000">
        <dgm:presLayoutVars>
          <dgm:bulletEnabled val="1"/>
        </dgm:presLayoutVars>
      </dgm:prSet>
      <dgm:spPr/>
    </dgm:pt>
    <dgm:pt modelId="{B3C2DB7A-EC33-6544-A09D-B1205728770A}" type="pres">
      <dgm:prSet presAssocID="{C215D862-A291-E848-A659-5797AEF6E6A2}" presName="sibTrans" presStyleLbl="sibTrans2D1" presStyleIdx="2" presStyleCnt="6"/>
      <dgm:spPr/>
    </dgm:pt>
    <dgm:pt modelId="{14D2D5CD-E619-2C4C-83EC-B8786FE7D09C}" type="pres">
      <dgm:prSet presAssocID="{C215D862-A291-E848-A659-5797AEF6E6A2}" presName="connectorText" presStyleLbl="sibTrans2D1" presStyleIdx="2" presStyleCnt="6"/>
      <dgm:spPr/>
    </dgm:pt>
    <dgm:pt modelId="{6F6C8E07-FBAD-3F4D-A906-27ECCF26E70E}" type="pres">
      <dgm:prSet presAssocID="{99CAAEDC-6392-D343-9A6F-7F5A17C79600}" presName="node" presStyleLbl="node1" presStyleIdx="3" presStyleCnt="7" custScaleX="349941" custScaleY="53000">
        <dgm:presLayoutVars>
          <dgm:bulletEnabled val="1"/>
        </dgm:presLayoutVars>
      </dgm:prSet>
      <dgm:spPr/>
    </dgm:pt>
    <dgm:pt modelId="{48489AC1-89DA-0F48-B940-23505B5798FF}" type="pres">
      <dgm:prSet presAssocID="{E9E523D2-25B5-CD4B-9629-508B4D79D50B}" presName="sibTrans" presStyleLbl="sibTrans2D1" presStyleIdx="3" presStyleCnt="6"/>
      <dgm:spPr/>
    </dgm:pt>
    <dgm:pt modelId="{3C8009BD-6E6B-AA43-B36E-EB048E42CE59}" type="pres">
      <dgm:prSet presAssocID="{E9E523D2-25B5-CD4B-9629-508B4D79D50B}" presName="connectorText" presStyleLbl="sibTrans2D1" presStyleIdx="3" presStyleCnt="6"/>
      <dgm:spPr/>
    </dgm:pt>
    <dgm:pt modelId="{BEBB65BD-4B92-BC44-96A8-BAAA586B7BF5}" type="pres">
      <dgm:prSet presAssocID="{AF485B0E-A33B-9844-9210-9C1E1BDA0205}" presName="node" presStyleLbl="node1" presStyleIdx="4" presStyleCnt="7" custScaleX="349941" custScaleY="53000">
        <dgm:presLayoutVars>
          <dgm:bulletEnabled val="1"/>
        </dgm:presLayoutVars>
      </dgm:prSet>
      <dgm:spPr/>
    </dgm:pt>
    <dgm:pt modelId="{2839F08F-24F1-614A-A1A4-847F111C0482}" type="pres">
      <dgm:prSet presAssocID="{F898BA7A-4505-614F-B67E-8FA6BAB686B5}" presName="sibTrans" presStyleLbl="sibTrans2D1" presStyleIdx="4" presStyleCnt="6"/>
      <dgm:spPr/>
    </dgm:pt>
    <dgm:pt modelId="{7F333F59-D690-B24C-ABEB-6EE4EB2A6CE1}" type="pres">
      <dgm:prSet presAssocID="{F898BA7A-4505-614F-B67E-8FA6BAB686B5}" presName="connectorText" presStyleLbl="sibTrans2D1" presStyleIdx="4" presStyleCnt="6"/>
      <dgm:spPr/>
    </dgm:pt>
    <dgm:pt modelId="{80377AF5-BC76-FB40-840E-12C9D1BDB641}" type="pres">
      <dgm:prSet presAssocID="{7FA26DE3-9601-BF47-AC3A-1976221D9FF7}" presName="node" presStyleLbl="node1" presStyleIdx="5" presStyleCnt="7" custScaleX="349941" custScaleY="53000">
        <dgm:presLayoutVars>
          <dgm:bulletEnabled val="1"/>
        </dgm:presLayoutVars>
      </dgm:prSet>
      <dgm:spPr/>
    </dgm:pt>
    <dgm:pt modelId="{C9A34051-A77A-F049-83DF-B23743A74457}" type="pres">
      <dgm:prSet presAssocID="{6BBB6159-CF03-854D-ADAC-23CBD22E850F}" presName="sibTrans" presStyleLbl="sibTrans2D1" presStyleIdx="5" presStyleCnt="6"/>
      <dgm:spPr/>
    </dgm:pt>
    <dgm:pt modelId="{B372B6F6-AA4E-0A43-A234-81DA0BBCD8AB}" type="pres">
      <dgm:prSet presAssocID="{6BBB6159-CF03-854D-ADAC-23CBD22E850F}" presName="connectorText" presStyleLbl="sibTrans2D1" presStyleIdx="5" presStyleCnt="6"/>
      <dgm:spPr/>
    </dgm:pt>
    <dgm:pt modelId="{77F0190E-9B2D-0449-9A36-A264480F521F}" type="pres">
      <dgm:prSet presAssocID="{015830E8-F665-B44B-9DB8-53596A8F4B44}" presName="node" presStyleLbl="node1" presStyleIdx="6" presStyleCnt="7" custScaleX="349941" custScaleY="53000">
        <dgm:presLayoutVars>
          <dgm:bulletEnabled val="1"/>
        </dgm:presLayoutVars>
      </dgm:prSet>
      <dgm:spPr/>
    </dgm:pt>
  </dgm:ptLst>
  <dgm:cxnLst>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C16B0C15-CF6C-284A-A383-0640B635E0E2}" type="presOf" srcId="{7FA26DE3-9601-BF47-AC3A-1976221D9FF7}" destId="{80377AF5-BC76-FB40-840E-12C9D1BDB641}"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C0931419-B5B5-9741-91F2-A3180203F038}" type="presOf" srcId="{F898BA7A-4505-614F-B67E-8FA6BAB686B5}" destId="{7F333F59-D690-B24C-ABEB-6EE4EB2A6CE1}" srcOrd="1" destOrd="0" presId="urn:microsoft.com/office/officeart/2005/8/layout/process2"/>
    <dgm:cxn modelId="{4E285119-2459-8646-A275-E2ED993B432A}" type="presOf" srcId="{C215D862-A291-E848-A659-5797AEF6E6A2}" destId="{14D2D5CD-E619-2C4C-83EC-B8786FE7D09C}" srcOrd="1" destOrd="0" presId="urn:microsoft.com/office/officeart/2005/8/layout/process2"/>
    <dgm:cxn modelId="{85095E25-989E-8644-8FAC-8BF624EEEE21}" type="presOf" srcId="{C215D862-A291-E848-A659-5797AEF6E6A2}" destId="{B3C2DB7A-EC33-6544-A09D-B1205728770A}" srcOrd="0" destOrd="0" presId="urn:microsoft.com/office/officeart/2005/8/layout/process2"/>
    <dgm:cxn modelId="{5E573632-5F57-F24C-A760-D2988D36FDA8}" type="presOf" srcId="{6BBB6159-CF03-854D-ADAC-23CBD22E850F}" destId="{C9A34051-A77A-F049-83DF-B23743A74457}"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45637A5C-225F-734B-86EB-139616362E27}" type="presOf" srcId="{6BBB6159-CF03-854D-ADAC-23CBD22E850F}" destId="{B372B6F6-AA4E-0A43-A234-81DA0BBCD8AB}" srcOrd="1" destOrd="0" presId="urn:microsoft.com/office/officeart/2005/8/layout/process2"/>
    <dgm:cxn modelId="{29C6B55E-D2F5-EE46-A8EF-509405DE8534}" type="presOf" srcId="{015830E8-F665-B44B-9DB8-53596A8F4B44}" destId="{77F0190E-9B2D-0449-9A36-A264480F521F}" srcOrd="0" destOrd="0" presId="urn:microsoft.com/office/officeart/2005/8/layout/process2"/>
    <dgm:cxn modelId="{08CFD367-D1E2-774B-B131-FBDC4B1434F3}" type="presOf" srcId="{E9E523D2-25B5-CD4B-9629-508B4D79D50B}" destId="{3C8009BD-6E6B-AA43-B36E-EB048E42CE59}" srcOrd="1"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26E3548D-A542-114A-9949-6B29D19AA1AB}" srcId="{CB88F0E7-4140-1B4D-A33B-6563FB2E1C23}" destId="{7FA26DE3-9601-BF47-AC3A-1976221D9FF7}" srcOrd="5" destOrd="0" parTransId="{DA997D57-FC54-1543-8E4F-C5A29391F936}" sibTransId="{6BBB6159-CF03-854D-ADAC-23CBD22E850F}"/>
    <dgm:cxn modelId="{6CC7BC8F-A4DC-3E43-A468-7FE509ECF895}" srcId="{CB88F0E7-4140-1B4D-A33B-6563FB2E1C23}" destId="{3AAD80AB-86BA-354D-A91B-40CE06269A51}" srcOrd="2" destOrd="0" parTransId="{3035F67B-CB08-4446-AE7D-48C039F6D2DF}" sibTransId="{C215D862-A291-E848-A659-5797AEF6E6A2}"/>
    <dgm:cxn modelId="{3A86D698-1F94-304C-A18C-CF7C34B962A8}" type="presOf" srcId="{AF485B0E-A33B-9844-9210-9C1E1BDA0205}" destId="{BEBB65BD-4B92-BC44-96A8-BAAA586B7BF5}" srcOrd="0" destOrd="0" presId="urn:microsoft.com/office/officeart/2005/8/layout/process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06E07FA7-2DFD-C043-8B9F-CA0C5BDC5089}" srcId="{CB88F0E7-4140-1B4D-A33B-6563FB2E1C23}" destId="{AF485B0E-A33B-9844-9210-9C1E1BDA0205}" srcOrd="4" destOrd="0" parTransId="{B92E333E-CB20-8E47-8AF4-6EBADD828377}" sibTransId="{F898BA7A-4505-614F-B67E-8FA6BAB686B5}"/>
    <dgm:cxn modelId="{0C5B59B5-F8B1-E84F-A770-CFDEED93C193}" type="presOf" srcId="{E9E523D2-25B5-CD4B-9629-508B4D79D50B}" destId="{48489AC1-89DA-0F48-B940-23505B5798FF}" srcOrd="0" destOrd="0" presId="urn:microsoft.com/office/officeart/2005/8/layout/process2"/>
    <dgm:cxn modelId="{DF6E2BC5-4846-D943-9EA0-B9E719A59245}" srcId="{CB88F0E7-4140-1B4D-A33B-6563FB2E1C23}" destId="{015830E8-F665-B44B-9DB8-53596A8F4B44}" srcOrd="6" destOrd="0" parTransId="{D463BB94-01E0-5C47-B176-131A99D94AA7}" sibTransId="{762744FF-B12D-B048-A7F9-0D25528B3DD4}"/>
    <dgm:cxn modelId="{4B8D3CDA-C71C-8644-BEF2-25F7C84E26CD}" type="presOf" srcId="{CB88F0E7-4140-1B4D-A33B-6563FB2E1C23}" destId="{55F5C254-F149-8D49-B068-DD2BB6700AB1}" srcOrd="0" destOrd="0" presId="urn:microsoft.com/office/officeart/2005/8/layout/process2"/>
    <dgm:cxn modelId="{48E459E6-5F42-A649-A8DE-8CFE3B1E5409}" type="presOf" srcId="{F898BA7A-4505-614F-B67E-8FA6BAB686B5}" destId="{2839F08F-24F1-614A-A1A4-847F111C0482}"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 modelId="{D858F26B-4C1F-A94D-A8E0-A7E3177794AA}" type="presParOf" srcId="{55F5C254-F149-8D49-B068-DD2BB6700AB1}" destId="{48489AC1-89DA-0F48-B940-23505B5798FF}" srcOrd="7" destOrd="0" presId="urn:microsoft.com/office/officeart/2005/8/layout/process2"/>
    <dgm:cxn modelId="{784D6DCE-95A6-2B43-928C-01BEE8EB9D44}" type="presParOf" srcId="{48489AC1-89DA-0F48-B940-23505B5798FF}" destId="{3C8009BD-6E6B-AA43-B36E-EB048E42CE59}" srcOrd="0" destOrd="0" presId="urn:microsoft.com/office/officeart/2005/8/layout/process2"/>
    <dgm:cxn modelId="{49ED3757-CA91-6F44-A756-371AA5450956}" type="presParOf" srcId="{55F5C254-F149-8D49-B068-DD2BB6700AB1}" destId="{BEBB65BD-4B92-BC44-96A8-BAAA586B7BF5}" srcOrd="8" destOrd="0" presId="urn:microsoft.com/office/officeart/2005/8/layout/process2"/>
    <dgm:cxn modelId="{5D8A5D0C-B77F-CF44-B0BA-6BB9116C2102}" type="presParOf" srcId="{55F5C254-F149-8D49-B068-DD2BB6700AB1}" destId="{2839F08F-24F1-614A-A1A4-847F111C0482}" srcOrd="9" destOrd="0" presId="urn:microsoft.com/office/officeart/2005/8/layout/process2"/>
    <dgm:cxn modelId="{8CA0BD0B-2AA9-F545-98A9-597F9A4172E8}" type="presParOf" srcId="{2839F08F-24F1-614A-A1A4-847F111C0482}" destId="{7F333F59-D690-B24C-ABEB-6EE4EB2A6CE1}" srcOrd="0" destOrd="0" presId="urn:microsoft.com/office/officeart/2005/8/layout/process2"/>
    <dgm:cxn modelId="{D889FC8E-DA0F-DB4D-B68C-E9542CE782E5}" type="presParOf" srcId="{55F5C254-F149-8D49-B068-DD2BB6700AB1}" destId="{80377AF5-BC76-FB40-840E-12C9D1BDB641}" srcOrd="10" destOrd="0" presId="urn:microsoft.com/office/officeart/2005/8/layout/process2"/>
    <dgm:cxn modelId="{9E09BCF5-E8B7-1846-93BF-609BCA819B6B}" type="presParOf" srcId="{55F5C254-F149-8D49-B068-DD2BB6700AB1}" destId="{C9A34051-A77A-F049-83DF-B23743A74457}" srcOrd="11" destOrd="0" presId="urn:microsoft.com/office/officeart/2005/8/layout/process2"/>
    <dgm:cxn modelId="{46CB4DBC-9D42-CE47-8CFC-1F4B2D1AC9FE}" type="presParOf" srcId="{C9A34051-A77A-F049-83DF-B23743A74457}" destId="{B372B6F6-AA4E-0A43-A234-81DA0BBCD8AB}" srcOrd="0" destOrd="0" presId="urn:microsoft.com/office/officeart/2005/8/layout/process2"/>
    <dgm:cxn modelId="{2A289DDD-E86F-8946-9C9E-367E49FE4E4A}" type="presParOf" srcId="{55F5C254-F149-8D49-B068-DD2BB6700AB1}" destId="{77F0190E-9B2D-0449-9A36-A264480F521F}" srcOrd="12"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B5498DE5-7CDC-0347-BA87-FB91FE15E435}">
      <dgm:prSet phldrT="[Text]"/>
      <dgm:spPr/>
      <dgm:t>
        <a:bodyPr/>
        <a:lstStyle/>
        <a:p>
          <a:r>
            <a:rPr lang="en-US" dirty="0"/>
            <a:t>Extract ASV table from </a:t>
          </a:r>
          <a:r>
            <a:rPr lang="en-US" dirty="0" err="1"/>
            <a:t>phyloseq</a:t>
          </a:r>
          <a:r>
            <a:rPr lang="en-US" dirty="0"/>
            <a:t> object</a:t>
          </a:r>
        </a:p>
      </dgm:t>
    </dgm:pt>
    <dgm:pt modelId="{A4B182FE-28CF-CC4A-A857-D974481A212A}" type="parTrans" cxnId="{6F8A8218-A43D-754D-AC34-7D7A44CB7D31}">
      <dgm:prSet/>
      <dgm:spPr/>
      <dgm:t>
        <a:bodyPr/>
        <a:lstStyle/>
        <a:p>
          <a:endParaRPr lang="en-US"/>
        </a:p>
      </dgm:t>
    </dgm:pt>
    <dgm:pt modelId="{30256DA3-2063-6145-A40C-3F213F51F903}" type="sibTrans" cxnId="{6F8A8218-A43D-754D-AC34-7D7A44CB7D31}">
      <dgm:prSet/>
      <dgm:spPr/>
      <dgm:t>
        <a:bodyPr/>
        <a:lstStyle/>
        <a:p>
          <a:endParaRPr lang="en-US"/>
        </a:p>
      </dgm:t>
    </dgm:pt>
    <dgm:pt modelId="{6D80D72C-DBB2-D94A-BCBD-1B0C1C35E98A}">
      <dgm:prSet phldrT="[Text]"/>
      <dgm:spPr/>
      <dgm:t>
        <a:bodyPr/>
        <a:lstStyle/>
        <a:p>
          <a:r>
            <a:rPr lang="en-US" dirty="0"/>
            <a:t>Calculate the size of the metacommunity (</a:t>
          </a:r>
          <a:r>
            <a:rPr lang="en-US" i="1" dirty="0"/>
            <a:t>N</a:t>
          </a:r>
          <a:r>
            <a:rPr lang="en-US" dirty="0"/>
            <a:t>) by finding the mean number of reads per sample. We also find the limit of detection (</a:t>
          </a:r>
          <a:r>
            <a:rPr lang="en-US" i="1" dirty="0"/>
            <a:t>d</a:t>
          </a:r>
          <a:r>
            <a:rPr lang="en-US" dirty="0"/>
            <a:t>) = </a:t>
          </a:r>
          <a:r>
            <a:rPr lang="en-US" i="1" dirty="0"/>
            <a:t>1/N</a:t>
          </a:r>
        </a:p>
      </dgm:t>
    </dgm:pt>
    <dgm:pt modelId="{7A0A85DE-826D-F943-B70A-C309B2E35E00}" type="parTrans" cxnId="{A399560D-2686-BB49-BEC8-16E0E59F898C}">
      <dgm:prSet/>
      <dgm:spPr/>
      <dgm:t>
        <a:bodyPr/>
        <a:lstStyle/>
        <a:p>
          <a:endParaRPr lang="en-US"/>
        </a:p>
      </dgm:t>
    </dgm:pt>
    <dgm:pt modelId="{ECF5917A-5A86-4945-92ED-C3A30B725FE7}" type="sibTrans" cxnId="{A399560D-2686-BB49-BEC8-16E0E59F898C}">
      <dgm:prSet/>
      <dgm:spPr/>
      <dgm:t>
        <a:bodyPr/>
        <a:lstStyle/>
        <a:p>
          <a:endParaRPr lang="en-US"/>
        </a:p>
      </dgm:t>
    </dgm:pt>
    <dgm:pt modelId="{3AAD80AB-86BA-354D-A91B-40CE06269A51}">
      <dgm:prSet phldrT="[Text]"/>
      <dgm:spPr/>
      <dgm:t>
        <a:bodyPr/>
        <a:lstStyle/>
        <a:p>
          <a:r>
            <a:rPr lang="en-US" dirty="0"/>
            <a:t>Calculate the mean observed relative abundance and occurrence frequency of each ASV</a:t>
          </a:r>
        </a:p>
      </dgm:t>
    </dgm:pt>
    <dgm:pt modelId="{3035F67B-CB08-4446-AE7D-48C039F6D2DF}" type="parTrans" cxnId="{6CC7BC8F-A4DC-3E43-A468-7FE509ECF895}">
      <dgm:prSet/>
      <dgm:spPr/>
      <dgm:t>
        <a:bodyPr/>
        <a:lstStyle/>
        <a:p>
          <a:endParaRPr lang="en-US"/>
        </a:p>
      </dgm:t>
    </dgm:pt>
    <dgm:pt modelId="{C215D862-A291-E848-A659-5797AEF6E6A2}" type="sibTrans" cxnId="{6CC7BC8F-A4DC-3E43-A468-7FE509ECF895}">
      <dgm:prSet/>
      <dgm:spPr/>
      <dgm:t>
        <a:bodyPr/>
        <a:lstStyle/>
        <a:p>
          <a:endParaRPr lang="en-US"/>
        </a:p>
      </dgm:t>
    </dgm:pt>
    <dgm:pt modelId="{99CAAEDC-6392-D343-9A6F-7F5A17C79600}">
      <dgm:prSet/>
      <dgm:spPr/>
      <dgm:t>
        <a:bodyPr/>
        <a:lstStyle/>
        <a:p>
          <a:r>
            <a:rPr lang="en-US" dirty="0"/>
            <a:t>Using non-linear least squares fitting we fit the neutral model to our data to find, finding the probability of dispersal (</a:t>
          </a:r>
          <a:r>
            <a:rPr lang="en-US" i="1" dirty="0"/>
            <a:t>m</a:t>
          </a:r>
          <a:r>
            <a:rPr lang="en-US" dirty="0"/>
            <a:t>)</a:t>
          </a:r>
        </a:p>
      </dgm:t>
    </dgm:pt>
    <dgm:pt modelId="{C17FB67C-707B-D74A-80D6-94F7481B177D}" type="parTrans" cxnId="{850E1FA5-AA48-724C-8558-F11B12C530EE}">
      <dgm:prSet/>
      <dgm:spPr/>
      <dgm:t>
        <a:bodyPr/>
        <a:lstStyle/>
        <a:p>
          <a:endParaRPr lang="en-US"/>
        </a:p>
      </dgm:t>
    </dgm:pt>
    <dgm:pt modelId="{E9E523D2-25B5-CD4B-9629-508B4D79D50B}" type="sibTrans" cxnId="{850E1FA5-AA48-724C-8558-F11B12C530EE}">
      <dgm:prSet/>
      <dgm:spPr/>
      <dgm:t>
        <a:bodyPr/>
        <a:lstStyle/>
        <a:p>
          <a:endParaRPr lang="en-US"/>
        </a:p>
      </dgm:t>
    </dgm:pt>
    <dgm:pt modelId="{7FA26DE3-9601-BF47-AC3A-1976221D9FF7}">
      <dgm:prSet/>
      <dgm:spPr/>
      <dgm:t>
        <a:bodyPr/>
        <a:lstStyle/>
        <a:p>
          <a:r>
            <a:rPr lang="en-US" dirty="0"/>
            <a:t>Using the estimated value of </a:t>
          </a:r>
          <a:r>
            <a:rPr lang="en-US" i="1" dirty="0"/>
            <a:t>m</a:t>
          </a:r>
          <a:r>
            <a:rPr lang="en-US" dirty="0"/>
            <a:t> we calculate predicted occurrence frequencies and plot predictions from the neutral model against observed frequencies</a:t>
          </a:r>
        </a:p>
      </dgm:t>
    </dgm:pt>
    <dgm:pt modelId="{DA997D57-FC54-1543-8E4F-C5A29391F936}" type="parTrans" cxnId="{26E3548D-A542-114A-9949-6B29D19AA1AB}">
      <dgm:prSet/>
      <dgm:spPr/>
      <dgm:t>
        <a:bodyPr/>
        <a:lstStyle/>
        <a:p>
          <a:endParaRPr lang="en-US"/>
        </a:p>
      </dgm:t>
    </dgm:pt>
    <dgm:pt modelId="{6BBB6159-CF03-854D-ADAC-23CBD22E850F}" type="sibTrans" cxnId="{26E3548D-A542-114A-9949-6B29D19AA1AB}">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5" custScaleX="266769">
        <dgm:presLayoutVars>
          <dgm:bulletEnabled val="1"/>
        </dgm:presLayoutVars>
      </dgm:prSet>
      <dgm:spPr/>
    </dgm:pt>
    <dgm:pt modelId="{91DA19BA-A0AB-564A-8A9E-322DF18B64CF}" type="pres">
      <dgm:prSet presAssocID="{30256DA3-2063-6145-A40C-3F213F51F903}" presName="sibTrans" presStyleLbl="sibTrans2D1" presStyleIdx="0" presStyleCnt="4"/>
      <dgm:spPr/>
    </dgm:pt>
    <dgm:pt modelId="{93A03A25-0C23-0B49-A801-B6DF4800FF1C}" type="pres">
      <dgm:prSet presAssocID="{30256DA3-2063-6145-A40C-3F213F51F903}" presName="connectorText" presStyleLbl="sibTrans2D1" presStyleIdx="0" presStyleCnt="4"/>
      <dgm:spPr/>
    </dgm:pt>
    <dgm:pt modelId="{43D2067A-91F6-8745-98BA-D6A10B24950A}" type="pres">
      <dgm:prSet presAssocID="{6D80D72C-DBB2-D94A-BCBD-1B0C1C35E98A}" presName="node" presStyleLbl="node1" presStyleIdx="1" presStyleCnt="5" custScaleX="264923">
        <dgm:presLayoutVars>
          <dgm:bulletEnabled val="1"/>
        </dgm:presLayoutVars>
      </dgm:prSet>
      <dgm:spPr/>
    </dgm:pt>
    <dgm:pt modelId="{D067C965-9057-9C4A-A1D2-4912C14C50F7}" type="pres">
      <dgm:prSet presAssocID="{ECF5917A-5A86-4945-92ED-C3A30B725FE7}" presName="sibTrans" presStyleLbl="sibTrans2D1" presStyleIdx="1" presStyleCnt="4"/>
      <dgm:spPr/>
    </dgm:pt>
    <dgm:pt modelId="{5030DE2C-F3D5-7E44-98C9-D5A5317CA56C}" type="pres">
      <dgm:prSet presAssocID="{ECF5917A-5A86-4945-92ED-C3A30B725FE7}" presName="connectorText" presStyleLbl="sibTrans2D1" presStyleIdx="1" presStyleCnt="4"/>
      <dgm:spPr/>
    </dgm:pt>
    <dgm:pt modelId="{80C05A4E-2A0A-294C-8DDC-052E97D834DA}" type="pres">
      <dgm:prSet presAssocID="{3AAD80AB-86BA-354D-A91B-40CE06269A51}" presName="node" presStyleLbl="node1" presStyleIdx="2" presStyleCnt="5" custScaleX="263077">
        <dgm:presLayoutVars>
          <dgm:bulletEnabled val="1"/>
        </dgm:presLayoutVars>
      </dgm:prSet>
      <dgm:spPr/>
    </dgm:pt>
    <dgm:pt modelId="{B3C2DB7A-EC33-6544-A09D-B1205728770A}" type="pres">
      <dgm:prSet presAssocID="{C215D862-A291-E848-A659-5797AEF6E6A2}" presName="sibTrans" presStyleLbl="sibTrans2D1" presStyleIdx="2" presStyleCnt="4"/>
      <dgm:spPr/>
    </dgm:pt>
    <dgm:pt modelId="{14D2D5CD-E619-2C4C-83EC-B8786FE7D09C}" type="pres">
      <dgm:prSet presAssocID="{C215D862-A291-E848-A659-5797AEF6E6A2}" presName="connectorText" presStyleLbl="sibTrans2D1" presStyleIdx="2" presStyleCnt="4"/>
      <dgm:spPr/>
    </dgm:pt>
    <dgm:pt modelId="{6F6C8E07-FBAD-3F4D-A906-27ECCF26E70E}" type="pres">
      <dgm:prSet presAssocID="{99CAAEDC-6392-D343-9A6F-7F5A17C79600}" presName="node" presStyleLbl="node1" presStyleIdx="3" presStyleCnt="5" custScaleX="262154">
        <dgm:presLayoutVars>
          <dgm:bulletEnabled val="1"/>
        </dgm:presLayoutVars>
      </dgm:prSet>
      <dgm:spPr/>
    </dgm:pt>
    <dgm:pt modelId="{48489AC1-89DA-0F48-B940-23505B5798FF}" type="pres">
      <dgm:prSet presAssocID="{E9E523D2-25B5-CD4B-9629-508B4D79D50B}" presName="sibTrans" presStyleLbl="sibTrans2D1" presStyleIdx="3" presStyleCnt="4"/>
      <dgm:spPr/>
    </dgm:pt>
    <dgm:pt modelId="{3C8009BD-6E6B-AA43-B36E-EB048E42CE59}" type="pres">
      <dgm:prSet presAssocID="{E9E523D2-25B5-CD4B-9629-508B4D79D50B}" presName="connectorText" presStyleLbl="sibTrans2D1" presStyleIdx="3" presStyleCnt="4"/>
      <dgm:spPr/>
    </dgm:pt>
    <dgm:pt modelId="{80377AF5-BC76-FB40-840E-12C9D1BDB641}" type="pres">
      <dgm:prSet presAssocID="{7FA26DE3-9601-BF47-AC3A-1976221D9FF7}" presName="node" presStyleLbl="node1" presStyleIdx="4" presStyleCnt="5" custScaleX="263077">
        <dgm:presLayoutVars>
          <dgm:bulletEnabled val="1"/>
        </dgm:presLayoutVars>
      </dgm:prSet>
      <dgm:spPr/>
    </dgm:pt>
  </dgm:ptLst>
  <dgm:cxnLst>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C16B0C15-CF6C-284A-A383-0640B635E0E2}" type="presOf" srcId="{7FA26DE3-9601-BF47-AC3A-1976221D9FF7}" destId="{80377AF5-BC76-FB40-840E-12C9D1BDB641}"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4E285119-2459-8646-A275-E2ED993B432A}" type="presOf" srcId="{C215D862-A291-E848-A659-5797AEF6E6A2}" destId="{14D2D5CD-E619-2C4C-83EC-B8786FE7D09C}" srcOrd="1" destOrd="0" presId="urn:microsoft.com/office/officeart/2005/8/layout/process2"/>
    <dgm:cxn modelId="{85095E25-989E-8644-8FAC-8BF624EEEE21}" type="presOf" srcId="{C215D862-A291-E848-A659-5797AEF6E6A2}" destId="{B3C2DB7A-EC33-6544-A09D-B1205728770A}"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08CFD367-D1E2-774B-B131-FBDC4B1434F3}" type="presOf" srcId="{E9E523D2-25B5-CD4B-9629-508B4D79D50B}" destId="{3C8009BD-6E6B-AA43-B36E-EB048E42CE59}" srcOrd="1"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26E3548D-A542-114A-9949-6B29D19AA1AB}" srcId="{CB88F0E7-4140-1B4D-A33B-6563FB2E1C23}" destId="{7FA26DE3-9601-BF47-AC3A-1976221D9FF7}" srcOrd="4" destOrd="0" parTransId="{DA997D57-FC54-1543-8E4F-C5A29391F936}" sibTransId="{6BBB6159-CF03-854D-ADAC-23CBD22E850F}"/>
    <dgm:cxn modelId="{6CC7BC8F-A4DC-3E43-A468-7FE509ECF895}" srcId="{CB88F0E7-4140-1B4D-A33B-6563FB2E1C23}" destId="{3AAD80AB-86BA-354D-A91B-40CE06269A51}" srcOrd="2" destOrd="0" parTransId="{3035F67B-CB08-4446-AE7D-48C039F6D2DF}" sibTransId="{C215D862-A291-E848-A659-5797AEF6E6A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0C5B59B5-F8B1-E84F-A770-CFDEED93C193}" type="presOf" srcId="{E9E523D2-25B5-CD4B-9629-508B4D79D50B}" destId="{48489AC1-89DA-0F48-B940-23505B5798FF}" srcOrd="0" destOrd="0" presId="urn:microsoft.com/office/officeart/2005/8/layout/process2"/>
    <dgm:cxn modelId="{4B8D3CDA-C71C-8644-BEF2-25F7C84E26CD}" type="presOf" srcId="{CB88F0E7-4140-1B4D-A33B-6563FB2E1C23}" destId="{55F5C254-F149-8D49-B068-DD2BB6700AB1}"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 modelId="{D858F26B-4C1F-A94D-A8E0-A7E3177794AA}" type="presParOf" srcId="{55F5C254-F149-8D49-B068-DD2BB6700AB1}" destId="{48489AC1-89DA-0F48-B940-23505B5798FF}" srcOrd="7" destOrd="0" presId="urn:microsoft.com/office/officeart/2005/8/layout/process2"/>
    <dgm:cxn modelId="{784D6DCE-95A6-2B43-928C-01BEE8EB9D44}" type="presParOf" srcId="{48489AC1-89DA-0F48-B940-23505B5798FF}" destId="{3C8009BD-6E6B-AA43-B36E-EB048E42CE59}" srcOrd="0" destOrd="0" presId="urn:microsoft.com/office/officeart/2005/8/layout/process2"/>
    <dgm:cxn modelId="{D889FC8E-DA0F-DB4D-B68C-E9542CE782E5}" type="presParOf" srcId="{55F5C254-F149-8D49-B068-DD2BB6700AB1}" destId="{80377AF5-BC76-FB40-840E-12C9D1BDB641}"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B5498DE5-7CDC-0347-BA87-FB91FE15E435}">
      <dgm:prSet phldrT="[Text]"/>
      <dgm:spPr/>
      <dgm:t>
        <a:bodyPr/>
        <a:lstStyle/>
        <a:p>
          <a:r>
            <a:rPr lang="en-US" dirty="0"/>
            <a:t>Find phylogenetic distances between ASVs</a:t>
          </a:r>
        </a:p>
      </dgm:t>
    </dgm:pt>
    <dgm:pt modelId="{A4B182FE-28CF-CC4A-A857-D974481A212A}" type="parTrans" cxnId="{6F8A8218-A43D-754D-AC34-7D7A44CB7D31}">
      <dgm:prSet/>
      <dgm:spPr/>
      <dgm:t>
        <a:bodyPr/>
        <a:lstStyle/>
        <a:p>
          <a:endParaRPr lang="en-US"/>
        </a:p>
      </dgm:t>
    </dgm:pt>
    <dgm:pt modelId="{30256DA3-2063-6145-A40C-3F213F51F903}" type="sibTrans" cxnId="{6F8A8218-A43D-754D-AC34-7D7A44CB7D31}">
      <dgm:prSet/>
      <dgm:spPr/>
      <dgm:t>
        <a:bodyPr/>
        <a:lstStyle/>
        <a:p>
          <a:endParaRPr lang="en-US"/>
        </a:p>
      </dgm:t>
    </dgm:pt>
    <dgm:pt modelId="{99CAAEDC-6392-D343-9A6F-7F5A17C79600}">
      <dgm:prSet/>
      <dgm:spPr/>
      <dgm:t>
        <a:bodyPr/>
        <a:lstStyle/>
        <a:p>
          <a:r>
            <a:rPr lang="en-US" dirty="0"/>
            <a:t>Plot results of the mantel correlograms against phylogenetic distance classes for each environmental parameter to check for significant relationships</a:t>
          </a:r>
        </a:p>
      </dgm:t>
    </dgm:pt>
    <dgm:pt modelId="{E9E523D2-25B5-CD4B-9629-508B4D79D50B}" type="sibTrans" cxnId="{850E1FA5-AA48-724C-8558-F11B12C530EE}">
      <dgm:prSet/>
      <dgm:spPr/>
      <dgm:t>
        <a:bodyPr/>
        <a:lstStyle/>
        <a:p>
          <a:endParaRPr lang="en-US"/>
        </a:p>
      </dgm:t>
    </dgm:pt>
    <dgm:pt modelId="{C17FB67C-707B-D74A-80D6-94F7481B177D}" type="parTrans" cxnId="{850E1FA5-AA48-724C-8558-F11B12C530EE}">
      <dgm:prSet/>
      <dgm:spPr/>
      <dgm:t>
        <a:bodyPr/>
        <a:lstStyle/>
        <a:p>
          <a:endParaRPr lang="en-US"/>
        </a:p>
      </dgm:t>
    </dgm:pt>
    <dgm:pt modelId="{3AAD80AB-86BA-354D-A91B-40CE06269A51}">
      <dgm:prSet phldrT="[Text]"/>
      <dgm:spPr/>
      <dgm:t>
        <a:bodyPr/>
        <a:lstStyle/>
        <a:p>
          <a:r>
            <a:rPr lang="en-US" dirty="0"/>
            <a:t>Calculate mantel correlograms for each environmental parameter </a:t>
          </a:r>
        </a:p>
      </dgm:t>
    </dgm:pt>
    <dgm:pt modelId="{C215D862-A291-E848-A659-5797AEF6E6A2}" type="sibTrans" cxnId="{6CC7BC8F-A4DC-3E43-A468-7FE509ECF895}">
      <dgm:prSet/>
      <dgm:spPr/>
      <dgm:t>
        <a:bodyPr/>
        <a:lstStyle/>
        <a:p>
          <a:endParaRPr lang="en-US"/>
        </a:p>
      </dgm:t>
    </dgm:pt>
    <dgm:pt modelId="{3035F67B-CB08-4446-AE7D-48C039F6D2DF}" type="parTrans" cxnId="{6CC7BC8F-A4DC-3E43-A468-7FE509ECF895}">
      <dgm:prSet/>
      <dgm:spPr/>
      <dgm:t>
        <a:bodyPr/>
        <a:lstStyle/>
        <a:p>
          <a:endParaRPr lang="en-US"/>
        </a:p>
      </dgm:t>
    </dgm:pt>
    <dgm:pt modelId="{6D80D72C-DBB2-D94A-BCBD-1B0C1C35E98A}">
      <dgm:prSet phldrT="[Text]"/>
      <dgm:spPr/>
      <dgm:t>
        <a:bodyPr/>
        <a:lstStyle/>
        <a:p>
          <a:r>
            <a:rPr lang="en-US" dirty="0"/>
            <a:t>Find the weighted mean environmental parameters for each ASV = niche preferences </a:t>
          </a:r>
          <a:endParaRPr lang="en-US" i="1" dirty="0"/>
        </a:p>
      </dgm:t>
    </dgm:pt>
    <dgm:pt modelId="{ECF5917A-5A86-4945-92ED-C3A30B725FE7}" type="sibTrans" cxnId="{A399560D-2686-BB49-BEC8-16E0E59F898C}">
      <dgm:prSet/>
      <dgm:spPr/>
      <dgm:t>
        <a:bodyPr/>
        <a:lstStyle/>
        <a:p>
          <a:endParaRPr lang="en-US"/>
        </a:p>
      </dgm:t>
    </dgm:pt>
    <dgm:pt modelId="{7A0A85DE-826D-F943-B70A-C309B2E35E00}" type="parTrans" cxnId="{A399560D-2686-BB49-BEC8-16E0E59F898C}">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4" custScaleX="266769">
        <dgm:presLayoutVars>
          <dgm:bulletEnabled val="1"/>
        </dgm:presLayoutVars>
      </dgm:prSet>
      <dgm:spPr/>
    </dgm:pt>
    <dgm:pt modelId="{91DA19BA-A0AB-564A-8A9E-322DF18B64CF}" type="pres">
      <dgm:prSet presAssocID="{30256DA3-2063-6145-A40C-3F213F51F903}" presName="sibTrans" presStyleLbl="sibTrans2D1" presStyleIdx="0" presStyleCnt="3"/>
      <dgm:spPr/>
    </dgm:pt>
    <dgm:pt modelId="{93A03A25-0C23-0B49-A801-B6DF4800FF1C}" type="pres">
      <dgm:prSet presAssocID="{30256DA3-2063-6145-A40C-3F213F51F903}" presName="connectorText" presStyleLbl="sibTrans2D1" presStyleIdx="0" presStyleCnt="3"/>
      <dgm:spPr/>
    </dgm:pt>
    <dgm:pt modelId="{43D2067A-91F6-8745-98BA-D6A10B24950A}" type="pres">
      <dgm:prSet presAssocID="{6D80D72C-DBB2-D94A-BCBD-1B0C1C35E98A}" presName="node" presStyleLbl="node1" presStyleIdx="1" presStyleCnt="4" custScaleX="264923" custLinFactNeighborX="1148">
        <dgm:presLayoutVars>
          <dgm:bulletEnabled val="1"/>
        </dgm:presLayoutVars>
      </dgm:prSet>
      <dgm:spPr/>
    </dgm:pt>
    <dgm:pt modelId="{D067C965-9057-9C4A-A1D2-4912C14C50F7}" type="pres">
      <dgm:prSet presAssocID="{ECF5917A-5A86-4945-92ED-C3A30B725FE7}" presName="sibTrans" presStyleLbl="sibTrans2D1" presStyleIdx="1" presStyleCnt="3"/>
      <dgm:spPr/>
    </dgm:pt>
    <dgm:pt modelId="{5030DE2C-F3D5-7E44-98C9-D5A5317CA56C}" type="pres">
      <dgm:prSet presAssocID="{ECF5917A-5A86-4945-92ED-C3A30B725FE7}" presName="connectorText" presStyleLbl="sibTrans2D1" presStyleIdx="1" presStyleCnt="3"/>
      <dgm:spPr/>
    </dgm:pt>
    <dgm:pt modelId="{80C05A4E-2A0A-294C-8DDC-052E97D834DA}" type="pres">
      <dgm:prSet presAssocID="{3AAD80AB-86BA-354D-A91B-40CE06269A51}" presName="node" presStyleLbl="node1" presStyleIdx="2" presStyleCnt="4" custScaleX="263077">
        <dgm:presLayoutVars>
          <dgm:bulletEnabled val="1"/>
        </dgm:presLayoutVars>
      </dgm:prSet>
      <dgm:spPr/>
    </dgm:pt>
    <dgm:pt modelId="{B3C2DB7A-EC33-6544-A09D-B1205728770A}" type="pres">
      <dgm:prSet presAssocID="{C215D862-A291-E848-A659-5797AEF6E6A2}" presName="sibTrans" presStyleLbl="sibTrans2D1" presStyleIdx="2" presStyleCnt="3"/>
      <dgm:spPr/>
    </dgm:pt>
    <dgm:pt modelId="{14D2D5CD-E619-2C4C-83EC-B8786FE7D09C}" type="pres">
      <dgm:prSet presAssocID="{C215D862-A291-E848-A659-5797AEF6E6A2}" presName="connectorText" presStyleLbl="sibTrans2D1" presStyleIdx="2" presStyleCnt="3"/>
      <dgm:spPr/>
    </dgm:pt>
    <dgm:pt modelId="{6F6C8E07-FBAD-3F4D-A906-27ECCF26E70E}" type="pres">
      <dgm:prSet presAssocID="{99CAAEDC-6392-D343-9A6F-7F5A17C79600}" presName="node" presStyleLbl="node1" presStyleIdx="3" presStyleCnt="4" custScaleX="262154">
        <dgm:presLayoutVars>
          <dgm:bulletEnabled val="1"/>
        </dgm:presLayoutVars>
      </dgm:prSet>
      <dgm:spPr/>
    </dgm:pt>
  </dgm:ptLst>
  <dgm:cxnLst>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4E285119-2459-8646-A275-E2ED993B432A}" type="presOf" srcId="{C215D862-A291-E848-A659-5797AEF6E6A2}" destId="{14D2D5CD-E619-2C4C-83EC-B8786FE7D09C}" srcOrd="1" destOrd="0" presId="urn:microsoft.com/office/officeart/2005/8/layout/process2"/>
    <dgm:cxn modelId="{85095E25-989E-8644-8FAC-8BF624EEEE21}" type="presOf" srcId="{C215D862-A291-E848-A659-5797AEF6E6A2}" destId="{B3C2DB7A-EC33-6544-A09D-B1205728770A}"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6CC7BC8F-A4DC-3E43-A468-7FE509ECF895}" srcId="{CB88F0E7-4140-1B4D-A33B-6563FB2E1C23}" destId="{3AAD80AB-86BA-354D-A91B-40CE06269A51}" srcOrd="2" destOrd="0" parTransId="{3035F67B-CB08-4446-AE7D-48C039F6D2DF}" sibTransId="{C215D862-A291-E848-A659-5797AEF6E6A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4B8D3CDA-C71C-8644-BEF2-25F7C84E26CD}" type="presOf" srcId="{CB88F0E7-4140-1B4D-A33B-6563FB2E1C23}" destId="{55F5C254-F149-8D49-B068-DD2BB6700AB1}"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6577B4F-8805-7F47-9A82-2379E9B73B62}" type="doc">
      <dgm:prSet loTypeId="urn:microsoft.com/office/officeart/2005/8/layout/orgChart1" loCatId="" qsTypeId="urn:microsoft.com/office/officeart/2005/8/quickstyle/simple1" qsCatId="simple" csTypeId="urn:microsoft.com/office/officeart/2005/8/colors/accent4_1" csCatId="accent4" phldr="1"/>
      <dgm:spPr/>
      <dgm:t>
        <a:bodyPr/>
        <a:lstStyle/>
        <a:p>
          <a:endParaRPr lang="en-US"/>
        </a:p>
      </dgm:t>
    </dgm:pt>
    <dgm:pt modelId="{9F219289-8A31-1148-82D4-265246F22380}">
      <dgm:prSet phldrT="[Text]"/>
      <dgm:spPr>
        <a:solidFill>
          <a:srgbClr val="FFC003"/>
        </a:solidFill>
      </dgm:spPr>
      <dgm:t>
        <a:bodyPr/>
        <a:lstStyle/>
        <a:p>
          <a:r>
            <a:rPr lang="en-US" dirty="0"/>
            <a:t>βNTI</a:t>
          </a:r>
        </a:p>
      </dgm:t>
    </dgm:pt>
    <dgm:pt modelId="{F362B115-4CD8-8B4D-9409-2AFAC68C8D1F}" type="parTrans" cxnId="{4591B814-B223-9141-AC55-85ABD811F7E9}">
      <dgm:prSet/>
      <dgm:spPr/>
      <dgm:t>
        <a:bodyPr/>
        <a:lstStyle/>
        <a:p>
          <a:endParaRPr lang="en-US"/>
        </a:p>
      </dgm:t>
    </dgm:pt>
    <dgm:pt modelId="{7EF8A899-D412-0041-8F9F-A7A14C6F32C7}" type="sibTrans" cxnId="{4591B814-B223-9141-AC55-85ABD811F7E9}">
      <dgm:prSet/>
      <dgm:spPr/>
      <dgm:t>
        <a:bodyPr/>
        <a:lstStyle/>
        <a:p>
          <a:endParaRPr lang="en-US"/>
        </a:p>
      </dgm:t>
    </dgm:pt>
    <dgm:pt modelId="{F2DEA3D8-413E-E445-ADF0-FB442F8477B0}">
      <dgm:prSet phldrT="[Text]"/>
      <dgm:spPr>
        <a:solidFill>
          <a:srgbClr val="FFC003"/>
        </a:solidFill>
      </dgm:spPr>
      <dgm:t>
        <a:bodyPr/>
        <a:lstStyle/>
        <a:p>
          <a:r>
            <a:rPr lang="en-US" dirty="0"/>
            <a:t>&lt; -2</a:t>
          </a:r>
        </a:p>
      </dgm:t>
    </dgm:pt>
    <dgm:pt modelId="{4093BDEC-923F-864F-852B-06048A81EC9F}" type="parTrans" cxnId="{6B0342B9-B648-BC43-AA75-F0389220DD82}">
      <dgm:prSet/>
      <dgm:spPr/>
      <dgm:t>
        <a:bodyPr/>
        <a:lstStyle/>
        <a:p>
          <a:endParaRPr lang="en-US"/>
        </a:p>
      </dgm:t>
    </dgm:pt>
    <dgm:pt modelId="{42279889-3E72-1C48-AD74-87DD02ACDC56}" type="sibTrans" cxnId="{6B0342B9-B648-BC43-AA75-F0389220DD82}">
      <dgm:prSet/>
      <dgm:spPr/>
      <dgm:t>
        <a:bodyPr/>
        <a:lstStyle/>
        <a:p>
          <a:endParaRPr lang="en-US"/>
        </a:p>
      </dgm:t>
    </dgm:pt>
    <dgm:pt modelId="{EA384603-0039-6F45-A265-EDF9A1260AD6}">
      <dgm:prSet phldrT="[Text]"/>
      <dgm:spPr>
        <a:solidFill>
          <a:srgbClr val="FFC003"/>
        </a:solidFill>
      </dgm:spPr>
      <dgm:t>
        <a:bodyPr/>
        <a:lstStyle/>
        <a:p>
          <a:r>
            <a:rPr lang="en-US" dirty="0"/>
            <a:t>&gt; 2</a:t>
          </a:r>
        </a:p>
      </dgm:t>
    </dgm:pt>
    <dgm:pt modelId="{995B1156-958E-9D4A-A7B0-0B8F04E31EC6}" type="parTrans" cxnId="{CC76CFF2-6B95-4B47-8AB4-63AEA2DAA34E}">
      <dgm:prSet/>
      <dgm:spPr/>
      <dgm:t>
        <a:bodyPr/>
        <a:lstStyle/>
        <a:p>
          <a:endParaRPr lang="en-US"/>
        </a:p>
      </dgm:t>
    </dgm:pt>
    <dgm:pt modelId="{D402C9A6-A407-F843-9F39-D99AA757C169}" type="sibTrans" cxnId="{CC76CFF2-6B95-4B47-8AB4-63AEA2DAA34E}">
      <dgm:prSet/>
      <dgm:spPr/>
      <dgm:t>
        <a:bodyPr/>
        <a:lstStyle/>
        <a:p>
          <a:endParaRPr lang="en-US"/>
        </a:p>
      </dgm:t>
    </dgm:pt>
    <dgm:pt modelId="{9DBF051C-8233-FB4D-A0A3-D55F08CCB5BD}">
      <dgm:prSet phldrT="[Text]"/>
      <dgm:spPr>
        <a:solidFill>
          <a:srgbClr val="FFC003"/>
        </a:solidFill>
      </dgm:spPr>
      <dgm:t>
        <a:bodyPr/>
        <a:lstStyle/>
        <a:p>
          <a:r>
            <a:rPr lang="en-US" dirty="0"/>
            <a:t>|βNTI| &lt; 2</a:t>
          </a:r>
        </a:p>
      </dgm:t>
    </dgm:pt>
    <dgm:pt modelId="{707933C0-A3C9-7A45-A47C-79B8ACCA5805}" type="parTrans" cxnId="{129CDAE4-0190-F049-B8AC-B33AC0A2DE7B}">
      <dgm:prSet/>
      <dgm:spPr/>
      <dgm:t>
        <a:bodyPr/>
        <a:lstStyle/>
        <a:p>
          <a:endParaRPr lang="en-US"/>
        </a:p>
      </dgm:t>
    </dgm:pt>
    <dgm:pt modelId="{8FB02D23-FA8E-4843-9D9A-59FF96DFB85B}" type="sibTrans" cxnId="{129CDAE4-0190-F049-B8AC-B33AC0A2DE7B}">
      <dgm:prSet/>
      <dgm:spPr/>
      <dgm:t>
        <a:bodyPr/>
        <a:lstStyle/>
        <a:p>
          <a:endParaRPr lang="en-US"/>
        </a:p>
      </dgm:t>
    </dgm:pt>
    <dgm:pt modelId="{2DE1791E-70DD-F74B-8334-5D40841D4B87}">
      <dgm:prSet/>
      <dgm:spPr>
        <a:solidFill>
          <a:srgbClr val="FFC003"/>
        </a:solidFill>
      </dgm:spPr>
      <dgm:t>
        <a:bodyPr/>
        <a:lstStyle/>
        <a:p>
          <a:r>
            <a:rPr lang="en-US" dirty="0"/>
            <a:t>Homogenizing Selection</a:t>
          </a:r>
        </a:p>
      </dgm:t>
    </dgm:pt>
    <dgm:pt modelId="{C8F7C944-DC05-E546-96BD-3A7E566AF139}" type="parTrans" cxnId="{73D87C48-373A-F44E-ADEB-D4E945740264}">
      <dgm:prSet/>
      <dgm:spPr/>
      <dgm:t>
        <a:bodyPr/>
        <a:lstStyle/>
        <a:p>
          <a:endParaRPr lang="en-US"/>
        </a:p>
      </dgm:t>
    </dgm:pt>
    <dgm:pt modelId="{993608DD-162B-5A4A-9275-D0EFC7914127}" type="sibTrans" cxnId="{73D87C48-373A-F44E-ADEB-D4E945740264}">
      <dgm:prSet/>
      <dgm:spPr/>
      <dgm:t>
        <a:bodyPr/>
        <a:lstStyle/>
        <a:p>
          <a:endParaRPr lang="en-US"/>
        </a:p>
      </dgm:t>
    </dgm:pt>
    <dgm:pt modelId="{F1EB112A-8472-7E4E-ABB4-F90EAFE06B71}">
      <dgm:prSet/>
      <dgm:spPr>
        <a:solidFill>
          <a:srgbClr val="FFC003"/>
        </a:solidFill>
      </dgm:spPr>
      <dgm:t>
        <a:bodyPr/>
        <a:lstStyle/>
        <a:p>
          <a:r>
            <a:rPr lang="en-US" dirty="0"/>
            <a:t>Variable Selection</a:t>
          </a:r>
        </a:p>
      </dgm:t>
    </dgm:pt>
    <dgm:pt modelId="{77467C19-AE36-A642-B0A7-0B5561A0D582}" type="parTrans" cxnId="{1B378008-DA23-7146-AC2B-58AE5A6D9C92}">
      <dgm:prSet/>
      <dgm:spPr/>
      <dgm:t>
        <a:bodyPr/>
        <a:lstStyle/>
        <a:p>
          <a:endParaRPr lang="en-US"/>
        </a:p>
      </dgm:t>
    </dgm:pt>
    <dgm:pt modelId="{CB16C8CE-AECE-F748-A547-B824CBA53E7B}" type="sibTrans" cxnId="{1B378008-DA23-7146-AC2B-58AE5A6D9C92}">
      <dgm:prSet/>
      <dgm:spPr/>
      <dgm:t>
        <a:bodyPr/>
        <a:lstStyle/>
        <a:p>
          <a:endParaRPr lang="en-US"/>
        </a:p>
      </dgm:t>
    </dgm:pt>
    <dgm:pt modelId="{C0896CDA-28ED-324E-8617-E101D2F52AEC}">
      <dgm:prSet/>
      <dgm:spPr>
        <a:solidFill>
          <a:srgbClr val="FFC003"/>
        </a:solidFill>
      </dgm:spPr>
      <dgm:t>
        <a:bodyPr/>
        <a:lstStyle/>
        <a:p>
          <a:r>
            <a:rPr lang="en-US" dirty="0"/>
            <a:t>Stochastic Processes</a:t>
          </a:r>
        </a:p>
      </dgm:t>
    </dgm:pt>
    <dgm:pt modelId="{A6576F62-06B3-2B4B-B613-EEBB9B4ACAE0}" type="parTrans" cxnId="{471294A8-786E-9D48-B025-174649422CA1}">
      <dgm:prSet/>
      <dgm:spPr/>
      <dgm:t>
        <a:bodyPr/>
        <a:lstStyle/>
        <a:p>
          <a:endParaRPr lang="en-US"/>
        </a:p>
      </dgm:t>
    </dgm:pt>
    <dgm:pt modelId="{CEBFEC90-B655-A946-8B9A-9A60C022A3C7}" type="sibTrans" cxnId="{471294A8-786E-9D48-B025-174649422CA1}">
      <dgm:prSet/>
      <dgm:spPr/>
      <dgm:t>
        <a:bodyPr/>
        <a:lstStyle/>
        <a:p>
          <a:endParaRPr lang="en-US"/>
        </a:p>
      </dgm:t>
    </dgm:pt>
    <dgm:pt modelId="{FB12D5D1-C56D-7243-82DA-48CCC92EC674}">
      <dgm:prSet/>
      <dgm:spPr>
        <a:solidFill>
          <a:srgbClr val="5C9BD5"/>
        </a:solidFill>
        <a:ln>
          <a:solidFill>
            <a:schemeClr val="accent1"/>
          </a:solidFill>
        </a:ln>
      </dgm:spPr>
      <dgm:t>
        <a:bodyPr/>
        <a:lstStyle/>
        <a:p>
          <a:r>
            <a:rPr lang="en-US" dirty="0" err="1"/>
            <a:t>Raup</a:t>
          </a:r>
          <a:r>
            <a:rPr lang="en-US" dirty="0"/>
            <a:t>-Crick</a:t>
          </a:r>
        </a:p>
      </dgm:t>
    </dgm:pt>
    <dgm:pt modelId="{A544D4FF-9089-4D46-9611-91F620A4236E}" type="parTrans" cxnId="{00E91DDD-6D75-A24A-9A48-74381ED20914}">
      <dgm:prSet/>
      <dgm:spPr/>
      <dgm:t>
        <a:bodyPr/>
        <a:lstStyle/>
        <a:p>
          <a:endParaRPr lang="en-US"/>
        </a:p>
      </dgm:t>
    </dgm:pt>
    <dgm:pt modelId="{0D766AF6-7D4E-464C-839F-A3210BFCB511}" type="sibTrans" cxnId="{00E91DDD-6D75-A24A-9A48-74381ED20914}">
      <dgm:prSet/>
      <dgm:spPr/>
      <dgm:t>
        <a:bodyPr/>
        <a:lstStyle/>
        <a:p>
          <a:endParaRPr lang="en-US"/>
        </a:p>
      </dgm:t>
    </dgm:pt>
    <dgm:pt modelId="{32FDB694-380F-9E45-8B63-6DAA15DEAF01}">
      <dgm:prSet/>
      <dgm:spPr>
        <a:solidFill>
          <a:srgbClr val="5C9BD5"/>
        </a:solidFill>
        <a:ln>
          <a:solidFill>
            <a:schemeClr val="accent1"/>
          </a:solidFill>
        </a:ln>
      </dgm:spPr>
      <dgm:t>
        <a:bodyPr/>
        <a:lstStyle/>
        <a:p>
          <a:r>
            <a:rPr lang="en-US" dirty="0"/>
            <a:t>&lt; - 0.95</a:t>
          </a:r>
        </a:p>
      </dgm:t>
    </dgm:pt>
    <dgm:pt modelId="{E1F08455-1935-544B-B4BD-C2E10279FCB1}" type="parTrans" cxnId="{F175B1F3-FC5B-284F-811D-25CF08403E40}">
      <dgm:prSet/>
      <dgm:spPr/>
      <dgm:t>
        <a:bodyPr/>
        <a:lstStyle/>
        <a:p>
          <a:endParaRPr lang="en-US"/>
        </a:p>
      </dgm:t>
    </dgm:pt>
    <dgm:pt modelId="{BE9084F2-4653-1145-8721-C888F8DC3006}" type="sibTrans" cxnId="{F175B1F3-FC5B-284F-811D-25CF08403E40}">
      <dgm:prSet/>
      <dgm:spPr/>
      <dgm:t>
        <a:bodyPr/>
        <a:lstStyle/>
        <a:p>
          <a:endParaRPr lang="en-US"/>
        </a:p>
      </dgm:t>
    </dgm:pt>
    <dgm:pt modelId="{CE3287B3-59B6-A841-A8F4-4AA48547EE06}">
      <dgm:prSet/>
      <dgm:spPr>
        <a:solidFill>
          <a:srgbClr val="5C9BD5"/>
        </a:solidFill>
        <a:ln>
          <a:solidFill>
            <a:schemeClr val="accent1"/>
          </a:solidFill>
        </a:ln>
      </dgm:spPr>
      <dgm:t>
        <a:bodyPr/>
        <a:lstStyle/>
        <a:p>
          <a:r>
            <a:rPr lang="en-US" dirty="0"/>
            <a:t>Homogenizing Dispersal</a:t>
          </a:r>
        </a:p>
      </dgm:t>
    </dgm:pt>
    <dgm:pt modelId="{A5323AFE-4A12-624F-B685-FC12976F72DB}" type="parTrans" cxnId="{E94B89E0-58E0-1D4A-AA51-75B168E0A8E0}">
      <dgm:prSet/>
      <dgm:spPr/>
      <dgm:t>
        <a:bodyPr/>
        <a:lstStyle/>
        <a:p>
          <a:endParaRPr lang="en-US"/>
        </a:p>
      </dgm:t>
    </dgm:pt>
    <dgm:pt modelId="{48E67B0B-9CF2-FC4D-86E6-CF9E4161DAA1}" type="sibTrans" cxnId="{E94B89E0-58E0-1D4A-AA51-75B168E0A8E0}">
      <dgm:prSet/>
      <dgm:spPr/>
      <dgm:t>
        <a:bodyPr/>
        <a:lstStyle/>
        <a:p>
          <a:endParaRPr lang="en-US"/>
        </a:p>
      </dgm:t>
    </dgm:pt>
    <dgm:pt modelId="{C7A2A054-3937-A44C-AC27-834C4A416E85}">
      <dgm:prSet/>
      <dgm:spPr>
        <a:solidFill>
          <a:srgbClr val="5C9BD5"/>
        </a:solidFill>
        <a:ln>
          <a:solidFill>
            <a:schemeClr val="accent1"/>
          </a:solidFill>
        </a:ln>
      </dgm:spPr>
      <dgm:t>
        <a:bodyPr/>
        <a:lstStyle/>
        <a:p>
          <a:r>
            <a:rPr lang="en-US" dirty="0"/>
            <a:t>&gt; 0.95</a:t>
          </a:r>
        </a:p>
      </dgm:t>
    </dgm:pt>
    <dgm:pt modelId="{2B62E002-EC79-7B45-BF66-51AB729219E1}" type="parTrans" cxnId="{CD224385-F7C0-0D43-96C7-451704515913}">
      <dgm:prSet/>
      <dgm:spPr/>
      <dgm:t>
        <a:bodyPr/>
        <a:lstStyle/>
        <a:p>
          <a:endParaRPr lang="en-US"/>
        </a:p>
      </dgm:t>
    </dgm:pt>
    <dgm:pt modelId="{83BD9989-2687-B442-891D-1A4A1E4534BC}" type="sibTrans" cxnId="{CD224385-F7C0-0D43-96C7-451704515913}">
      <dgm:prSet/>
      <dgm:spPr/>
      <dgm:t>
        <a:bodyPr/>
        <a:lstStyle/>
        <a:p>
          <a:endParaRPr lang="en-US"/>
        </a:p>
      </dgm:t>
    </dgm:pt>
    <dgm:pt modelId="{89E453BE-3108-F942-BAAC-239B0D444B37}">
      <dgm:prSet/>
      <dgm:spPr>
        <a:solidFill>
          <a:srgbClr val="5C9BD5"/>
        </a:solidFill>
        <a:ln>
          <a:solidFill>
            <a:schemeClr val="accent1"/>
          </a:solidFill>
        </a:ln>
      </dgm:spPr>
      <dgm:t>
        <a:bodyPr/>
        <a:lstStyle/>
        <a:p>
          <a:r>
            <a:rPr lang="en-US" dirty="0"/>
            <a:t>Dispersal Limitation</a:t>
          </a:r>
        </a:p>
      </dgm:t>
    </dgm:pt>
    <dgm:pt modelId="{C1C61CF1-EC99-E940-8ADC-FF8309DADC90}" type="parTrans" cxnId="{192BA078-1274-654B-904E-7CAA00A8C330}">
      <dgm:prSet/>
      <dgm:spPr/>
      <dgm:t>
        <a:bodyPr/>
        <a:lstStyle/>
        <a:p>
          <a:endParaRPr lang="en-US"/>
        </a:p>
      </dgm:t>
    </dgm:pt>
    <dgm:pt modelId="{BA3DE453-79CF-2348-8689-13A5C5C3AF22}" type="sibTrans" cxnId="{192BA078-1274-654B-904E-7CAA00A8C330}">
      <dgm:prSet/>
      <dgm:spPr/>
      <dgm:t>
        <a:bodyPr/>
        <a:lstStyle/>
        <a:p>
          <a:endParaRPr lang="en-US"/>
        </a:p>
      </dgm:t>
    </dgm:pt>
    <dgm:pt modelId="{E915863B-29F3-9645-AAEE-79BFA9C00F1C}">
      <dgm:prSet/>
      <dgm:spPr>
        <a:solidFill>
          <a:srgbClr val="5C9BD5"/>
        </a:solidFill>
        <a:ln>
          <a:solidFill>
            <a:schemeClr val="accent1"/>
          </a:solidFill>
        </a:ln>
      </dgm:spPr>
      <dgm:t>
        <a:bodyPr/>
        <a:lstStyle/>
        <a:p>
          <a:r>
            <a:rPr lang="en-US" dirty="0"/>
            <a:t>|</a:t>
          </a:r>
          <a:r>
            <a:rPr lang="en-US" dirty="0" err="1"/>
            <a:t>Raup</a:t>
          </a:r>
          <a:r>
            <a:rPr lang="en-US" dirty="0"/>
            <a:t>-Crip| &lt; 0.95</a:t>
          </a:r>
        </a:p>
      </dgm:t>
    </dgm:pt>
    <dgm:pt modelId="{FA064C62-8AF7-CA4F-B1A2-B7A7F6123235}" type="parTrans" cxnId="{AA6DD423-23BF-8745-A917-3848066F8D57}">
      <dgm:prSet/>
      <dgm:spPr/>
      <dgm:t>
        <a:bodyPr/>
        <a:lstStyle/>
        <a:p>
          <a:endParaRPr lang="en-US"/>
        </a:p>
      </dgm:t>
    </dgm:pt>
    <dgm:pt modelId="{6F2132A3-6A2E-E647-A567-66B90E99A8EB}" type="sibTrans" cxnId="{AA6DD423-23BF-8745-A917-3848066F8D57}">
      <dgm:prSet/>
      <dgm:spPr/>
      <dgm:t>
        <a:bodyPr/>
        <a:lstStyle/>
        <a:p>
          <a:endParaRPr lang="en-US"/>
        </a:p>
      </dgm:t>
    </dgm:pt>
    <dgm:pt modelId="{F30E8B79-A38B-7D46-BE17-CC6155E89F5A}">
      <dgm:prSet/>
      <dgm:spPr>
        <a:solidFill>
          <a:srgbClr val="5C9BD5"/>
        </a:solidFill>
        <a:ln>
          <a:solidFill>
            <a:schemeClr val="accent1"/>
          </a:solidFill>
        </a:ln>
      </dgm:spPr>
      <dgm:t>
        <a:bodyPr/>
        <a:lstStyle/>
        <a:p>
          <a:r>
            <a:rPr lang="en-US"/>
            <a:t>Ecological Drift or Weak Selection</a:t>
          </a:r>
          <a:endParaRPr lang="en-US" dirty="0"/>
        </a:p>
      </dgm:t>
    </dgm:pt>
    <dgm:pt modelId="{31BFB5A6-5134-CF4A-A047-532A9A37732D}" type="parTrans" cxnId="{E0C54CDC-FA6B-AA40-9E22-83BA7C9C2022}">
      <dgm:prSet/>
      <dgm:spPr/>
      <dgm:t>
        <a:bodyPr/>
        <a:lstStyle/>
        <a:p>
          <a:endParaRPr lang="en-US"/>
        </a:p>
      </dgm:t>
    </dgm:pt>
    <dgm:pt modelId="{CB236E88-32D0-1D41-B41C-649367ADF163}" type="sibTrans" cxnId="{E0C54CDC-FA6B-AA40-9E22-83BA7C9C2022}">
      <dgm:prSet/>
      <dgm:spPr/>
      <dgm:t>
        <a:bodyPr/>
        <a:lstStyle/>
        <a:p>
          <a:endParaRPr lang="en-US"/>
        </a:p>
      </dgm:t>
    </dgm:pt>
    <dgm:pt modelId="{4F0F6BFD-666C-D64A-92A7-2DD64DC71A9A}" type="pres">
      <dgm:prSet presAssocID="{26577B4F-8805-7F47-9A82-2379E9B73B62}" presName="hierChild1" presStyleCnt="0">
        <dgm:presLayoutVars>
          <dgm:orgChart val="1"/>
          <dgm:chPref val="1"/>
          <dgm:dir/>
          <dgm:animOne val="branch"/>
          <dgm:animLvl val="lvl"/>
          <dgm:resizeHandles/>
        </dgm:presLayoutVars>
      </dgm:prSet>
      <dgm:spPr/>
    </dgm:pt>
    <dgm:pt modelId="{261554AA-493B-614B-9A4C-07302A2D4587}" type="pres">
      <dgm:prSet presAssocID="{9F219289-8A31-1148-82D4-265246F22380}" presName="hierRoot1" presStyleCnt="0">
        <dgm:presLayoutVars>
          <dgm:hierBranch val="init"/>
        </dgm:presLayoutVars>
      </dgm:prSet>
      <dgm:spPr/>
    </dgm:pt>
    <dgm:pt modelId="{A6B43CE7-3DC6-AF42-A161-F346571D48AC}" type="pres">
      <dgm:prSet presAssocID="{9F219289-8A31-1148-82D4-265246F22380}" presName="rootComposite1" presStyleCnt="0"/>
      <dgm:spPr/>
    </dgm:pt>
    <dgm:pt modelId="{C1CC36B6-BA4D-A641-B415-0E1EE07590C6}" type="pres">
      <dgm:prSet presAssocID="{9F219289-8A31-1148-82D4-265246F22380}" presName="rootText1" presStyleLbl="node0" presStyleIdx="0" presStyleCnt="1">
        <dgm:presLayoutVars>
          <dgm:chPref val="3"/>
        </dgm:presLayoutVars>
      </dgm:prSet>
      <dgm:spPr/>
    </dgm:pt>
    <dgm:pt modelId="{2403C819-5E8E-174D-B6AF-46EDB55FFADF}" type="pres">
      <dgm:prSet presAssocID="{9F219289-8A31-1148-82D4-265246F22380}" presName="rootConnector1" presStyleLbl="node1" presStyleIdx="0" presStyleCnt="0"/>
      <dgm:spPr/>
    </dgm:pt>
    <dgm:pt modelId="{4B0DF92B-4D0C-F544-956D-23ABA4E21F8F}" type="pres">
      <dgm:prSet presAssocID="{9F219289-8A31-1148-82D4-265246F22380}" presName="hierChild2" presStyleCnt="0"/>
      <dgm:spPr/>
    </dgm:pt>
    <dgm:pt modelId="{C8E42A8B-2C64-9B45-84EC-0C2265CC9A45}" type="pres">
      <dgm:prSet presAssocID="{4093BDEC-923F-864F-852B-06048A81EC9F}" presName="Name37" presStyleLbl="parChTrans1D2" presStyleIdx="0" presStyleCnt="3"/>
      <dgm:spPr/>
    </dgm:pt>
    <dgm:pt modelId="{199D1AFE-14AE-8C4A-818A-220142661603}" type="pres">
      <dgm:prSet presAssocID="{F2DEA3D8-413E-E445-ADF0-FB442F8477B0}" presName="hierRoot2" presStyleCnt="0">
        <dgm:presLayoutVars>
          <dgm:hierBranch val="init"/>
        </dgm:presLayoutVars>
      </dgm:prSet>
      <dgm:spPr/>
    </dgm:pt>
    <dgm:pt modelId="{33E6186C-AB0D-9D4B-A629-CA5BC1D90EAE}" type="pres">
      <dgm:prSet presAssocID="{F2DEA3D8-413E-E445-ADF0-FB442F8477B0}" presName="rootComposite" presStyleCnt="0"/>
      <dgm:spPr/>
    </dgm:pt>
    <dgm:pt modelId="{4A63361A-8AFA-2F4C-90B5-FAD7E6F7A3DD}" type="pres">
      <dgm:prSet presAssocID="{F2DEA3D8-413E-E445-ADF0-FB442F8477B0}" presName="rootText" presStyleLbl="node2" presStyleIdx="0" presStyleCnt="3">
        <dgm:presLayoutVars>
          <dgm:chPref val="3"/>
        </dgm:presLayoutVars>
      </dgm:prSet>
      <dgm:spPr/>
    </dgm:pt>
    <dgm:pt modelId="{1A1A0821-D2B4-BF49-9E6C-78A09FE3CA03}" type="pres">
      <dgm:prSet presAssocID="{F2DEA3D8-413E-E445-ADF0-FB442F8477B0}" presName="rootConnector" presStyleLbl="node2" presStyleIdx="0" presStyleCnt="3"/>
      <dgm:spPr/>
    </dgm:pt>
    <dgm:pt modelId="{CA4BCEB8-BC59-2948-B61B-E9C0116FFDB5}" type="pres">
      <dgm:prSet presAssocID="{F2DEA3D8-413E-E445-ADF0-FB442F8477B0}" presName="hierChild4" presStyleCnt="0"/>
      <dgm:spPr/>
    </dgm:pt>
    <dgm:pt modelId="{A27FEB45-0B57-E047-A4DC-4F93C6AAAF17}" type="pres">
      <dgm:prSet presAssocID="{C8F7C944-DC05-E546-96BD-3A7E566AF139}" presName="Name37" presStyleLbl="parChTrans1D3" presStyleIdx="0" presStyleCnt="3"/>
      <dgm:spPr/>
    </dgm:pt>
    <dgm:pt modelId="{0A66F28E-4B05-8D48-8A41-6F3528948617}" type="pres">
      <dgm:prSet presAssocID="{2DE1791E-70DD-F74B-8334-5D40841D4B87}" presName="hierRoot2" presStyleCnt="0">
        <dgm:presLayoutVars>
          <dgm:hierBranch val="init"/>
        </dgm:presLayoutVars>
      </dgm:prSet>
      <dgm:spPr/>
    </dgm:pt>
    <dgm:pt modelId="{6C1F1AB5-6652-0E4B-86E8-0E4C25AEA87D}" type="pres">
      <dgm:prSet presAssocID="{2DE1791E-70DD-F74B-8334-5D40841D4B87}" presName="rootComposite" presStyleCnt="0"/>
      <dgm:spPr/>
    </dgm:pt>
    <dgm:pt modelId="{1926695E-91AE-0542-B3EC-E69772DC1DC7}" type="pres">
      <dgm:prSet presAssocID="{2DE1791E-70DD-F74B-8334-5D40841D4B87}" presName="rootText" presStyleLbl="node3" presStyleIdx="0" presStyleCnt="3">
        <dgm:presLayoutVars>
          <dgm:chPref val="3"/>
        </dgm:presLayoutVars>
      </dgm:prSet>
      <dgm:spPr/>
    </dgm:pt>
    <dgm:pt modelId="{7D7A67F6-E1EE-5D46-B0BC-8DBED0BBDDAB}" type="pres">
      <dgm:prSet presAssocID="{2DE1791E-70DD-F74B-8334-5D40841D4B87}" presName="rootConnector" presStyleLbl="node3" presStyleIdx="0" presStyleCnt="3"/>
      <dgm:spPr/>
    </dgm:pt>
    <dgm:pt modelId="{BD99CE9E-021A-E44E-9364-30ED7FB845A6}" type="pres">
      <dgm:prSet presAssocID="{2DE1791E-70DD-F74B-8334-5D40841D4B87}" presName="hierChild4" presStyleCnt="0"/>
      <dgm:spPr/>
    </dgm:pt>
    <dgm:pt modelId="{8017A869-85CB-C746-BBE2-446B037E0816}" type="pres">
      <dgm:prSet presAssocID="{2DE1791E-70DD-F74B-8334-5D40841D4B87}" presName="hierChild5" presStyleCnt="0"/>
      <dgm:spPr/>
    </dgm:pt>
    <dgm:pt modelId="{48B6D4BC-C2FC-6444-BDE4-1B73337FA1F1}" type="pres">
      <dgm:prSet presAssocID="{F2DEA3D8-413E-E445-ADF0-FB442F8477B0}" presName="hierChild5" presStyleCnt="0"/>
      <dgm:spPr/>
    </dgm:pt>
    <dgm:pt modelId="{365BD677-2E0D-8648-9D43-610DB8DB5B68}" type="pres">
      <dgm:prSet presAssocID="{995B1156-958E-9D4A-A7B0-0B8F04E31EC6}" presName="Name37" presStyleLbl="parChTrans1D2" presStyleIdx="1" presStyleCnt="3"/>
      <dgm:spPr/>
    </dgm:pt>
    <dgm:pt modelId="{3A7150D0-D931-F046-A2AA-541D72AAB0AF}" type="pres">
      <dgm:prSet presAssocID="{EA384603-0039-6F45-A265-EDF9A1260AD6}" presName="hierRoot2" presStyleCnt="0">
        <dgm:presLayoutVars>
          <dgm:hierBranch val="init"/>
        </dgm:presLayoutVars>
      </dgm:prSet>
      <dgm:spPr/>
    </dgm:pt>
    <dgm:pt modelId="{A808265A-90FD-584B-B161-E71B7931F625}" type="pres">
      <dgm:prSet presAssocID="{EA384603-0039-6F45-A265-EDF9A1260AD6}" presName="rootComposite" presStyleCnt="0"/>
      <dgm:spPr/>
    </dgm:pt>
    <dgm:pt modelId="{5DB92BC0-ECCF-1647-98F2-A4BAD5B73C91}" type="pres">
      <dgm:prSet presAssocID="{EA384603-0039-6F45-A265-EDF9A1260AD6}" presName="rootText" presStyleLbl="node2" presStyleIdx="1" presStyleCnt="3">
        <dgm:presLayoutVars>
          <dgm:chPref val="3"/>
        </dgm:presLayoutVars>
      </dgm:prSet>
      <dgm:spPr/>
    </dgm:pt>
    <dgm:pt modelId="{0B6A0A62-E777-1C43-81F8-3843B5C3CE69}" type="pres">
      <dgm:prSet presAssocID="{EA384603-0039-6F45-A265-EDF9A1260AD6}" presName="rootConnector" presStyleLbl="node2" presStyleIdx="1" presStyleCnt="3"/>
      <dgm:spPr/>
    </dgm:pt>
    <dgm:pt modelId="{DB52A068-81A3-F94F-A1E1-57E3A1F772DB}" type="pres">
      <dgm:prSet presAssocID="{EA384603-0039-6F45-A265-EDF9A1260AD6}" presName="hierChild4" presStyleCnt="0"/>
      <dgm:spPr/>
    </dgm:pt>
    <dgm:pt modelId="{F66987EC-151A-764D-9F5F-DAD13DFA210F}" type="pres">
      <dgm:prSet presAssocID="{77467C19-AE36-A642-B0A7-0B5561A0D582}" presName="Name37" presStyleLbl="parChTrans1D3" presStyleIdx="1" presStyleCnt="3"/>
      <dgm:spPr/>
    </dgm:pt>
    <dgm:pt modelId="{A493CD10-9699-BB4B-9798-9313286E05BF}" type="pres">
      <dgm:prSet presAssocID="{F1EB112A-8472-7E4E-ABB4-F90EAFE06B71}" presName="hierRoot2" presStyleCnt="0">
        <dgm:presLayoutVars>
          <dgm:hierBranch val="init"/>
        </dgm:presLayoutVars>
      </dgm:prSet>
      <dgm:spPr/>
    </dgm:pt>
    <dgm:pt modelId="{12C8081E-BBDD-3E45-BCC4-0D05EC2E1472}" type="pres">
      <dgm:prSet presAssocID="{F1EB112A-8472-7E4E-ABB4-F90EAFE06B71}" presName="rootComposite" presStyleCnt="0"/>
      <dgm:spPr/>
    </dgm:pt>
    <dgm:pt modelId="{6B1FF1C0-13E9-8544-AF41-637E038824D7}" type="pres">
      <dgm:prSet presAssocID="{F1EB112A-8472-7E4E-ABB4-F90EAFE06B71}" presName="rootText" presStyleLbl="node3" presStyleIdx="1" presStyleCnt="3">
        <dgm:presLayoutVars>
          <dgm:chPref val="3"/>
        </dgm:presLayoutVars>
      </dgm:prSet>
      <dgm:spPr/>
    </dgm:pt>
    <dgm:pt modelId="{B6F7D033-73DC-B744-8C8D-E702F004A83C}" type="pres">
      <dgm:prSet presAssocID="{F1EB112A-8472-7E4E-ABB4-F90EAFE06B71}" presName="rootConnector" presStyleLbl="node3" presStyleIdx="1" presStyleCnt="3"/>
      <dgm:spPr/>
    </dgm:pt>
    <dgm:pt modelId="{448780AB-0479-4341-8495-ED186D8A005A}" type="pres">
      <dgm:prSet presAssocID="{F1EB112A-8472-7E4E-ABB4-F90EAFE06B71}" presName="hierChild4" presStyleCnt="0"/>
      <dgm:spPr/>
    </dgm:pt>
    <dgm:pt modelId="{EE70936C-4E5A-4F49-9FA1-40696B4EAAF7}" type="pres">
      <dgm:prSet presAssocID="{F1EB112A-8472-7E4E-ABB4-F90EAFE06B71}" presName="hierChild5" presStyleCnt="0"/>
      <dgm:spPr/>
    </dgm:pt>
    <dgm:pt modelId="{2B6A2B99-719E-C04C-9B8D-094887828A64}" type="pres">
      <dgm:prSet presAssocID="{EA384603-0039-6F45-A265-EDF9A1260AD6}" presName="hierChild5" presStyleCnt="0"/>
      <dgm:spPr/>
    </dgm:pt>
    <dgm:pt modelId="{AF294D60-9B72-9641-80C4-60237BEBC252}" type="pres">
      <dgm:prSet presAssocID="{707933C0-A3C9-7A45-A47C-79B8ACCA5805}" presName="Name37" presStyleLbl="parChTrans1D2" presStyleIdx="2" presStyleCnt="3"/>
      <dgm:spPr/>
    </dgm:pt>
    <dgm:pt modelId="{18F9806C-8688-E24D-92A2-25135D2EE0A7}" type="pres">
      <dgm:prSet presAssocID="{9DBF051C-8233-FB4D-A0A3-D55F08CCB5BD}" presName="hierRoot2" presStyleCnt="0">
        <dgm:presLayoutVars>
          <dgm:hierBranch val="init"/>
        </dgm:presLayoutVars>
      </dgm:prSet>
      <dgm:spPr/>
    </dgm:pt>
    <dgm:pt modelId="{E135D09B-66EE-2646-A510-CACA0FC24D49}" type="pres">
      <dgm:prSet presAssocID="{9DBF051C-8233-FB4D-A0A3-D55F08CCB5BD}" presName="rootComposite" presStyleCnt="0"/>
      <dgm:spPr/>
    </dgm:pt>
    <dgm:pt modelId="{AE62488F-B611-A844-8B8F-FD92D7733871}" type="pres">
      <dgm:prSet presAssocID="{9DBF051C-8233-FB4D-A0A3-D55F08CCB5BD}" presName="rootText" presStyleLbl="node2" presStyleIdx="2" presStyleCnt="3">
        <dgm:presLayoutVars>
          <dgm:chPref val="3"/>
        </dgm:presLayoutVars>
      </dgm:prSet>
      <dgm:spPr/>
    </dgm:pt>
    <dgm:pt modelId="{D5903FDF-A36C-5A4A-84BD-2642D156709B}" type="pres">
      <dgm:prSet presAssocID="{9DBF051C-8233-FB4D-A0A3-D55F08CCB5BD}" presName="rootConnector" presStyleLbl="node2" presStyleIdx="2" presStyleCnt="3"/>
      <dgm:spPr/>
    </dgm:pt>
    <dgm:pt modelId="{890C5310-8245-A946-962C-21B3CD11967F}" type="pres">
      <dgm:prSet presAssocID="{9DBF051C-8233-FB4D-A0A3-D55F08CCB5BD}" presName="hierChild4" presStyleCnt="0"/>
      <dgm:spPr/>
    </dgm:pt>
    <dgm:pt modelId="{46F7C25B-8A6B-9A4C-AEA5-79B511634C22}" type="pres">
      <dgm:prSet presAssocID="{A6576F62-06B3-2B4B-B613-EEBB9B4ACAE0}" presName="Name37" presStyleLbl="parChTrans1D3" presStyleIdx="2" presStyleCnt="3"/>
      <dgm:spPr/>
    </dgm:pt>
    <dgm:pt modelId="{9ECF6CD8-FC09-8642-A83A-F03AE2EBDBC1}" type="pres">
      <dgm:prSet presAssocID="{C0896CDA-28ED-324E-8617-E101D2F52AEC}" presName="hierRoot2" presStyleCnt="0">
        <dgm:presLayoutVars>
          <dgm:hierBranch val="init"/>
        </dgm:presLayoutVars>
      </dgm:prSet>
      <dgm:spPr/>
    </dgm:pt>
    <dgm:pt modelId="{4EDE2DF0-D923-9048-800B-DC5295E37D55}" type="pres">
      <dgm:prSet presAssocID="{C0896CDA-28ED-324E-8617-E101D2F52AEC}" presName="rootComposite" presStyleCnt="0"/>
      <dgm:spPr/>
    </dgm:pt>
    <dgm:pt modelId="{087B432B-A73B-7846-8B5A-25403EDAE7DC}" type="pres">
      <dgm:prSet presAssocID="{C0896CDA-28ED-324E-8617-E101D2F52AEC}" presName="rootText" presStyleLbl="node3" presStyleIdx="2" presStyleCnt="3">
        <dgm:presLayoutVars>
          <dgm:chPref val="3"/>
        </dgm:presLayoutVars>
      </dgm:prSet>
      <dgm:spPr/>
    </dgm:pt>
    <dgm:pt modelId="{10FFFC58-7EA2-F746-B467-E0051543092E}" type="pres">
      <dgm:prSet presAssocID="{C0896CDA-28ED-324E-8617-E101D2F52AEC}" presName="rootConnector" presStyleLbl="node3" presStyleIdx="2" presStyleCnt="3"/>
      <dgm:spPr/>
    </dgm:pt>
    <dgm:pt modelId="{B2F50107-C8CD-9E49-AA2A-90C7E875A119}" type="pres">
      <dgm:prSet presAssocID="{C0896CDA-28ED-324E-8617-E101D2F52AEC}" presName="hierChild4" presStyleCnt="0"/>
      <dgm:spPr/>
    </dgm:pt>
    <dgm:pt modelId="{2F5B253E-CAC3-7C48-A37C-FD28DF4E1921}" type="pres">
      <dgm:prSet presAssocID="{A544D4FF-9089-4D46-9611-91F620A4236E}" presName="Name37" presStyleLbl="parChTrans1D4" presStyleIdx="0" presStyleCnt="7"/>
      <dgm:spPr/>
    </dgm:pt>
    <dgm:pt modelId="{8E926447-DD46-BA49-B9AD-F10B0B6323BE}" type="pres">
      <dgm:prSet presAssocID="{FB12D5D1-C56D-7243-82DA-48CCC92EC674}" presName="hierRoot2" presStyleCnt="0">
        <dgm:presLayoutVars>
          <dgm:hierBranch val="init"/>
        </dgm:presLayoutVars>
      </dgm:prSet>
      <dgm:spPr/>
    </dgm:pt>
    <dgm:pt modelId="{AD465AE8-421C-5A4A-ACD1-9BE97AF73C9B}" type="pres">
      <dgm:prSet presAssocID="{FB12D5D1-C56D-7243-82DA-48CCC92EC674}" presName="rootComposite" presStyleCnt="0"/>
      <dgm:spPr/>
    </dgm:pt>
    <dgm:pt modelId="{955D6E37-AD6C-734D-A59C-17F7C8CCBF6E}" type="pres">
      <dgm:prSet presAssocID="{FB12D5D1-C56D-7243-82DA-48CCC92EC674}" presName="rootText" presStyleLbl="node4" presStyleIdx="0" presStyleCnt="7">
        <dgm:presLayoutVars>
          <dgm:chPref val="3"/>
        </dgm:presLayoutVars>
      </dgm:prSet>
      <dgm:spPr/>
    </dgm:pt>
    <dgm:pt modelId="{D58740E1-516B-CF47-92D9-7387FE462A89}" type="pres">
      <dgm:prSet presAssocID="{FB12D5D1-C56D-7243-82DA-48CCC92EC674}" presName="rootConnector" presStyleLbl="node4" presStyleIdx="0" presStyleCnt="7"/>
      <dgm:spPr/>
    </dgm:pt>
    <dgm:pt modelId="{B23CE2F2-F5E1-AB4B-BCE7-F27260B5CDA1}" type="pres">
      <dgm:prSet presAssocID="{FB12D5D1-C56D-7243-82DA-48CCC92EC674}" presName="hierChild4" presStyleCnt="0"/>
      <dgm:spPr/>
    </dgm:pt>
    <dgm:pt modelId="{28950DD6-701B-604E-A21E-09DDFA200060}" type="pres">
      <dgm:prSet presAssocID="{E1F08455-1935-544B-B4BD-C2E10279FCB1}" presName="Name37" presStyleLbl="parChTrans1D4" presStyleIdx="1" presStyleCnt="7"/>
      <dgm:spPr/>
    </dgm:pt>
    <dgm:pt modelId="{6A1F3F0F-4DAF-7C42-A524-30254598EAA3}" type="pres">
      <dgm:prSet presAssocID="{32FDB694-380F-9E45-8B63-6DAA15DEAF01}" presName="hierRoot2" presStyleCnt="0">
        <dgm:presLayoutVars>
          <dgm:hierBranch val="init"/>
        </dgm:presLayoutVars>
      </dgm:prSet>
      <dgm:spPr/>
    </dgm:pt>
    <dgm:pt modelId="{BDFAA52F-E24B-9A46-8230-F29FF867AD8D}" type="pres">
      <dgm:prSet presAssocID="{32FDB694-380F-9E45-8B63-6DAA15DEAF01}" presName="rootComposite" presStyleCnt="0"/>
      <dgm:spPr/>
    </dgm:pt>
    <dgm:pt modelId="{A8E99C39-923B-884F-AE10-80995E192317}" type="pres">
      <dgm:prSet presAssocID="{32FDB694-380F-9E45-8B63-6DAA15DEAF01}" presName="rootText" presStyleLbl="node4" presStyleIdx="1" presStyleCnt="7">
        <dgm:presLayoutVars>
          <dgm:chPref val="3"/>
        </dgm:presLayoutVars>
      </dgm:prSet>
      <dgm:spPr/>
    </dgm:pt>
    <dgm:pt modelId="{C4EDFE6C-296D-204F-BB4C-E0383AD6462D}" type="pres">
      <dgm:prSet presAssocID="{32FDB694-380F-9E45-8B63-6DAA15DEAF01}" presName="rootConnector" presStyleLbl="node4" presStyleIdx="1" presStyleCnt="7"/>
      <dgm:spPr/>
    </dgm:pt>
    <dgm:pt modelId="{48093C1D-4B04-784E-BBA1-E8742EC1B5D2}" type="pres">
      <dgm:prSet presAssocID="{32FDB694-380F-9E45-8B63-6DAA15DEAF01}" presName="hierChild4" presStyleCnt="0"/>
      <dgm:spPr/>
    </dgm:pt>
    <dgm:pt modelId="{B3BAC4AD-153B-1343-BCE5-6024ABCC6DE8}" type="pres">
      <dgm:prSet presAssocID="{A5323AFE-4A12-624F-B685-FC12976F72DB}" presName="Name37" presStyleLbl="parChTrans1D4" presStyleIdx="2" presStyleCnt="7"/>
      <dgm:spPr/>
    </dgm:pt>
    <dgm:pt modelId="{B530C9B4-A504-D840-B24B-BF0B3A956607}" type="pres">
      <dgm:prSet presAssocID="{CE3287B3-59B6-A841-A8F4-4AA48547EE06}" presName="hierRoot2" presStyleCnt="0">
        <dgm:presLayoutVars>
          <dgm:hierBranch val="init"/>
        </dgm:presLayoutVars>
      </dgm:prSet>
      <dgm:spPr/>
    </dgm:pt>
    <dgm:pt modelId="{EE710273-3FAA-D149-8B8A-D9F0E84BBFD9}" type="pres">
      <dgm:prSet presAssocID="{CE3287B3-59B6-A841-A8F4-4AA48547EE06}" presName="rootComposite" presStyleCnt="0"/>
      <dgm:spPr/>
    </dgm:pt>
    <dgm:pt modelId="{E183F606-1C96-4141-8ACB-48748EBBC1FA}" type="pres">
      <dgm:prSet presAssocID="{CE3287B3-59B6-A841-A8F4-4AA48547EE06}" presName="rootText" presStyleLbl="node4" presStyleIdx="2" presStyleCnt="7">
        <dgm:presLayoutVars>
          <dgm:chPref val="3"/>
        </dgm:presLayoutVars>
      </dgm:prSet>
      <dgm:spPr/>
    </dgm:pt>
    <dgm:pt modelId="{B5477C9E-3996-AF45-86DA-0AAA40C2EC22}" type="pres">
      <dgm:prSet presAssocID="{CE3287B3-59B6-A841-A8F4-4AA48547EE06}" presName="rootConnector" presStyleLbl="node4" presStyleIdx="2" presStyleCnt="7"/>
      <dgm:spPr/>
    </dgm:pt>
    <dgm:pt modelId="{594E86C5-878C-F849-A081-87DFB6B04F56}" type="pres">
      <dgm:prSet presAssocID="{CE3287B3-59B6-A841-A8F4-4AA48547EE06}" presName="hierChild4" presStyleCnt="0"/>
      <dgm:spPr/>
    </dgm:pt>
    <dgm:pt modelId="{057FD28B-4660-5B4C-B994-67C0D305B56D}" type="pres">
      <dgm:prSet presAssocID="{CE3287B3-59B6-A841-A8F4-4AA48547EE06}" presName="hierChild5" presStyleCnt="0"/>
      <dgm:spPr/>
    </dgm:pt>
    <dgm:pt modelId="{C19C0975-458B-C140-9A32-37EEC0E4FD03}" type="pres">
      <dgm:prSet presAssocID="{32FDB694-380F-9E45-8B63-6DAA15DEAF01}" presName="hierChild5" presStyleCnt="0"/>
      <dgm:spPr/>
    </dgm:pt>
    <dgm:pt modelId="{AC91ED32-A1FB-DB46-A178-565D051BB5E5}" type="pres">
      <dgm:prSet presAssocID="{2B62E002-EC79-7B45-BF66-51AB729219E1}" presName="Name37" presStyleLbl="parChTrans1D4" presStyleIdx="3" presStyleCnt="7"/>
      <dgm:spPr/>
    </dgm:pt>
    <dgm:pt modelId="{F4D0DCD9-B9A6-AB41-A457-3AA646F622A7}" type="pres">
      <dgm:prSet presAssocID="{C7A2A054-3937-A44C-AC27-834C4A416E85}" presName="hierRoot2" presStyleCnt="0">
        <dgm:presLayoutVars>
          <dgm:hierBranch val="init"/>
        </dgm:presLayoutVars>
      </dgm:prSet>
      <dgm:spPr/>
    </dgm:pt>
    <dgm:pt modelId="{705D8CF2-94BA-2C43-BC32-8E153DEF2CA4}" type="pres">
      <dgm:prSet presAssocID="{C7A2A054-3937-A44C-AC27-834C4A416E85}" presName="rootComposite" presStyleCnt="0"/>
      <dgm:spPr/>
    </dgm:pt>
    <dgm:pt modelId="{F30CE27B-3103-BF4D-8809-14F89566BA7A}" type="pres">
      <dgm:prSet presAssocID="{C7A2A054-3937-A44C-AC27-834C4A416E85}" presName="rootText" presStyleLbl="node4" presStyleIdx="3" presStyleCnt="7">
        <dgm:presLayoutVars>
          <dgm:chPref val="3"/>
        </dgm:presLayoutVars>
      </dgm:prSet>
      <dgm:spPr/>
    </dgm:pt>
    <dgm:pt modelId="{FE3C1292-2EE9-0D4F-BCCE-255B96D554DE}" type="pres">
      <dgm:prSet presAssocID="{C7A2A054-3937-A44C-AC27-834C4A416E85}" presName="rootConnector" presStyleLbl="node4" presStyleIdx="3" presStyleCnt="7"/>
      <dgm:spPr/>
    </dgm:pt>
    <dgm:pt modelId="{1EBF62AE-4F21-6844-B4BB-460168FEB89F}" type="pres">
      <dgm:prSet presAssocID="{C7A2A054-3937-A44C-AC27-834C4A416E85}" presName="hierChild4" presStyleCnt="0"/>
      <dgm:spPr/>
    </dgm:pt>
    <dgm:pt modelId="{20FCD94B-15CD-C74F-ABCC-2480E9F96D8C}" type="pres">
      <dgm:prSet presAssocID="{C1C61CF1-EC99-E940-8ADC-FF8309DADC90}" presName="Name37" presStyleLbl="parChTrans1D4" presStyleIdx="4" presStyleCnt="7"/>
      <dgm:spPr/>
    </dgm:pt>
    <dgm:pt modelId="{AD6AA469-CC78-F140-92BD-ADB208BE6909}" type="pres">
      <dgm:prSet presAssocID="{89E453BE-3108-F942-BAAC-239B0D444B37}" presName="hierRoot2" presStyleCnt="0">
        <dgm:presLayoutVars>
          <dgm:hierBranch val="init"/>
        </dgm:presLayoutVars>
      </dgm:prSet>
      <dgm:spPr/>
    </dgm:pt>
    <dgm:pt modelId="{618823E6-FBBD-9243-8A4C-ADAF7576E31E}" type="pres">
      <dgm:prSet presAssocID="{89E453BE-3108-F942-BAAC-239B0D444B37}" presName="rootComposite" presStyleCnt="0"/>
      <dgm:spPr/>
    </dgm:pt>
    <dgm:pt modelId="{3141EBE4-0F85-9949-AE3B-CA73549AF9B6}" type="pres">
      <dgm:prSet presAssocID="{89E453BE-3108-F942-BAAC-239B0D444B37}" presName="rootText" presStyleLbl="node4" presStyleIdx="4" presStyleCnt="7">
        <dgm:presLayoutVars>
          <dgm:chPref val="3"/>
        </dgm:presLayoutVars>
      </dgm:prSet>
      <dgm:spPr/>
    </dgm:pt>
    <dgm:pt modelId="{279CDE4C-F739-8E44-87EA-9D73FB6FAAA6}" type="pres">
      <dgm:prSet presAssocID="{89E453BE-3108-F942-BAAC-239B0D444B37}" presName="rootConnector" presStyleLbl="node4" presStyleIdx="4" presStyleCnt="7"/>
      <dgm:spPr/>
    </dgm:pt>
    <dgm:pt modelId="{A05150FF-30ED-0A46-A3CC-DF6198AC0ED8}" type="pres">
      <dgm:prSet presAssocID="{89E453BE-3108-F942-BAAC-239B0D444B37}" presName="hierChild4" presStyleCnt="0"/>
      <dgm:spPr/>
    </dgm:pt>
    <dgm:pt modelId="{2AD65E57-998A-8D43-8C8A-239030E4CC30}" type="pres">
      <dgm:prSet presAssocID="{89E453BE-3108-F942-BAAC-239B0D444B37}" presName="hierChild5" presStyleCnt="0"/>
      <dgm:spPr/>
    </dgm:pt>
    <dgm:pt modelId="{83711FD2-38D5-4645-815A-7182B2C232C7}" type="pres">
      <dgm:prSet presAssocID="{C7A2A054-3937-A44C-AC27-834C4A416E85}" presName="hierChild5" presStyleCnt="0"/>
      <dgm:spPr/>
    </dgm:pt>
    <dgm:pt modelId="{B0318548-0BA3-884A-BC27-61832F8DCC8D}" type="pres">
      <dgm:prSet presAssocID="{FA064C62-8AF7-CA4F-B1A2-B7A7F6123235}" presName="Name37" presStyleLbl="parChTrans1D4" presStyleIdx="5" presStyleCnt="7"/>
      <dgm:spPr/>
    </dgm:pt>
    <dgm:pt modelId="{CEFF4E65-222B-6E42-B136-D7A1C831FF39}" type="pres">
      <dgm:prSet presAssocID="{E915863B-29F3-9645-AAEE-79BFA9C00F1C}" presName="hierRoot2" presStyleCnt="0">
        <dgm:presLayoutVars>
          <dgm:hierBranch val="init"/>
        </dgm:presLayoutVars>
      </dgm:prSet>
      <dgm:spPr/>
    </dgm:pt>
    <dgm:pt modelId="{D646B421-3263-AA46-AA44-55074AA13097}" type="pres">
      <dgm:prSet presAssocID="{E915863B-29F3-9645-AAEE-79BFA9C00F1C}" presName="rootComposite" presStyleCnt="0"/>
      <dgm:spPr/>
    </dgm:pt>
    <dgm:pt modelId="{E58F5466-ED82-8B46-BAD2-35ED1FAACC6A}" type="pres">
      <dgm:prSet presAssocID="{E915863B-29F3-9645-AAEE-79BFA9C00F1C}" presName="rootText" presStyleLbl="node4" presStyleIdx="5" presStyleCnt="7">
        <dgm:presLayoutVars>
          <dgm:chPref val="3"/>
        </dgm:presLayoutVars>
      </dgm:prSet>
      <dgm:spPr/>
    </dgm:pt>
    <dgm:pt modelId="{A71BB2FB-9A2C-BF4C-8A5C-068BA32EDB9C}" type="pres">
      <dgm:prSet presAssocID="{E915863B-29F3-9645-AAEE-79BFA9C00F1C}" presName="rootConnector" presStyleLbl="node4" presStyleIdx="5" presStyleCnt="7"/>
      <dgm:spPr/>
    </dgm:pt>
    <dgm:pt modelId="{8663427C-5532-B046-A239-6EBAF671875E}" type="pres">
      <dgm:prSet presAssocID="{E915863B-29F3-9645-AAEE-79BFA9C00F1C}" presName="hierChild4" presStyleCnt="0"/>
      <dgm:spPr/>
    </dgm:pt>
    <dgm:pt modelId="{27AFB1F9-1B64-0848-BC8B-8BDD4637556A}" type="pres">
      <dgm:prSet presAssocID="{31BFB5A6-5134-CF4A-A047-532A9A37732D}" presName="Name37" presStyleLbl="parChTrans1D4" presStyleIdx="6" presStyleCnt="7"/>
      <dgm:spPr/>
    </dgm:pt>
    <dgm:pt modelId="{694D0BD6-FB70-A242-BD27-374B2AEA0D7D}" type="pres">
      <dgm:prSet presAssocID="{F30E8B79-A38B-7D46-BE17-CC6155E89F5A}" presName="hierRoot2" presStyleCnt="0">
        <dgm:presLayoutVars>
          <dgm:hierBranch val="init"/>
        </dgm:presLayoutVars>
      </dgm:prSet>
      <dgm:spPr/>
    </dgm:pt>
    <dgm:pt modelId="{52BB717A-6B5A-B04C-A22A-1F3A7AAF8109}" type="pres">
      <dgm:prSet presAssocID="{F30E8B79-A38B-7D46-BE17-CC6155E89F5A}" presName="rootComposite" presStyleCnt="0"/>
      <dgm:spPr/>
    </dgm:pt>
    <dgm:pt modelId="{10FD6445-05F3-1740-B3F6-23464BAFFA36}" type="pres">
      <dgm:prSet presAssocID="{F30E8B79-A38B-7D46-BE17-CC6155E89F5A}" presName="rootText" presStyleLbl="node4" presStyleIdx="6" presStyleCnt="7">
        <dgm:presLayoutVars>
          <dgm:chPref val="3"/>
        </dgm:presLayoutVars>
      </dgm:prSet>
      <dgm:spPr/>
    </dgm:pt>
    <dgm:pt modelId="{0D4172C9-A63E-AC47-B10E-553F52D47448}" type="pres">
      <dgm:prSet presAssocID="{F30E8B79-A38B-7D46-BE17-CC6155E89F5A}" presName="rootConnector" presStyleLbl="node4" presStyleIdx="6" presStyleCnt="7"/>
      <dgm:spPr/>
    </dgm:pt>
    <dgm:pt modelId="{11AA4700-4245-6040-8A9C-503FCFDA9651}" type="pres">
      <dgm:prSet presAssocID="{F30E8B79-A38B-7D46-BE17-CC6155E89F5A}" presName="hierChild4" presStyleCnt="0"/>
      <dgm:spPr/>
    </dgm:pt>
    <dgm:pt modelId="{11849661-222B-C244-829C-D3E22E09AFC6}" type="pres">
      <dgm:prSet presAssocID="{F30E8B79-A38B-7D46-BE17-CC6155E89F5A}" presName="hierChild5" presStyleCnt="0"/>
      <dgm:spPr/>
    </dgm:pt>
    <dgm:pt modelId="{D6D66BD3-B101-5443-BC65-7597D4057AB4}" type="pres">
      <dgm:prSet presAssocID="{E915863B-29F3-9645-AAEE-79BFA9C00F1C}" presName="hierChild5" presStyleCnt="0"/>
      <dgm:spPr/>
    </dgm:pt>
    <dgm:pt modelId="{895F966E-A273-DD48-993A-9AA8DD8C029E}" type="pres">
      <dgm:prSet presAssocID="{FB12D5D1-C56D-7243-82DA-48CCC92EC674}" presName="hierChild5" presStyleCnt="0"/>
      <dgm:spPr/>
    </dgm:pt>
    <dgm:pt modelId="{3A14CBD8-4AFF-BC44-B8F9-B648C9898142}" type="pres">
      <dgm:prSet presAssocID="{C0896CDA-28ED-324E-8617-E101D2F52AEC}" presName="hierChild5" presStyleCnt="0"/>
      <dgm:spPr/>
    </dgm:pt>
    <dgm:pt modelId="{92778392-B540-AB42-967F-E79FFA8A97F7}" type="pres">
      <dgm:prSet presAssocID="{9DBF051C-8233-FB4D-A0A3-D55F08CCB5BD}" presName="hierChild5" presStyleCnt="0"/>
      <dgm:spPr/>
    </dgm:pt>
    <dgm:pt modelId="{83603B0B-CCEB-6C4F-875F-951BF6E30502}" type="pres">
      <dgm:prSet presAssocID="{9F219289-8A31-1148-82D4-265246F22380}" presName="hierChild3" presStyleCnt="0"/>
      <dgm:spPr/>
    </dgm:pt>
  </dgm:ptLst>
  <dgm:cxnLst>
    <dgm:cxn modelId="{9B65B700-46DB-E543-9AE0-E5986BFFBA7B}" type="presOf" srcId="{F30E8B79-A38B-7D46-BE17-CC6155E89F5A}" destId="{10FD6445-05F3-1740-B3F6-23464BAFFA36}" srcOrd="0" destOrd="0" presId="urn:microsoft.com/office/officeart/2005/8/layout/orgChart1"/>
    <dgm:cxn modelId="{1A18CD02-58D0-1549-91D8-2EDD53BF2FA1}" type="presOf" srcId="{F1EB112A-8472-7E4E-ABB4-F90EAFE06B71}" destId="{6B1FF1C0-13E9-8544-AF41-637E038824D7}" srcOrd="0" destOrd="0" presId="urn:microsoft.com/office/officeart/2005/8/layout/orgChart1"/>
    <dgm:cxn modelId="{1B378008-DA23-7146-AC2B-58AE5A6D9C92}" srcId="{EA384603-0039-6F45-A265-EDF9A1260AD6}" destId="{F1EB112A-8472-7E4E-ABB4-F90EAFE06B71}" srcOrd="0" destOrd="0" parTransId="{77467C19-AE36-A642-B0A7-0B5561A0D582}" sibTransId="{CB16C8CE-AECE-F748-A547-B824CBA53E7B}"/>
    <dgm:cxn modelId="{0C5ACA08-2632-CA44-BE5D-82E856A86922}" type="presOf" srcId="{89E453BE-3108-F942-BAAC-239B0D444B37}" destId="{3141EBE4-0F85-9949-AE3B-CA73549AF9B6}" srcOrd="0" destOrd="0" presId="urn:microsoft.com/office/officeart/2005/8/layout/orgChart1"/>
    <dgm:cxn modelId="{33EFFD0A-D120-8345-8AE4-87873BDB8790}" type="presOf" srcId="{9F219289-8A31-1148-82D4-265246F22380}" destId="{2403C819-5E8E-174D-B6AF-46EDB55FFADF}" srcOrd="1" destOrd="0" presId="urn:microsoft.com/office/officeart/2005/8/layout/orgChart1"/>
    <dgm:cxn modelId="{4591B814-B223-9141-AC55-85ABD811F7E9}" srcId="{26577B4F-8805-7F47-9A82-2379E9B73B62}" destId="{9F219289-8A31-1148-82D4-265246F22380}" srcOrd="0" destOrd="0" parTransId="{F362B115-4CD8-8B4D-9409-2AFAC68C8D1F}" sibTransId="{7EF8A899-D412-0041-8F9F-A7A14C6F32C7}"/>
    <dgm:cxn modelId="{0A571F18-F7DC-B644-9C6A-2F7079EC7970}" type="presOf" srcId="{E915863B-29F3-9645-AAEE-79BFA9C00F1C}" destId="{E58F5466-ED82-8B46-BAD2-35ED1FAACC6A}" srcOrd="0" destOrd="0" presId="urn:microsoft.com/office/officeart/2005/8/layout/orgChart1"/>
    <dgm:cxn modelId="{69A4A41F-401B-244E-BBDB-391F0B494E37}" type="presOf" srcId="{F2DEA3D8-413E-E445-ADF0-FB442F8477B0}" destId="{1A1A0821-D2B4-BF49-9E6C-78A09FE3CA03}" srcOrd="1" destOrd="0" presId="urn:microsoft.com/office/officeart/2005/8/layout/orgChart1"/>
    <dgm:cxn modelId="{AA6DD423-23BF-8745-A917-3848066F8D57}" srcId="{FB12D5D1-C56D-7243-82DA-48CCC92EC674}" destId="{E915863B-29F3-9645-AAEE-79BFA9C00F1C}" srcOrd="2" destOrd="0" parTransId="{FA064C62-8AF7-CA4F-B1A2-B7A7F6123235}" sibTransId="{6F2132A3-6A2E-E647-A567-66B90E99A8EB}"/>
    <dgm:cxn modelId="{303E3A28-B01B-3B40-9870-F6076CE6C42B}" type="presOf" srcId="{C7A2A054-3937-A44C-AC27-834C4A416E85}" destId="{F30CE27B-3103-BF4D-8809-14F89566BA7A}" srcOrd="0" destOrd="0" presId="urn:microsoft.com/office/officeart/2005/8/layout/orgChart1"/>
    <dgm:cxn modelId="{DC582629-F8F9-DF46-9FE5-B9EE12CB80CD}" type="presOf" srcId="{707933C0-A3C9-7A45-A47C-79B8ACCA5805}" destId="{AF294D60-9B72-9641-80C4-60237BEBC252}" srcOrd="0" destOrd="0" presId="urn:microsoft.com/office/officeart/2005/8/layout/orgChart1"/>
    <dgm:cxn modelId="{65BA0B2C-09BA-414E-9802-81CB2EDC4D2B}" type="presOf" srcId="{C1C61CF1-EC99-E940-8ADC-FF8309DADC90}" destId="{20FCD94B-15CD-C74F-ABCC-2480E9F96D8C}" srcOrd="0" destOrd="0" presId="urn:microsoft.com/office/officeart/2005/8/layout/orgChart1"/>
    <dgm:cxn modelId="{1362EC2E-D594-EF45-9664-68DDB098258D}" type="presOf" srcId="{EA384603-0039-6F45-A265-EDF9A1260AD6}" destId="{0B6A0A62-E777-1C43-81F8-3843B5C3CE69}" srcOrd="1" destOrd="0" presId="urn:microsoft.com/office/officeart/2005/8/layout/orgChart1"/>
    <dgm:cxn modelId="{FEE31E40-1BEC-B541-B3E4-9FADB60857F2}" type="presOf" srcId="{2B62E002-EC79-7B45-BF66-51AB729219E1}" destId="{AC91ED32-A1FB-DB46-A178-565D051BB5E5}" srcOrd="0" destOrd="0" presId="urn:microsoft.com/office/officeart/2005/8/layout/orgChart1"/>
    <dgm:cxn modelId="{73D87C48-373A-F44E-ADEB-D4E945740264}" srcId="{F2DEA3D8-413E-E445-ADF0-FB442F8477B0}" destId="{2DE1791E-70DD-F74B-8334-5D40841D4B87}" srcOrd="0" destOrd="0" parTransId="{C8F7C944-DC05-E546-96BD-3A7E566AF139}" sibTransId="{993608DD-162B-5A4A-9275-D0EFC7914127}"/>
    <dgm:cxn modelId="{35868C59-70F4-5B4B-AD5D-AEC6262BAA0A}" type="presOf" srcId="{9DBF051C-8233-FB4D-A0A3-D55F08CCB5BD}" destId="{D5903FDF-A36C-5A4A-84BD-2642D156709B}" srcOrd="1" destOrd="0" presId="urn:microsoft.com/office/officeart/2005/8/layout/orgChart1"/>
    <dgm:cxn modelId="{1A343B5A-BB1F-9B47-9B31-3951DCBBE1ED}" type="presOf" srcId="{A6576F62-06B3-2B4B-B613-EEBB9B4ACAE0}" destId="{46F7C25B-8A6B-9A4C-AEA5-79B511634C22}" srcOrd="0" destOrd="0" presId="urn:microsoft.com/office/officeart/2005/8/layout/orgChart1"/>
    <dgm:cxn modelId="{4BEC895C-242C-C243-9EE7-BCCC6A8AFCBD}" type="presOf" srcId="{9F219289-8A31-1148-82D4-265246F22380}" destId="{C1CC36B6-BA4D-A641-B415-0E1EE07590C6}" srcOrd="0" destOrd="0" presId="urn:microsoft.com/office/officeart/2005/8/layout/orgChart1"/>
    <dgm:cxn modelId="{5C5ACA5D-57E5-5540-80BC-F4DC00F7255D}" type="presOf" srcId="{F1EB112A-8472-7E4E-ABB4-F90EAFE06B71}" destId="{B6F7D033-73DC-B744-8C8D-E702F004A83C}" srcOrd="1" destOrd="0" presId="urn:microsoft.com/office/officeart/2005/8/layout/orgChart1"/>
    <dgm:cxn modelId="{664CED63-83BD-AE44-AF30-60D65C1AF02B}" type="presOf" srcId="{E1F08455-1935-544B-B4BD-C2E10279FCB1}" destId="{28950DD6-701B-604E-A21E-09DDFA200060}" srcOrd="0" destOrd="0" presId="urn:microsoft.com/office/officeart/2005/8/layout/orgChart1"/>
    <dgm:cxn modelId="{9C33D868-A727-AA41-B3A7-93CB2EBC899C}" type="presOf" srcId="{E915863B-29F3-9645-AAEE-79BFA9C00F1C}" destId="{A71BB2FB-9A2C-BF4C-8A5C-068BA32EDB9C}" srcOrd="1" destOrd="0" presId="urn:microsoft.com/office/officeart/2005/8/layout/orgChart1"/>
    <dgm:cxn modelId="{2FDE8069-B5E9-EF45-A948-D88D0A2F30C9}" type="presOf" srcId="{4093BDEC-923F-864F-852B-06048A81EC9F}" destId="{C8E42A8B-2C64-9B45-84EC-0C2265CC9A45}" srcOrd="0" destOrd="0" presId="urn:microsoft.com/office/officeart/2005/8/layout/orgChart1"/>
    <dgm:cxn modelId="{3FA3A06D-54F5-7541-BB5F-0B363C4B81C6}" type="presOf" srcId="{2DE1791E-70DD-F74B-8334-5D40841D4B87}" destId="{1926695E-91AE-0542-B3EC-E69772DC1DC7}" srcOrd="0" destOrd="0" presId="urn:microsoft.com/office/officeart/2005/8/layout/orgChart1"/>
    <dgm:cxn modelId="{4A6A146E-87CE-8A40-B5B5-8DC8D321D760}" type="presOf" srcId="{FA064C62-8AF7-CA4F-B1A2-B7A7F6123235}" destId="{B0318548-0BA3-884A-BC27-61832F8DCC8D}" srcOrd="0" destOrd="0" presId="urn:microsoft.com/office/officeart/2005/8/layout/orgChart1"/>
    <dgm:cxn modelId="{59613078-CEBF-FD42-AE6A-BAF016044017}" type="presOf" srcId="{EA384603-0039-6F45-A265-EDF9A1260AD6}" destId="{5DB92BC0-ECCF-1647-98F2-A4BAD5B73C91}" srcOrd="0" destOrd="0" presId="urn:microsoft.com/office/officeart/2005/8/layout/orgChart1"/>
    <dgm:cxn modelId="{192BA078-1274-654B-904E-7CAA00A8C330}" srcId="{C7A2A054-3937-A44C-AC27-834C4A416E85}" destId="{89E453BE-3108-F942-BAAC-239B0D444B37}" srcOrd="0" destOrd="0" parTransId="{C1C61CF1-EC99-E940-8ADC-FF8309DADC90}" sibTransId="{BA3DE453-79CF-2348-8689-13A5C5C3AF22}"/>
    <dgm:cxn modelId="{92836181-FFB6-E042-8DC1-83768466D7F3}" type="presOf" srcId="{31BFB5A6-5134-CF4A-A047-532A9A37732D}" destId="{27AFB1F9-1B64-0848-BC8B-8BDD4637556A}" srcOrd="0" destOrd="0" presId="urn:microsoft.com/office/officeart/2005/8/layout/orgChart1"/>
    <dgm:cxn modelId="{CD224385-F7C0-0D43-96C7-451704515913}" srcId="{FB12D5D1-C56D-7243-82DA-48CCC92EC674}" destId="{C7A2A054-3937-A44C-AC27-834C4A416E85}" srcOrd="1" destOrd="0" parTransId="{2B62E002-EC79-7B45-BF66-51AB729219E1}" sibTransId="{83BD9989-2687-B442-891D-1A4A1E4534BC}"/>
    <dgm:cxn modelId="{FDC18F89-0525-0743-A619-219EC6CC3A69}" type="presOf" srcId="{F2DEA3D8-413E-E445-ADF0-FB442F8477B0}" destId="{4A63361A-8AFA-2F4C-90B5-FAD7E6F7A3DD}" srcOrd="0" destOrd="0" presId="urn:microsoft.com/office/officeart/2005/8/layout/orgChart1"/>
    <dgm:cxn modelId="{C55B7B8B-052D-7549-ADA2-DC721D736343}" type="presOf" srcId="{32FDB694-380F-9E45-8B63-6DAA15DEAF01}" destId="{C4EDFE6C-296D-204F-BB4C-E0383AD6462D}" srcOrd="1" destOrd="0" presId="urn:microsoft.com/office/officeart/2005/8/layout/orgChart1"/>
    <dgm:cxn modelId="{90E90690-9A6D-8946-83FB-C395C3C70B60}" type="presOf" srcId="{F30E8B79-A38B-7D46-BE17-CC6155E89F5A}" destId="{0D4172C9-A63E-AC47-B10E-553F52D47448}" srcOrd="1" destOrd="0" presId="urn:microsoft.com/office/officeart/2005/8/layout/orgChart1"/>
    <dgm:cxn modelId="{066C0790-84C6-8C49-8D86-0CF769EA24C7}" type="presOf" srcId="{26577B4F-8805-7F47-9A82-2379E9B73B62}" destId="{4F0F6BFD-666C-D64A-92A7-2DD64DC71A9A}" srcOrd="0" destOrd="0" presId="urn:microsoft.com/office/officeart/2005/8/layout/orgChart1"/>
    <dgm:cxn modelId="{16218590-6F32-0448-8DC2-8016C6BF44DD}" type="presOf" srcId="{C0896CDA-28ED-324E-8617-E101D2F52AEC}" destId="{087B432B-A73B-7846-8B5A-25403EDAE7DC}" srcOrd="0" destOrd="0" presId="urn:microsoft.com/office/officeart/2005/8/layout/orgChart1"/>
    <dgm:cxn modelId="{AC0D5E96-AB61-8A43-95EC-1BA1D54EAC52}" type="presOf" srcId="{32FDB694-380F-9E45-8B63-6DAA15DEAF01}" destId="{A8E99C39-923B-884F-AE10-80995E192317}" srcOrd="0" destOrd="0" presId="urn:microsoft.com/office/officeart/2005/8/layout/orgChart1"/>
    <dgm:cxn modelId="{BDB41498-4666-C042-AC52-B16CA384674A}" type="presOf" srcId="{CE3287B3-59B6-A841-A8F4-4AA48547EE06}" destId="{E183F606-1C96-4141-8ACB-48748EBBC1FA}" srcOrd="0" destOrd="0" presId="urn:microsoft.com/office/officeart/2005/8/layout/orgChart1"/>
    <dgm:cxn modelId="{EE234999-E521-0048-8907-EA9E41C10C82}" type="presOf" srcId="{995B1156-958E-9D4A-A7B0-0B8F04E31EC6}" destId="{365BD677-2E0D-8648-9D43-610DB8DB5B68}" srcOrd="0" destOrd="0" presId="urn:microsoft.com/office/officeart/2005/8/layout/orgChart1"/>
    <dgm:cxn modelId="{92E942A1-F47E-7741-9D54-98B3A3797C75}" type="presOf" srcId="{2DE1791E-70DD-F74B-8334-5D40841D4B87}" destId="{7D7A67F6-E1EE-5D46-B0BC-8DBED0BBDDAB}" srcOrd="1" destOrd="0" presId="urn:microsoft.com/office/officeart/2005/8/layout/orgChart1"/>
    <dgm:cxn modelId="{9D941DA2-21BA-0E42-965B-047CFAE7F9C1}" type="presOf" srcId="{FB12D5D1-C56D-7243-82DA-48CCC92EC674}" destId="{D58740E1-516B-CF47-92D9-7387FE462A89}" srcOrd="1" destOrd="0" presId="urn:microsoft.com/office/officeart/2005/8/layout/orgChart1"/>
    <dgm:cxn modelId="{471294A8-786E-9D48-B025-174649422CA1}" srcId="{9DBF051C-8233-FB4D-A0A3-D55F08CCB5BD}" destId="{C0896CDA-28ED-324E-8617-E101D2F52AEC}" srcOrd="0" destOrd="0" parTransId="{A6576F62-06B3-2B4B-B613-EEBB9B4ACAE0}" sibTransId="{CEBFEC90-B655-A946-8B9A-9A60C022A3C7}"/>
    <dgm:cxn modelId="{9F280FA9-9008-FB48-A585-C82D5E092074}" type="presOf" srcId="{C0896CDA-28ED-324E-8617-E101D2F52AEC}" destId="{10FFFC58-7EA2-F746-B467-E0051543092E}" srcOrd="1" destOrd="0" presId="urn:microsoft.com/office/officeart/2005/8/layout/orgChart1"/>
    <dgm:cxn modelId="{A1A476B1-971A-C34E-A8A0-171C7DA6A9E0}" type="presOf" srcId="{A5323AFE-4A12-624F-B685-FC12976F72DB}" destId="{B3BAC4AD-153B-1343-BCE5-6024ABCC6DE8}" srcOrd="0" destOrd="0" presId="urn:microsoft.com/office/officeart/2005/8/layout/orgChart1"/>
    <dgm:cxn modelId="{31D78BB7-2F9B-924D-840E-8B407BB4B22D}" type="presOf" srcId="{A544D4FF-9089-4D46-9611-91F620A4236E}" destId="{2F5B253E-CAC3-7C48-A37C-FD28DF4E1921}" srcOrd="0" destOrd="0" presId="urn:microsoft.com/office/officeart/2005/8/layout/orgChart1"/>
    <dgm:cxn modelId="{6B0342B9-B648-BC43-AA75-F0389220DD82}" srcId="{9F219289-8A31-1148-82D4-265246F22380}" destId="{F2DEA3D8-413E-E445-ADF0-FB442F8477B0}" srcOrd="0" destOrd="0" parTransId="{4093BDEC-923F-864F-852B-06048A81EC9F}" sibTransId="{42279889-3E72-1C48-AD74-87DD02ACDC56}"/>
    <dgm:cxn modelId="{B4DC7CC4-4154-1A46-BE32-93EFB4D57151}" type="presOf" srcId="{C8F7C944-DC05-E546-96BD-3A7E566AF139}" destId="{A27FEB45-0B57-E047-A4DC-4F93C6AAAF17}" srcOrd="0" destOrd="0" presId="urn:microsoft.com/office/officeart/2005/8/layout/orgChart1"/>
    <dgm:cxn modelId="{72C3E4C4-DDDD-084B-AAEA-5D802E0D1FA0}" type="presOf" srcId="{9DBF051C-8233-FB4D-A0A3-D55F08CCB5BD}" destId="{AE62488F-B611-A844-8B8F-FD92D7733871}" srcOrd="0" destOrd="0" presId="urn:microsoft.com/office/officeart/2005/8/layout/orgChart1"/>
    <dgm:cxn modelId="{8206DACA-DF13-0E4E-9ADC-481BFABB8D66}" type="presOf" srcId="{FB12D5D1-C56D-7243-82DA-48CCC92EC674}" destId="{955D6E37-AD6C-734D-A59C-17F7C8CCBF6E}" srcOrd="0" destOrd="0" presId="urn:microsoft.com/office/officeart/2005/8/layout/orgChart1"/>
    <dgm:cxn modelId="{D4B786CE-FB68-3A47-B6B9-B4671CEB0D45}" type="presOf" srcId="{89E453BE-3108-F942-BAAC-239B0D444B37}" destId="{279CDE4C-F739-8E44-87EA-9D73FB6FAAA6}" srcOrd="1" destOrd="0" presId="urn:microsoft.com/office/officeart/2005/8/layout/orgChart1"/>
    <dgm:cxn modelId="{F83464D0-8579-F945-807F-0050E49F8A94}" type="presOf" srcId="{77467C19-AE36-A642-B0A7-0B5561A0D582}" destId="{F66987EC-151A-764D-9F5F-DAD13DFA210F}" srcOrd="0" destOrd="0" presId="urn:microsoft.com/office/officeart/2005/8/layout/orgChart1"/>
    <dgm:cxn modelId="{E0C54CDC-FA6B-AA40-9E22-83BA7C9C2022}" srcId="{E915863B-29F3-9645-AAEE-79BFA9C00F1C}" destId="{F30E8B79-A38B-7D46-BE17-CC6155E89F5A}" srcOrd="0" destOrd="0" parTransId="{31BFB5A6-5134-CF4A-A047-532A9A37732D}" sibTransId="{CB236E88-32D0-1D41-B41C-649367ADF163}"/>
    <dgm:cxn modelId="{00E91DDD-6D75-A24A-9A48-74381ED20914}" srcId="{C0896CDA-28ED-324E-8617-E101D2F52AEC}" destId="{FB12D5D1-C56D-7243-82DA-48CCC92EC674}" srcOrd="0" destOrd="0" parTransId="{A544D4FF-9089-4D46-9611-91F620A4236E}" sibTransId="{0D766AF6-7D4E-464C-839F-A3210BFCB511}"/>
    <dgm:cxn modelId="{E94B89E0-58E0-1D4A-AA51-75B168E0A8E0}" srcId="{32FDB694-380F-9E45-8B63-6DAA15DEAF01}" destId="{CE3287B3-59B6-A841-A8F4-4AA48547EE06}" srcOrd="0" destOrd="0" parTransId="{A5323AFE-4A12-624F-B685-FC12976F72DB}" sibTransId="{48E67B0B-9CF2-FC4D-86E6-CF9E4161DAA1}"/>
    <dgm:cxn modelId="{129CDAE4-0190-F049-B8AC-B33AC0A2DE7B}" srcId="{9F219289-8A31-1148-82D4-265246F22380}" destId="{9DBF051C-8233-FB4D-A0A3-D55F08CCB5BD}" srcOrd="2" destOrd="0" parTransId="{707933C0-A3C9-7A45-A47C-79B8ACCA5805}" sibTransId="{8FB02D23-FA8E-4843-9D9A-59FF96DFB85B}"/>
    <dgm:cxn modelId="{CD3D51EE-0A0C-9449-B8AA-43A2CD0B201A}" type="presOf" srcId="{C7A2A054-3937-A44C-AC27-834C4A416E85}" destId="{FE3C1292-2EE9-0D4F-BCCE-255B96D554DE}" srcOrd="1" destOrd="0" presId="urn:microsoft.com/office/officeart/2005/8/layout/orgChart1"/>
    <dgm:cxn modelId="{AD42F3EF-56D9-A94D-A79A-1B2417FA2241}" type="presOf" srcId="{CE3287B3-59B6-A841-A8F4-4AA48547EE06}" destId="{B5477C9E-3996-AF45-86DA-0AAA40C2EC22}" srcOrd="1" destOrd="0" presId="urn:microsoft.com/office/officeart/2005/8/layout/orgChart1"/>
    <dgm:cxn modelId="{CC76CFF2-6B95-4B47-8AB4-63AEA2DAA34E}" srcId="{9F219289-8A31-1148-82D4-265246F22380}" destId="{EA384603-0039-6F45-A265-EDF9A1260AD6}" srcOrd="1" destOrd="0" parTransId="{995B1156-958E-9D4A-A7B0-0B8F04E31EC6}" sibTransId="{D402C9A6-A407-F843-9F39-D99AA757C169}"/>
    <dgm:cxn modelId="{F175B1F3-FC5B-284F-811D-25CF08403E40}" srcId="{FB12D5D1-C56D-7243-82DA-48CCC92EC674}" destId="{32FDB694-380F-9E45-8B63-6DAA15DEAF01}" srcOrd="0" destOrd="0" parTransId="{E1F08455-1935-544B-B4BD-C2E10279FCB1}" sibTransId="{BE9084F2-4653-1145-8721-C888F8DC3006}"/>
    <dgm:cxn modelId="{9BCB9EBB-1A01-624A-9714-4EA5022D2A38}" type="presParOf" srcId="{4F0F6BFD-666C-D64A-92A7-2DD64DC71A9A}" destId="{261554AA-493B-614B-9A4C-07302A2D4587}" srcOrd="0" destOrd="0" presId="urn:microsoft.com/office/officeart/2005/8/layout/orgChart1"/>
    <dgm:cxn modelId="{0454B525-96B0-E14C-8063-A96E8E4D7F36}" type="presParOf" srcId="{261554AA-493B-614B-9A4C-07302A2D4587}" destId="{A6B43CE7-3DC6-AF42-A161-F346571D48AC}" srcOrd="0" destOrd="0" presId="urn:microsoft.com/office/officeart/2005/8/layout/orgChart1"/>
    <dgm:cxn modelId="{C4F61C49-36A3-1744-94F8-F3D344536AC0}" type="presParOf" srcId="{A6B43CE7-3DC6-AF42-A161-F346571D48AC}" destId="{C1CC36B6-BA4D-A641-B415-0E1EE07590C6}" srcOrd="0" destOrd="0" presId="urn:microsoft.com/office/officeart/2005/8/layout/orgChart1"/>
    <dgm:cxn modelId="{97F7A8A7-24E7-9C4F-8F78-9DADB39DE37F}" type="presParOf" srcId="{A6B43CE7-3DC6-AF42-A161-F346571D48AC}" destId="{2403C819-5E8E-174D-B6AF-46EDB55FFADF}" srcOrd="1" destOrd="0" presId="urn:microsoft.com/office/officeart/2005/8/layout/orgChart1"/>
    <dgm:cxn modelId="{5EB316E6-7A90-324F-8815-35D0F9155D55}" type="presParOf" srcId="{261554AA-493B-614B-9A4C-07302A2D4587}" destId="{4B0DF92B-4D0C-F544-956D-23ABA4E21F8F}" srcOrd="1" destOrd="0" presId="urn:microsoft.com/office/officeart/2005/8/layout/orgChart1"/>
    <dgm:cxn modelId="{AD9043EA-278A-4845-83CE-390D3CD3BCCF}" type="presParOf" srcId="{4B0DF92B-4D0C-F544-956D-23ABA4E21F8F}" destId="{C8E42A8B-2C64-9B45-84EC-0C2265CC9A45}" srcOrd="0" destOrd="0" presId="urn:microsoft.com/office/officeart/2005/8/layout/orgChart1"/>
    <dgm:cxn modelId="{051DB52C-2AD2-3444-8885-85DB00134475}" type="presParOf" srcId="{4B0DF92B-4D0C-F544-956D-23ABA4E21F8F}" destId="{199D1AFE-14AE-8C4A-818A-220142661603}" srcOrd="1" destOrd="0" presId="urn:microsoft.com/office/officeart/2005/8/layout/orgChart1"/>
    <dgm:cxn modelId="{F4DF999F-9F4B-FA4F-A152-2553DC3230FF}" type="presParOf" srcId="{199D1AFE-14AE-8C4A-818A-220142661603}" destId="{33E6186C-AB0D-9D4B-A629-CA5BC1D90EAE}" srcOrd="0" destOrd="0" presId="urn:microsoft.com/office/officeart/2005/8/layout/orgChart1"/>
    <dgm:cxn modelId="{99082AD9-6817-E64F-AA69-EDE799E411FF}" type="presParOf" srcId="{33E6186C-AB0D-9D4B-A629-CA5BC1D90EAE}" destId="{4A63361A-8AFA-2F4C-90B5-FAD7E6F7A3DD}" srcOrd="0" destOrd="0" presId="urn:microsoft.com/office/officeart/2005/8/layout/orgChart1"/>
    <dgm:cxn modelId="{5FF66A52-5368-D746-87ED-AAEC55301A54}" type="presParOf" srcId="{33E6186C-AB0D-9D4B-A629-CA5BC1D90EAE}" destId="{1A1A0821-D2B4-BF49-9E6C-78A09FE3CA03}" srcOrd="1" destOrd="0" presId="urn:microsoft.com/office/officeart/2005/8/layout/orgChart1"/>
    <dgm:cxn modelId="{DB59050F-D3BB-3E41-91BF-22B5FBC9ED79}" type="presParOf" srcId="{199D1AFE-14AE-8C4A-818A-220142661603}" destId="{CA4BCEB8-BC59-2948-B61B-E9C0116FFDB5}" srcOrd="1" destOrd="0" presId="urn:microsoft.com/office/officeart/2005/8/layout/orgChart1"/>
    <dgm:cxn modelId="{B2D6EA45-18EE-D04E-AD75-C0DB40B44690}" type="presParOf" srcId="{CA4BCEB8-BC59-2948-B61B-E9C0116FFDB5}" destId="{A27FEB45-0B57-E047-A4DC-4F93C6AAAF17}" srcOrd="0" destOrd="0" presId="urn:microsoft.com/office/officeart/2005/8/layout/orgChart1"/>
    <dgm:cxn modelId="{37FB377C-15B8-814D-81B9-8DBF87284D81}" type="presParOf" srcId="{CA4BCEB8-BC59-2948-B61B-E9C0116FFDB5}" destId="{0A66F28E-4B05-8D48-8A41-6F3528948617}" srcOrd="1" destOrd="0" presId="urn:microsoft.com/office/officeart/2005/8/layout/orgChart1"/>
    <dgm:cxn modelId="{E43626BC-A97B-0340-BBE4-D71654BDD040}" type="presParOf" srcId="{0A66F28E-4B05-8D48-8A41-6F3528948617}" destId="{6C1F1AB5-6652-0E4B-86E8-0E4C25AEA87D}" srcOrd="0" destOrd="0" presId="urn:microsoft.com/office/officeart/2005/8/layout/orgChart1"/>
    <dgm:cxn modelId="{729B0540-BBF3-684D-93B1-F442875181DE}" type="presParOf" srcId="{6C1F1AB5-6652-0E4B-86E8-0E4C25AEA87D}" destId="{1926695E-91AE-0542-B3EC-E69772DC1DC7}" srcOrd="0" destOrd="0" presId="urn:microsoft.com/office/officeart/2005/8/layout/orgChart1"/>
    <dgm:cxn modelId="{FB37D224-ED8D-EF4E-A8E5-F202210F6234}" type="presParOf" srcId="{6C1F1AB5-6652-0E4B-86E8-0E4C25AEA87D}" destId="{7D7A67F6-E1EE-5D46-B0BC-8DBED0BBDDAB}" srcOrd="1" destOrd="0" presId="urn:microsoft.com/office/officeart/2005/8/layout/orgChart1"/>
    <dgm:cxn modelId="{902164AE-2ECF-2645-A69F-8772B4904763}" type="presParOf" srcId="{0A66F28E-4B05-8D48-8A41-6F3528948617}" destId="{BD99CE9E-021A-E44E-9364-30ED7FB845A6}" srcOrd="1" destOrd="0" presId="urn:microsoft.com/office/officeart/2005/8/layout/orgChart1"/>
    <dgm:cxn modelId="{A4058D17-A225-474C-80F8-ED9BE125D2CB}" type="presParOf" srcId="{0A66F28E-4B05-8D48-8A41-6F3528948617}" destId="{8017A869-85CB-C746-BBE2-446B037E0816}" srcOrd="2" destOrd="0" presId="urn:microsoft.com/office/officeart/2005/8/layout/orgChart1"/>
    <dgm:cxn modelId="{796889A1-A54B-3648-80D3-F81EBFD87BC2}" type="presParOf" srcId="{199D1AFE-14AE-8C4A-818A-220142661603}" destId="{48B6D4BC-C2FC-6444-BDE4-1B73337FA1F1}" srcOrd="2" destOrd="0" presId="urn:microsoft.com/office/officeart/2005/8/layout/orgChart1"/>
    <dgm:cxn modelId="{D9CE8201-30BC-0743-804B-9B37B70563AE}" type="presParOf" srcId="{4B0DF92B-4D0C-F544-956D-23ABA4E21F8F}" destId="{365BD677-2E0D-8648-9D43-610DB8DB5B68}" srcOrd="2" destOrd="0" presId="urn:microsoft.com/office/officeart/2005/8/layout/orgChart1"/>
    <dgm:cxn modelId="{54B0F316-3944-A54F-BFFE-770D37627F24}" type="presParOf" srcId="{4B0DF92B-4D0C-F544-956D-23ABA4E21F8F}" destId="{3A7150D0-D931-F046-A2AA-541D72AAB0AF}" srcOrd="3" destOrd="0" presId="urn:microsoft.com/office/officeart/2005/8/layout/orgChart1"/>
    <dgm:cxn modelId="{DEB592BE-E0D7-C04C-AC57-9F535BCB0917}" type="presParOf" srcId="{3A7150D0-D931-F046-A2AA-541D72AAB0AF}" destId="{A808265A-90FD-584B-B161-E71B7931F625}" srcOrd="0" destOrd="0" presId="urn:microsoft.com/office/officeart/2005/8/layout/orgChart1"/>
    <dgm:cxn modelId="{AE31FD83-56BD-124F-B5DE-A46BAE851EC4}" type="presParOf" srcId="{A808265A-90FD-584B-B161-E71B7931F625}" destId="{5DB92BC0-ECCF-1647-98F2-A4BAD5B73C91}" srcOrd="0" destOrd="0" presId="urn:microsoft.com/office/officeart/2005/8/layout/orgChart1"/>
    <dgm:cxn modelId="{01A9301D-A8B8-4D4F-9025-3B96700A8510}" type="presParOf" srcId="{A808265A-90FD-584B-B161-E71B7931F625}" destId="{0B6A0A62-E777-1C43-81F8-3843B5C3CE69}" srcOrd="1" destOrd="0" presId="urn:microsoft.com/office/officeart/2005/8/layout/orgChart1"/>
    <dgm:cxn modelId="{A8277F22-0C66-6343-9737-21C32D07A838}" type="presParOf" srcId="{3A7150D0-D931-F046-A2AA-541D72AAB0AF}" destId="{DB52A068-81A3-F94F-A1E1-57E3A1F772DB}" srcOrd="1" destOrd="0" presId="urn:microsoft.com/office/officeart/2005/8/layout/orgChart1"/>
    <dgm:cxn modelId="{BD38E99B-BB56-1348-8BA8-F8B757234FEB}" type="presParOf" srcId="{DB52A068-81A3-F94F-A1E1-57E3A1F772DB}" destId="{F66987EC-151A-764D-9F5F-DAD13DFA210F}" srcOrd="0" destOrd="0" presId="urn:microsoft.com/office/officeart/2005/8/layout/orgChart1"/>
    <dgm:cxn modelId="{2E67AA70-18F7-1245-8972-52013C571343}" type="presParOf" srcId="{DB52A068-81A3-F94F-A1E1-57E3A1F772DB}" destId="{A493CD10-9699-BB4B-9798-9313286E05BF}" srcOrd="1" destOrd="0" presId="urn:microsoft.com/office/officeart/2005/8/layout/orgChart1"/>
    <dgm:cxn modelId="{C2421C32-582F-4344-8809-F94B0CF965DD}" type="presParOf" srcId="{A493CD10-9699-BB4B-9798-9313286E05BF}" destId="{12C8081E-BBDD-3E45-BCC4-0D05EC2E1472}" srcOrd="0" destOrd="0" presId="urn:microsoft.com/office/officeart/2005/8/layout/orgChart1"/>
    <dgm:cxn modelId="{A3EFAE4D-5214-1D49-87D5-6723CE3AA1D5}" type="presParOf" srcId="{12C8081E-BBDD-3E45-BCC4-0D05EC2E1472}" destId="{6B1FF1C0-13E9-8544-AF41-637E038824D7}" srcOrd="0" destOrd="0" presId="urn:microsoft.com/office/officeart/2005/8/layout/orgChart1"/>
    <dgm:cxn modelId="{DFACAB1B-DB02-2B44-AF8A-69B30C7F7BC1}" type="presParOf" srcId="{12C8081E-BBDD-3E45-BCC4-0D05EC2E1472}" destId="{B6F7D033-73DC-B744-8C8D-E702F004A83C}" srcOrd="1" destOrd="0" presId="urn:microsoft.com/office/officeart/2005/8/layout/orgChart1"/>
    <dgm:cxn modelId="{419BFFE5-9B0B-E94B-8D2B-C5D4EAD192B4}" type="presParOf" srcId="{A493CD10-9699-BB4B-9798-9313286E05BF}" destId="{448780AB-0479-4341-8495-ED186D8A005A}" srcOrd="1" destOrd="0" presId="urn:microsoft.com/office/officeart/2005/8/layout/orgChart1"/>
    <dgm:cxn modelId="{8CBB84AE-2A55-B046-914E-2AE969983727}" type="presParOf" srcId="{A493CD10-9699-BB4B-9798-9313286E05BF}" destId="{EE70936C-4E5A-4F49-9FA1-40696B4EAAF7}" srcOrd="2" destOrd="0" presId="urn:microsoft.com/office/officeart/2005/8/layout/orgChart1"/>
    <dgm:cxn modelId="{3967969D-D71F-5649-BBE7-1AD209BF452F}" type="presParOf" srcId="{3A7150D0-D931-F046-A2AA-541D72AAB0AF}" destId="{2B6A2B99-719E-C04C-9B8D-094887828A64}" srcOrd="2" destOrd="0" presId="urn:microsoft.com/office/officeart/2005/8/layout/orgChart1"/>
    <dgm:cxn modelId="{19F1396B-F417-4D45-94CE-FA91D3C2FB02}" type="presParOf" srcId="{4B0DF92B-4D0C-F544-956D-23ABA4E21F8F}" destId="{AF294D60-9B72-9641-80C4-60237BEBC252}" srcOrd="4" destOrd="0" presId="urn:microsoft.com/office/officeart/2005/8/layout/orgChart1"/>
    <dgm:cxn modelId="{111E9D8E-7E54-BA4C-AE8D-2AD61C5E7242}" type="presParOf" srcId="{4B0DF92B-4D0C-F544-956D-23ABA4E21F8F}" destId="{18F9806C-8688-E24D-92A2-25135D2EE0A7}" srcOrd="5" destOrd="0" presId="urn:microsoft.com/office/officeart/2005/8/layout/orgChart1"/>
    <dgm:cxn modelId="{5E9D8175-7CA3-8E4B-9E45-503D91CFC369}" type="presParOf" srcId="{18F9806C-8688-E24D-92A2-25135D2EE0A7}" destId="{E135D09B-66EE-2646-A510-CACA0FC24D49}" srcOrd="0" destOrd="0" presId="urn:microsoft.com/office/officeart/2005/8/layout/orgChart1"/>
    <dgm:cxn modelId="{A32278A9-AACD-E147-A9C3-BCB8E6BB23D1}" type="presParOf" srcId="{E135D09B-66EE-2646-A510-CACA0FC24D49}" destId="{AE62488F-B611-A844-8B8F-FD92D7733871}" srcOrd="0" destOrd="0" presId="urn:microsoft.com/office/officeart/2005/8/layout/orgChart1"/>
    <dgm:cxn modelId="{AEED7180-D6AE-814D-AB3E-9A7F488A69B5}" type="presParOf" srcId="{E135D09B-66EE-2646-A510-CACA0FC24D49}" destId="{D5903FDF-A36C-5A4A-84BD-2642D156709B}" srcOrd="1" destOrd="0" presId="urn:microsoft.com/office/officeart/2005/8/layout/orgChart1"/>
    <dgm:cxn modelId="{63860C37-8A4E-FB4A-BB70-AD5A09FE96DC}" type="presParOf" srcId="{18F9806C-8688-E24D-92A2-25135D2EE0A7}" destId="{890C5310-8245-A946-962C-21B3CD11967F}" srcOrd="1" destOrd="0" presId="urn:microsoft.com/office/officeart/2005/8/layout/orgChart1"/>
    <dgm:cxn modelId="{1829A7C7-0AE6-A847-84AF-2F33D54CD844}" type="presParOf" srcId="{890C5310-8245-A946-962C-21B3CD11967F}" destId="{46F7C25B-8A6B-9A4C-AEA5-79B511634C22}" srcOrd="0" destOrd="0" presId="urn:microsoft.com/office/officeart/2005/8/layout/orgChart1"/>
    <dgm:cxn modelId="{D4C29CD5-3CC7-3D44-9C07-4148FCDCDD5F}" type="presParOf" srcId="{890C5310-8245-A946-962C-21B3CD11967F}" destId="{9ECF6CD8-FC09-8642-A83A-F03AE2EBDBC1}" srcOrd="1" destOrd="0" presId="urn:microsoft.com/office/officeart/2005/8/layout/orgChart1"/>
    <dgm:cxn modelId="{1D7B1180-45BA-1C43-BF4F-E615A4F4236C}" type="presParOf" srcId="{9ECF6CD8-FC09-8642-A83A-F03AE2EBDBC1}" destId="{4EDE2DF0-D923-9048-800B-DC5295E37D55}" srcOrd="0" destOrd="0" presId="urn:microsoft.com/office/officeart/2005/8/layout/orgChart1"/>
    <dgm:cxn modelId="{570B6883-EECB-884D-8030-FF0D3190A52A}" type="presParOf" srcId="{4EDE2DF0-D923-9048-800B-DC5295E37D55}" destId="{087B432B-A73B-7846-8B5A-25403EDAE7DC}" srcOrd="0" destOrd="0" presId="urn:microsoft.com/office/officeart/2005/8/layout/orgChart1"/>
    <dgm:cxn modelId="{6FB336CC-A604-A64A-8B06-B955917D4F54}" type="presParOf" srcId="{4EDE2DF0-D923-9048-800B-DC5295E37D55}" destId="{10FFFC58-7EA2-F746-B467-E0051543092E}" srcOrd="1" destOrd="0" presId="urn:microsoft.com/office/officeart/2005/8/layout/orgChart1"/>
    <dgm:cxn modelId="{A154C793-F8B3-D948-B3FD-07E9BC141E00}" type="presParOf" srcId="{9ECF6CD8-FC09-8642-A83A-F03AE2EBDBC1}" destId="{B2F50107-C8CD-9E49-AA2A-90C7E875A119}" srcOrd="1" destOrd="0" presId="urn:microsoft.com/office/officeart/2005/8/layout/orgChart1"/>
    <dgm:cxn modelId="{C1D09355-6DCA-3444-9E63-71F5F0565506}" type="presParOf" srcId="{B2F50107-C8CD-9E49-AA2A-90C7E875A119}" destId="{2F5B253E-CAC3-7C48-A37C-FD28DF4E1921}" srcOrd="0" destOrd="0" presId="urn:microsoft.com/office/officeart/2005/8/layout/orgChart1"/>
    <dgm:cxn modelId="{302C8472-4DD5-6F40-B0F1-C1EC8E590D34}" type="presParOf" srcId="{B2F50107-C8CD-9E49-AA2A-90C7E875A119}" destId="{8E926447-DD46-BA49-B9AD-F10B0B6323BE}" srcOrd="1" destOrd="0" presId="urn:microsoft.com/office/officeart/2005/8/layout/orgChart1"/>
    <dgm:cxn modelId="{FE223F91-31D7-5046-98E4-25E27221494F}" type="presParOf" srcId="{8E926447-DD46-BA49-B9AD-F10B0B6323BE}" destId="{AD465AE8-421C-5A4A-ACD1-9BE97AF73C9B}" srcOrd="0" destOrd="0" presId="urn:microsoft.com/office/officeart/2005/8/layout/orgChart1"/>
    <dgm:cxn modelId="{B10428AA-E1E1-5144-B4A3-5B61D364C603}" type="presParOf" srcId="{AD465AE8-421C-5A4A-ACD1-9BE97AF73C9B}" destId="{955D6E37-AD6C-734D-A59C-17F7C8CCBF6E}" srcOrd="0" destOrd="0" presId="urn:microsoft.com/office/officeart/2005/8/layout/orgChart1"/>
    <dgm:cxn modelId="{0DC59FE2-D4B7-C742-80F0-7DEDE2AAB759}" type="presParOf" srcId="{AD465AE8-421C-5A4A-ACD1-9BE97AF73C9B}" destId="{D58740E1-516B-CF47-92D9-7387FE462A89}" srcOrd="1" destOrd="0" presId="urn:microsoft.com/office/officeart/2005/8/layout/orgChart1"/>
    <dgm:cxn modelId="{6E74A1BB-7F0C-0544-AFB6-69F29FFB5926}" type="presParOf" srcId="{8E926447-DD46-BA49-B9AD-F10B0B6323BE}" destId="{B23CE2F2-F5E1-AB4B-BCE7-F27260B5CDA1}" srcOrd="1" destOrd="0" presId="urn:microsoft.com/office/officeart/2005/8/layout/orgChart1"/>
    <dgm:cxn modelId="{3D39F164-DBE4-3C4B-B88C-A0A947100821}" type="presParOf" srcId="{B23CE2F2-F5E1-AB4B-BCE7-F27260B5CDA1}" destId="{28950DD6-701B-604E-A21E-09DDFA200060}" srcOrd="0" destOrd="0" presId="urn:microsoft.com/office/officeart/2005/8/layout/orgChart1"/>
    <dgm:cxn modelId="{EB162B01-4D0D-5541-B0B5-58FD0212FCFD}" type="presParOf" srcId="{B23CE2F2-F5E1-AB4B-BCE7-F27260B5CDA1}" destId="{6A1F3F0F-4DAF-7C42-A524-30254598EAA3}" srcOrd="1" destOrd="0" presId="urn:microsoft.com/office/officeart/2005/8/layout/orgChart1"/>
    <dgm:cxn modelId="{F37C6E34-E6BC-BE4F-A55C-BC8E1521D1B6}" type="presParOf" srcId="{6A1F3F0F-4DAF-7C42-A524-30254598EAA3}" destId="{BDFAA52F-E24B-9A46-8230-F29FF867AD8D}" srcOrd="0" destOrd="0" presId="urn:microsoft.com/office/officeart/2005/8/layout/orgChart1"/>
    <dgm:cxn modelId="{AA6B71F7-A952-E143-9881-A2C1A7D09E10}" type="presParOf" srcId="{BDFAA52F-E24B-9A46-8230-F29FF867AD8D}" destId="{A8E99C39-923B-884F-AE10-80995E192317}" srcOrd="0" destOrd="0" presId="urn:microsoft.com/office/officeart/2005/8/layout/orgChart1"/>
    <dgm:cxn modelId="{9C007BF3-35FC-A540-A7A1-11283AFD05C0}" type="presParOf" srcId="{BDFAA52F-E24B-9A46-8230-F29FF867AD8D}" destId="{C4EDFE6C-296D-204F-BB4C-E0383AD6462D}" srcOrd="1" destOrd="0" presId="urn:microsoft.com/office/officeart/2005/8/layout/orgChart1"/>
    <dgm:cxn modelId="{110146BE-9E9E-2F4A-97B8-53C2B3351717}" type="presParOf" srcId="{6A1F3F0F-4DAF-7C42-A524-30254598EAA3}" destId="{48093C1D-4B04-784E-BBA1-E8742EC1B5D2}" srcOrd="1" destOrd="0" presId="urn:microsoft.com/office/officeart/2005/8/layout/orgChart1"/>
    <dgm:cxn modelId="{57BC536C-8A86-5E41-87D4-3E5506B0899A}" type="presParOf" srcId="{48093C1D-4B04-784E-BBA1-E8742EC1B5D2}" destId="{B3BAC4AD-153B-1343-BCE5-6024ABCC6DE8}" srcOrd="0" destOrd="0" presId="urn:microsoft.com/office/officeart/2005/8/layout/orgChart1"/>
    <dgm:cxn modelId="{AA1FF042-2D8A-9642-9A94-50E8A477393D}" type="presParOf" srcId="{48093C1D-4B04-784E-BBA1-E8742EC1B5D2}" destId="{B530C9B4-A504-D840-B24B-BF0B3A956607}" srcOrd="1" destOrd="0" presId="urn:microsoft.com/office/officeart/2005/8/layout/orgChart1"/>
    <dgm:cxn modelId="{7ABF6C71-7849-CB4A-90D3-41FFCC9FDA55}" type="presParOf" srcId="{B530C9B4-A504-D840-B24B-BF0B3A956607}" destId="{EE710273-3FAA-D149-8B8A-D9F0E84BBFD9}" srcOrd="0" destOrd="0" presId="urn:microsoft.com/office/officeart/2005/8/layout/orgChart1"/>
    <dgm:cxn modelId="{9D1AF3E2-63CB-FC4A-88E0-97F67A1B077D}" type="presParOf" srcId="{EE710273-3FAA-D149-8B8A-D9F0E84BBFD9}" destId="{E183F606-1C96-4141-8ACB-48748EBBC1FA}" srcOrd="0" destOrd="0" presId="urn:microsoft.com/office/officeart/2005/8/layout/orgChart1"/>
    <dgm:cxn modelId="{33EAE2FA-823F-334A-A4A4-3DC877D56BAF}" type="presParOf" srcId="{EE710273-3FAA-D149-8B8A-D9F0E84BBFD9}" destId="{B5477C9E-3996-AF45-86DA-0AAA40C2EC22}" srcOrd="1" destOrd="0" presId="urn:microsoft.com/office/officeart/2005/8/layout/orgChart1"/>
    <dgm:cxn modelId="{DB233EAA-567A-6C4A-A313-A84B49190B11}" type="presParOf" srcId="{B530C9B4-A504-D840-B24B-BF0B3A956607}" destId="{594E86C5-878C-F849-A081-87DFB6B04F56}" srcOrd="1" destOrd="0" presId="urn:microsoft.com/office/officeart/2005/8/layout/orgChart1"/>
    <dgm:cxn modelId="{A4CDC2FB-ACF5-8442-BC02-4BFEC042B903}" type="presParOf" srcId="{B530C9B4-A504-D840-B24B-BF0B3A956607}" destId="{057FD28B-4660-5B4C-B994-67C0D305B56D}" srcOrd="2" destOrd="0" presId="urn:microsoft.com/office/officeart/2005/8/layout/orgChart1"/>
    <dgm:cxn modelId="{4E6F6D8D-5306-CB41-A250-75D9BE3C7756}" type="presParOf" srcId="{6A1F3F0F-4DAF-7C42-A524-30254598EAA3}" destId="{C19C0975-458B-C140-9A32-37EEC0E4FD03}" srcOrd="2" destOrd="0" presId="urn:microsoft.com/office/officeart/2005/8/layout/orgChart1"/>
    <dgm:cxn modelId="{CDB67901-5C31-8348-A8DE-56E2B8758D95}" type="presParOf" srcId="{B23CE2F2-F5E1-AB4B-BCE7-F27260B5CDA1}" destId="{AC91ED32-A1FB-DB46-A178-565D051BB5E5}" srcOrd="2" destOrd="0" presId="urn:microsoft.com/office/officeart/2005/8/layout/orgChart1"/>
    <dgm:cxn modelId="{7C8E9BA2-A88C-794C-A799-D4353FA0DD09}" type="presParOf" srcId="{B23CE2F2-F5E1-AB4B-BCE7-F27260B5CDA1}" destId="{F4D0DCD9-B9A6-AB41-A457-3AA646F622A7}" srcOrd="3" destOrd="0" presId="urn:microsoft.com/office/officeart/2005/8/layout/orgChart1"/>
    <dgm:cxn modelId="{37DC703B-D1A1-054A-A4DA-52BAB20388CA}" type="presParOf" srcId="{F4D0DCD9-B9A6-AB41-A457-3AA646F622A7}" destId="{705D8CF2-94BA-2C43-BC32-8E153DEF2CA4}" srcOrd="0" destOrd="0" presId="urn:microsoft.com/office/officeart/2005/8/layout/orgChart1"/>
    <dgm:cxn modelId="{06DA20D9-78ED-1943-8649-EAA6DAF7E110}" type="presParOf" srcId="{705D8CF2-94BA-2C43-BC32-8E153DEF2CA4}" destId="{F30CE27B-3103-BF4D-8809-14F89566BA7A}" srcOrd="0" destOrd="0" presId="urn:microsoft.com/office/officeart/2005/8/layout/orgChart1"/>
    <dgm:cxn modelId="{94B81596-0B2C-5349-A65A-D8FAA72E7175}" type="presParOf" srcId="{705D8CF2-94BA-2C43-BC32-8E153DEF2CA4}" destId="{FE3C1292-2EE9-0D4F-BCCE-255B96D554DE}" srcOrd="1" destOrd="0" presId="urn:microsoft.com/office/officeart/2005/8/layout/orgChart1"/>
    <dgm:cxn modelId="{E143FC85-CCBE-6F4E-9C05-27DD90F1E186}" type="presParOf" srcId="{F4D0DCD9-B9A6-AB41-A457-3AA646F622A7}" destId="{1EBF62AE-4F21-6844-B4BB-460168FEB89F}" srcOrd="1" destOrd="0" presId="urn:microsoft.com/office/officeart/2005/8/layout/orgChart1"/>
    <dgm:cxn modelId="{865B1075-7EC3-964A-BEEB-8D5E81714859}" type="presParOf" srcId="{1EBF62AE-4F21-6844-B4BB-460168FEB89F}" destId="{20FCD94B-15CD-C74F-ABCC-2480E9F96D8C}" srcOrd="0" destOrd="0" presId="urn:microsoft.com/office/officeart/2005/8/layout/orgChart1"/>
    <dgm:cxn modelId="{31FF76F5-073A-1840-BD98-03063C7F45D0}" type="presParOf" srcId="{1EBF62AE-4F21-6844-B4BB-460168FEB89F}" destId="{AD6AA469-CC78-F140-92BD-ADB208BE6909}" srcOrd="1" destOrd="0" presId="urn:microsoft.com/office/officeart/2005/8/layout/orgChart1"/>
    <dgm:cxn modelId="{88911E02-4991-5948-817B-5545A0E6324C}" type="presParOf" srcId="{AD6AA469-CC78-F140-92BD-ADB208BE6909}" destId="{618823E6-FBBD-9243-8A4C-ADAF7576E31E}" srcOrd="0" destOrd="0" presId="urn:microsoft.com/office/officeart/2005/8/layout/orgChart1"/>
    <dgm:cxn modelId="{E8A7DB5F-91EE-924F-A12F-EA7342C33BA3}" type="presParOf" srcId="{618823E6-FBBD-9243-8A4C-ADAF7576E31E}" destId="{3141EBE4-0F85-9949-AE3B-CA73549AF9B6}" srcOrd="0" destOrd="0" presId="urn:microsoft.com/office/officeart/2005/8/layout/orgChart1"/>
    <dgm:cxn modelId="{A19116BC-4092-634B-96AC-B7FFDB614C16}" type="presParOf" srcId="{618823E6-FBBD-9243-8A4C-ADAF7576E31E}" destId="{279CDE4C-F739-8E44-87EA-9D73FB6FAAA6}" srcOrd="1" destOrd="0" presId="urn:microsoft.com/office/officeart/2005/8/layout/orgChart1"/>
    <dgm:cxn modelId="{60F3467F-D4D9-BA48-A645-9F3876AB6BF0}" type="presParOf" srcId="{AD6AA469-CC78-F140-92BD-ADB208BE6909}" destId="{A05150FF-30ED-0A46-A3CC-DF6198AC0ED8}" srcOrd="1" destOrd="0" presId="urn:microsoft.com/office/officeart/2005/8/layout/orgChart1"/>
    <dgm:cxn modelId="{2416DC42-257E-564D-903F-12AE303A0CC2}" type="presParOf" srcId="{AD6AA469-CC78-F140-92BD-ADB208BE6909}" destId="{2AD65E57-998A-8D43-8C8A-239030E4CC30}" srcOrd="2" destOrd="0" presId="urn:microsoft.com/office/officeart/2005/8/layout/orgChart1"/>
    <dgm:cxn modelId="{BA8AD4CF-4DCC-064B-BBBD-A8E8E6FA1974}" type="presParOf" srcId="{F4D0DCD9-B9A6-AB41-A457-3AA646F622A7}" destId="{83711FD2-38D5-4645-815A-7182B2C232C7}" srcOrd="2" destOrd="0" presId="urn:microsoft.com/office/officeart/2005/8/layout/orgChart1"/>
    <dgm:cxn modelId="{7BEA46C5-12CA-7341-A384-D471B1C07822}" type="presParOf" srcId="{B23CE2F2-F5E1-AB4B-BCE7-F27260B5CDA1}" destId="{B0318548-0BA3-884A-BC27-61832F8DCC8D}" srcOrd="4" destOrd="0" presId="urn:microsoft.com/office/officeart/2005/8/layout/orgChart1"/>
    <dgm:cxn modelId="{09BB8A18-9E06-044F-850F-437761402F43}" type="presParOf" srcId="{B23CE2F2-F5E1-AB4B-BCE7-F27260B5CDA1}" destId="{CEFF4E65-222B-6E42-B136-D7A1C831FF39}" srcOrd="5" destOrd="0" presId="urn:microsoft.com/office/officeart/2005/8/layout/orgChart1"/>
    <dgm:cxn modelId="{87C9E1E2-C226-4043-8E08-2C92F71A89F2}" type="presParOf" srcId="{CEFF4E65-222B-6E42-B136-D7A1C831FF39}" destId="{D646B421-3263-AA46-AA44-55074AA13097}" srcOrd="0" destOrd="0" presId="urn:microsoft.com/office/officeart/2005/8/layout/orgChart1"/>
    <dgm:cxn modelId="{E734926C-2A4F-B141-9951-E214AC7142F1}" type="presParOf" srcId="{D646B421-3263-AA46-AA44-55074AA13097}" destId="{E58F5466-ED82-8B46-BAD2-35ED1FAACC6A}" srcOrd="0" destOrd="0" presId="urn:microsoft.com/office/officeart/2005/8/layout/orgChart1"/>
    <dgm:cxn modelId="{56901EEE-F8C0-EC4F-B43B-07042EFCABF1}" type="presParOf" srcId="{D646B421-3263-AA46-AA44-55074AA13097}" destId="{A71BB2FB-9A2C-BF4C-8A5C-068BA32EDB9C}" srcOrd="1" destOrd="0" presId="urn:microsoft.com/office/officeart/2005/8/layout/orgChart1"/>
    <dgm:cxn modelId="{CE0314B9-3AD1-D74B-A8DA-73F985AFC82C}" type="presParOf" srcId="{CEFF4E65-222B-6E42-B136-D7A1C831FF39}" destId="{8663427C-5532-B046-A239-6EBAF671875E}" srcOrd="1" destOrd="0" presId="urn:microsoft.com/office/officeart/2005/8/layout/orgChart1"/>
    <dgm:cxn modelId="{FB9D244B-EC81-5048-BC8F-DE11A3EF0E0F}" type="presParOf" srcId="{8663427C-5532-B046-A239-6EBAF671875E}" destId="{27AFB1F9-1B64-0848-BC8B-8BDD4637556A}" srcOrd="0" destOrd="0" presId="urn:microsoft.com/office/officeart/2005/8/layout/orgChart1"/>
    <dgm:cxn modelId="{48EE5867-6537-034D-8B3C-F7D3B8D836F2}" type="presParOf" srcId="{8663427C-5532-B046-A239-6EBAF671875E}" destId="{694D0BD6-FB70-A242-BD27-374B2AEA0D7D}" srcOrd="1" destOrd="0" presId="urn:microsoft.com/office/officeart/2005/8/layout/orgChart1"/>
    <dgm:cxn modelId="{FC0D578A-F397-BB44-B2AE-EA86BA9D8FE0}" type="presParOf" srcId="{694D0BD6-FB70-A242-BD27-374B2AEA0D7D}" destId="{52BB717A-6B5A-B04C-A22A-1F3A7AAF8109}" srcOrd="0" destOrd="0" presId="urn:microsoft.com/office/officeart/2005/8/layout/orgChart1"/>
    <dgm:cxn modelId="{ED395445-E76E-B644-8265-E286780B39FF}" type="presParOf" srcId="{52BB717A-6B5A-B04C-A22A-1F3A7AAF8109}" destId="{10FD6445-05F3-1740-B3F6-23464BAFFA36}" srcOrd="0" destOrd="0" presId="urn:microsoft.com/office/officeart/2005/8/layout/orgChart1"/>
    <dgm:cxn modelId="{A17F6116-7C78-D846-A8C1-94E730C201A5}" type="presParOf" srcId="{52BB717A-6B5A-B04C-A22A-1F3A7AAF8109}" destId="{0D4172C9-A63E-AC47-B10E-553F52D47448}" srcOrd="1" destOrd="0" presId="urn:microsoft.com/office/officeart/2005/8/layout/orgChart1"/>
    <dgm:cxn modelId="{C6F3D227-2AC2-314C-8A33-763B3D8F4CDF}" type="presParOf" srcId="{694D0BD6-FB70-A242-BD27-374B2AEA0D7D}" destId="{11AA4700-4245-6040-8A9C-503FCFDA9651}" srcOrd="1" destOrd="0" presId="urn:microsoft.com/office/officeart/2005/8/layout/orgChart1"/>
    <dgm:cxn modelId="{1B0A327E-CF26-BC46-94B3-6BE22F466BD9}" type="presParOf" srcId="{694D0BD6-FB70-A242-BD27-374B2AEA0D7D}" destId="{11849661-222B-C244-829C-D3E22E09AFC6}" srcOrd="2" destOrd="0" presId="urn:microsoft.com/office/officeart/2005/8/layout/orgChart1"/>
    <dgm:cxn modelId="{9945DF4D-696B-F748-A788-C7D45E92421D}" type="presParOf" srcId="{CEFF4E65-222B-6E42-B136-D7A1C831FF39}" destId="{D6D66BD3-B101-5443-BC65-7597D4057AB4}" srcOrd="2" destOrd="0" presId="urn:microsoft.com/office/officeart/2005/8/layout/orgChart1"/>
    <dgm:cxn modelId="{1636EE34-276D-9A4B-9656-1FB5FD53F462}" type="presParOf" srcId="{8E926447-DD46-BA49-B9AD-F10B0B6323BE}" destId="{895F966E-A273-DD48-993A-9AA8DD8C029E}" srcOrd="2" destOrd="0" presId="urn:microsoft.com/office/officeart/2005/8/layout/orgChart1"/>
    <dgm:cxn modelId="{61CA2A49-FCE0-1741-AEDB-80C53517C70D}" type="presParOf" srcId="{9ECF6CD8-FC09-8642-A83A-F03AE2EBDBC1}" destId="{3A14CBD8-4AFF-BC44-B8F9-B648C9898142}" srcOrd="2" destOrd="0" presId="urn:microsoft.com/office/officeart/2005/8/layout/orgChart1"/>
    <dgm:cxn modelId="{61ADF048-19EA-744C-AA25-93A7745ADAF5}" type="presParOf" srcId="{18F9806C-8688-E24D-92A2-25135D2EE0A7}" destId="{92778392-B540-AB42-967F-E79FFA8A97F7}" srcOrd="2" destOrd="0" presId="urn:microsoft.com/office/officeart/2005/8/layout/orgChart1"/>
    <dgm:cxn modelId="{8BB84B95-D956-5B4F-95EB-63BC67BDEBCE}" type="presParOf" srcId="{261554AA-493B-614B-9A4C-07302A2D4587}" destId="{83603B0B-CCEB-6C4F-875F-951BF6E3050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67D4B-288C-C941-9948-4D7CB11DC5C5}">
      <dsp:nvSpPr>
        <dsp:cNvPr id="0" name=""/>
        <dsp:cNvSpPr/>
      </dsp:nvSpPr>
      <dsp:spPr>
        <a:xfrm>
          <a:off x="5155" y="2109108"/>
          <a:ext cx="3001123" cy="1200449"/>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US" sz="2600" kern="1200" dirty="0"/>
            <a:t>Multivariate Analysis</a:t>
          </a:r>
        </a:p>
      </dsp:txBody>
      <dsp:txXfrm>
        <a:off x="605380" y="2109108"/>
        <a:ext cx="1800674" cy="1200449"/>
      </dsp:txXfrm>
    </dsp:sp>
    <dsp:sp modelId="{27C5A505-81DC-A445-992D-1BC4566AB6F2}">
      <dsp:nvSpPr>
        <dsp:cNvPr id="0" name=""/>
        <dsp:cNvSpPr/>
      </dsp:nvSpPr>
      <dsp:spPr>
        <a:xfrm>
          <a:off x="2706166" y="2109108"/>
          <a:ext cx="3001123" cy="1200449"/>
        </a:xfrm>
        <a:prstGeom prst="chevron">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US" sz="2600" kern="1200" dirty="0"/>
            <a:t>Neutral Model</a:t>
          </a:r>
        </a:p>
      </dsp:txBody>
      <dsp:txXfrm>
        <a:off x="3306391" y="2109108"/>
        <a:ext cx="1800674" cy="1200449"/>
      </dsp:txXfrm>
    </dsp:sp>
    <dsp:sp modelId="{CF60189A-F0BD-1B41-89D2-307F1DA955E7}">
      <dsp:nvSpPr>
        <dsp:cNvPr id="0" name=""/>
        <dsp:cNvSpPr/>
      </dsp:nvSpPr>
      <dsp:spPr>
        <a:xfrm>
          <a:off x="5407177" y="2109108"/>
          <a:ext cx="3001123" cy="1200449"/>
        </a:xfrm>
        <a:prstGeom prst="chevron">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US" sz="2600" kern="1200" dirty="0"/>
            <a:t>Null Model</a:t>
          </a:r>
        </a:p>
      </dsp:txBody>
      <dsp:txXfrm>
        <a:off x="6007402" y="2109108"/>
        <a:ext cx="1800674" cy="1200449"/>
      </dsp:txXfrm>
    </dsp:sp>
    <dsp:sp modelId="{4C6D95A5-AC6D-914C-B774-93CD0C61E4A3}">
      <dsp:nvSpPr>
        <dsp:cNvPr id="0" name=""/>
        <dsp:cNvSpPr/>
      </dsp:nvSpPr>
      <dsp:spPr>
        <a:xfrm>
          <a:off x="8108188" y="2109108"/>
          <a:ext cx="3001123" cy="1200449"/>
        </a:xfrm>
        <a:prstGeom prst="chevron">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US" sz="2600" kern="1200" dirty="0"/>
            <a:t>Network Analysis</a:t>
          </a:r>
        </a:p>
      </dsp:txBody>
      <dsp:txXfrm>
        <a:off x="8708413" y="2109108"/>
        <a:ext cx="1800674" cy="12004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948603" y="988"/>
          <a:ext cx="9507592" cy="35999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Download sequence data and metadata in command line using SRA toolbox</a:t>
          </a:r>
        </a:p>
      </dsp:txBody>
      <dsp:txXfrm>
        <a:off x="959147" y="11532"/>
        <a:ext cx="9486504" cy="338909"/>
      </dsp:txXfrm>
    </dsp:sp>
    <dsp:sp modelId="{91DA19BA-A0AB-564A-8A9E-322DF18B64CF}">
      <dsp:nvSpPr>
        <dsp:cNvPr id="0" name=""/>
        <dsp:cNvSpPr/>
      </dsp:nvSpPr>
      <dsp:spPr>
        <a:xfrm rot="5400000">
          <a:off x="5575042" y="377966"/>
          <a:ext cx="254714" cy="3056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403437"/>
        <a:ext cx="183395" cy="178300"/>
      </dsp:txXfrm>
    </dsp:sp>
    <dsp:sp modelId="{43D2067A-91F6-8745-98BA-D6A10B24950A}">
      <dsp:nvSpPr>
        <dsp:cNvPr id="0" name=""/>
        <dsp:cNvSpPr/>
      </dsp:nvSpPr>
      <dsp:spPr>
        <a:xfrm>
          <a:off x="948522" y="700605"/>
          <a:ext cx="9507755" cy="3599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Modify/convert files to QIIME2 formats</a:t>
          </a:r>
          <a:endParaRPr lang="en-US" sz="1300" i="1" kern="1200" dirty="0"/>
        </a:p>
      </dsp:txBody>
      <dsp:txXfrm>
        <a:off x="959066" y="711149"/>
        <a:ext cx="9486667" cy="338909"/>
      </dsp:txXfrm>
    </dsp:sp>
    <dsp:sp modelId="{D067C965-9057-9C4A-A1D2-4912C14C50F7}">
      <dsp:nvSpPr>
        <dsp:cNvPr id="0" name=""/>
        <dsp:cNvSpPr/>
      </dsp:nvSpPr>
      <dsp:spPr>
        <a:xfrm rot="5400000">
          <a:off x="5575042" y="1077583"/>
          <a:ext cx="254714" cy="3056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1103054"/>
        <a:ext cx="183395" cy="178300"/>
      </dsp:txXfrm>
    </dsp:sp>
    <dsp:sp modelId="{80C05A4E-2A0A-294C-8DDC-052E97D834DA}">
      <dsp:nvSpPr>
        <dsp:cNvPr id="0" name=""/>
        <dsp:cNvSpPr/>
      </dsp:nvSpPr>
      <dsp:spPr>
        <a:xfrm>
          <a:off x="948522" y="1400222"/>
          <a:ext cx="9507755" cy="35999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Trim primers</a:t>
          </a:r>
        </a:p>
      </dsp:txBody>
      <dsp:txXfrm>
        <a:off x="959066" y="1410766"/>
        <a:ext cx="9486667" cy="338909"/>
      </dsp:txXfrm>
    </dsp:sp>
    <dsp:sp modelId="{B3C2DB7A-EC33-6544-A09D-B1205728770A}">
      <dsp:nvSpPr>
        <dsp:cNvPr id="0" name=""/>
        <dsp:cNvSpPr/>
      </dsp:nvSpPr>
      <dsp:spPr>
        <a:xfrm rot="5400000">
          <a:off x="5575042" y="1777200"/>
          <a:ext cx="254714" cy="3056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1802671"/>
        <a:ext cx="183395" cy="178300"/>
      </dsp:txXfrm>
    </dsp:sp>
    <dsp:sp modelId="{6F6C8E07-FBAD-3F4D-A906-27ECCF26E70E}">
      <dsp:nvSpPr>
        <dsp:cNvPr id="0" name=""/>
        <dsp:cNvSpPr/>
      </dsp:nvSpPr>
      <dsp:spPr>
        <a:xfrm>
          <a:off x="948522" y="2099839"/>
          <a:ext cx="9507755" cy="35999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DADA2: Denoise data</a:t>
          </a:r>
        </a:p>
      </dsp:txBody>
      <dsp:txXfrm>
        <a:off x="959066" y="2110383"/>
        <a:ext cx="9486667" cy="338909"/>
      </dsp:txXfrm>
    </dsp:sp>
    <dsp:sp modelId="{48489AC1-89DA-0F48-B940-23505B5798FF}">
      <dsp:nvSpPr>
        <dsp:cNvPr id="0" name=""/>
        <dsp:cNvSpPr/>
      </dsp:nvSpPr>
      <dsp:spPr>
        <a:xfrm rot="5400000">
          <a:off x="5575042" y="2476818"/>
          <a:ext cx="254714" cy="30565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2502289"/>
        <a:ext cx="183395" cy="178300"/>
      </dsp:txXfrm>
    </dsp:sp>
    <dsp:sp modelId="{BEBB65BD-4B92-BC44-96A8-BAAA586B7BF5}">
      <dsp:nvSpPr>
        <dsp:cNvPr id="0" name=""/>
        <dsp:cNvSpPr/>
      </dsp:nvSpPr>
      <dsp:spPr>
        <a:xfrm>
          <a:off x="948522" y="2799456"/>
          <a:ext cx="9507755" cy="35999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Generate feature table </a:t>
          </a:r>
        </a:p>
      </dsp:txBody>
      <dsp:txXfrm>
        <a:off x="959066" y="2810000"/>
        <a:ext cx="9486667" cy="338909"/>
      </dsp:txXfrm>
    </dsp:sp>
    <dsp:sp modelId="{2839F08F-24F1-614A-A1A4-847F111C0482}">
      <dsp:nvSpPr>
        <dsp:cNvPr id="0" name=""/>
        <dsp:cNvSpPr/>
      </dsp:nvSpPr>
      <dsp:spPr>
        <a:xfrm rot="5400000">
          <a:off x="5575042" y="3176435"/>
          <a:ext cx="254714" cy="30565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3201906"/>
        <a:ext cx="183395" cy="178300"/>
      </dsp:txXfrm>
    </dsp:sp>
    <dsp:sp modelId="{80377AF5-BC76-FB40-840E-12C9D1BDB641}">
      <dsp:nvSpPr>
        <dsp:cNvPr id="0" name=""/>
        <dsp:cNvSpPr/>
      </dsp:nvSpPr>
      <dsp:spPr>
        <a:xfrm>
          <a:off x="948522" y="3499074"/>
          <a:ext cx="9507755" cy="35999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Use SILVA classifier to classify representative sequences</a:t>
          </a:r>
        </a:p>
      </dsp:txBody>
      <dsp:txXfrm>
        <a:off x="959066" y="3509618"/>
        <a:ext cx="9486667" cy="338909"/>
      </dsp:txXfrm>
    </dsp:sp>
    <dsp:sp modelId="{C9A34051-A77A-F049-83DF-B23743A74457}">
      <dsp:nvSpPr>
        <dsp:cNvPr id="0" name=""/>
        <dsp:cNvSpPr/>
      </dsp:nvSpPr>
      <dsp:spPr>
        <a:xfrm rot="5400000">
          <a:off x="5575042" y="3876052"/>
          <a:ext cx="254714" cy="3056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3901523"/>
        <a:ext cx="183395" cy="178300"/>
      </dsp:txXfrm>
    </dsp:sp>
    <dsp:sp modelId="{77F0190E-9B2D-0449-9A36-A264480F521F}">
      <dsp:nvSpPr>
        <dsp:cNvPr id="0" name=""/>
        <dsp:cNvSpPr/>
      </dsp:nvSpPr>
      <dsp:spPr>
        <a:xfrm>
          <a:off x="948522" y="4198691"/>
          <a:ext cx="9507755" cy="3599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Make multiple sequence alignment with MAFFT, construct phylogenetic tree and root.</a:t>
          </a:r>
        </a:p>
      </dsp:txBody>
      <dsp:txXfrm>
        <a:off x="959066" y="4209235"/>
        <a:ext cx="9486667" cy="338909"/>
      </dsp:txXfrm>
    </dsp:sp>
    <dsp:sp modelId="{26A17077-D919-4B4F-8DCF-A621A4F50A35}">
      <dsp:nvSpPr>
        <dsp:cNvPr id="0" name=""/>
        <dsp:cNvSpPr/>
      </dsp:nvSpPr>
      <dsp:spPr>
        <a:xfrm rot="5400000">
          <a:off x="5575042" y="4575669"/>
          <a:ext cx="254714" cy="3056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610702" y="4601140"/>
        <a:ext cx="183395" cy="178300"/>
      </dsp:txXfrm>
    </dsp:sp>
    <dsp:sp modelId="{218DEA2E-8D5B-8741-B88A-2B31902D6D39}">
      <dsp:nvSpPr>
        <dsp:cNvPr id="0" name=""/>
        <dsp:cNvSpPr/>
      </dsp:nvSpPr>
      <dsp:spPr>
        <a:xfrm>
          <a:off x="948522" y="4898308"/>
          <a:ext cx="9507755" cy="35999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QIIME2: Export feature table, ASV count table, representative sequences, taxonomy table and rooted phylogenetic tree.</a:t>
          </a:r>
        </a:p>
      </dsp:txBody>
      <dsp:txXfrm>
        <a:off x="959066" y="4908852"/>
        <a:ext cx="9486667" cy="338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413538" y="1861"/>
          <a:ext cx="10576028" cy="41511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Load in data from QIIME2 step</a:t>
          </a:r>
        </a:p>
      </dsp:txBody>
      <dsp:txXfrm>
        <a:off x="425696" y="14019"/>
        <a:ext cx="10551712" cy="390803"/>
      </dsp:txXfrm>
    </dsp:sp>
    <dsp:sp modelId="{91DA19BA-A0AB-564A-8A9E-322DF18B64CF}">
      <dsp:nvSpPr>
        <dsp:cNvPr id="0" name=""/>
        <dsp:cNvSpPr/>
      </dsp:nvSpPr>
      <dsp:spPr>
        <a:xfrm rot="5400000">
          <a:off x="5554694" y="436562"/>
          <a:ext cx="293716" cy="3524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465934"/>
        <a:ext cx="211476" cy="205601"/>
      </dsp:txXfrm>
    </dsp:sp>
    <dsp:sp modelId="{43D2067A-91F6-8745-98BA-D6A10B24950A}">
      <dsp:nvSpPr>
        <dsp:cNvPr id="0" name=""/>
        <dsp:cNvSpPr/>
      </dsp:nvSpPr>
      <dsp:spPr>
        <a:xfrm>
          <a:off x="413538" y="808603"/>
          <a:ext cx="10576028" cy="41511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Wrangle metadata</a:t>
          </a:r>
          <a:endParaRPr lang="en-US" sz="1700" i="1" kern="1200" dirty="0"/>
        </a:p>
      </dsp:txBody>
      <dsp:txXfrm>
        <a:off x="425696" y="820761"/>
        <a:ext cx="10551712" cy="390803"/>
      </dsp:txXfrm>
    </dsp:sp>
    <dsp:sp modelId="{D067C965-9057-9C4A-A1D2-4912C14C50F7}">
      <dsp:nvSpPr>
        <dsp:cNvPr id="0" name=""/>
        <dsp:cNvSpPr/>
      </dsp:nvSpPr>
      <dsp:spPr>
        <a:xfrm rot="5400000">
          <a:off x="5554694" y="1243304"/>
          <a:ext cx="293716" cy="35246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1272676"/>
        <a:ext cx="211476" cy="205601"/>
      </dsp:txXfrm>
    </dsp:sp>
    <dsp:sp modelId="{80C05A4E-2A0A-294C-8DDC-052E97D834DA}">
      <dsp:nvSpPr>
        <dsp:cNvPr id="0" name=""/>
        <dsp:cNvSpPr/>
      </dsp:nvSpPr>
      <dsp:spPr>
        <a:xfrm>
          <a:off x="413538" y="1615345"/>
          <a:ext cx="10576028" cy="41511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Identify and remove contaminant ASVs</a:t>
          </a:r>
        </a:p>
      </dsp:txBody>
      <dsp:txXfrm>
        <a:off x="425696" y="1627503"/>
        <a:ext cx="10551712" cy="390803"/>
      </dsp:txXfrm>
    </dsp:sp>
    <dsp:sp modelId="{B3C2DB7A-EC33-6544-A09D-B1205728770A}">
      <dsp:nvSpPr>
        <dsp:cNvPr id="0" name=""/>
        <dsp:cNvSpPr/>
      </dsp:nvSpPr>
      <dsp:spPr>
        <a:xfrm rot="5400000">
          <a:off x="5554694" y="2050046"/>
          <a:ext cx="293716" cy="352460"/>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2079418"/>
        <a:ext cx="211476" cy="205601"/>
      </dsp:txXfrm>
    </dsp:sp>
    <dsp:sp modelId="{6F6C8E07-FBAD-3F4D-A906-27ECCF26E70E}">
      <dsp:nvSpPr>
        <dsp:cNvPr id="0" name=""/>
        <dsp:cNvSpPr/>
      </dsp:nvSpPr>
      <dsp:spPr>
        <a:xfrm>
          <a:off x="413538" y="2422087"/>
          <a:ext cx="10576028" cy="41511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Remove singletons</a:t>
          </a:r>
        </a:p>
      </dsp:txBody>
      <dsp:txXfrm>
        <a:off x="425696" y="2434245"/>
        <a:ext cx="10551712" cy="390803"/>
      </dsp:txXfrm>
    </dsp:sp>
    <dsp:sp modelId="{48489AC1-89DA-0F48-B940-23505B5798FF}">
      <dsp:nvSpPr>
        <dsp:cNvPr id="0" name=""/>
        <dsp:cNvSpPr/>
      </dsp:nvSpPr>
      <dsp:spPr>
        <a:xfrm rot="5400000">
          <a:off x="5554694" y="2856787"/>
          <a:ext cx="293716" cy="35246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2886159"/>
        <a:ext cx="211476" cy="205601"/>
      </dsp:txXfrm>
    </dsp:sp>
    <dsp:sp modelId="{BEBB65BD-4B92-BC44-96A8-BAAA586B7BF5}">
      <dsp:nvSpPr>
        <dsp:cNvPr id="0" name=""/>
        <dsp:cNvSpPr/>
      </dsp:nvSpPr>
      <dsp:spPr>
        <a:xfrm>
          <a:off x="413538" y="3228829"/>
          <a:ext cx="10576028" cy="41511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Remove ambiguous annotations and low abundance phyla</a:t>
          </a:r>
        </a:p>
      </dsp:txBody>
      <dsp:txXfrm>
        <a:off x="425696" y="3240987"/>
        <a:ext cx="10551712" cy="390803"/>
      </dsp:txXfrm>
    </dsp:sp>
    <dsp:sp modelId="{2839F08F-24F1-614A-A1A4-847F111C0482}">
      <dsp:nvSpPr>
        <dsp:cNvPr id="0" name=""/>
        <dsp:cNvSpPr/>
      </dsp:nvSpPr>
      <dsp:spPr>
        <a:xfrm rot="5400000">
          <a:off x="5554694" y="3663529"/>
          <a:ext cx="293716" cy="352460"/>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3692901"/>
        <a:ext cx="211476" cy="205601"/>
      </dsp:txXfrm>
    </dsp:sp>
    <dsp:sp modelId="{80377AF5-BC76-FB40-840E-12C9D1BDB641}">
      <dsp:nvSpPr>
        <dsp:cNvPr id="0" name=""/>
        <dsp:cNvSpPr/>
      </dsp:nvSpPr>
      <dsp:spPr>
        <a:xfrm>
          <a:off x="413538" y="4035570"/>
          <a:ext cx="10576028" cy="41511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Re-root phylogenetic tree</a:t>
          </a:r>
        </a:p>
      </dsp:txBody>
      <dsp:txXfrm>
        <a:off x="425696" y="4047728"/>
        <a:ext cx="10551712" cy="390803"/>
      </dsp:txXfrm>
    </dsp:sp>
    <dsp:sp modelId="{C9A34051-A77A-F049-83DF-B23743A74457}">
      <dsp:nvSpPr>
        <dsp:cNvPr id="0" name=""/>
        <dsp:cNvSpPr/>
      </dsp:nvSpPr>
      <dsp:spPr>
        <a:xfrm rot="5400000">
          <a:off x="5554694" y="4470271"/>
          <a:ext cx="293716" cy="3524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95815" y="4499643"/>
        <a:ext cx="211476" cy="205601"/>
      </dsp:txXfrm>
    </dsp:sp>
    <dsp:sp modelId="{77F0190E-9B2D-0449-9A36-A264480F521F}">
      <dsp:nvSpPr>
        <dsp:cNvPr id="0" name=""/>
        <dsp:cNvSpPr/>
      </dsp:nvSpPr>
      <dsp:spPr>
        <a:xfrm>
          <a:off x="413538" y="4842312"/>
          <a:ext cx="10576028" cy="41511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Construct </a:t>
          </a:r>
          <a:r>
            <a:rPr lang="en-US" sz="1700" kern="1200" dirty="0" err="1"/>
            <a:t>phyloseq</a:t>
          </a:r>
          <a:r>
            <a:rPr lang="en-US" sz="1700" kern="1200" dirty="0"/>
            <a:t> object and export </a:t>
          </a:r>
        </a:p>
      </dsp:txBody>
      <dsp:txXfrm>
        <a:off x="425696" y="4854470"/>
        <a:ext cx="10551712" cy="3908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100015" y="661"/>
          <a:ext cx="8258168" cy="77390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Extract ASV table from </a:t>
          </a:r>
          <a:r>
            <a:rPr lang="en-US" sz="1600" kern="1200" dirty="0" err="1"/>
            <a:t>phyloseq</a:t>
          </a:r>
          <a:r>
            <a:rPr lang="en-US" sz="1600" kern="1200" dirty="0"/>
            <a:t> object</a:t>
          </a:r>
        </a:p>
      </dsp:txBody>
      <dsp:txXfrm>
        <a:off x="122682" y="23328"/>
        <a:ext cx="8212834" cy="728572"/>
      </dsp:txXfrm>
    </dsp:sp>
    <dsp:sp modelId="{91DA19BA-A0AB-564A-8A9E-322DF18B64CF}">
      <dsp:nvSpPr>
        <dsp:cNvPr id="0" name=""/>
        <dsp:cNvSpPr/>
      </dsp:nvSpPr>
      <dsp:spPr>
        <a:xfrm rot="5400000">
          <a:off x="4083992" y="793915"/>
          <a:ext cx="290214" cy="3482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822936"/>
        <a:ext cx="208955" cy="203150"/>
      </dsp:txXfrm>
    </dsp:sp>
    <dsp:sp modelId="{43D2067A-91F6-8745-98BA-D6A10B24950A}">
      <dsp:nvSpPr>
        <dsp:cNvPr id="0" name=""/>
        <dsp:cNvSpPr/>
      </dsp:nvSpPr>
      <dsp:spPr>
        <a:xfrm>
          <a:off x="128588" y="1161520"/>
          <a:ext cx="8201023" cy="77390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Calculate the size of the metacommunity (</a:t>
          </a:r>
          <a:r>
            <a:rPr lang="en-US" sz="1600" i="1" kern="1200" dirty="0"/>
            <a:t>N</a:t>
          </a:r>
          <a:r>
            <a:rPr lang="en-US" sz="1600" kern="1200" dirty="0"/>
            <a:t>) by finding the mean number of reads per sample. We also find the limit of detection (</a:t>
          </a:r>
          <a:r>
            <a:rPr lang="en-US" sz="1600" i="1" kern="1200" dirty="0"/>
            <a:t>d</a:t>
          </a:r>
          <a:r>
            <a:rPr lang="en-US" sz="1600" kern="1200" dirty="0"/>
            <a:t>) = </a:t>
          </a:r>
          <a:r>
            <a:rPr lang="en-US" sz="1600" i="1" kern="1200" dirty="0"/>
            <a:t>1/N</a:t>
          </a:r>
        </a:p>
      </dsp:txBody>
      <dsp:txXfrm>
        <a:off x="151255" y="1184187"/>
        <a:ext cx="8155689" cy="728572"/>
      </dsp:txXfrm>
    </dsp:sp>
    <dsp:sp modelId="{D067C965-9057-9C4A-A1D2-4912C14C50F7}">
      <dsp:nvSpPr>
        <dsp:cNvPr id="0" name=""/>
        <dsp:cNvSpPr/>
      </dsp:nvSpPr>
      <dsp:spPr>
        <a:xfrm rot="5400000">
          <a:off x="4083992" y="1954774"/>
          <a:ext cx="290214" cy="3482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1983795"/>
        <a:ext cx="208955" cy="203150"/>
      </dsp:txXfrm>
    </dsp:sp>
    <dsp:sp modelId="{80C05A4E-2A0A-294C-8DDC-052E97D834DA}">
      <dsp:nvSpPr>
        <dsp:cNvPr id="0" name=""/>
        <dsp:cNvSpPr/>
      </dsp:nvSpPr>
      <dsp:spPr>
        <a:xfrm>
          <a:off x="157161" y="2322380"/>
          <a:ext cx="8143877" cy="77390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Calculate the mean observed relative abundance and occurrence frequency of each ASV</a:t>
          </a:r>
        </a:p>
      </dsp:txBody>
      <dsp:txXfrm>
        <a:off x="179828" y="2345047"/>
        <a:ext cx="8098543" cy="728572"/>
      </dsp:txXfrm>
    </dsp:sp>
    <dsp:sp modelId="{B3C2DB7A-EC33-6544-A09D-B1205728770A}">
      <dsp:nvSpPr>
        <dsp:cNvPr id="0" name=""/>
        <dsp:cNvSpPr/>
      </dsp:nvSpPr>
      <dsp:spPr>
        <a:xfrm rot="5400000">
          <a:off x="4083992" y="3115634"/>
          <a:ext cx="290214" cy="3482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3144655"/>
        <a:ext cx="208955" cy="203150"/>
      </dsp:txXfrm>
    </dsp:sp>
    <dsp:sp modelId="{6F6C8E07-FBAD-3F4D-A906-27ECCF26E70E}">
      <dsp:nvSpPr>
        <dsp:cNvPr id="0" name=""/>
        <dsp:cNvSpPr/>
      </dsp:nvSpPr>
      <dsp:spPr>
        <a:xfrm>
          <a:off x="171447" y="3483239"/>
          <a:ext cx="8115305" cy="7739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Using non-linear least squares fitting we fit the neutral model to our data to find, finding the probability of dispersal (</a:t>
          </a:r>
          <a:r>
            <a:rPr lang="en-US" sz="1600" i="1" kern="1200" dirty="0"/>
            <a:t>m</a:t>
          </a:r>
          <a:r>
            <a:rPr lang="en-US" sz="1600" kern="1200" dirty="0"/>
            <a:t>)</a:t>
          </a:r>
        </a:p>
      </dsp:txBody>
      <dsp:txXfrm>
        <a:off x="194114" y="3505906"/>
        <a:ext cx="8069971" cy="728572"/>
      </dsp:txXfrm>
    </dsp:sp>
    <dsp:sp modelId="{48489AC1-89DA-0F48-B940-23505B5798FF}">
      <dsp:nvSpPr>
        <dsp:cNvPr id="0" name=""/>
        <dsp:cNvSpPr/>
      </dsp:nvSpPr>
      <dsp:spPr>
        <a:xfrm rot="5400000">
          <a:off x="4083992" y="4276493"/>
          <a:ext cx="290214" cy="34825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4305514"/>
        <a:ext cx="208955" cy="203150"/>
      </dsp:txXfrm>
    </dsp:sp>
    <dsp:sp modelId="{80377AF5-BC76-FB40-840E-12C9D1BDB641}">
      <dsp:nvSpPr>
        <dsp:cNvPr id="0" name=""/>
        <dsp:cNvSpPr/>
      </dsp:nvSpPr>
      <dsp:spPr>
        <a:xfrm>
          <a:off x="157161" y="4644099"/>
          <a:ext cx="8143877" cy="77390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Using the estimated value of </a:t>
          </a:r>
          <a:r>
            <a:rPr lang="en-US" sz="1600" i="1" kern="1200" dirty="0"/>
            <a:t>m</a:t>
          </a:r>
          <a:r>
            <a:rPr lang="en-US" sz="1600" kern="1200" dirty="0"/>
            <a:t> we calculate predicted occurrence frequencies and plot predictions from the neutral model against observed frequencies</a:t>
          </a:r>
        </a:p>
      </dsp:txBody>
      <dsp:txXfrm>
        <a:off x="179828" y="4666766"/>
        <a:ext cx="8098543" cy="7285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0" y="2127"/>
          <a:ext cx="7248525" cy="79124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Find phylogenetic distances between ASVs</a:t>
          </a:r>
        </a:p>
      </dsp:txBody>
      <dsp:txXfrm>
        <a:off x="23175" y="25302"/>
        <a:ext cx="7202175" cy="744894"/>
      </dsp:txXfrm>
    </dsp:sp>
    <dsp:sp modelId="{91DA19BA-A0AB-564A-8A9E-322DF18B64CF}">
      <dsp:nvSpPr>
        <dsp:cNvPr id="0" name=""/>
        <dsp:cNvSpPr/>
      </dsp:nvSpPr>
      <dsp:spPr>
        <a:xfrm rot="5327369">
          <a:off x="3488410" y="813153"/>
          <a:ext cx="296783" cy="356060"/>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529043" y="842801"/>
        <a:ext cx="213636" cy="207748"/>
      </dsp:txXfrm>
    </dsp:sp>
    <dsp:sp modelId="{43D2067A-91F6-8745-98BA-D6A10B24950A}">
      <dsp:nvSpPr>
        <dsp:cNvPr id="0" name=""/>
        <dsp:cNvSpPr/>
      </dsp:nvSpPr>
      <dsp:spPr>
        <a:xfrm>
          <a:off x="50158" y="1188994"/>
          <a:ext cx="7198366" cy="79124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Find the weighted mean environmental parameters for each ASV = niche preferences </a:t>
          </a:r>
          <a:endParaRPr lang="en-US" sz="1600" i="1" kern="1200" dirty="0"/>
        </a:p>
      </dsp:txBody>
      <dsp:txXfrm>
        <a:off x="73333" y="1212169"/>
        <a:ext cx="7152016" cy="744894"/>
      </dsp:txXfrm>
    </dsp:sp>
    <dsp:sp modelId="{D067C965-9057-9C4A-A1D2-4912C14C50F7}">
      <dsp:nvSpPr>
        <dsp:cNvPr id="0" name=""/>
        <dsp:cNvSpPr/>
      </dsp:nvSpPr>
      <dsp:spPr>
        <a:xfrm rot="5472631">
          <a:off x="3488410" y="2000020"/>
          <a:ext cx="296783" cy="35606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530924" y="2029668"/>
        <a:ext cx="213636" cy="207748"/>
      </dsp:txXfrm>
    </dsp:sp>
    <dsp:sp modelId="{80C05A4E-2A0A-294C-8DDC-052E97D834DA}">
      <dsp:nvSpPr>
        <dsp:cNvPr id="0" name=""/>
        <dsp:cNvSpPr/>
      </dsp:nvSpPr>
      <dsp:spPr>
        <a:xfrm>
          <a:off x="50158" y="2375861"/>
          <a:ext cx="7148207" cy="79124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Calculate mantel correlograms for each environmental parameter </a:t>
          </a:r>
        </a:p>
      </dsp:txBody>
      <dsp:txXfrm>
        <a:off x="73333" y="2399036"/>
        <a:ext cx="7101857" cy="744894"/>
      </dsp:txXfrm>
    </dsp:sp>
    <dsp:sp modelId="{B3C2DB7A-EC33-6544-A09D-B1205728770A}">
      <dsp:nvSpPr>
        <dsp:cNvPr id="0" name=""/>
        <dsp:cNvSpPr/>
      </dsp:nvSpPr>
      <dsp:spPr>
        <a:xfrm rot="5400000">
          <a:off x="3475904" y="3186887"/>
          <a:ext cx="296716" cy="356060"/>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3517445" y="3216559"/>
        <a:ext cx="213636" cy="207701"/>
      </dsp:txXfrm>
    </dsp:sp>
    <dsp:sp modelId="{6F6C8E07-FBAD-3F4D-A906-27ECCF26E70E}">
      <dsp:nvSpPr>
        <dsp:cNvPr id="0" name=""/>
        <dsp:cNvSpPr/>
      </dsp:nvSpPr>
      <dsp:spPr>
        <a:xfrm>
          <a:off x="62698" y="3562729"/>
          <a:ext cx="7123128" cy="79124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Plot results of the mantel correlograms against phylogenetic distance classes for each environmental parameter to check for significant relationships</a:t>
          </a:r>
        </a:p>
      </dsp:txBody>
      <dsp:txXfrm>
        <a:off x="85873" y="3585904"/>
        <a:ext cx="7076778" cy="7448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AFB1F9-1B64-0848-BC8B-8BDD4637556A}">
      <dsp:nvSpPr>
        <dsp:cNvPr id="0" name=""/>
        <dsp:cNvSpPr/>
      </dsp:nvSpPr>
      <dsp:spPr>
        <a:xfrm>
          <a:off x="5678537" y="3812364"/>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318548-0BA3-884A-BC27-61832F8DCC8D}">
      <dsp:nvSpPr>
        <dsp:cNvPr id="0" name=""/>
        <dsp:cNvSpPr/>
      </dsp:nvSpPr>
      <dsp:spPr>
        <a:xfrm>
          <a:off x="4754314" y="3002243"/>
          <a:ext cx="1380628" cy="239613"/>
        </a:xfrm>
        <a:custGeom>
          <a:avLst/>
          <a:gdLst/>
          <a:ahLst/>
          <a:cxnLst/>
          <a:rect l="0" t="0" r="0" b="0"/>
          <a:pathLst>
            <a:path>
              <a:moveTo>
                <a:pt x="0" y="0"/>
              </a:moveTo>
              <a:lnTo>
                <a:pt x="0" y="119806"/>
              </a:lnTo>
              <a:lnTo>
                <a:pt x="1380628" y="119806"/>
              </a:lnTo>
              <a:lnTo>
                <a:pt x="1380628"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FCD94B-15CD-C74F-ABCC-2480E9F96D8C}">
      <dsp:nvSpPr>
        <dsp:cNvPr id="0" name=""/>
        <dsp:cNvSpPr/>
      </dsp:nvSpPr>
      <dsp:spPr>
        <a:xfrm>
          <a:off x="4297908" y="3812364"/>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91ED32-A1FB-DB46-A178-565D051BB5E5}">
      <dsp:nvSpPr>
        <dsp:cNvPr id="0" name=""/>
        <dsp:cNvSpPr/>
      </dsp:nvSpPr>
      <dsp:spPr>
        <a:xfrm>
          <a:off x="4708594" y="3002243"/>
          <a:ext cx="91440" cy="239613"/>
        </a:xfrm>
        <a:custGeom>
          <a:avLst/>
          <a:gdLst/>
          <a:ahLst/>
          <a:cxnLst/>
          <a:rect l="0" t="0" r="0" b="0"/>
          <a:pathLst>
            <a:path>
              <a:moveTo>
                <a:pt x="45720" y="0"/>
              </a:moveTo>
              <a:lnTo>
                <a:pt x="4572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BAC4AD-153B-1343-BCE5-6024ABCC6DE8}">
      <dsp:nvSpPr>
        <dsp:cNvPr id="0" name=""/>
        <dsp:cNvSpPr/>
      </dsp:nvSpPr>
      <dsp:spPr>
        <a:xfrm>
          <a:off x="2917279" y="3812364"/>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950DD6-701B-604E-A21E-09DDFA200060}">
      <dsp:nvSpPr>
        <dsp:cNvPr id="0" name=""/>
        <dsp:cNvSpPr/>
      </dsp:nvSpPr>
      <dsp:spPr>
        <a:xfrm>
          <a:off x="3373685" y="3002243"/>
          <a:ext cx="1380628" cy="239613"/>
        </a:xfrm>
        <a:custGeom>
          <a:avLst/>
          <a:gdLst/>
          <a:ahLst/>
          <a:cxnLst/>
          <a:rect l="0" t="0" r="0" b="0"/>
          <a:pathLst>
            <a:path>
              <a:moveTo>
                <a:pt x="1380628" y="0"/>
              </a:moveTo>
              <a:lnTo>
                <a:pt x="1380628" y="119806"/>
              </a:lnTo>
              <a:lnTo>
                <a:pt x="0" y="119806"/>
              </a:lnTo>
              <a:lnTo>
                <a:pt x="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5B253E-CAC3-7C48-A37C-FD28DF4E1921}">
      <dsp:nvSpPr>
        <dsp:cNvPr id="0" name=""/>
        <dsp:cNvSpPr/>
      </dsp:nvSpPr>
      <dsp:spPr>
        <a:xfrm>
          <a:off x="4708594" y="2192122"/>
          <a:ext cx="91440" cy="239613"/>
        </a:xfrm>
        <a:custGeom>
          <a:avLst/>
          <a:gdLst/>
          <a:ahLst/>
          <a:cxnLst/>
          <a:rect l="0" t="0" r="0" b="0"/>
          <a:pathLst>
            <a:path>
              <a:moveTo>
                <a:pt x="45720" y="0"/>
              </a:moveTo>
              <a:lnTo>
                <a:pt x="4572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F7C25B-8A6B-9A4C-AEA5-79B511634C22}">
      <dsp:nvSpPr>
        <dsp:cNvPr id="0" name=""/>
        <dsp:cNvSpPr/>
      </dsp:nvSpPr>
      <dsp:spPr>
        <a:xfrm>
          <a:off x="4708594" y="1382001"/>
          <a:ext cx="91440" cy="239613"/>
        </a:xfrm>
        <a:custGeom>
          <a:avLst/>
          <a:gdLst/>
          <a:ahLst/>
          <a:cxnLst/>
          <a:rect l="0" t="0" r="0" b="0"/>
          <a:pathLst>
            <a:path>
              <a:moveTo>
                <a:pt x="45720" y="0"/>
              </a:moveTo>
              <a:lnTo>
                <a:pt x="45720" y="239613"/>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294D60-9B72-9641-80C4-60237BEBC252}">
      <dsp:nvSpPr>
        <dsp:cNvPr id="0" name=""/>
        <dsp:cNvSpPr/>
      </dsp:nvSpPr>
      <dsp:spPr>
        <a:xfrm>
          <a:off x="3231058" y="571880"/>
          <a:ext cx="1523255" cy="239613"/>
        </a:xfrm>
        <a:custGeom>
          <a:avLst/>
          <a:gdLst/>
          <a:ahLst/>
          <a:cxnLst/>
          <a:rect l="0" t="0" r="0" b="0"/>
          <a:pathLst>
            <a:path>
              <a:moveTo>
                <a:pt x="0" y="0"/>
              </a:moveTo>
              <a:lnTo>
                <a:pt x="0" y="119806"/>
              </a:lnTo>
              <a:lnTo>
                <a:pt x="1523255" y="119806"/>
              </a:lnTo>
              <a:lnTo>
                <a:pt x="1523255" y="23961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6987EC-151A-764D-9F5F-DAD13DFA210F}">
      <dsp:nvSpPr>
        <dsp:cNvPr id="0" name=""/>
        <dsp:cNvSpPr/>
      </dsp:nvSpPr>
      <dsp:spPr>
        <a:xfrm>
          <a:off x="2632025" y="1382001"/>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5BD677-2E0D-8648-9D43-610DB8DB5B68}">
      <dsp:nvSpPr>
        <dsp:cNvPr id="0" name=""/>
        <dsp:cNvSpPr/>
      </dsp:nvSpPr>
      <dsp:spPr>
        <a:xfrm>
          <a:off x="3088431" y="571880"/>
          <a:ext cx="142626" cy="239613"/>
        </a:xfrm>
        <a:custGeom>
          <a:avLst/>
          <a:gdLst/>
          <a:ahLst/>
          <a:cxnLst/>
          <a:rect l="0" t="0" r="0" b="0"/>
          <a:pathLst>
            <a:path>
              <a:moveTo>
                <a:pt x="142626" y="0"/>
              </a:moveTo>
              <a:lnTo>
                <a:pt x="142626" y="119806"/>
              </a:lnTo>
              <a:lnTo>
                <a:pt x="0" y="119806"/>
              </a:lnTo>
              <a:lnTo>
                <a:pt x="0" y="23961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7FEB45-0B57-E047-A4DC-4F93C6AAAF17}">
      <dsp:nvSpPr>
        <dsp:cNvPr id="0" name=""/>
        <dsp:cNvSpPr/>
      </dsp:nvSpPr>
      <dsp:spPr>
        <a:xfrm>
          <a:off x="1251396" y="1382001"/>
          <a:ext cx="171152" cy="524867"/>
        </a:xfrm>
        <a:custGeom>
          <a:avLst/>
          <a:gdLst/>
          <a:ahLst/>
          <a:cxnLst/>
          <a:rect l="0" t="0" r="0" b="0"/>
          <a:pathLst>
            <a:path>
              <a:moveTo>
                <a:pt x="0" y="0"/>
              </a:moveTo>
              <a:lnTo>
                <a:pt x="0" y="524867"/>
              </a:lnTo>
              <a:lnTo>
                <a:pt x="171152" y="524867"/>
              </a:lnTo>
            </a:path>
          </a:pathLst>
        </a:custGeom>
        <a:no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E42A8B-2C64-9B45-84EC-0C2265CC9A45}">
      <dsp:nvSpPr>
        <dsp:cNvPr id="0" name=""/>
        <dsp:cNvSpPr/>
      </dsp:nvSpPr>
      <dsp:spPr>
        <a:xfrm>
          <a:off x="1707802" y="571880"/>
          <a:ext cx="1523255" cy="239613"/>
        </a:xfrm>
        <a:custGeom>
          <a:avLst/>
          <a:gdLst/>
          <a:ahLst/>
          <a:cxnLst/>
          <a:rect l="0" t="0" r="0" b="0"/>
          <a:pathLst>
            <a:path>
              <a:moveTo>
                <a:pt x="1523255" y="0"/>
              </a:moveTo>
              <a:lnTo>
                <a:pt x="1523255" y="119806"/>
              </a:lnTo>
              <a:lnTo>
                <a:pt x="0" y="119806"/>
              </a:lnTo>
              <a:lnTo>
                <a:pt x="0" y="23961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CC36B6-BA4D-A641-B415-0E1EE07590C6}">
      <dsp:nvSpPr>
        <dsp:cNvPr id="0" name=""/>
        <dsp:cNvSpPr/>
      </dsp:nvSpPr>
      <dsp:spPr>
        <a:xfrm>
          <a:off x="2660550" y="1372"/>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βNTI</a:t>
          </a:r>
        </a:p>
      </dsp:txBody>
      <dsp:txXfrm>
        <a:off x="2660550" y="1372"/>
        <a:ext cx="1141015" cy="570507"/>
      </dsp:txXfrm>
    </dsp:sp>
    <dsp:sp modelId="{4A63361A-8AFA-2F4C-90B5-FAD7E6F7A3DD}">
      <dsp:nvSpPr>
        <dsp:cNvPr id="0" name=""/>
        <dsp:cNvSpPr/>
      </dsp:nvSpPr>
      <dsp:spPr>
        <a:xfrm>
          <a:off x="1137294" y="811493"/>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&lt; -2</a:t>
          </a:r>
        </a:p>
      </dsp:txBody>
      <dsp:txXfrm>
        <a:off x="1137294" y="811493"/>
        <a:ext cx="1141015" cy="570507"/>
      </dsp:txXfrm>
    </dsp:sp>
    <dsp:sp modelId="{1926695E-91AE-0542-B3EC-E69772DC1DC7}">
      <dsp:nvSpPr>
        <dsp:cNvPr id="0" name=""/>
        <dsp:cNvSpPr/>
      </dsp:nvSpPr>
      <dsp:spPr>
        <a:xfrm>
          <a:off x="1422548" y="1621614"/>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Homogenizing Selection</a:t>
          </a:r>
        </a:p>
      </dsp:txBody>
      <dsp:txXfrm>
        <a:off x="1422548" y="1621614"/>
        <a:ext cx="1141015" cy="570507"/>
      </dsp:txXfrm>
    </dsp:sp>
    <dsp:sp modelId="{5DB92BC0-ECCF-1647-98F2-A4BAD5B73C91}">
      <dsp:nvSpPr>
        <dsp:cNvPr id="0" name=""/>
        <dsp:cNvSpPr/>
      </dsp:nvSpPr>
      <dsp:spPr>
        <a:xfrm>
          <a:off x="2517923" y="811493"/>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&gt; 2</a:t>
          </a:r>
        </a:p>
      </dsp:txBody>
      <dsp:txXfrm>
        <a:off x="2517923" y="811493"/>
        <a:ext cx="1141015" cy="570507"/>
      </dsp:txXfrm>
    </dsp:sp>
    <dsp:sp modelId="{6B1FF1C0-13E9-8544-AF41-637E038824D7}">
      <dsp:nvSpPr>
        <dsp:cNvPr id="0" name=""/>
        <dsp:cNvSpPr/>
      </dsp:nvSpPr>
      <dsp:spPr>
        <a:xfrm>
          <a:off x="2803177" y="1621614"/>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Variable Selection</a:t>
          </a:r>
        </a:p>
      </dsp:txBody>
      <dsp:txXfrm>
        <a:off x="2803177" y="1621614"/>
        <a:ext cx="1141015" cy="570507"/>
      </dsp:txXfrm>
    </dsp:sp>
    <dsp:sp modelId="{AE62488F-B611-A844-8B8F-FD92D7733871}">
      <dsp:nvSpPr>
        <dsp:cNvPr id="0" name=""/>
        <dsp:cNvSpPr/>
      </dsp:nvSpPr>
      <dsp:spPr>
        <a:xfrm>
          <a:off x="4183806" y="811493"/>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|βNTI| &lt; 2</a:t>
          </a:r>
        </a:p>
      </dsp:txBody>
      <dsp:txXfrm>
        <a:off x="4183806" y="811493"/>
        <a:ext cx="1141015" cy="570507"/>
      </dsp:txXfrm>
    </dsp:sp>
    <dsp:sp modelId="{087B432B-A73B-7846-8B5A-25403EDAE7DC}">
      <dsp:nvSpPr>
        <dsp:cNvPr id="0" name=""/>
        <dsp:cNvSpPr/>
      </dsp:nvSpPr>
      <dsp:spPr>
        <a:xfrm>
          <a:off x="4183806" y="1621614"/>
          <a:ext cx="1141015" cy="570507"/>
        </a:xfrm>
        <a:prstGeom prst="rect">
          <a:avLst/>
        </a:prstGeom>
        <a:solidFill>
          <a:srgbClr val="FFC003"/>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Stochastic Processes</a:t>
          </a:r>
        </a:p>
      </dsp:txBody>
      <dsp:txXfrm>
        <a:off x="4183806" y="1621614"/>
        <a:ext cx="1141015" cy="570507"/>
      </dsp:txXfrm>
    </dsp:sp>
    <dsp:sp modelId="{955D6E37-AD6C-734D-A59C-17F7C8CCBF6E}">
      <dsp:nvSpPr>
        <dsp:cNvPr id="0" name=""/>
        <dsp:cNvSpPr/>
      </dsp:nvSpPr>
      <dsp:spPr>
        <a:xfrm>
          <a:off x="4183806" y="2431735"/>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err="1"/>
            <a:t>Raup</a:t>
          </a:r>
          <a:r>
            <a:rPr lang="en-US" sz="1300" kern="1200" dirty="0"/>
            <a:t>-Crick</a:t>
          </a:r>
        </a:p>
      </dsp:txBody>
      <dsp:txXfrm>
        <a:off x="4183806" y="2431735"/>
        <a:ext cx="1141015" cy="570507"/>
      </dsp:txXfrm>
    </dsp:sp>
    <dsp:sp modelId="{A8E99C39-923B-884F-AE10-80995E192317}">
      <dsp:nvSpPr>
        <dsp:cNvPr id="0" name=""/>
        <dsp:cNvSpPr/>
      </dsp:nvSpPr>
      <dsp:spPr>
        <a:xfrm>
          <a:off x="2803177" y="3241856"/>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&lt; - 0.95</a:t>
          </a:r>
        </a:p>
      </dsp:txBody>
      <dsp:txXfrm>
        <a:off x="2803177" y="3241856"/>
        <a:ext cx="1141015" cy="570507"/>
      </dsp:txXfrm>
    </dsp:sp>
    <dsp:sp modelId="{E183F606-1C96-4141-8ACB-48748EBBC1FA}">
      <dsp:nvSpPr>
        <dsp:cNvPr id="0" name=""/>
        <dsp:cNvSpPr/>
      </dsp:nvSpPr>
      <dsp:spPr>
        <a:xfrm>
          <a:off x="3088431" y="4051977"/>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Homogenizing Dispersal</a:t>
          </a:r>
        </a:p>
      </dsp:txBody>
      <dsp:txXfrm>
        <a:off x="3088431" y="4051977"/>
        <a:ext cx="1141015" cy="570507"/>
      </dsp:txXfrm>
    </dsp:sp>
    <dsp:sp modelId="{F30CE27B-3103-BF4D-8809-14F89566BA7A}">
      <dsp:nvSpPr>
        <dsp:cNvPr id="0" name=""/>
        <dsp:cNvSpPr/>
      </dsp:nvSpPr>
      <dsp:spPr>
        <a:xfrm>
          <a:off x="4183806" y="3241856"/>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&gt; 0.95</a:t>
          </a:r>
        </a:p>
      </dsp:txBody>
      <dsp:txXfrm>
        <a:off x="4183806" y="3241856"/>
        <a:ext cx="1141015" cy="570507"/>
      </dsp:txXfrm>
    </dsp:sp>
    <dsp:sp modelId="{3141EBE4-0F85-9949-AE3B-CA73549AF9B6}">
      <dsp:nvSpPr>
        <dsp:cNvPr id="0" name=""/>
        <dsp:cNvSpPr/>
      </dsp:nvSpPr>
      <dsp:spPr>
        <a:xfrm>
          <a:off x="4469060" y="4051977"/>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Dispersal Limitation</a:t>
          </a:r>
        </a:p>
      </dsp:txBody>
      <dsp:txXfrm>
        <a:off x="4469060" y="4051977"/>
        <a:ext cx="1141015" cy="570507"/>
      </dsp:txXfrm>
    </dsp:sp>
    <dsp:sp modelId="{E58F5466-ED82-8B46-BAD2-35ED1FAACC6A}">
      <dsp:nvSpPr>
        <dsp:cNvPr id="0" name=""/>
        <dsp:cNvSpPr/>
      </dsp:nvSpPr>
      <dsp:spPr>
        <a:xfrm>
          <a:off x="5564435" y="3241856"/>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t>
          </a:r>
          <a:r>
            <a:rPr lang="en-US" sz="1300" kern="1200" dirty="0" err="1"/>
            <a:t>Raup</a:t>
          </a:r>
          <a:r>
            <a:rPr lang="en-US" sz="1300" kern="1200" dirty="0"/>
            <a:t>-Crip| &lt; 0.95</a:t>
          </a:r>
        </a:p>
      </dsp:txBody>
      <dsp:txXfrm>
        <a:off x="5564435" y="3241856"/>
        <a:ext cx="1141015" cy="570507"/>
      </dsp:txXfrm>
    </dsp:sp>
    <dsp:sp modelId="{10FD6445-05F3-1740-B3F6-23464BAFFA36}">
      <dsp:nvSpPr>
        <dsp:cNvPr id="0" name=""/>
        <dsp:cNvSpPr/>
      </dsp:nvSpPr>
      <dsp:spPr>
        <a:xfrm>
          <a:off x="5849689" y="4051977"/>
          <a:ext cx="1141015" cy="570507"/>
        </a:xfrm>
        <a:prstGeom prst="rect">
          <a:avLst/>
        </a:prstGeom>
        <a:solidFill>
          <a:srgbClr val="5C9BD5"/>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Ecological Drift or Weak Selection</a:t>
          </a:r>
          <a:endParaRPr lang="en-US" sz="1300" kern="1200" dirty="0"/>
        </a:p>
      </dsp:txBody>
      <dsp:txXfrm>
        <a:off x="5849689" y="4051977"/>
        <a:ext cx="1141015" cy="57050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55017-D10A-7E41-A628-FFBA6D86E32F}" type="datetimeFigureOut">
              <a:rPr lang="en-US" smtClean="0"/>
              <a:t>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E2140-D502-214A-B76B-E0784B2C949B}" type="slidenum">
              <a:rPr lang="en-US" smtClean="0"/>
              <a:t>‹#›</a:t>
            </a:fld>
            <a:endParaRPr lang="en-US"/>
          </a:p>
        </p:txBody>
      </p:sp>
    </p:spTree>
    <p:extLst>
      <p:ext uri="{BB962C8B-B14F-4D97-AF65-F5344CB8AC3E}">
        <p14:creationId xmlns:p14="http://schemas.microsoft.com/office/powerpoint/2010/main" val="428051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I want to ask:</a:t>
            </a:r>
          </a:p>
          <a:p>
            <a:endParaRPr lang="en-US" dirty="0"/>
          </a:p>
          <a:p>
            <a:r>
              <a:rPr lang="en-US" dirty="0"/>
              <a:t>How does dormancy influence microbial dispersal and community assembly?</a:t>
            </a:r>
          </a:p>
          <a:p>
            <a:r>
              <a:rPr lang="en-US" dirty="0"/>
              <a:t>How do dispersal and community assembly mechanisms differ at local, regional and global scales?</a:t>
            </a:r>
          </a:p>
          <a:p>
            <a:r>
              <a:rPr lang="en-US" dirty="0"/>
              <a:t>Does dispersal and community assembly mechanisms change between Spring and Summer seasons?</a:t>
            </a:r>
          </a:p>
          <a:p>
            <a:endParaRPr lang="en-US" dirty="0"/>
          </a:p>
          <a:p>
            <a:r>
              <a:rPr lang="en-US" dirty="0"/>
              <a:t>Why are we interested in community assembly?</a:t>
            </a:r>
          </a:p>
          <a:p>
            <a:r>
              <a:rPr lang="en-US" dirty="0"/>
              <a:t>Because we want to understand the evolutionary and ecological mechanisms that govern microbial community composition at local scales, thus shaping large scale patterns of microbial biogeography. Community composition affects community function with profound impacts on the wider ecosystem functioning and biodiversity.  </a:t>
            </a:r>
          </a:p>
          <a:p>
            <a:endParaRPr lang="en-US" dirty="0"/>
          </a:p>
          <a:p>
            <a:r>
              <a:rPr lang="en-US" dirty="0"/>
              <a:t>This study aims to develop an in-depth understanding of cryoconite community interactions and assembly processes. Particular questions of interest include:</a:t>
            </a:r>
          </a:p>
          <a:p>
            <a:r>
              <a:rPr lang="en-US" dirty="0"/>
              <a:t>(</a:t>
            </a:r>
            <a:r>
              <a:rPr lang="en-US" dirty="0" err="1"/>
              <a:t>i</a:t>
            </a:r>
            <a:r>
              <a:rPr lang="en-US" dirty="0"/>
              <a:t>) Do cryoconite community exhibit nonrandom co-occurrence patterns?</a:t>
            </a:r>
          </a:p>
        </p:txBody>
      </p:sp>
      <p:sp>
        <p:nvSpPr>
          <p:cNvPr id="4" name="Slide Number Placeholder 3"/>
          <p:cNvSpPr>
            <a:spLocks noGrp="1"/>
          </p:cNvSpPr>
          <p:nvPr>
            <p:ph type="sldNum" sz="quarter" idx="5"/>
          </p:nvPr>
        </p:nvSpPr>
        <p:spPr/>
        <p:txBody>
          <a:bodyPr/>
          <a:lstStyle/>
          <a:p>
            <a:fld id="{91AE2140-D502-214A-B76B-E0784B2C949B}" type="slidenum">
              <a:rPr lang="en-US" smtClean="0"/>
              <a:t>1</a:t>
            </a:fld>
            <a:endParaRPr lang="en-US"/>
          </a:p>
        </p:txBody>
      </p:sp>
    </p:spTree>
    <p:extLst>
      <p:ext uri="{BB962C8B-B14F-4D97-AF65-F5344CB8AC3E}">
        <p14:creationId xmlns:p14="http://schemas.microsoft.com/office/powerpoint/2010/main" val="3068617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dataset on which to develop my analysis pipeline because it included recently published cryoconite community data and cryoconite communities are of specific interest to me as they are a hotspot of biological activity on the glacier surface. Also, they act as discrete microcosms which can be measured in terms of area, therefore have the advantage of being used to explore the present of island-species area relationships.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fact that ISAR had already been investigated in this dataset meant that I could carry out my own analyses and compare the results to ensure that I was analyzing the data correctly.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paper included information on sequence processing that I was able to use in my first QIIME workflow. </a:t>
            </a:r>
          </a:p>
          <a:p>
            <a:endParaRPr lang="en-US" dirty="0"/>
          </a:p>
          <a:p>
            <a:r>
              <a:rPr lang="en-US" dirty="0"/>
              <a:t>It gave me the opportunity to work with 16S and 18S data (although here I have only analyzed the 16S data) </a:t>
            </a:r>
          </a:p>
          <a:p>
            <a:endParaRPr lang="en-US" dirty="0"/>
          </a:p>
          <a:p>
            <a:r>
              <a:rPr lang="en-US" dirty="0"/>
              <a:t>The data could also be grouped by glacier which was useful for comparative analyses.</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4</a:t>
            </a:fld>
            <a:endParaRPr lang="en-US"/>
          </a:p>
        </p:txBody>
      </p:sp>
    </p:spTree>
    <p:extLst>
      <p:ext uri="{BB962C8B-B14F-4D97-AF65-F5344CB8AC3E}">
        <p14:creationId xmlns:p14="http://schemas.microsoft.com/office/powerpoint/2010/main" val="29509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QIIME2 on my local computer I downloaded Sequence Read Archive (SRA) toolbox that allowed me to prefetch the sequence data from the SRA website using the archive umber supplied by the paper, splitting the flies into forward and reverse reads and saving them to my laptop.</a:t>
            </a:r>
          </a:p>
          <a:p>
            <a:endParaRPr lang="en-US" dirty="0"/>
          </a:p>
          <a:p>
            <a:r>
              <a:rPr lang="en-US" dirty="0"/>
              <a:t>I renamed the sequence files and modified the metadata file into formats expected by QIIME2.</a:t>
            </a:r>
          </a:p>
          <a:p>
            <a:endParaRPr lang="en-US" dirty="0"/>
          </a:p>
          <a:p>
            <a:r>
              <a:rPr lang="en-GB" sz="1200" kern="1200" dirty="0">
                <a:solidFill>
                  <a:schemeClr val="tx1"/>
                </a:solidFill>
                <a:effectLst/>
                <a:latin typeface="+mn-lt"/>
                <a:ea typeface="+mn-ea"/>
                <a:cs typeface="+mn-cs"/>
              </a:rPr>
              <a:t>Import </a:t>
            </a:r>
            <a:r>
              <a:rPr lang="en-GB" sz="1200" kern="1200" dirty="0" err="1">
                <a:solidFill>
                  <a:schemeClr val="tx1"/>
                </a:solidFill>
                <a:effectLst/>
                <a:latin typeface="+mn-lt"/>
                <a:ea typeface="+mn-ea"/>
                <a:cs typeface="+mn-cs"/>
              </a:rPr>
              <a:t>fastq</a:t>
            </a:r>
            <a:r>
              <a:rPr lang="en-GB" sz="1200" kern="1200" dirty="0">
                <a:solidFill>
                  <a:schemeClr val="tx1"/>
                </a:solidFill>
                <a:effectLst/>
                <a:latin typeface="+mn-lt"/>
                <a:ea typeface="+mn-ea"/>
                <a:cs typeface="+mn-cs"/>
              </a:rPr>
              <a:t> files and convert them into a format </a:t>
            </a:r>
            <a:r>
              <a:rPr lang="en-GB" sz="1200" kern="1200" dirty="0" err="1">
                <a:solidFill>
                  <a:schemeClr val="tx1"/>
                </a:solidFill>
                <a:effectLst/>
                <a:latin typeface="+mn-lt"/>
                <a:ea typeface="+mn-ea"/>
                <a:cs typeface="+mn-cs"/>
              </a:rPr>
              <a:t>Qiime</a:t>
            </a:r>
            <a:r>
              <a:rPr lang="en-GB" sz="1200" kern="1200" dirty="0">
                <a:solidFill>
                  <a:schemeClr val="tx1"/>
                </a:solidFill>
                <a:effectLst/>
                <a:latin typeface="+mn-lt"/>
                <a:ea typeface="+mn-ea"/>
                <a:cs typeface="+mn-cs"/>
              </a:rPr>
              <a:t> wants to work with.</a:t>
            </a:r>
            <a:r>
              <a:rPr lang="en-GB" dirty="0">
                <a:effectLst/>
              </a:rPr>
              <a:t> </a:t>
            </a:r>
          </a:p>
          <a:p>
            <a:endParaRPr lang="en-GB" dirty="0">
              <a:effectLst/>
            </a:endParaRPr>
          </a:p>
          <a:p>
            <a:r>
              <a:rPr lang="en-GB" sz="1200" kern="1200" dirty="0">
                <a:solidFill>
                  <a:schemeClr val="tx1"/>
                </a:solidFill>
                <a:effectLst/>
                <a:latin typeface="+mn-lt"/>
                <a:ea typeface="+mn-ea"/>
                <a:cs typeface="+mn-cs"/>
              </a:rPr>
              <a:t>Remove primers. I'm getting the primers from https://</a:t>
            </a:r>
            <a:r>
              <a:rPr lang="en-GB" sz="1200" kern="1200" dirty="0" err="1">
                <a:solidFill>
                  <a:schemeClr val="tx1"/>
                </a:solidFill>
                <a:effectLst/>
                <a:latin typeface="+mn-lt"/>
                <a:ea typeface="+mn-ea"/>
                <a:cs typeface="+mn-cs"/>
              </a:rPr>
              <a:t>earthmicrobiome.org</a:t>
            </a:r>
            <a:r>
              <a:rPr lang="en-GB" sz="1200" kern="1200" dirty="0">
                <a:solidFill>
                  <a:schemeClr val="tx1"/>
                </a:solidFill>
                <a:effectLst/>
                <a:latin typeface="+mn-lt"/>
                <a:ea typeface="+mn-ea"/>
                <a:cs typeface="+mn-cs"/>
              </a:rPr>
              <a:t>/protocols-and-standards/16s/ as described by Sommers et al., (2020)</a:t>
            </a:r>
          </a:p>
          <a:p>
            <a:r>
              <a:rPr lang="en-GB" sz="1200" kern="1200" dirty="0">
                <a:solidFill>
                  <a:schemeClr val="tx1"/>
                </a:solidFill>
                <a:effectLst/>
                <a:latin typeface="+mn-lt"/>
                <a:ea typeface="+mn-ea"/>
                <a:cs typeface="+mn-cs"/>
              </a:rPr>
              <a:t>The primer sequences are :</a:t>
            </a:r>
          </a:p>
          <a:p>
            <a:r>
              <a:rPr lang="en-GB" sz="1200" kern="1200" dirty="0">
                <a:solidFill>
                  <a:schemeClr val="tx1"/>
                </a:solidFill>
                <a:effectLst/>
                <a:latin typeface="+mn-lt"/>
                <a:ea typeface="+mn-ea"/>
                <a:cs typeface="+mn-cs"/>
              </a:rPr>
              <a:t>Updated sequences: 515F (</a:t>
            </a:r>
            <a:r>
              <a:rPr lang="en-GB" sz="1200" kern="1200" dirty="0" err="1">
                <a:solidFill>
                  <a:schemeClr val="tx1"/>
                </a:solidFill>
                <a:effectLst/>
                <a:latin typeface="+mn-lt"/>
                <a:ea typeface="+mn-ea"/>
                <a:cs typeface="+mn-cs"/>
              </a:rPr>
              <a:t>Parada</a:t>
            </a:r>
            <a:r>
              <a:rPr lang="en-GB" sz="1200" kern="1200" dirty="0">
                <a:solidFill>
                  <a:schemeClr val="tx1"/>
                </a:solidFill>
                <a:effectLst/>
                <a:latin typeface="+mn-lt"/>
                <a:ea typeface="+mn-ea"/>
                <a:cs typeface="+mn-cs"/>
              </a:rPr>
              <a:t>)–806R (</a:t>
            </a:r>
            <a:r>
              <a:rPr lang="en-GB" sz="1200" kern="1200" dirty="0" err="1">
                <a:solidFill>
                  <a:schemeClr val="tx1"/>
                </a:solidFill>
                <a:effectLst/>
                <a:latin typeface="+mn-lt"/>
                <a:ea typeface="+mn-ea"/>
                <a:cs typeface="+mn-cs"/>
              </a:rPr>
              <a:t>Apprill</a:t>
            </a:r>
            <a:r>
              <a:rPr lang="en-GB" sz="1200" kern="1200" dirty="0">
                <a:solidFill>
                  <a:schemeClr val="tx1"/>
                </a:solidFill>
                <a:effectLst/>
                <a:latin typeface="+mn-lt"/>
                <a:ea typeface="+mn-ea"/>
                <a:cs typeface="+mn-cs"/>
              </a:rPr>
              <a:t>), forward-barcoded:</a:t>
            </a:r>
          </a:p>
          <a:p>
            <a:r>
              <a:rPr lang="en-GB" sz="1200" kern="1200" dirty="0">
                <a:solidFill>
                  <a:schemeClr val="tx1"/>
                </a:solidFill>
                <a:effectLst/>
                <a:latin typeface="+mn-lt"/>
                <a:ea typeface="+mn-ea"/>
                <a:cs typeface="+mn-cs"/>
              </a:rPr>
              <a:t>FWD:GTGYCAGCMGCCGCGGTAA; REV:GGACTACNVGGGTWTCTAAT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Check the quality of trimmed reads and visualise.</a:t>
            </a:r>
            <a:r>
              <a:rPr lang="en-GB" dirty="0">
                <a:effectLst/>
              </a:rPr>
              <a:t> </a:t>
            </a:r>
          </a:p>
          <a:p>
            <a:endParaRPr lang="en-GB" dirty="0">
              <a:effectLst/>
            </a:endParaRPr>
          </a:p>
          <a:p>
            <a:r>
              <a:rPr lang="en-GB" sz="1200" kern="1200" dirty="0">
                <a:solidFill>
                  <a:schemeClr val="tx1"/>
                </a:solidFill>
                <a:effectLst/>
                <a:latin typeface="+mn-lt"/>
                <a:ea typeface="+mn-ea"/>
                <a:cs typeface="+mn-cs"/>
              </a:rPr>
              <a:t>Call DADA2.  Where are the adaptors? Front or back? Use trim in DADA2 to cut them, in stead of QIIME2 </a:t>
            </a:r>
            <a:r>
              <a:rPr lang="en-GB" sz="1200" kern="1200" dirty="0" err="1">
                <a:solidFill>
                  <a:schemeClr val="tx1"/>
                </a:solidFill>
                <a:effectLst/>
                <a:latin typeface="+mn-lt"/>
                <a:ea typeface="+mn-ea"/>
                <a:cs typeface="+mn-cs"/>
              </a:rPr>
              <a:t>cutadapt</a:t>
            </a:r>
            <a:endParaRPr lang="en-GB" sz="1200" kern="1200" dirty="0">
              <a:solidFill>
                <a:schemeClr val="tx1"/>
              </a:solidFill>
              <a:effectLst/>
              <a:latin typeface="+mn-lt"/>
              <a:ea typeface="+mn-ea"/>
              <a:cs typeface="+mn-cs"/>
            </a:endParaRPr>
          </a:p>
          <a:p>
            <a:r>
              <a:rPr lang="en-GB" sz="1200" kern="1200" dirty="0" err="1">
                <a:solidFill>
                  <a:schemeClr val="tx1"/>
                </a:solidFill>
                <a:effectLst/>
                <a:latin typeface="+mn-lt"/>
                <a:ea typeface="+mn-ea"/>
                <a:cs typeface="+mn-cs"/>
              </a:rPr>
              <a:t>FastQC</a:t>
            </a:r>
            <a:r>
              <a:rPr lang="en-GB" sz="1200" kern="1200" dirty="0">
                <a:solidFill>
                  <a:schemeClr val="tx1"/>
                </a:solidFill>
                <a:effectLst/>
                <a:latin typeface="+mn-lt"/>
                <a:ea typeface="+mn-ea"/>
                <a:cs typeface="+mn-cs"/>
              </a:rPr>
              <a:t> - look at for adaptor - if adaptor isn't there then don't worry about it! Warning: Not all adaptors are picked up by </a:t>
            </a:r>
            <a:r>
              <a:rPr lang="en-GB" sz="1200" kern="1200" dirty="0" err="1">
                <a:solidFill>
                  <a:schemeClr val="tx1"/>
                </a:solidFill>
                <a:effectLst/>
                <a:latin typeface="+mn-lt"/>
                <a:ea typeface="+mn-ea"/>
                <a:cs typeface="+mn-cs"/>
              </a:rPr>
              <a:t>FastQC</a:t>
            </a:r>
            <a:r>
              <a:rPr lang="en-GB" sz="1200" kern="1200" dirty="0">
                <a:solidFill>
                  <a:schemeClr val="tx1"/>
                </a:solidFill>
                <a:effectLst/>
                <a:latin typeface="+mn-lt"/>
                <a:ea typeface="+mn-ea"/>
                <a:cs typeface="+mn-cs"/>
              </a:rPr>
              <a:t>.</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Denoise data and check results of this step.</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Summarise remaining reads after denoising and visualise.  Through the sequence table generated below you can click on a representative sequence and BLAST it.</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Generate a feature table and visualise.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Download Silva classifier and move to work folder.</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Classify representative sequences and visualise.</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Make a multiple sequence alignment with MAFFT.</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Now mask the alignment.</a:t>
            </a:r>
            <a:r>
              <a:rPr lang="en-GB" dirty="0">
                <a:effectLst/>
              </a:rPr>
              <a: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Construct the phylogenetic tree and root.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Export feature table (Feature table of the remaining sequences after denoising that tells us how many samples we have, how many features (ASVs) we have, how frequent (how many individual cells there are) per sample, how many ASVs we see per sample</a:t>
            </a:r>
            <a:r>
              <a:rPr lang="en-GB" dirty="0">
                <a:effectLst/>
              </a:rPr>
              <a:t> ) </a:t>
            </a:r>
            <a:r>
              <a:rPr lang="en-GB" sz="1200" kern="1200" dirty="0">
                <a:solidFill>
                  <a:schemeClr val="tx1"/>
                </a:solidFill>
                <a:effectLst/>
                <a:latin typeface="+mn-lt"/>
                <a:ea typeface="+mn-ea"/>
                <a:cs typeface="+mn-cs"/>
              </a:rPr>
              <a:t>, ASV count table (ASV count table with sample as columns and ASV as row</a:t>
            </a:r>
            <a:r>
              <a:rPr lang="en-GB" dirty="0">
                <a:effectLst/>
              </a:rPr>
              <a:t> )</a:t>
            </a:r>
            <a:r>
              <a:rPr lang="en-GB" sz="1200" kern="1200" dirty="0">
                <a:solidFill>
                  <a:schemeClr val="tx1"/>
                </a:solidFill>
                <a:effectLst/>
                <a:latin typeface="+mn-lt"/>
                <a:ea typeface="+mn-ea"/>
                <a:cs typeface="+mn-cs"/>
              </a:rPr>
              <a:t>, representative sequences (The remaining representative sequences after denoising (i.e. a list of all the unique base pair sequences present in the denoised dataset), exported as a </a:t>
            </a:r>
            <a:r>
              <a:rPr lang="en-GB" sz="1200" kern="1200" dirty="0" err="1">
                <a:solidFill>
                  <a:schemeClr val="tx1"/>
                </a:solidFill>
                <a:effectLst/>
                <a:latin typeface="+mn-lt"/>
                <a:ea typeface="+mn-ea"/>
                <a:cs typeface="+mn-cs"/>
              </a:rPr>
              <a:t>fasta</a:t>
            </a:r>
            <a:r>
              <a:rPr lang="en-GB" sz="1200" kern="1200" dirty="0">
                <a:solidFill>
                  <a:schemeClr val="tx1"/>
                </a:solidFill>
                <a:effectLst/>
                <a:latin typeface="+mn-lt"/>
                <a:ea typeface="+mn-ea"/>
                <a:cs typeface="+mn-cs"/>
              </a:rPr>
              <a:t> file</a:t>
            </a:r>
            <a:r>
              <a:rPr lang="en-GB" dirty="0">
                <a:effectLst/>
              </a:rPr>
              <a:t>)</a:t>
            </a:r>
            <a:r>
              <a:rPr lang="en-GB" sz="1200" kern="1200" dirty="0">
                <a:solidFill>
                  <a:schemeClr val="tx1"/>
                </a:solidFill>
                <a:effectLst/>
                <a:latin typeface="+mn-lt"/>
                <a:ea typeface="+mn-ea"/>
                <a:cs typeface="+mn-cs"/>
              </a:rPr>
              <a:t>, taxonomy table (Table of feature (ASV) IDs and their taxonomic classifications</a:t>
            </a:r>
            <a:r>
              <a:rPr lang="en-GB" dirty="0">
                <a:effectLst/>
              </a:rPr>
              <a:t> ) </a:t>
            </a:r>
            <a:r>
              <a:rPr lang="en-GB" sz="1200" kern="1200" dirty="0">
                <a:solidFill>
                  <a:schemeClr val="tx1"/>
                </a:solidFill>
                <a:effectLst/>
                <a:latin typeface="+mn-lt"/>
                <a:ea typeface="+mn-ea"/>
                <a:cs typeface="+mn-cs"/>
              </a:rPr>
              <a:t>and phylogenetic tree.</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5</a:t>
            </a:fld>
            <a:endParaRPr lang="en-US"/>
          </a:p>
        </p:txBody>
      </p:sp>
    </p:spTree>
    <p:extLst>
      <p:ext uri="{BB962C8B-B14F-4D97-AF65-F5344CB8AC3E}">
        <p14:creationId xmlns:p14="http://schemas.microsoft.com/office/powerpoint/2010/main" val="2819534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6</a:t>
            </a:fld>
            <a:endParaRPr lang="en-US"/>
          </a:p>
        </p:txBody>
      </p:sp>
    </p:spTree>
    <p:extLst>
      <p:ext uri="{BB962C8B-B14F-4D97-AF65-F5344CB8AC3E}">
        <p14:creationId xmlns:p14="http://schemas.microsoft.com/office/powerpoint/2010/main" val="791841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Calculated ASV richness and Shannon Diversity Index for each Glacier</a:t>
            </a:r>
          </a:p>
          <a:p>
            <a:r>
              <a:rPr lang="en-US" sz="1200" dirty="0"/>
              <a:t>Used Two Samples T-Test to compare ASV richness between glaciers (as count data was normally distributed) </a:t>
            </a:r>
          </a:p>
          <a:p>
            <a:r>
              <a:rPr lang="en-US" sz="1200" dirty="0"/>
              <a:t>Result: No significant difference between ASV richness (</a:t>
            </a:r>
            <a:r>
              <a:rPr lang="en-US" sz="1200" i="1" dirty="0"/>
              <a:t>p=0.052</a:t>
            </a:r>
            <a:r>
              <a:rPr lang="en-US" sz="1200" dirty="0"/>
              <a:t>) </a:t>
            </a:r>
          </a:p>
          <a:p>
            <a:r>
              <a:rPr lang="en-US" sz="1200" dirty="0"/>
              <a:t>Used Two Samples Wilcoxon Test to compare Shannon Diversity Index for each glacier (as index data was not normally distribute)</a:t>
            </a:r>
          </a:p>
          <a:p>
            <a:r>
              <a:rPr lang="en-US" sz="1200" dirty="0"/>
              <a:t>Result: No significant difference between Shannon Diversity (</a:t>
            </a:r>
            <a:r>
              <a:rPr lang="en-US" sz="1200" i="1" dirty="0"/>
              <a:t>p=0.581</a:t>
            </a:r>
            <a:r>
              <a:rPr lang="en-US" sz="1200" dirty="0"/>
              <a:t>)</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8</a:t>
            </a:fld>
            <a:endParaRPr lang="en-US"/>
          </a:p>
        </p:txBody>
      </p:sp>
    </p:spTree>
    <p:extLst>
      <p:ext uri="{BB962C8B-B14F-4D97-AF65-F5344CB8AC3E}">
        <p14:creationId xmlns:p14="http://schemas.microsoft.com/office/powerpoint/2010/main" val="547813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calculated the beta diversity between glaciers using weighted </a:t>
            </a:r>
            <a:r>
              <a:rPr lang="en-US" dirty="0" err="1"/>
              <a:t>unifrac</a:t>
            </a:r>
            <a:r>
              <a:rPr lang="en-US" dirty="0"/>
              <a:t> distances used the distance function in </a:t>
            </a:r>
            <a:r>
              <a:rPr lang="en-US" dirty="0" err="1"/>
              <a:t>phyloseq</a:t>
            </a:r>
            <a:r>
              <a:rPr lang="en-US" dirty="0"/>
              <a:t> package.</a:t>
            </a:r>
          </a:p>
          <a:p>
            <a:r>
              <a:rPr lang="en-US" dirty="0"/>
              <a:t>I used permutational multivariate analysis of variance (PERMANOVA) to find if community composition significantly varied between glaciers using 999 permutations</a:t>
            </a:r>
          </a:p>
        </p:txBody>
      </p:sp>
      <p:sp>
        <p:nvSpPr>
          <p:cNvPr id="4" name="Slide Number Placeholder 3"/>
          <p:cNvSpPr>
            <a:spLocks noGrp="1"/>
          </p:cNvSpPr>
          <p:nvPr>
            <p:ph type="sldNum" sz="quarter" idx="5"/>
          </p:nvPr>
        </p:nvSpPr>
        <p:spPr/>
        <p:txBody>
          <a:bodyPr/>
          <a:lstStyle/>
          <a:p>
            <a:fld id="{91AE2140-D502-214A-B76B-E0784B2C949B}" type="slidenum">
              <a:rPr lang="en-US" smtClean="0"/>
              <a:t>9</a:t>
            </a:fld>
            <a:endParaRPr lang="en-US"/>
          </a:p>
        </p:txBody>
      </p:sp>
    </p:spTree>
    <p:extLst>
      <p:ext uri="{BB962C8B-B14F-4D97-AF65-F5344CB8AC3E}">
        <p14:creationId xmlns:p14="http://schemas.microsoft.com/office/powerpoint/2010/main" val="4132672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Wilcoxon test used to compare cryoconite hole area (cm2) between glaciers. No significant difference detected (W = 134, p=0.7966).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Wilcoxon test used to compare chlorophyll between glaciers. No significant difference detected (W = 160, p=0.141).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Wilcoxon test used to compare DNA content between glaciers. Significant difference detected (W = 251, p&lt;0.05).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Wilcoxon test used to compare organic matter content between glaciers. Significant difference detected (W = 220, p&lt;0.05).</a:t>
            </a:r>
          </a:p>
          <a:p>
            <a:r>
              <a:rPr lang="en-US" sz="1200" dirty="0"/>
              <a:t>Welch Two Sample T-Test used to compare pH between glaciers. Significant difference detected (t=2.193, </a:t>
            </a:r>
            <a:r>
              <a:rPr lang="en-US" sz="1200" dirty="0" err="1"/>
              <a:t>df</a:t>
            </a:r>
            <a:r>
              <a:rPr lang="en-US" sz="1200" dirty="0"/>
              <a:t>=11.766, p=0.0492).</a:t>
            </a:r>
          </a:p>
          <a:p>
            <a:r>
              <a:rPr lang="en-US" sz="1200" dirty="0"/>
              <a:t>Wilcoxon test used to compare water content between glaciers. Significant difference detected (W = 220, p&lt;0.05).</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12</a:t>
            </a:fld>
            <a:endParaRPr lang="en-US"/>
          </a:p>
        </p:txBody>
      </p:sp>
    </p:spTree>
    <p:extLst>
      <p:ext uri="{BB962C8B-B14F-4D97-AF65-F5344CB8AC3E}">
        <p14:creationId xmlns:p14="http://schemas.microsoft.com/office/powerpoint/2010/main" val="2425932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used canonical analysis of principal coordinates (CAP) to explore how differences in community composition are explained by environmental variables</a:t>
            </a:r>
          </a:p>
        </p:txBody>
      </p:sp>
      <p:sp>
        <p:nvSpPr>
          <p:cNvPr id="4" name="Slide Number Placeholder 3"/>
          <p:cNvSpPr>
            <a:spLocks noGrp="1"/>
          </p:cNvSpPr>
          <p:nvPr>
            <p:ph type="sldNum" sz="quarter" idx="5"/>
          </p:nvPr>
        </p:nvSpPr>
        <p:spPr/>
        <p:txBody>
          <a:bodyPr/>
          <a:lstStyle/>
          <a:p>
            <a:fld id="{91AE2140-D502-214A-B76B-E0784B2C949B}" type="slidenum">
              <a:rPr lang="en-US" smtClean="0"/>
              <a:t>13</a:t>
            </a:fld>
            <a:endParaRPr lang="en-US"/>
          </a:p>
        </p:txBody>
      </p:sp>
    </p:spTree>
    <p:extLst>
      <p:ext uri="{BB962C8B-B14F-4D97-AF65-F5344CB8AC3E}">
        <p14:creationId xmlns:p14="http://schemas.microsoft.com/office/powerpoint/2010/main" val="1733676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DDR doesn’t work for this dataset as most of the holes are reported to have the same long </a:t>
            </a:r>
            <a:r>
              <a:rPr lang="en-US" dirty="0" err="1"/>
              <a:t>lat</a:t>
            </a:r>
            <a:r>
              <a:rPr lang="en-US" dirty="0"/>
              <a:t> coordinates.</a:t>
            </a:r>
          </a:p>
        </p:txBody>
      </p:sp>
      <p:sp>
        <p:nvSpPr>
          <p:cNvPr id="4" name="Slide Number Placeholder 3"/>
          <p:cNvSpPr>
            <a:spLocks noGrp="1"/>
          </p:cNvSpPr>
          <p:nvPr>
            <p:ph type="sldNum" sz="quarter" idx="5"/>
          </p:nvPr>
        </p:nvSpPr>
        <p:spPr/>
        <p:txBody>
          <a:bodyPr/>
          <a:lstStyle/>
          <a:p>
            <a:fld id="{91AE2140-D502-214A-B76B-E0784B2C949B}" type="slidenum">
              <a:rPr lang="en-US" smtClean="0"/>
              <a:t>15</a:t>
            </a:fld>
            <a:endParaRPr lang="en-US"/>
          </a:p>
        </p:txBody>
      </p:sp>
    </p:spTree>
    <p:extLst>
      <p:ext uri="{BB962C8B-B14F-4D97-AF65-F5344CB8AC3E}">
        <p14:creationId xmlns:p14="http://schemas.microsoft.com/office/powerpoint/2010/main" val="2176052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Sloan’s Neutral Model states that the probability of species </a:t>
            </a:r>
            <a:r>
              <a:rPr lang="en-US" i="1" dirty="0" err="1"/>
              <a:t>i</a:t>
            </a:r>
            <a:r>
              <a:rPr lang="en-US" dirty="0"/>
              <a:t> occurring within a sample at abundance (x</a:t>
            </a:r>
            <a:r>
              <a:rPr lang="en-US" i="0" baseline="-25000" dirty="0"/>
              <a:t>i</a:t>
            </a:r>
            <a:r>
              <a:rPr lang="en-US" dirty="0"/>
              <a:t>) above a detection threshold (d) </a:t>
            </a:r>
          </a:p>
          <a:p>
            <a:endParaRPr lang="en-US" dirty="0"/>
          </a:p>
          <a:p>
            <a:r>
              <a:rPr lang="en-US" dirty="0"/>
              <a:t>Model results are compared to the observed data. Deviation of observed data from model results is assumed to be evidence of deterministic community assembly.</a:t>
            </a:r>
          </a:p>
          <a:p>
            <a:endParaRPr lang="en-US" dirty="0"/>
          </a:p>
          <a:p>
            <a:r>
              <a:rPr lang="en-US" dirty="0"/>
              <a:t>The abundance of each ASV in the metacommunity (p</a:t>
            </a:r>
            <a:r>
              <a:rPr lang="en-US" i="1" dirty="0"/>
              <a:t>i</a:t>
            </a:r>
            <a:r>
              <a:rPr lang="en-US" dirty="0"/>
              <a:t>) is estimated by averaging it’s relative abundance across all samples.</a:t>
            </a:r>
          </a:p>
        </p:txBody>
      </p:sp>
      <p:sp>
        <p:nvSpPr>
          <p:cNvPr id="4" name="Slide Number Placeholder 3"/>
          <p:cNvSpPr>
            <a:spLocks noGrp="1"/>
          </p:cNvSpPr>
          <p:nvPr>
            <p:ph type="sldNum" sz="quarter" idx="5"/>
          </p:nvPr>
        </p:nvSpPr>
        <p:spPr/>
        <p:txBody>
          <a:bodyPr/>
          <a:lstStyle/>
          <a:p>
            <a:fld id="{91AE2140-D502-214A-B76B-E0784B2C949B}" type="slidenum">
              <a:rPr lang="en-US" smtClean="0"/>
              <a:t>16</a:t>
            </a:fld>
            <a:endParaRPr lang="en-US"/>
          </a:p>
        </p:txBody>
      </p:sp>
    </p:spTree>
    <p:extLst>
      <p:ext uri="{BB962C8B-B14F-4D97-AF65-F5344CB8AC3E}">
        <p14:creationId xmlns:p14="http://schemas.microsoft.com/office/powerpoint/2010/main" val="1811139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developed from Barnett et al., (2020) Soil characteristics and land-use drive bacterial community assembly patterns (https://</a:t>
            </a:r>
            <a:r>
              <a:rPr lang="en-US" dirty="0" err="1"/>
              <a:t>github.com</a:t>
            </a:r>
            <a:r>
              <a:rPr lang="en-US" dirty="0"/>
              <a:t>/seb369/</a:t>
            </a:r>
            <a:r>
              <a:rPr lang="en-US" dirty="0" err="1"/>
              <a:t>landuse_comm_assembly</a:t>
            </a:r>
            <a:r>
              <a:rPr lang="en-US" dirty="0"/>
              <a:t>)</a:t>
            </a:r>
          </a:p>
        </p:txBody>
      </p:sp>
      <p:sp>
        <p:nvSpPr>
          <p:cNvPr id="4" name="Slide Number Placeholder 3"/>
          <p:cNvSpPr>
            <a:spLocks noGrp="1"/>
          </p:cNvSpPr>
          <p:nvPr>
            <p:ph type="sldNum" sz="quarter" idx="5"/>
          </p:nvPr>
        </p:nvSpPr>
        <p:spPr/>
        <p:txBody>
          <a:bodyPr/>
          <a:lstStyle/>
          <a:p>
            <a:fld id="{91AE2140-D502-214A-B76B-E0784B2C949B}" type="slidenum">
              <a:rPr lang="en-US" smtClean="0"/>
              <a:t>17</a:t>
            </a:fld>
            <a:endParaRPr lang="en-US"/>
          </a:p>
        </p:txBody>
      </p:sp>
    </p:spTree>
    <p:extLst>
      <p:ext uri="{BB962C8B-B14F-4D97-AF65-F5344CB8AC3E}">
        <p14:creationId xmlns:p14="http://schemas.microsoft.com/office/powerpoint/2010/main" val="2263901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of the model fitting with the Sommers dataset (not reduced).</a:t>
            </a:r>
          </a:p>
          <a:p>
            <a:r>
              <a:rPr lang="en-US" dirty="0"/>
              <a:t>X axis = log mean relative abundances of each ASV</a:t>
            </a:r>
          </a:p>
          <a:p>
            <a:r>
              <a:rPr lang="en-US" dirty="0"/>
              <a:t>Y axis = mean occurrence frequency of each ASV </a:t>
            </a:r>
          </a:p>
          <a:p>
            <a:r>
              <a:rPr lang="en-US" dirty="0"/>
              <a:t>Points = observed log relative abundances against occurrence frequencies</a:t>
            </a:r>
          </a:p>
          <a:p>
            <a:r>
              <a:rPr lang="en-US" dirty="0"/>
              <a:t>Solid line = predicted log relative abundances plotted against occurrence frequencies</a:t>
            </a:r>
          </a:p>
          <a:p>
            <a:r>
              <a:rPr lang="en-US" dirty="0"/>
              <a:t>Dotted lines = 95% confidence intervals</a:t>
            </a:r>
          </a:p>
          <a:p>
            <a:endParaRPr lang="en-US" dirty="0"/>
          </a:p>
          <a:p>
            <a:r>
              <a:rPr lang="en-US" dirty="0"/>
              <a:t>This allows us to assess to what degree observed community structure can be explained by stochastic processes within each sample.</a:t>
            </a:r>
          </a:p>
          <a:p>
            <a:r>
              <a:rPr lang="en-US" dirty="0"/>
              <a:t>The Sloan neutral model is applied here. This model does not take into account phylogenetic distance. </a:t>
            </a:r>
          </a:p>
          <a:p>
            <a:r>
              <a:rPr lang="en-US" dirty="0"/>
              <a:t>ASV occurrence frequency is explained as a function of ASV abundance within the metacommunity (i.e. the more abundant an ASV is in the metacommunity, the more frequently it will be detected in the local community by chance). </a:t>
            </a:r>
          </a:p>
          <a:p>
            <a:r>
              <a:rPr lang="en-US" dirty="0"/>
              <a:t>The neutral model performed well, explaining 77% of variation in ASV detection frequency with an estimated migration factor of 0.02 between sites.</a:t>
            </a:r>
          </a:p>
          <a:p>
            <a:r>
              <a:rPr lang="en-US" dirty="0"/>
              <a:t>These results suggest that neutral assembly processes can explain the pattern of observed ASV occurrence frequencies </a:t>
            </a:r>
            <a:r>
              <a:rPr lang="en-US" strike="sngStrike" dirty="0"/>
              <a:t>and that the the regional species pool is a driving factor in the community composition of these samples. </a:t>
            </a:r>
          </a:p>
          <a:p>
            <a:r>
              <a:rPr lang="en-US" strike="noStrike" dirty="0"/>
              <a:t>The deviation of predicted occurrence frequencies from observed occurrence frequencies suggests that there are also deterministic processes driving community composition.</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18</a:t>
            </a:fld>
            <a:endParaRPr lang="en-US"/>
          </a:p>
        </p:txBody>
      </p:sp>
    </p:spTree>
    <p:extLst>
      <p:ext uri="{BB962C8B-B14F-4D97-AF65-F5344CB8AC3E}">
        <p14:creationId xmlns:p14="http://schemas.microsoft.com/office/powerpoint/2010/main" val="1669585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there is only one significant relationship between phylogenetic distance and environmental variable – so the null model may not be appropriate for this data – however, we must consider that this dataset was drastically reduced to allow the correlograms to process on my local computer. With that in mind, we continue with the null model analysis.</a:t>
            </a:r>
          </a:p>
        </p:txBody>
      </p:sp>
      <p:sp>
        <p:nvSpPr>
          <p:cNvPr id="4" name="Slide Number Placeholder 3"/>
          <p:cNvSpPr>
            <a:spLocks noGrp="1"/>
          </p:cNvSpPr>
          <p:nvPr>
            <p:ph type="sldNum" sz="quarter" idx="5"/>
          </p:nvPr>
        </p:nvSpPr>
        <p:spPr/>
        <p:txBody>
          <a:bodyPr/>
          <a:lstStyle/>
          <a:p>
            <a:fld id="{91AE2140-D502-214A-B76B-E0784B2C949B}" type="slidenum">
              <a:rPr lang="en-US" smtClean="0"/>
              <a:t>20</a:t>
            </a:fld>
            <a:endParaRPr lang="en-US"/>
          </a:p>
        </p:txBody>
      </p:sp>
    </p:spTree>
    <p:extLst>
      <p:ext uri="{BB962C8B-B14F-4D97-AF65-F5344CB8AC3E}">
        <p14:creationId xmlns:p14="http://schemas.microsoft.com/office/powerpoint/2010/main" val="1424753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Stochastic processes can produce complex spatial community patterns. </a:t>
            </a:r>
          </a:p>
          <a:p>
            <a:r>
              <a:rPr lang="en-US" dirty="0"/>
              <a:t>Ecological drift = random birth/death events in a specific area, in the absence of selection. Ecological drift is particularly important when dispersal is limited as illustrated by island biogeography theory.</a:t>
            </a:r>
          </a:p>
          <a:p>
            <a:r>
              <a:rPr lang="en-US" dirty="0"/>
              <a:t>Dispersal limitation between isolated habitats promotes local extinction and ecological drift which causes initially identical communities to diverge. Ecological drift can cause communities to diverge, even when dispersal is high and selection pressure is low.</a:t>
            </a:r>
          </a:p>
          <a:p>
            <a:r>
              <a:rPr lang="en-US" dirty="0"/>
              <a:t>Homogenizing dispersal = high dispersal rates leading to similar communities between habitats (overcomes the impact of ecological drift and even deterministic processes)</a:t>
            </a:r>
          </a:p>
          <a:p>
            <a:endParaRPr lang="en-US" dirty="0"/>
          </a:p>
          <a:p>
            <a:r>
              <a:rPr lang="en-US" dirty="0"/>
              <a:t>Deterministic (deterministic processes commonly mean beta diversity varies as a result of environmental characteristics – i.e. communities are more or less different due to the differences or similarities of the environments)</a:t>
            </a:r>
          </a:p>
          <a:p>
            <a:r>
              <a:rPr lang="en-US" dirty="0"/>
              <a:t>Variable selection – deterministic processes are driving variable composition between communities. Different areas have different environmental characteristics that select for different species.</a:t>
            </a:r>
          </a:p>
          <a:p>
            <a:r>
              <a:rPr lang="en-US" dirty="0"/>
              <a:t>Homogenizing selection – deterministic processes are driving homogenous composition between communities. Different areas have similar environmental characteristics that select for similar species.</a:t>
            </a:r>
          </a:p>
          <a:p>
            <a:endParaRPr lang="en-US" dirty="0"/>
          </a:p>
          <a:p>
            <a:r>
              <a:rPr lang="en-US" dirty="0"/>
              <a:t>Dispersal limitation – stochastic dispersal limitation is driving variable composition between communities </a:t>
            </a:r>
          </a:p>
          <a:p>
            <a:r>
              <a:rPr lang="en-US" dirty="0"/>
              <a:t>Homogenizing dispersal – stochastic high dispersal is driving homogenous composition between communities</a:t>
            </a:r>
          </a:p>
          <a:p>
            <a:r>
              <a:rPr lang="en-US" dirty="0"/>
              <a:t>Ecological drift – stochastic ecological drift is driving variable composition between communities</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21</a:t>
            </a:fld>
            <a:endParaRPr lang="en-US"/>
          </a:p>
        </p:txBody>
      </p:sp>
    </p:spTree>
    <p:extLst>
      <p:ext uri="{BB962C8B-B14F-4D97-AF65-F5344CB8AC3E}">
        <p14:creationId xmlns:p14="http://schemas.microsoft.com/office/powerpoint/2010/main" val="4270121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23</a:t>
            </a:fld>
            <a:endParaRPr lang="en-US"/>
          </a:p>
        </p:txBody>
      </p:sp>
    </p:spTree>
    <p:extLst>
      <p:ext uri="{BB962C8B-B14F-4D97-AF65-F5344CB8AC3E}">
        <p14:creationId xmlns:p14="http://schemas.microsoft.com/office/powerpoint/2010/main" val="2121078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Whilst multivariate analysis can assist us in investigating abiotic selection, microbial community assembly is also shaped by biotic selection. </a:t>
            </a:r>
          </a:p>
          <a:p>
            <a:endParaRPr lang="en-US" dirty="0"/>
          </a:p>
          <a:p>
            <a:r>
              <a:rPr lang="en-US" dirty="0"/>
              <a:t>Biotic interactions may include top-down control through viral lysis and grazing, as well as microbe-microbe interactions.</a:t>
            </a:r>
          </a:p>
          <a:p>
            <a:endParaRPr lang="en-US" dirty="0"/>
          </a:p>
          <a:p>
            <a:r>
              <a:rPr lang="en-US" dirty="0"/>
              <a:t>Due to technological restrictions, investigations of microbe-microbe interactions have typically been limited. With access to high-throughout sequencing, we can now construct co-occurrence networks in an attempt to decipher intra- and inter-specific interactions within communities.</a:t>
            </a:r>
          </a:p>
          <a:p>
            <a:endParaRPr lang="en-US" dirty="0"/>
          </a:p>
          <a:p>
            <a:r>
              <a:rPr lang="en-US" dirty="0"/>
              <a:t>Previous research has indicated that microbial communities exhibit non-random co-occurrence patterns and module structures, suggesting that biotic selection plays a strong role in shaping community assembly.</a:t>
            </a:r>
          </a:p>
          <a:p>
            <a:endParaRPr lang="en-US" dirty="0"/>
          </a:p>
          <a:p>
            <a:r>
              <a:rPr lang="en-US" dirty="0"/>
              <a:t>Communities may even </a:t>
            </a:r>
            <a:r>
              <a:rPr lang="en-US" dirty="0" err="1"/>
              <a:t>centre</a:t>
            </a:r>
            <a:r>
              <a:rPr lang="en-US" dirty="0"/>
              <a:t> around keystone species, that maintain the functioning of the community as a whole. </a:t>
            </a:r>
          </a:p>
        </p:txBody>
      </p:sp>
      <p:sp>
        <p:nvSpPr>
          <p:cNvPr id="4" name="Slide Number Placeholder 3"/>
          <p:cNvSpPr>
            <a:spLocks noGrp="1"/>
          </p:cNvSpPr>
          <p:nvPr>
            <p:ph type="sldNum" sz="quarter" idx="5"/>
          </p:nvPr>
        </p:nvSpPr>
        <p:spPr/>
        <p:txBody>
          <a:bodyPr/>
          <a:lstStyle/>
          <a:p>
            <a:fld id="{91AE2140-D502-214A-B76B-E0784B2C949B}" type="slidenum">
              <a:rPr lang="en-US" smtClean="0"/>
              <a:t>24</a:t>
            </a:fld>
            <a:endParaRPr lang="en-US"/>
          </a:p>
        </p:txBody>
      </p:sp>
    </p:spTree>
    <p:extLst>
      <p:ext uri="{BB962C8B-B14F-4D97-AF65-F5344CB8AC3E}">
        <p14:creationId xmlns:p14="http://schemas.microsoft.com/office/powerpoint/2010/main" val="2107534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Centrality – how close is a node to the network as a whole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Degree Centrality – number of links connected to a node (who has the most friends?)</a:t>
            </a:r>
          </a:p>
          <a:p>
            <a:r>
              <a:rPr lang="en-US" dirty="0"/>
              <a:t>Closeness Centrality -  average length of the shortest path between the node and all other nodes in the graph (how long does it take me on average to reach another node)</a:t>
            </a:r>
          </a:p>
          <a:p>
            <a:r>
              <a:rPr lang="en-US" dirty="0"/>
              <a:t>Betweenness Centrality – the number of times a node is crossed by each of the shortest routes between nodes (between any two nodes there is a shortest distance to travel. How many shortest distances is the node of interest within?)</a:t>
            </a:r>
          </a:p>
          <a:p>
            <a:endParaRPr lang="en-US" dirty="0"/>
          </a:p>
          <a:p>
            <a:r>
              <a:rPr lang="en-US" dirty="0"/>
              <a:t>Clustering</a:t>
            </a:r>
          </a:p>
          <a:p>
            <a:r>
              <a:rPr lang="en-US" dirty="0"/>
              <a:t>What groups are within the network?</a:t>
            </a:r>
          </a:p>
          <a:p>
            <a:r>
              <a:rPr lang="en-US" dirty="0"/>
              <a:t>Clustering coefficient – how many connections are there to other nodes, compared to the POTENTIAL number of connections to other nodes within the group?</a:t>
            </a:r>
          </a:p>
          <a:p>
            <a:r>
              <a:rPr lang="en-US" dirty="0"/>
              <a:t>Clustering coefficient = 1 means there is a clique, so all nodes are connected to each other in a group</a:t>
            </a:r>
          </a:p>
          <a:p>
            <a:endParaRPr lang="en-US" dirty="0"/>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25</a:t>
            </a:fld>
            <a:endParaRPr lang="en-US"/>
          </a:p>
        </p:txBody>
      </p:sp>
    </p:spTree>
    <p:extLst>
      <p:ext uri="{BB962C8B-B14F-4D97-AF65-F5344CB8AC3E}">
        <p14:creationId xmlns:p14="http://schemas.microsoft.com/office/powerpoint/2010/main" val="553393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Based on correlation analysis, for the positive co-occurrence network, 6526 edges, which depict significant and strong pairwise correlations between species (Spearman's </a:t>
            </a:r>
            <a:r>
              <a:rPr lang="el-GR" i="1" dirty="0"/>
              <a:t>ρ</a:t>
            </a:r>
            <a:r>
              <a:rPr lang="el-GR" dirty="0"/>
              <a:t> ≥ 0.6, </a:t>
            </a:r>
            <a:r>
              <a:rPr lang="en-GB" i="1" dirty="0"/>
              <a:t>P</a:t>
            </a:r>
            <a:r>
              <a:rPr lang="en-GB" dirty="0"/>
              <a:t> &lt; 0.01), were captured between 554 nodes (i.e. ASVs).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Based on correlation analysis, for the negative co-occurrence network, 1780 edges, which depict significant and strong pairwise correlations between species (Spearman's </a:t>
            </a:r>
            <a:r>
              <a:rPr lang="el-GR" i="1" dirty="0"/>
              <a:t>ρ</a:t>
            </a:r>
            <a:r>
              <a:rPr lang="el-GR" dirty="0"/>
              <a:t> ≥ 0.6, </a:t>
            </a:r>
            <a:r>
              <a:rPr lang="en-GB" i="1" dirty="0"/>
              <a:t>P</a:t>
            </a:r>
            <a:r>
              <a:rPr lang="en-GB" dirty="0"/>
              <a:t> &lt; 0.01), were captured between 299 nodes (i.e. ASVs).</a:t>
            </a:r>
          </a:p>
          <a:p>
            <a:endParaRPr lang="en-GB" dirty="0"/>
          </a:p>
          <a:p>
            <a:endParaRPr lang="en-GB" dirty="0"/>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26</a:t>
            </a:fld>
            <a:endParaRPr lang="en-US"/>
          </a:p>
        </p:txBody>
      </p:sp>
    </p:spTree>
    <p:extLst>
      <p:ext uri="{BB962C8B-B14F-4D97-AF65-F5344CB8AC3E}">
        <p14:creationId xmlns:p14="http://schemas.microsoft.com/office/powerpoint/2010/main" val="301421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Packages:</a:t>
            </a:r>
          </a:p>
          <a:p>
            <a:r>
              <a:rPr lang="en-US" dirty="0"/>
              <a:t>Vegan</a:t>
            </a:r>
          </a:p>
          <a:p>
            <a:r>
              <a:rPr lang="en-US" dirty="0" err="1"/>
              <a:t>Igraph</a:t>
            </a:r>
            <a:endParaRPr lang="en-US" dirty="0"/>
          </a:p>
          <a:p>
            <a:r>
              <a:rPr lang="en-US" dirty="0" err="1"/>
              <a:t>Hmisc</a:t>
            </a:r>
            <a:endParaRPr lang="en-US" dirty="0"/>
          </a:p>
          <a:p>
            <a:endParaRPr lang="en-US" dirty="0"/>
          </a:p>
          <a:p>
            <a:r>
              <a:rPr lang="en-US" dirty="0"/>
              <a:t>1) Defines functions for co-occurrence network analysis. Function needs a matrix with samples as columns and ASVs as rows, as well as the </a:t>
            </a:r>
            <a:r>
              <a:rPr lang="en-GB" dirty="0" err="1"/>
              <a:t>cutoffs</a:t>
            </a:r>
            <a:r>
              <a:rPr lang="en-GB" dirty="0"/>
              <a:t> for clustering coefficient and cut off for FDR-adjusted P-value. </a:t>
            </a:r>
          </a:p>
          <a:p>
            <a:endParaRPr lang="en-GB" dirty="0"/>
          </a:p>
          <a:p>
            <a:r>
              <a:rPr lang="en-GB" dirty="0"/>
              <a:t>2) </a:t>
            </a:r>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27</a:t>
            </a:fld>
            <a:endParaRPr lang="en-US"/>
          </a:p>
        </p:txBody>
      </p:sp>
    </p:spTree>
    <p:extLst>
      <p:ext uri="{BB962C8B-B14F-4D97-AF65-F5344CB8AC3E}">
        <p14:creationId xmlns:p14="http://schemas.microsoft.com/office/powerpoint/2010/main" val="1986868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6ED4-37C7-E448-902F-EE6F0CE1D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71A2E0-F835-014B-80CB-77E9AEE989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6D316A-042F-B74E-8DC6-4E4014393382}"/>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5" name="Footer Placeholder 4">
            <a:extLst>
              <a:ext uri="{FF2B5EF4-FFF2-40B4-BE49-F238E27FC236}">
                <a16:creationId xmlns:a16="http://schemas.microsoft.com/office/drawing/2014/main" id="{2C71B796-2B75-0D42-8306-673D9131C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F2C0B-EF26-CD47-A0FB-195E4A2DE356}"/>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62015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55D21-E73E-A54C-99C6-133F6056E3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F6754-47FC-6D45-80E9-AAF130C6E06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15A83-D0F5-8540-B5A8-566B05F23178}"/>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5" name="Footer Placeholder 4">
            <a:extLst>
              <a:ext uri="{FF2B5EF4-FFF2-40B4-BE49-F238E27FC236}">
                <a16:creationId xmlns:a16="http://schemas.microsoft.com/office/drawing/2014/main" id="{8AD7AC9D-C511-1E4E-864C-A891B0215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7D621-DCB0-3142-BF13-694096EF6AEF}"/>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562619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4B48-3643-3B48-8B28-44961569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05AFAA-9D63-5441-956D-C29B7339F3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D8EE7C-67D2-5340-81AC-B55ECE40ACB2}"/>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5" name="Footer Placeholder 4">
            <a:extLst>
              <a:ext uri="{FF2B5EF4-FFF2-40B4-BE49-F238E27FC236}">
                <a16:creationId xmlns:a16="http://schemas.microsoft.com/office/drawing/2014/main" id="{FC943995-AADD-C244-A8B2-5A0A5FA90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B4D55-D831-E247-95F3-35788DCA421C}"/>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357130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BF75-992E-B34D-8B5A-39D45C763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17CD1A-9E1B-C748-80F1-51F7D91724F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B57FF9-3960-8449-B387-22E13124996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2447D3-F1B6-7D4C-A043-B174BFB92518}"/>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6" name="Footer Placeholder 5">
            <a:extLst>
              <a:ext uri="{FF2B5EF4-FFF2-40B4-BE49-F238E27FC236}">
                <a16:creationId xmlns:a16="http://schemas.microsoft.com/office/drawing/2014/main" id="{874F9E9E-0285-DD4B-872C-1F47CA6015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2C7EF3-B524-044C-A4E4-5EA74CB0B144}"/>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895092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FF04-926E-E848-B2DB-5B926AFDF3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92B505-751C-644A-897E-678102EF62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40E3200-2E67-C044-8633-8D8642D84EC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B9841-CADB-384C-9B99-7ED3B3179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8D7F8D0-68DF-AD48-9B1E-5D27F4CEDD9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DD943A-0DC8-6E47-AED3-C7681ED2881B}"/>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8" name="Footer Placeholder 7">
            <a:extLst>
              <a:ext uri="{FF2B5EF4-FFF2-40B4-BE49-F238E27FC236}">
                <a16:creationId xmlns:a16="http://schemas.microsoft.com/office/drawing/2014/main" id="{AB51F04D-6ED7-6245-AA23-240BDF451C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FDCF7C-B092-2844-8651-FD66318BC1EB}"/>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497000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7436-E267-2E43-BFF0-3FEE581344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ED9E8F-3DEF-AF4C-B5D8-7073CA24E422}"/>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4" name="Footer Placeholder 3">
            <a:extLst>
              <a:ext uri="{FF2B5EF4-FFF2-40B4-BE49-F238E27FC236}">
                <a16:creationId xmlns:a16="http://schemas.microsoft.com/office/drawing/2014/main" id="{FF764CB4-7254-BD48-BB35-9E29D4D345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AC1217-DDE3-A14F-A526-2FFFDD0627A9}"/>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962791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9D74E3-041D-AD43-B0B2-EBA7BAD23AC0}"/>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3" name="Footer Placeholder 2">
            <a:extLst>
              <a:ext uri="{FF2B5EF4-FFF2-40B4-BE49-F238E27FC236}">
                <a16:creationId xmlns:a16="http://schemas.microsoft.com/office/drawing/2014/main" id="{2E6B2846-AB7E-5A4E-9E1D-968FE926DF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060BDD-CD2A-204F-BB39-05BD2DBFA878}"/>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2596459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B695A-AC8B-284B-80E3-74313902F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3103C2-A0F3-634F-B478-878D5AB392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B61E4B-0320-3A4A-BADF-AC42D3EFC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92C112-BA1D-B941-B3BB-8799CDF4FF9C}"/>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6" name="Footer Placeholder 5">
            <a:extLst>
              <a:ext uri="{FF2B5EF4-FFF2-40B4-BE49-F238E27FC236}">
                <a16:creationId xmlns:a16="http://schemas.microsoft.com/office/drawing/2014/main" id="{E9A3A9DA-E62D-AB4C-8A11-8DB0302DC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D08E64-DF30-3C42-92EF-4537CCFF1137}"/>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98917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FDAD-6351-E14A-90F2-BF82FF5202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E62E19-8421-1443-A89F-CC9E156DA8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2B4475-E58E-154F-953B-80A501F0D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B57061-9C6A-624C-ADA2-15CC575E8E8E}"/>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6" name="Footer Placeholder 5">
            <a:extLst>
              <a:ext uri="{FF2B5EF4-FFF2-40B4-BE49-F238E27FC236}">
                <a16:creationId xmlns:a16="http://schemas.microsoft.com/office/drawing/2014/main" id="{BB2056C1-CE11-A842-8F3A-458F4EDF4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CCC1F-416E-CB42-8F73-B93C9FA1A25E}"/>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2561872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F1897-1429-2940-B19C-7F80E2E577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96D649-25D3-CA4D-AAB6-770336C3C7B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BF9D3A-4DD0-C345-85D8-5DD872AFF291}"/>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5" name="Footer Placeholder 4">
            <a:extLst>
              <a:ext uri="{FF2B5EF4-FFF2-40B4-BE49-F238E27FC236}">
                <a16:creationId xmlns:a16="http://schemas.microsoft.com/office/drawing/2014/main" id="{35E20CF1-B631-F74C-B716-EB7C3B0E8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3ED52-4E03-1647-9B18-AA9788B3B6D5}"/>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3838870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4E73E-E186-7245-A00B-35E7CCEFCB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E94A51-9167-FE42-A932-E7D7DC3C7DB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1CBAE-52BE-E04C-94E3-DFC07C3B9376}"/>
              </a:ext>
            </a:extLst>
          </p:cNvPr>
          <p:cNvSpPr>
            <a:spLocks noGrp="1"/>
          </p:cNvSpPr>
          <p:nvPr>
            <p:ph type="dt" sz="half" idx="10"/>
          </p:nvPr>
        </p:nvSpPr>
        <p:spPr/>
        <p:txBody>
          <a:bodyPr/>
          <a:lstStyle/>
          <a:p>
            <a:fld id="{630F8F96-A0AC-FA40-A1E6-5325FF9AFD7F}" type="datetimeFigureOut">
              <a:rPr lang="en-US" smtClean="0"/>
              <a:t>4/20/21</a:t>
            </a:fld>
            <a:endParaRPr lang="en-US"/>
          </a:p>
        </p:txBody>
      </p:sp>
      <p:sp>
        <p:nvSpPr>
          <p:cNvPr id="5" name="Footer Placeholder 4">
            <a:extLst>
              <a:ext uri="{FF2B5EF4-FFF2-40B4-BE49-F238E27FC236}">
                <a16:creationId xmlns:a16="http://schemas.microsoft.com/office/drawing/2014/main" id="{F8892F53-118B-1845-9D45-60D5594015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E5371-D811-5A4A-BD23-493F2324B61D}"/>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4236061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AF585-6C0E-2044-B915-C16A5D58E4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A99696-87D6-F14B-8943-ED9105E4BB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86F3D-35AA-E247-BF75-A09555C10E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0F8F96-A0AC-FA40-A1E6-5325FF9AFD7F}" type="datetimeFigureOut">
              <a:rPr lang="en-US" smtClean="0"/>
              <a:t>4/20/21</a:t>
            </a:fld>
            <a:endParaRPr lang="en-US"/>
          </a:p>
        </p:txBody>
      </p:sp>
      <p:sp>
        <p:nvSpPr>
          <p:cNvPr id="5" name="Footer Placeholder 4">
            <a:extLst>
              <a:ext uri="{FF2B5EF4-FFF2-40B4-BE49-F238E27FC236}">
                <a16:creationId xmlns:a16="http://schemas.microsoft.com/office/drawing/2014/main" id="{98389104-0F81-1A46-942C-5C76AADA78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733030-7C7F-4441-A9B5-5BAB3E58D2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A2532-43B4-C944-8D65-991FE1B83988}" type="slidenum">
              <a:rPr lang="en-US" smtClean="0"/>
              <a:t>‹#›</a:t>
            </a:fld>
            <a:endParaRPr lang="en-US"/>
          </a:p>
        </p:txBody>
      </p:sp>
    </p:spTree>
    <p:extLst>
      <p:ext uri="{BB962C8B-B14F-4D97-AF65-F5344CB8AC3E}">
        <p14:creationId xmlns:p14="http://schemas.microsoft.com/office/powerpoint/2010/main" val="219760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2BC3-DD30-0944-A021-30D7464B4665}"/>
              </a:ext>
            </a:extLst>
          </p:cNvPr>
          <p:cNvSpPr>
            <a:spLocks noGrp="1"/>
          </p:cNvSpPr>
          <p:nvPr>
            <p:ph type="ctrTitle"/>
          </p:nvPr>
        </p:nvSpPr>
        <p:spPr>
          <a:xfrm>
            <a:off x="1367883" y="2014460"/>
            <a:ext cx="9144000" cy="2387600"/>
          </a:xfrm>
        </p:spPr>
        <p:txBody>
          <a:bodyPr>
            <a:normAutofit fontScale="90000"/>
          </a:bodyPr>
          <a:lstStyle/>
          <a:p>
            <a:r>
              <a:rPr lang="en-US" dirty="0"/>
              <a:t>Microbial Biogeography and Community Assembly Mechanisms in the Supraglacial Environment: Influence of activity and abundance</a:t>
            </a:r>
          </a:p>
        </p:txBody>
      </p:sp>
      <p:sp>
        <p:nvSpPr>
          <p:cNvPr id="3" name="Subtitle 2">
            <a:extLst>
              <a:ext uri="{FF2B5EF4-FFF2-40B4-BE49-F238E27FC236}">
                <a16:creationId xmlns:a16="http://schemas.microsoft.com/office/drawing/2014/main" id="{2FDE0BEF-153E-6045-8619-15D9DCF32914}"/>
              </a:ext>
            </a:extLst>
          </p:cNvPr>
          <p:cNvSpPr>
            <a:spLocks noGrp="1"/>
          </p:cNvSpPr>
          <p:nvPr>
            <p:ph type="subTitle" idx="1"/>
          </p:nvPr>
        </p:nvSpPr>
        <p:spPr>
          <a:xfrm>
            <a:off x="1367883" y="4895579"/>
            <a:ext cx="9144000" cy="568519"/>
          </a:xfrm>
        </p:spPr>
        <p:txBody>
          <a:bodyPr>
            <a:normAutofit/>
          </a:bodyPr>
          <a:lstStyle/>
          <a:p>
            <a:r>
              <a:rPr lang="en-US" dirty="0"/>
              <a:t>Amy Solman</a:t>
            </a:r>
          </a:p>
          <a:p>
            <a:endParaRPr lang="en-US" dirty="0"/>
          </a:p>
        </p:txBody>
      </p:sp>
    </p:spTree>
    <p:extLst>
      <p:ext uri="{BB962C8B-B14F-4D97-AF65-F5344CB8AC3E}">
        <p14:creationId xmlns:p14="http://schemas.microsoft.com/office/powerpoint/2010/main" val="301009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C106-A16C-4843-9F85-7D221F98A36E}"/>
              </a:ext>
            </a:extLst>
          </p:cNvPr>
          <p:cNvSpPr>
            <a:spLocks noGrp="1"/>
          </p:cNvSpPr>
          <p:nvPr>
            <p:ph type="title"/>
          </p:nvPr>
        </p:nvSpPr>
        <p:spPr/>
        <p:txBody>
          <a:bodyPr/>
          <a:lstStyle/>
          <a:p>
            <a:r>
              <a:rPr lang="en-US" dirty="0"/>
              <a:t>Hypotheses</a:t>
            </a:r>
          </a:p>
        </p:txBody>
      </p:sp>
      <p:sp>
        <p:nvSpPr>
          <p:cNvPr id="3" name="Content Placeholder 2">
            <a:extLst>
              <a:ext uri="{FF2B5EF4-FFF2-40B4-BE49-F238E27FC236}">
                <a16:creationId xmlns:a16="http://schemas.microsoft.com/office/drawing/2014/main" id="{CB3584D2-37E7-F041-BDE2-7B1BFF03B4C6}"/>
              </a:ext>
            </a:extLst>
          </p:cNvPr>
          <p:cNvSpPr>
            <a:spLocks noGrp="1"/>
          </p:cNvSpPr>
          <p:nvPr>
            <p:ph idx="1"/>
          </p:nvPr>
        </p:nvSpPr>
        <p:spPr/>
        <p:txBody>
          <a:bodyPr>
            <a:normAutofit fontScale="92500" lnSpcReduction="20000"/>
          </a:bodyPr>
          <a:lstStyle/>
          <a:p>
            <a:r>
              <a:rPr lang="en-US" u="sng" dirty="0"/>
              <a:t>Microbial community composition in the supraglacial environment is explained by both deterministic and stochastic processes.</a:t>
            </a:r>
          </a:p>
          <a:p>
            <a:r>
              <a:rPr lang="en-US" u="sng" dirty="0"/>
              <a:t>Community assembly processes will differ between abundant and rare taxa. </a:t>
            </a:r>
          </a:p>
          <a:p>
            <a:r>
              <a:rPr lang="en-US" u="sng" dirty="0"/>
              <a:t>Biogeographic patterns (ISAR, DDR) will differ between abundant and rare taxa.</a:t>
            </a:r>
          </a:p>
          <a:p>
            <a:r>
              <a:rPr lang="en-US" dirty="0"/>
              <a:t>Community assembly processes will differ between bulk and active microbial communities. That is, active communities will be more strongly influenced by deterministic processes and bulk communities will be more strongly influenced by stochastic processes.</a:t>
            </a:r>
          </a:p>
          <a:p>
            <a:r>
              <a:rPr lang="en-US" dirty="0"/>
              <a:t>Biogeographic patterns (ISAR, DDR) will differ between bulk and active communities. That is, active communities will exhibit stronger biogeographic patterns than bulk communities.</a:t>
            </a:r>
          </a:p>
          <a:p>
            <a:endParaRPr lang="en-US" dirty="0"/>
          </a:p>
        </p:txBody>
      </p:sp>
    </p:spTree>
    <p:extLst>
      <p:ext uri="{BB962C8B-B14F-4D97-AF65-F5344CB8AC3E}">
        <p14:creationId xmlns:p14="http://schemas.microsoft.com/office/powerpoint/2010/main" val="3966638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66C24-0A16-374D-BF9D-60031E2505CD}"/>
              </a:ext>
            </a:extLst>
          </p:cNvPr>
          <p:cNvSpPr>
            <a:spLocks noGrp="1"/>
          </p:cNvSpPr>
          <p:nvPr>
            <p:ph type="title"/>
          </p:nvPr>
        </p:nvSpPr>
        <p:spPr/>
        <p:txBody>
          <a:bodyPr/>
          <a:lstStyle/>
          <a:p>
            <a:r>
              <a:rPr lang="en-US" dirty="0"/>
              <a:t>Analysis Workflow</a:t>
            </a:r>
          </a:p>
        </p:txBody>
      </p:sp>
      <p:graphicFrame>
        <p:nvGraphicFramePr>
          <p:cNvPr id="4" name="Diagram 3">
            <a:extLst>
              <a:ext uri="{FF2B5EF4-FFF2-40B4-BE49-F238E27FC236}">
                <a16:creationId xmlns:a16="http://schemas.microsoft.com/office/drawing/2014/main" id="{123C19CA-2238-F94E-9EC3-78CEF4AA032F}"/>
              </a:ext>
            </a:extLst>
          </p:cNvPr>
          <p:cNvGraphicFramePr/>
          <p:nvPr>
            <p:extLst>
              <p:ext uri="{D42A27DB-BD31-4B8C-83A1-F6EECF244321}">
                <p14:modId xmlns:p14="http://schemas.microsoft.com/office/powerpoint/2010/main" val="1082962232"/>
              </p:ext>
            </p:extLst>
          </p:nvPr>
        </p:nvGraphicFramePr>
        <p:xfrm>
          <a:off x="605307" y="719666"/>
          <a:ext cx="1111446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0184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0CD05-747D-1E45-B228-C14538EB7A69}"/>
              </a:ext>
            </a:extLst>
          </p:cNvPr>
          <p:cNvSpPr>
            <a:spLocks noGrp="1"/>
          </p:cNvSpPr>
          <p:nvPr>
            <p:ph type="title"/>
          </p:nvPr>
        </p:nvSpPr>
        <p:spPr/>
        <p:txBody>
          <a:bodyPr>
            <a:normAutofit fontScale="90000"/>
          </a:bodyPr>
          <a:lstStyle/>
          <a:p>
            <a:r>
              <a:rPr lang="en-US" dirty="0"/>
              <a:t>Sommers et al., (2020) ﻿Microbial Species–Area Relationships in Antarctic Cryoconite Holes Depend on Productivity</a:t>
            </a:r>
          </a:p>
        </p:txBody>
      </p:sp>
      <p:sp>
        <p:nvSpPr>
          <p:cNvPr id="3" name="Content Placeholder 2">
            <a:extLst>
              <a:ext uri="{FF2B5EF4-FFF2-40B4-BE49-F238E27FC236}">
                <a16:creationId xmlns:a16="http://schemas.microsoft.com/office/drawing/2014/main" id="{C03C291E-7610-8743-BC71-FD328E619CDA}"/>
              </a:ext>
            </a:extLst>
          </p:cNvPr>
          <p:cNvSpPr>
            <a:spLocks noGrp="1"/>
          </p:cNvSpPr>
          <p:nvPr>
            <p:ph idx="1"/>
          </p:nvPr>
        </p:nvSpPr>
        <p:spPr/>
        <p:txBody>
          <a:bodyPr/>
          <a:lstStyle/>
          <a:p>
            <a:endParaRPr lang="en-US" dirty="0"/>
          </a:p>
          <a:p>
            <a:r>
              <a:rPr lang="en-US" dirty="0"/>
              <a:t>Recently published</a:t>
            </a:r>
          </a:p>
          <a:p>
            <a:r>
              <a:rPr lang="en-US" dirty="0"/>
              <a:t>Cryoconite communities</a:t>
            </a:r>
          </a:p>
          <a:p>
            <a:r>
              <a:rPr lang="en-US" dirty="0"/>
              <a:t>Detailed information on sequence processing</a:t>
            </a:r>
          </a:p>
          <a:p>
            <a:r>
              <a:rPr lang="en-US" dirty="0"/>
              <a:t>ISAR analysis</a:t>
            </a:r>
          </a:p>
          <a:p>
            <a:r>
              <a:rPr lang="en-US" dirty="0"/>
              <a:t>Includes bacterial and eukaryotic sequence data</a:t>
            </a:r>
          </a:p>
          <a:p>
            <a:r>
              <a:rPr lang="en-US" dirty="0"/>
              <a:t>Includes data from two glaciers</a:t>
            </a:r>
          </a:p>
        </p:txBody>
      </p:sp>
    </p:spTree>
    <p:extLst>
      <p:ext uri="{BB962C8B-B14F-4D97-AF65-F5344CB8AC3E}">
        <p14:creationId xmlns:p14="http://schemas.microsoft.com/office/powerpoint/2010/main" val="213364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8AB4-FF76-A94F-B32F-7FF7F1B7CE49}"/>
              </a:ext>
            </a:extLst>
          </p:cNvPr>
          <p:cNvSpPr>
            <a:spLocks noGrp="1"/>
          </p:cNvSpPr>
          <p:nvPr>
            <p:ph type="title"/>
          </p:nvPr>
        </p:nvSpPr>
        <p:spPr/>
        <p:txBody>
          <a:bodyPr/>
          <a:lstStyle/>
          <a:p>
            <a:r>
              <a:rPr lang="en-US" dirty="0"/>
              <a:t>QIIME2 &amp; DADA2</a:t>
            </a:r>
          </a:p>
        </p:txBody>
      </p:sp>
      <p:graphicFrame>
        <p:nvGraphicFramePr>
          <p:cNvPr id="4" name="Diagram 3">
            <a:extLst>
              <a:ext uri="{FF2B5EF4-FFF2-40B4-BE49-F238E27FC236}">
                <a16:creationId xmlns:a16="http://schemas.microsoft.com/office/drawing/2014/main" id="{04E634AB-22E0-304B-B405-6C29D3E8790E}"/>
              </a:ext>
            </a:extLst>
          </p:cNvPr>
          <p:cNvGraphicFramePr/>
          <p:nvPr>
            <p:extLst>
              <p:ext uri="{D42A27DB-BD31-4B8C-83A1-F6EECF244321}">
                <p14:modId xmlns:p14="http://schemas.microsoft.com/office/powerpoint/2010/main" val="1176625177"/>
              </p:ext>
            </p:extLst>
          </p:nvPr>
        </p:nvGraphicFramePr>
        <p:xfrm>
          <a:off x="496700" y="1449387"/>
          <a:ext cx="11404800" cy="5259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5633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147D-246C-1C4E-9483-9D5FCC7642FC}"/>
              </a:ext>
            </a:extLst>
          </p:cNvPr>
          <p:cNvSpPr>
            <a:spLocks noGrp="1"/>
          </p:cNvSpPr>
          <p:nvPr>
            <p:ph type="title"/>
          </p:nvPr>
        </p:nvSpPr>
        <p:spPr/>
        <p:txBody>
          <a:bodyPr/>
          <a:lstStyle/>
          <a:p>
            <a:r>
              <a:rPr lang="en-US" dirty="0"/>
              <a:t>Data Prep</a:t>
            </a:r>
          </a:p>
        </p:txBody>
      </p:sp>
      <p:graphicFrame>
        <p:nvGraphicFramePr>
          <p:cNvPr id="7" name="Diagram 6">
            <a:extLst>
              <a:ext uri="{FF2B5EF4-FFF2-40B4-BE49-F238E27FC236}">
                <a16:creationId xmlns:a16="http://schemas.microsoft.com/office/drawing/2014/main" id="{B086D1E3-AD9E-5542-B8AC-F2FC4B285B6A}"/>
              </a:ext>
            </a:extLst>
          </p:cNvPr>
          <p:cNvGraphicFramePr/>
          <p:nvPr>
            <p:extLst>
              <p:ext uri="{D42A27DB-BD31-4B8C-83A1-F6EECF244321}">
                <p14:modId xmlns:p14="http://schemas.microsoft.com/office/powerpoint/2010/main" val="2036473356"/>
              </p:ext>
            </p:extLst>
          </p:nvPr>
        </p:nvGraphicFramePr>
        <p:xfrm>
          <a:off x="496700" y="1449387"/>
          <a:ext cx="11403106" cy="5259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5383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83892-3D96-014B-BA22-D3A4750E524A}"/>
              </a:ext>
            </a:extLst>
          </p:cNvPr>
          <p:cNvSpPr>
            <a:spLocks noGrp="1"/>
          </p:cNvSpPr>
          <p:nvPr>
            <p:ph type="title"/>
          </p:nvPr>
        </p:nvSpPr>
        <p:spPr>
          <a:solidFill>
            <a:srgbClr val="FFC003"/>
          </a:solidFill>
        </p:spPr>
        <p:txBody>
          <a:bodyPr/>
          <a:lstStyle/>
          <a:p>
            <a:r>
              <a:rPr lang="en-US" dirty="0">
                <a:solidFill>
                  <a:schemeClr val="bg1"/>
                </a:solidFill>
              </a:rPr>
              <a:t>Multivariate Analysis</a:t>
            </a:r>
          </a:p>
        </p:txBody>
      </p:sp>
      <p:sp>
        <p:nvSpPr>
          <p:cNvPr id="3" name="Content Placeholder 2">
            <a:extLst>
              <a:ext uri="{FF2B5EF4-FFF2-40B4-BE49-F238E27FC236}">
                <a16:creationId xmlns:a16="http://schemas.microsoft.com/office/drawing/2014/main" id="{057D77B9-9D78-E74A-8AAE-82071815FD34}"/>
              </a:ext>
            </a:extLst>
          </p:cNvPr>
          <p:cNvSpPr>
            <a:spLocks noGrp="1"/>
          </p:cNvSpPr>
          <p:nvPr>
            <p:ph idx="1"/>
          </p:nvPr>
        </p:nvSpPr>
        <p:spPr/>
        <p:txBody>
          <a:bodyPr>
            <a:normAutofit/>
          </a:bodyPr>
          <a:lstStyle/>
          <a:p>
            <a:pPr marL="742950" indent="-742950">
              <a:buFont typeface="+mj-lt"/>
              <a:buAutoNum type="arabicPeriod"/>
            </a:pPr>
            <a:r>
              <a:rPr lang="en-US" sz="4000" dirty="0"/>
              <a:t>Alpha Diversity </a:t>
            </a:r>
          </a:p>
          <a:p>
            <a:pPr marL="742950" indent="-742950">
              <a:buFont typeface="+mj-lt"/>
              <a:buAutoNum type="arabicPeriod"/>
            </a:pPr>
            <a:r>
              <a:rPr lang="en-US" sz="4000" dirty="0"/>
              <a:t>Beta Diversity &amp; Ordination</a:t>
            </a:r>
          </a:p>
          <a:p>
            <a:pPr marL="742950" indent="-742950">
              <a:buFont typeface="+mj-lt"/>
              <a:buAutoNum type="arabicPeriod"/>
            </a:pPr>
            <a:r>
              <a:rPr lang="en-US" sz="4000" dirty="0"/>
              <a:t>Linear Models (including ISAR and DDR)</a:t>
            </a:r>
          </a:p>
        </p:txBody>
      </p:sp>
    </p:spTree>
    <p:extLst>
      <p:ext uri="{BB962C8B-B14F-4D97-AF65-F5344CB8AC3E}">
        <p14:creationId xmlns:p14="http://schemas.microsoft.com/office/powerpoint/2010/main" val="542213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2E773-3623-2B44-B116-7AD110CA92ED}"/>
              </a:ext>
            </a:extLst>
          </p:cNvPr>
          <p:cNvSpPr>
            <a:spLocks noGrp="1"/>
          </p:cNvSpPr>
          <p:nvPr>
            <p:ph type="title"/>
          </p:nvPr>
        </p:nvSpPr>
        <p:spPr>
          <a:solidFill>
            <a:srgbClr val="FFC003"/>
          </a:solidFill>
        </p:spPr>
        <p:txBody>
          <a:bodyPr/>
          <a:lstStyle/>
          <a:p>
            <a:r>
              <a:rPr lang="en-US" dirty="0">
                <a:solidFill>
                  <a:schemeClr val="bg1"/>
                </a:solidFill>
              </a:rPr>
              <a:t>Alpha Diversity</a:t>
            </a:r>
          </a:p>
        </p:txBody>
      </p:sp>
      <p:sp>
        <p:nvSpPr>
          <p:cNvPr id="3" name="Content Placeholder 2">
            <a:extLst>
              <a:ext uri="{FF2B5EF4-FFF2-40B4-BE49-F238E27FC236}">
                <a16:creationId xmlns:a16="http://schemas.microsoft.com/office/drawing/2014/main" id="{C8B28687-3A56-724D-832B-D6AF3CD1B17E}"/>
              </a:ext>
            </a:extLst>
          </p:cNvPr>
          <p:cNvSpPr>
            <a:spLocks noGrp="1"/>
          </p:cNvSpPr>
          <p:nvPr>
            <p:ph idx="1"/>
          </p:nvPr>
        </p:nvSpPr>
        <p:spPr>
          <a:xfrm>
            <a:off x="838200" y="5557837"/>
            <a:ext cx="10515600" cy="619125"/>
          </a:xfrm>
        </p:spPr>
        <p:txBody>
          <a:bodyPr>
            <a:normAutofit fontScale="92500" lnSpcReduction="20000"/>
          </a:bodyPr>
          <a:lstStyle/>
          <a:p>
            <a:pPr marL="0" indent="0" algn="ctr">
              <a:buNone/>
            </a:pPr>
            <a:r>
              <a:rPr lang="en-US" sz="2400" dirty="0"/>
              <a:t>Figure : </a:t>
            </a:r>
            <a:r>
              <a:rPr lang="en-GB" sz="2400" dirty="0"/>
              <a:t>Plots of ASV richness (A) and Shannon Diversity Index (B) for each glacier (richness: t = 2.0202, </a:t>
            </a:r>
            <a:r>
              <a:rPr lang="en-GB" sz="2400" dirty="0" err="1"/>
              <a:t>df</a:t>
            </a:r>
            <a:r>
              <a:rPr lang="en-GB" sz="2400" dirty="0"/>
              <a:t> = 32, p=0.0518, Shannon: W = 142, p=0.5808)</a:t>
            </a:r>
            <a:endParaRPr lang="en-US" sz="2400" dirty="0"/>
          </a:p>
        </p:txBody>
      </p:sp>
      <p:pic>
        <p:nvPicPr>
          <p:cNvPr id="5" name="Picture 4">
            <a:extLst>
              <a:ext uri="{FF2B5EF4-FFF2-40B4-BE49-F238E27FC236}">
                <a16:creationId xmlns:a16="http://schemas.microsoft.com/office/drawing/2014/main" id="{4FB688A8-5093-E44A-998C-E2EA4D158E52}"/>
              </a:ext>
            </a:extLst>
          </p:cNvPr>
          <p:cNvPicPr>
            <a:picLocks noChangeAspect="1"/>
          </p:cNvPicPr>
          <p:nvPr/>
        </p:nvPicPr>
        <p:blipFill>
          <a:blip r:embed="rId3"/>
          <a:stretch>
            <a:fillRect/>
          </a:stretch>
        </p:blipFill>
        <p:spPr>
          <a:xfrm>
            <a:off x="2438400" y="1795463"/>
            <a:ext cx="7315200" cy="3657600"/>
          </a:xfrm>
          <a:prstGeom prst="rect">
            <a:avLst/>
          </a:prstGeom>
        </p:spPr>
      </p:pic>
    </p:spTree>
    <p:extLst>
      <p:ext uri="{BB962C8B-B14F-4D97-AF65-F5344CB8AC3E}">
        <p14:creationId xmlns:p14="http://schemas.microsoft.com/office/powerpoint/2010/main" val="3700840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2A0EB-033A-2548-B24B-9258C1B51CB6}"/>
              </a:ext>
            </a:extLst>
          </p:cNvPr>
          <p:cNvSpPr>
            <a:spLocks noGrp="1"/>
          </p:cNvSpPr>
          <p:nvPr>
            <p:ph type="title"/>
          </p:nvPr>
        </p:nvSpPr>
        <p:spPr>
          <a:solidFill>
            <a:srgbClr val="FFC003"/>
          </a:solidFill>
        </p:spPr>
        <p:txBody>
          <a:bodyPr/>
          <a:lstStyle/>
          <a:p>
            <a:r>
              <a:rPr lang="en-US" dirty="0">
                <a:solidFill>
                  <a:schemeClr val="bg1"/>
                </a:solidFill>
              </a:rPr>
              <a:t>Beta Diversity &amp; Ordination: Weighted </a:t>
            </a:r>
            <a:r>
              <a:rPr lang="en-US" dirty="0" err="1">
                <a:solidFill>
                  <a:schemeClr val="bg1"/>
                </a:solidFill>
              </a:rPr>
              <a:t>UniFrac</a:t>
            </a:r>
            <a:endParaRPr lang="en-US" dirty="0">
              <a:solidFill>
                <a:schemeClr val="bg1"/>
              </a:solidFill>
            </a:endParaRPr>
          </a:p>
        </p:txBody>
      </p:sp>
      <p:sp>
        <p:nvSpPr>
          <p:cNvPr id="3" name="Content Placeholder 2">
            <a:extLst>
              <a:ext uri="{FF2B5EF4-FFF2-40B4-BE49-F238E27FC236}">
                <a16:creationId xmlns:a16="http://schemas.microsoft.com/office/drawing/2014/main" id="{AA3D5702-1A30-E248-80BA-2F3C6F41D3BA}"/>
              </a:ext>
            </a:extLst>
          </p:cNvPr>
          <p:cNvSpPr>
            <a:spLocks noGrp="1"/>
          </p:cNvSpPr>
          <p:nvPr>
            <p:ph idx="1"/>
          </p:nvPr>
        </p:nvSpPr>
        <p:spPr>
          <a:xfrm>
            <a:off x="838200" y="5786437"/>
            <a:ext cx="10515600" cy="800101"/>
          </a:xfrm>
        </p:spPr>
        <p:txBody>
          <a:bodyPr>
            <a:normAutofit fontScale="92500" lnSpcReduction="10000"/>
          </a:bodyPr>
          <a:lstStyle/>
          <a:p>
            <a:pPr marL="0" indent="0" algn="ctr">
              <a:buNone/>
            </a:pPr>
            <a:r>
              <a:rPr lang="en-US" sz="2000" dirty="0"/>
              <a:t>Figure : Beta diversity calculated using weighted </a:t>
            </a:r>
            <a:r>
              <a:rPr lang="en-US" sz="2000" dirty="0" err="1"/>
              <a:t>UniFrac</a:t>
            </a:r>
            <a:r>
              <a:rPr lang="en-US" sz="2000" dirty="0"/>
              <a:t> distances, visualized use </a:t>
            </a:r>
            <a:r>
              <a:rPr lang="en-US" sz="2000" dirty="0" err="1"/>
              <a:t>PCoA</a:t>
            </a:r>
            <a:r>
              <a:rPr lang="en-US" sz="2000" dirty="0"/>
              <a:t> (blue is Taylor Glacier and orange is Canada Glacier). This plot shows significant beta diversity variation between glaciers (PERMANOVA: F = 12.539, </a:t>
            </a:r>
            <a:r>
              <a:rPr lang="en-US" sz="2000" dirty="0" err="1"/>
              <a:t>df</a:t>
            </a:r>
            <a:r>
              <a:rPr lang="en-US" sz="2000" dirty="0"/>
              <a:t>=1, P = 0.0001).</a:t>
            </a:r>
          </a:p>
        </p:txBody>
      </p:sp>
      <p:pic>
        <p:nvPicPr>
          <p:cNvPr id="5" name="Picture 4">
            <a:extLst>
              <a:ext uri="{FF2B5EF4-FFF2-40B4-BE49-F238E27FC236}">
                <a16:creationId xmlns:a16="http://schemas.microsoft.com/office/drawing/2014/main" id="{9C1FC389-8FED-4D4B-AE7E-C8C819B547F0}"/>
              </a:ext>
            </a:extLst>
          </p:cNvPr>
          <p:cNvPicPr>
            <a:picLocks noChangeAspect="1"/>
          </p:cNvPicPr>
          <p:nvPr/>
        </p:nvPicPr>
        <p:blipFill>
          <a:blip r:embed="rId3"/>
          <a:stretch>
            <a:fillRect/>
          </a:stretch>
        </p:blipFill>
        <p:spPr>
          <a:xfrm>
            <a:off x="2438400" y="1909762"/>
            <a:ext cx="7315200" cy="3657600"/>
          </a:xfrm>
          <a:prstGeom prst="rect">
            <a:avLst/>
          </a:prstGeom>
        </p:spPr>
      </p:pic>
    </p:spTree>
    <p:extLst>
      <p:ext uri="{BB962C8B-B14F-4D97-AF65-F5344CB8AC3E}">
        <p14:creationId xmlns:p14="http://schemas.microsoft.com/office/powerpoint/2010/main" val="495349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97597-8752-BB4F-8014-E3B32D5A4471}"/>
              </a:ext>
            </a:extLst>
          </p:cNvPr>
          <p:cNvSpPr>
            <a:spLocks noGrp="1"/>
          </p:cNvSpPr>
          <p:nvPr>
            <p:ph type="title"/>
          </p:nvPr>
        </p:nvSpPr>
        <p:spPr>
          <a:solidFill>
            <a:srgbClr val="FFC003"/>
          </a:solidFill>
        </p:spPr>
        <p:txBody>
          <a:bodyPr/>
          <a:lstStyle/>
          <a:p>
            <a:r>
              <a:rPr lang="en-US" dirty="0">
                <a:solidFill>
                  <a:schemeClr val="bg1"/>
                </a:solidFill>
              </a:rPr>
              <a:t>Beta Diversity &amp; Ordination: Unweighted </a:t>
            </a:r>
            <a:r>
              <a:rPr lang="en-US" dirty="0" err="1">
                <a:solidFill>
                  <a:schemeClr val="bg1"/>
                </a:solidFill>
              </a:rPr>
              <a:t>UniFrac</a:t>
            </a:r>
            <a:endParaRPr lang="en-US" dirty="0"/>
          </a:p>
        </p:txBody>
      </p:sp>
      <p:pic>
        <p:nvPicPr>
          <p:cNvPr id="7" name="Picture 6">
            <a:extLst>
              <a:ext uri="{FF2B5EF4-FFF2-40B4-BE49-F238E27FC236}">
                <a16:creationId xmlns:a16="http://schemas.microsoft.com/office/drawing/2014/main" id="{D67D15A3-0D66-5D4C-936C-6CE3DD7CEF5F}"/>
              </a:ext>
            </a:extLst>
          </p:cNvPr>
          <p:cNvPicPr>
            <a:picLocks noChangeAspect="1"/>
          </p:cNvPicPr>
          <p:nvPr/>
        </p:nvPicPr>
        <p:blipFill>
          <a:blip r:embed="rId2"/>
          <a:stretch>
            <a:fillRect/>
          </a:stretch>
        </p:blipFill>
        <p:spPr>
          <a:xfrm>
            <a:off x="2438400" y="1814513"/>
            <a:ext cx="7315200" cy="3657600"/>
          </a:xfrm>
          <a:prstGeom prst="rect">
            <a:avLst/>
          </a:prstGeom>
        </p:spPr>
      </p:pic>
      <p:sp>
        <p:nvSpPr>
          <p:cNvPr id="8" name="Content Placeholder 2">
            <a:extLst>
              <a:ext uri="{FF2B5EF4-FFF2-40B4-BE49-F238E27FC236}">
                <a16:creationId xmlns:a16="http://schemas.microsoft.com/office/drawing/2014/main" id="{8E214C27-3E9A-5647-80C8-EBBD2BFEB429}"/>
              </a:ext>
            </a:extLst>
          </p:cNvPr>
          <p:cNvSpPr>
            <a:spLocks noGrp="1"/>
          </p:cNvSpPr>
          <p:nvPr>
            <p:ph idx="1"/>
          </p:nvPr>
        </p:nvSpPr>
        <p:spPr>
          <a:xfrm>
            <a:off x="838200" y="5786437"/>
            <a:ext cx="10515600" cy="800101"/>
          </a:xfrm>
        </p:spPr>
        <p:txBody>
          <a:bodyPr>
            <a:normAutofit fontScale="92500" lnSpcReduction="10000"/>
          </a:bodyPr>
          <a:lstStyle/>
          <a:p>
            <a:pPr marL="0" indent="0" algn="ctr">
              <a:buNone/>
            </a:pPr>
            <a:r>
              <a:rPr lang="en-US" sz="2000" dirty="0"/>
              <a:t>Figure : Beta diversity calculated using unweighted </a:t>
            </a:r>
            <a:r>
              <a:rPr lang="en-US" sz="2000" dirty="0" err="1"/>
              <a:t>UniFrac</a:t>
            </a:r>
            <a:r>
              <a:rPr lang="en-US" sz="2000" dirty="0"/>
              <a:t> distances, visualized use </a:t>
            </a:r>
            <a:r>
              <a:rPr lang="en-US" sz="2000" dirty="0" err="1"/>
              <a:t>PCoA</a:t>
            </a:r>
            <a:r>
              <a:rPr lang="en-US" sz="2000" dirty="0"/>
              <a:t> (blue is Taylor Glacier and orange is Canada Glacier). This plot shows significant beta diversity variation between glaciers (PERMANOVA: F =4.1016 , </a:t>
            </a:r>
            <a:r>
              <a:rPr lang="en-US" sz="2000" dirty="0" err="1"/>
              <a:t>df</a:t>
            </a:r>
            <a:r>
              <a:rPr lang="en-US" sz="2000" dirty="0"/>
              <a:t>=1, P =0.001).</a:t>
            </a:r>
          </a:p>
        </p:txBody>
      </p:sp>
    </p:spTree>
    <p:extLst>
      <p:ext uri="{BB962C8B-B14F-4D97-AF65-F5344CB8AC3E}">
        <p14:creationId xmlns:p14="http://schemas.microsoft.com/office/powerpoint/2010/main" val="1123583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7BAD4-EB8D-1D49-B8F3-F6E08E43BE87}"/>
              </a:ext>
            </a:extLst>
          </p:cNvPr>
          <p:cNvSpPr>
            <a:spLocks noGrp="1"/>
          </p:cNvSpPr>
          <p:nvPr>
            <p:ph type="title"/>
          </p:nvPr>
        </p:nvSpPr>
        <p:spPr>
          <a:solidFill>
            <a:srgbClr val="FFC003"/>
          </a:solidFill>
        </p:spPr>
        <p:txBody>
          <a:bodyPr/>
          <a:lstStyle/>
          <a:p>
            <a:r>
              <a:rPr lang="en-US" dirty="0">
                <a:solidFill>
                  <a:schemeClr val="bg1"/>
                </a:solidFill>
              </a:rPr>
              <a:t>Beta Diversity &amp; Ordination: Bray-Curtis</a:t>
            </a:r>
            <a:endParaRPr lang="en-US" dirty="0"/>
          </a:p>
        </p:txBody>
      </p:sp>
      <p:pic>
        <p:nvPicPr>
          <p:cNvPr id="5" name="Picture 4">
            <a:extLst>
              <a:ext uri="{FF2B5EF4-FFF2-40B4-BE49-F238E27FC236}">
                <a16:creationId xmlns:a16="http://schemas.microsoft.com/office/drawing/2014/main" id="{3A4996FB-FA8A-7849-A8D3-509ABB27E24F}"/>
              </a:ext>
            </a:extLst>
          </p:cNvPr>
          <p:cNvPicPr>
            <a:picLocks noChangeAspect="1"/>
          </p:cNvPicPr>
          <p:nvPr/>
        </p:nvPicPr>
        <p:blipFill>
          <a:blip r:embed="rId2"/>
          <a:stretch>
            <a:fillRect/>
          </a:stretch>
        </p:blipFill>
        <p:spPr>
          <a:xfrm>
            <a:off x="2438400" y="1828800"/>
            <a:ext cx="7315200" cy="3657600"/>
          </a:xfrm>
          <a:prstGeom prst="rect">
            <a:avLst/>
          </a:prstGeom>
        </p:spPr>
      </p:pic>
      <p:sp>
        <p:nvSpPr>
          <p:cNvPr id="6" name="Content Placeholder 2">
            <a:extLst>
              <a:ext uri="{FF2B5EF4-FFF2-40B4-BE49-F238E27FC236}">
                <a16:creationId xmlns:a16="http://schemas.microsoft.com/office/drawing/2014/main" id="{5F112A52-1E3F-7A4C-B8CA-E64A9B6E0D02}"/>
              </a:ext>
            </a:extLst>
          </p:cNvPr>
          <p:cNvSpPr>
            <a:spLocks noGrp="1"/>
          </p:cNvSpPr>
          <p:nvPr>
            <p:ph idx="1"/>
          </p:nvPr>
        </p:nvSpPr>
        <p:spPr>
          <a:xfrm>
            <a:off x="838200" y="5786437"/>
            <a:ext cx="10515600" cy="800101"/>
          </a:xfrm>
        </p:spPr>
        <p:txBody>
          <a:bodyPr>
            <a:normAutofit fontScale="92500" lnSpcReduction="10000"/>
          </a:bodyPr>
          <a:lstStyle/>
          <a:p>
            <a:pPr marL="0" indent="0" algn="ctr">
              <a:buNone/>
            </a:pPr>
            <a:r>
              <a:rPr lang="en-US" sz="2000" dirty="0"/>
              <a:t>Figure : Beta diversity calculated using Bray-Curtis distances, visualized use NMDS plot (blue is Taylor Glacier and orange is Canada Glacier). This plot shows significant beta diversity variation between glaciers (PERMANOVA: F =8.3412 , </a:t>
            </a:r>
            <a:r>
              <a:rPr lang="en-US" sz="2000" dirty="0" err="1"/>
              <a:t>df</a:t>
            </a:r>
            <a:r>
              <a:rPr lang="en-US" sz="2000" dirty="0"/>
              <a:t>=1, P =0.001).</a:t>
            </a:r>
          </a:p>
        </p:txBody>
      </p:sp>
    </p:spTree>
    <p:extLst>
      <p:ext uri="{BB962C8B-B14F-4D97-AF65-F5344CB8AC3E}">
        <p14:creationId xmlns:p14="http://schemas.microsoft.com/office/powerpoint/2010/main" val="2013293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96473-5430-F94F-A1EB-7F803CC603D0}"/>
              </a:ext>
            </a:extLst>
          </p:cNvPr>
          <p:cNvSpPr>
            <a:spLocks noGrp="1"/>
          </p:cNvSpPr>
          <p:nvPr>
            <p:ph type="title"/>
          </p:nvPr>
        </p:nvSpPr>
        <p:spPr>
          <a:solidFill>
            <a:srgbClr val="FFC003"/>
          </a:solidFill>
        </p:spPr>
        <p:txBody>
          <a:bodyPr/>
          <a:lstStyle/>
          <a:p>
            <a:r>
              <a:rPr lang="en-US" dirty="0">
                <a:solidFill>
                  <a:schemeClr val="bg1"/>
                </a:solidFill>
              </a:rPr>
              <a:t>All Environmental Plots</a:t>
            </a:r>
          </a:p>
        </p:txBody>
      </p:sp>
      <p:pic>
        <p:nvPicPr>
          <p:cNvPr id="7" name="Picture 6">
            <a:extLst>
              <a:ext uri="{FF2B5EF4-FFF2-40B4-BE49-F238E27FC236}">
                <a16:creationId xmlns:a16="http://schemas.microsoft.com/office/drawing/2014/main" id="{C65E59A6-8A0C-E84D-B114-65759E77C968}"/>
              </a:ext>
            </a:extLst>
          </p:cNvPr>
          <p:cNvPicPr>
            <a:picLocks noChangeAspect="1"/>
          </p:cNvPicPr>
          <p:nvPr/>
        </p:nvPicPr>
        <p:blipFill>
          <a:blip r:embed="rId3"/>
          <a:stretch>
            <a:fillRect/>
          </a:stretch>
        </p:blipFill>
        <p:spPr>
          <a:xfrm>
            <a:off x="2438400" y="1943100"/>
            <a:ext cx="7315200" cy="3657600"/>
          </a:xfrm>
          <a:prstGeom prst="rect">
            <a:avLst/>
          </a:prstGeom>
        </p:spPr>
      </p:pic>
    </p:spTree>
    <p:extLst>
      <p:ext uri="{BB962C8B-B14F-4D97-AF65-F5344CB8AC3E}">
        <p14:creationId xmlns:p14="http://schemas.microsoft.com/office/powerpoint/2010/main" val="12209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DEB0-79A5-B744-AA4C-5111DDB04B27}"/>
              </a:ext>
            </a:extLst>
          </p:cNvPr>
          <p:cNvSpPr>
            <a:spLocks noGrp="1"/>
          </p:cNvSpPr>
          <p:nvPr>
            <p:ph type="title"/>
          </p:nvPr>
        </p:nvSpPr>
        <p:spPr>
          <a:solidFill>
            <a:srgbClr val="FFC003"/>
          </a:solidFill>
        </p:spPr>
        <p:txBody>
          <a:bodyPr/>
          <a:lstStyle/>
          <a:p>
            <a:r>
              <a:rPr lang="en-US" dirty="0">
                <a:solidFill>
                  <a:schemeClr val="bg1"/>
                </a:solidFill>
              </a:rPr>
              <a:t>CAP Analysis</a:t>
            </a:r>
          </a:p>
        </p:txBody>
      </p:sp>
      <p:pic>
        <p:nvPicPr>
          <p:cNvPr id="5" name="Picture 4">
            <a:extLst>
              <a:ext uri="{FF2B5EF4-FFF2-40B4-BE49-F238E27FC236}">
                <a16:creationId xmlns:a16="http://schemas.microsoft.com/office/drawing/2014/main" id="{2513AD3E-5F8C-F641-872B-CBCBC5910B98}"/>
              </a:ext>
            </a:extLst>
          </p:cNvPr>
          <p:cNvPicPr>
            <a:picLocks noChangeAspect="1"/>
          </p:cNvPicPr>
          <p:nvPr/>
        </p:nvPicPr>
        <p:blipFill>
          <a:blip r:embed="rId3"/>
          <a:stretch>
            <a:fillRect/>
          </a:stretch>
        </p:blipFill>
        <p:spPr>
          <a:xfrm>
            <a:off x="2438400" y="1843088"/>
            <a:ext cx="7315200" cy="3657600"/>
          </a:xfrm>
          <a:prstGeom prst="rect">
            <a:avLst/>
          </a:prstGeom>
        </p:spPr>
      </p:pic>
      <p:sp>
        <p:nvSpPr>
          <p:cNvPr id="6" name="TextBox 5">
            <a:extLst>
              <a:ext uri="{FF2B5EF4-FFF2-40B4-BE49-F238E27FC236}">
                <a16:creationId xmlns:a16="http://schemas.microsoft.com/office/drawing/2014/main" id="{F69621DA-50DE-014E-8857-8DB3E935379B}"/>
              </a:ext>
            </a:extLst>
          </p:cNvPr>
          <p:cNvSpPr txBox="1"/>
          <p:nvPr/>
        </p:nvSpPr>
        <p:spPr>
          <a:xfrm>
            <a:off x="1585913" y="5500688"/>
            <a:ext cx="9958387" cy="1200329"/>
          </a:xfrm>
          <a:prstGeom prst="rect">
            <a:avLst/>
          </a:prstGeom>
          <a:noFill/>
        </p:spPr>
        <p:txBody>
          <a:bodyPr wrap="square" rtlCol="0">
            <a:spAutoFit/>
          </a:bodyPr>
          <a:lstStyle/>
          <a:p>
            <a:r>
              <a:rPr lang="en-US" dirty="0"/>
              <a:t>Figure : Most of the variation in beta diversity within each glacier explained by cryoconite area. On Taylor glacier cryoconite area explained  34.8% of variation in community composition (F = 3.734, P=0.002). On Canada glacier, both area and water content explained 29.7% of variation in community composition (F=5.124, P=0.001)</a:t>
            </a:r>
          </a:p>
        </p:txBody>
      </p:sp>
    </p:spTree>
    <p:extLst>
      <p:ext uri="{BB962C8B-B14F-4D97-AF65-F5344CB8AC3E}">
        <p14:creationId xmlns:p14="http://schemas.microsoft.com/office/powerpoint/2010/main" val="2678951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EEF58A7-A112-5842-9759-F437A676C5E6}"/>
              </a:ext>
            </a:extLst>
          </p:cNvPr>
          <p:cNvPicPr>
            <a:picLocks noChangeAspect="1"/>
          </p:cNvPicPr>
          <p:nvPr/>
        </p:nvPicPr>
        <p:blipFill>
          <a:blip r:embed="rId2"/>
          <a:stretch>
            <a:fillRect/>
          </a:stretch>
        </p:blipFill>
        <p:spPr>
          <a:xfrm>
            <a:off x="4095750" y="4512027"/>
            <a:ext cx="2438400" cy="1950720"/>
          </a:xfrm>
          <a:prstGeom prst="rect">
            <a:avLst/>
          </a:prstGeom>
        </p:spPr>
      </p:pic>
      <p:sp>
        <p:nvSpPr>
          <p:cNvPr id="2" name="Title 1">
            <a:extLst>
              <a:ext uri="{FF2B5EF4-FFF2-40B4-BE49-F238E27FC236}">
                <a16:creationId xmlns:a16="http://schemas.microsoft.com/office/drawing/2014/main" id="{AD8896E8-413A-8842-8F25-0B6D2DBBA5B9}"/>
              </a:ext>
            </a:extLst>
          </p:cNvPr>
          <p:cNvSpPr>
            <a:spLocks noGrp="1"/>
          </p:cNvSpPr>
          <p:nvPr>
            <p:ph type="title"/>
          </p:nvPr>
        </p:nvSpPr>
        <p:spPr>
          <a:solidFill>
            <a:srgbClr val="FFC000"/>
          </a:solidFill>
        </p:spPr>
        <p:txBody>
          <a:bodyPr/>
          <a:lstStyle/>
          <a:p>
            <a:r>
              <a:rPr lang="en-US" dirty="0">
                <a:solidFill>
                  <a:schemeClr val="bg1"/>
                </a:solidFill>
              </a:rPr>
              <a:t>Island Species-Area Relationship (ISAR)</a:t>
            </a:r>
          </a:p>
        </p:txBody>
      </p:sp>
      <p:pic>
        <p:nvPicPr>
          <p:cNvPr id="5" name="Picture 4">
            <a:extLst>
              <a:ext uri="{FF2B5EF4-FFF2-40B4-BE49-F238E27FC236}">
                <a16:creationId xmlns:a16="http://schemas.microsoft.com/office/drawing/2014/main" id="{581C4810-1982-2F4C-8184-38BB8E7DB5BB}"/>
              </a:ext>
            </a:extLst>
          </p:cNvPr>
          <p:cNvPicPr>
            <a:picLocks noChangeAspect="1"/>
          </p:cNvPicPr>
          <p:nvPr/>
        </p:nvPicPr>
        <p:blipFill>
          <a:blip r:embed="rId3"/>
          <a:stretch>
            <a:fillRect/>
          </a:stretch>
        </p:blipFill>
        <p:spPr>
          <a:xfrm>
            <a:off x="3706018" y="1825625"/>
            <a:ext cx="4779964" cy="2247382"/>
          </a:xfrm>
          <a:prstGeom prst="rect">
            <a:avLst/>
          </a:prstGeom>
        </p:spPr>
      </p:pic>
      <p:sp>
        <p:nvSpPr>
          <p:cNvPr id="6" name="TextBox 5">
            <a:extLst>
              <a:ext uri="{FF2B5EF4-FFF2-40B4-BE49-F238E27FC236}">
                <a16:creationId xmlns:a16="http://schemas.microsoft.com/office/drawing/2014/main" id="{1C37C6DD-2215-A042-9ECE-D859726F329E}"/>
              </a:ext>
            </a:extLst>
          </p:cNvPr>
          <p:cNvSpPr txBox="1"/>
          <p:nvPr/>
        </p:nvSpPr>
        <p:spPr>
          <a:xfrm>
            <a:off x="3706018" y="4023278"/>
            <a:ext cx="5657850" cy="369332"/>
          </a:xfrm>
          <a:prstGeom prst="rect">
            <a:avLst/>
          </a:prstGeom>
          <a:noFill/>
        </p:spPr>
        <p:txBody>
          <a:bodyPr wrap="square" rtlCol="0">
            <a:spAutoFit/>
          </a:bodyPr>
          <a:lstStyle/>
          <a:p>
            <a:r>
              <a:rPr lang="en-US" dirty="0"/>
              <a:t>Figure. Results graphs taken from Sommers et al., (2020)</a:t>
            </a:r>
          </a:p>
        </p:txBody>
      </p:sp>
      <p:pic>
        <p:nvPicPr>
          <p:cNvPr id="10" name="Picture 9">
            <a:extLst>
              <a:ext uri="{FF2B5EF4-FFF2-40B4-BE49-F238E27FC236}">
                <a16:creationId xmlns:a16="http://schemas.microsoft.com/office/drawing/2014/main" id="{1892D78C-6519-9244-8941-B01A268BCCFD}"/>
              </a:ext>
            </a:extLst>
          </p:cNvPr>
          <p:cNvPicPr>
            <a:picLocks noChangeAspect="1"/>
          </p:cNvPicPr>
          <p:nvPr/>
        </p:nvPicPr>
        <p:blipFill>
          <a:blip r:embed="rId4"/>
          <a:stretch>
            <a:fillRect/>
          </a:stretch>
        </p:blipFill>
        <p:spPr>
          <a:xfrm>
            <a:off x="6534150" y="4512027"/>
            <a:ext cx="2366963" cy="1893570"/>
          </a:xfrm>
          <a:prstGeom prst="rect">
            <a:avLst/>
          </a:prstGeom>
        </p:spPr>
      </p:pic>
      <p:sp>
        <p:nvSpPr>
          <p:cNvPr id="11" name="TextBox 10">
            <a:extLst>
              <a:ext uri="{FF2B5EF4-FFF2-40B4-BE49-F238E27FC236}">
                <a16:creationId xmlns:a16="http://schemas.microsoft.com/office/drawing/2014/main" id="{0AD9F7E2-8D46-6548-81E6-834A66E4178E}"/>
              </a:ext>
            </a:extLst>
          </p:cNvPr>
          <p:cNvSpPr txBox="1"/>
          <p:nvPr/>
        </p:nvSpPr>
        <p:spPr>
          <a:xfrm>
            <a:off x="3890963" y="6340348"/>
            <a:ext cx="5657850" cy="369332"/>
          </a:xfrm>
          <a:prstGeom prst="rect">
            <a:avLst/>
          </a:prstGeom>
          <a:noFill/>
        </p:spPr>
        <p:txBody>
          <a:bodyPr wrap="square" rtlCol="0">
            <a:spAutoFit/>
          </a:bodyPr>
          <a:lstStyle/>
          <a:p>
            <a:r>
              <a:rPr lang="en-US" dirty="0"/>
              <a:t>Figure. Results graphs from my analyses (16S only)</a:t>
            </a:r>
          </a:p>
        </p:txBody>
      </p:sp>
    </p:spTree>
    <p:extLst>
      <p:ext uri="{BB962C8B-B14F-4D97-AF65-F5344CB8AC3E}">
        <p14:creationId xmlns:p14="http://schemas.microsoft.com/office/powerpoint/2010/main" val="2925178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06AD0-21A4-7A44-A044-69F6D58B5AF7}"/>
              </a:ext>
            </a:extLst>
          </p:cNvPr>
          <p:cNvSpPr>
            <a:spLocks noGrp="1"/>
          </p:cNvSpPr>
          <p:nvPr>
            <p:ph type="title"/>
          </p:nvPr>
        </p:nvSpPr>
        <p:spPr>
          <a:solidFill>
            <a:srgbClr val="FFC000"/>
          </a:solidFill>
        </p:spPr>
        <p:txBody>
          <a:bodyPr/>
          <a:lstStyle/>
          <a:p>
            <a:r>
              <a:rPr lang="en-US" dirty="0">
                <a:solidFill>
                  <a:schemeClr val="bg1"/>
                </a:solidFill>
              </a:rPr>
              <a:t>Distance-Decay Relationship (DDR)</a:t>
            </a:r>
          </a:p>
        </p:txBody>
      </p:sp>
    </p:spTree>
    <p:extLst>
      <p:ext uri="{BB962C8B-B14F-4D97-AF65-F5344CB8AC3E}">
        <p14:creationId xmlns:p14="http://schemas.microsoft.com/office/powerpoint/2010/main" val="3103124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B7020-9577-A94A-91A6-2CF66C6BF629}"/>
              </a:ext>
            </a:extLst>
          </p:cNvPr>
          <p:cNvSpPr>
            <a:spLocks noGrp="1"/>
          </p:cNvSpPr>
          <p:nvPr>
            <p:ph type="title"/>
          </p:nvPr>
        </p:nvSpPr>
        <p:spPr>
          <a:solidFill>
            <a:srgbClr val="8EFA00"/>
          </a:solidFill>
        </p:spPr>
        <p:txBody>
          <a:bodyPr/>
          <a:lstStyle/>
          <a:p>
            <a:r>
              <a:rPr lang="en-US" dirty="0">
                <a:solidFill>
                  <a:schemeClr val="bg1"/>
                </a:solidFill>
              </a:rPr>
              <a:t>Sloan’s Neutral Model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F90FC4-C7F0-4A4B-94AE-45A87108974C}"/>
                  </a:ext>
                </a:extLst>
              </p:cNvPr>
              <p:cNvSpPr txBox="1"/>
              <p:nvPr/>
            </p:nvSpPr>
            <p:spPr>
              <a:xfrm>
                <a:off x="2367447" y="2811121"/>
                <a:ext cx="7457106" cy="9675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Pr</m:t>
                          </m:r>
                        </m:fName>
                        <m:e>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r>
                                <a:rPr lang="en-GB" sz="2800" b="0" i="1" baseline="-25000" smtClean="0">
                                  <a:latin typeface="Cambria Math" panose="02040503050406030204" pitchFamily="18" charset="0"/>
                                </a:rPr>
                                <m:t>𝑖</m:t>
                              </m:r>
                              <m:r>
                                <a:rPr lang="en-GB" sz="2800" b="0" i="1" smtClean="0">
                                  <a:latin typeface="Cambria Math" panose="02040503050406030204" pitchFamily="18" charset="0"/>
                                </a:rPr>
                                <m:t>&gt;</m:t>
                              </m:r>
                              <m:r>
                                <a:rPr lang="en-GB" sz="2800" b="0" i="1" smtClean="0">
                                  <a:latin typeface="Cambria Math" panose="02040503050406030204" pitchFamily="18" charset="0"/>
                                </a:rPr>
                                <m:t>𝑑</m:t>
                              </m:r>
                            </m:e>
                          </m:d>
                        </m:e>
                      </m:func>
                      <m:r>
                        <a:rPr lang="en-GB" sz="2800" b="0" i="1" smtClean="0">
                          <a:latin typeface="Cambria Math" panose="02040503050406030204" pitchFamily="18" charset="0"/>
                        </a:rPr>
                        <m:t>= </m:t>
                      </m:r>
                      <m:nary>
                        <m:naryPr>
                          <m:ctrlPr>
                            <a:rPr lang="en-GB" sz="2800" b="0" i="1" smtClean="0">
                              <a:latin typeface="Cambria Math" panose="02040503050406030204" pitchFamily="18" charset="0"/>
                            </a:rPr>
                          </m:ctrlPr>
                        </m:naryPr>
                        <m:sub>
                          <m:r>
                            <m:rPr>
                              <m:brk m:alnAt="23"/>
                            </m:rPr>
                            <a:rPr lang="en-GB" sz="2800" b="0" i="1" smtClean="0">
                              <a:latin typeface="Cambria Math" panose="02040503050406030204" pitchFamily="18" charset="0"/>
                            </a:rPr>
                            <m:t>𝑑</m:t>
                          </m:r>
                        </m:sub>
                        <m:sup>
                          <m:r>
                            <a:rPr lang="en-GB" sz="2800" b="0" i="1" smtClean="0">
                              <a:latin typeface="Cambria Math" panose="02040503050406030204" pitchFamily="18" charset="0"/>
                            </a:rPr>
                            <m:t>1</m:t>
                          </m:r>
                        </m:sup>
                        <m:e>
                          <m:r>
                            <a:rPr lang="en-GB" sz="2800" b="0" i="1" smtClean="0">
                              <a:latin typeface="Cambria Math" panose="02040503050406030204" pitchFamily="18" charset="0"/>
                            </a:rPr>
                            <m:t>𝐵𝑒𝑡𝑎</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r>
                                <a:rPr lang="en-GB" sz="2800" b="0" i="1" baseline="-25000" smtClean="0">
                                  <a:latin typeface="Cambria Math" panose="02040503050406030204" pitchFamily="18" charset="0"/>
                                </a:rPr>
                                <m:t>𝑖</m:t>
                              </m:r>
                              <m:r>
                                <a:rPr lang="en-GB" sz="2800" b="0" i="1" smtClean="0">
                                  <a:latin typeface="Cambria Math" panose="02040503050406030204" pitchFamily="18" charset="0"/>
                                </a:rPr>
                                <m:t>:</m:t>
                              </m:r>
                              <m:r>
                                <a:rPr lang="en-GB" sz="2800" b="0" i="1" smtClean="0">
                                  <a:latin typeface="Cambria Math" panose="02040503050406030204" pitchFamily="18" charset="0"/>
                                </a:rPr>
                                <m:t>𝑁𝑚𝑝𝑖</m:t>
                              </m:r>
                              <m:r>
                                <a:rPr lang="en-GB" sz="2800" b="0" i="1" smtClean="0">
                                  <a:latin typeface="Cambria Math" panose="02040503050406030204" pitchFamily="18" charset="0"/>
                                </a:rPr>
                                <m:t>, </m:t>
                              </m:r>
                              <m:r>
                                <a:rPr lang="en-GB" sz="2800" b="0" i="1" smtClean="0">
                                  <a:latin typeface="Cambria Math" panose="02040503050406030204" pitchFamily="18" charset="0"/>
                                </a:rPr>
                                <m:t>𝑁𝑚</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1−</m:t>
                                  </m:r>
                                  <m:r>
                                    <a:rPr lang="en-GB" sz="2800" b="0" i="1" smtClean="0">
                                      <a:latin typeface="Cambria Math" panose="02040503050406030204" pitchFamily="18" charset="0"/>
                                    </a:rPr>
                                    <m:t>𝑝𝑖</m:t>
                                  </m:r>
                                </m:e>
                              </m:d>
                            </m:e>
                          </m:d>
                          <m:r>
                            <a:rPr lang="en-GB" sz="2800" b="0" i="1" smtClean="0">
                              <a:latin typeface="Cambria Math" panose="02040503050406030204" pitchFamily="18" charset="0"/>
                            </a:rPr>
                            <m:t>𝑑𝑥</m:t>
                          </m:r>
                          <m:r>
                            <a:rPr lang="en-GB" sz="2800" b="0" i="1" baseline="-25000" smtClean="0">
                              <a:latin typeface="Cambria Math" panose="02040503050406030204" pitchFamily="18" charset="0"/>
                            </a:rPr>
                            <m:t>𝑖</m:t>
                          </m:r>
                        </m:e>
                      </m:nary>
                    </m:oMath>
                  </m:oMathPara>
                </a14:m>
                <a:endParaRPr lang="en-US" sz="2800" dirty="0"/>
              </a:p>
            </p:txBody>
          </p:sp>
        </mc:Choice>
        <mc:Fallback xmlns="">
          <p:sp>
            <p:nvSpPr>
              <p:cNvPr id="4" name="TextBox 3">
                <a:extLst>
                  <a:ext uri="{FF2B5EF4-FFF2-40B4-BE49-F238E27FC236}">
                    <a16:creationId xmlns:a16="http://schemas.microsoft.com/office/drawing/2014/main" id="{1EF90FC4-C7F0-4A4B-94AE-45A87108974C}"/>
                  </a:ext>
                </a:extLst>
              </p:cNvPr>
              <p:cNvSpPr txBox="1">
                <a:spLocks noRot="1" noChangeAspect="1" noMove="1" noResize="1" noEditPoints="1" noAdjustHandles="1" noChangeArrowheads="1" noChangeShapeType="1" noTextEdit="1"/>
              </p:cNvSpPr>
              <p:nvPr/>
            </p:nvSpPr>
            <p:spPr>
              <a:xfrm>
                <a:off x="2367447" y="2811121"/>
                <a:ext cx="7457106" cy="967509"/>
              </a:xfrm>
              <a:prstGeom prst="rect">
                <a:avLst/>
              </a:prstGeom>
              <a:blipFill>
                <a:blip r:embed="rId3"/>
                <a:stretch>
                  <a:fillRect l="-509" t="-176923" b="-2615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0DBDA71-E44A-BE44-ADBA-F1537544C3EC}"/>
              </a:ext>
            </a:extLst>
          </p:cNvPr>
          <p:cNvSpPr txBox="1"/>
          <p:nvPr/>
        </p:nvSpPr>
        <p:spPr>
          <a:xfrm>
            <a:off x="382385" y="3294875"/>
            <a:ext cx="1236916" cy="369332"/>
          </a:xfrm>
          <a:prstGeom prst="rect">
            <a:avLst/>
          </a:prstGeom>
          <a:noFill/>
        </p:spPr>
        <p:txBody>
          <a:bodyPr wrap="square" rtlCol="0">
            <a:spAutoFit/>
          </a:bodyPr>
          <a:lstStyle/>
          <a:p>
            <a:r>
              <a:rPr lang="en-US" dirty="0"/>
              <a:t>Probability</a:t>
            </a:r>
          </a:p>
        </p:txBody>
      </p:sp>
      <p:sp>
        <p:nvSpPr>
          <p:cNvPr id="7" name="TextBox 6">
            <a:extLst>
              <a:ext uri="{FF2B5EF4-FFF2-40B4-BE49-F238E27FC236}">
                <a16:creationId xmlns:a16="http://schemas.microsoft.com/office/drawing/2014/main" id="{9A4D7EC7-13BD-EB48-A96A-3F6B23FC1DE9}"/>
              </a:ext>
            </a:extLst>
          </p:cNvPr>
          <p:cNvSpPr txBox="1"/>
          <p:nvPr/>
        </p:nvSpPr>
        <p:spPr>
          <a:xfrm>
            <a:off x="1785556" y="2364387"/>
            <a:ext cx="2624051" cy="369332"/>
          </a:xfrm>
          <a:prstGeom prst="rect">
            <a:avLst/>
          </a:prstGeom>
          <a:noFill/>
        </p:spPr>
        <p:txBody>
          <a:bodyPr wrap="square" rtlCol="0">
            <a:spAutoFit/>
          </a:bodyPr>
          <a:lstStyle/>
          <a:p>
            <a:r>
              <a:rPr lang="en-US" dirty="0"/>
              <a:t>Abundance of species </a:t>
            </a:r>
            <a:r>
              <a:rPr lang="en-US" i="1" dirty="0" err="1"/>
              <a:t>i</a:t>
            </a:r>
            <a:endParaRPr lang="en-US" i="1" dirty="0"/>
          </a:p>
        </p:txBody>
      </p:sp>
      <p:sp>
        <p:nvSpPr>
          <p:cNvPr id="8" name="TextBox 7">
            <a:extLst>
              <a:ext uri="{FF2B5EF4-FFF2-40B4-BE49-F238E27FC236}">
                <a16:creationId xmlns:a16="http://schemas.microsoft.com/office/drawing/2014/main" id="{C265703F-FA78-E542-A9DE-F8A258E03984}"/>
              </a:ext>
            </a:extLst>
          </p:cNvPr>
          <p:cNvSpPr txBox="1"/>
          <p:nvPr/>
        </p:nvSpPr>
        <p:spPr>
          <a:xfrm>
            <a:off x="2367447" y="4039986"/>
            <a:ext cx="2042160" cy="369332"/>
          </a:xfrm>
          <a:prstGeom prst="rect">
            <a:avLst/>
          </a:prstGeom>
          <a:noFill/>
        </p:spPr>
        <p:txBody>
          <a:bodyPr wrap="square" rtlCol="0">
            <a:spAutoFit/>
          </a:bodyPr>
          <a:lstStyle/>
          <a:p>
            <a:r>
              <a:rPr lang="en-US" dirty="0"/>
              <a:t>Detection threshold</a:t>
            </a:r>
          </a:p>
        </p:txBody>
      </p:sp>
      <p:cxnSp>
        <p:nvCxnSpPr>
          <p:cNvPr id="10" name="Straight Arrow Connector 9">
            <a:extLst>
              <a:ext uri="{FF2B5EF4-FFF2-40B4-BE49-F238E27FC236}">
                <a16:creationId xmlns:a16="http://schemas.microsoft.com/office/drawing/2014/main" id="{67CF27A2-6F14-3B4C-824A-FA627F8FA684}"/>
              </a:ext>
            </a:extLst>
          </p:cNvPr>
          <p:cNvCxnSpPr/>
          <p:nvPr/>
        </p:nvCxnSpPr>
        <p:spPr>
          <a:xfrm>
            <a:off x="2959331" y="2733719"/>
            <a:ext cx="138250" cy="4251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BE78D59-576C-644A-A91C-CCB46B61FE64}"/>
              </a:ext>
            </a:extLst>
          </p:cNvPr>
          <p:cNvCxnSpPr>
            <a:cxnSpLocks/>
          </p:cNvCxnSpPr>
          <p:nvPr/>
        </p:nvCxnSpPr>
        <p:spPr>
          <a:xfrm flipV="1">
            <a:off x="1602676" y="3294875"/>
            <a:ext cx="764771" cy="184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B2CF13C6-01A7-504E-AA61-B0C231E3869F}"/>
              </a:ext>
            </a:extLst>
          </p:cNvPr>
          <p:cNvCxnSpPr>
            <a:cxnSpLocks/>
          </p:cNvCxnSpPr>
          <p:nvPr/>
        </p:nvCxnSpPr>
        <p:spPr>
          <a:xfrm flipV="1">
            <a:off x="3132218" y="3479541"/>
            <a:ext cx="455520" cy="560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A4688950-3C15-4349-B88C-320C7395CD11}"/>
              </a:ext>
            </a:extLst>
          </p:cNvPr>
          <p:cNvSpPr txBox="1"/>
          <p:nvPr/>
        </p:nvSpPr>
        <p:spPr>
          <a:xfrm>
            <a:off x="5462847" y="4529731"/>
            <a:ext cx="3308466" cy="369332"/>
          </a:xfrm>
          <a:prstGeom prst="rect">
            <a:avLst/>
          </a:prstGeom>
          <a:noFill/>
        </p:spPr>
        <p:txBody>
          <a:bodyPr wrap="square" rtlCol="0">
            <a:spAutoFit/>
          </a:bodyPr>
          <a:lstStyle/>
          <a:p>
            <a:r>
              <a:rPr lang="en-US" dirty="0"/>
              <a:t>Beta probability density function</a:t>
            </a:r>
          </a:p>
        </p:txBody>
      </p:sp>
      <p:sp>
        <p:nvSpPr>
          <p:cNvPr id="22" name="Right Brace 21">
            <a:extLst>
              <a:ext uri="{FF2B5EF4-FFF2-40B4-BE49-F238E27FC236}">
                <a16:creationId xmlns:a16="http://schemas.microsoft.com/office/drawing/2014/main" id="{F592FB26-D4F9-854F-A0A9-BA508A636B6C}"/>
              </a:ext>
            </a:extLst>
          </p:cNvPr>
          <p:cNvSpPr/>
          <p:nvPr/>
        </p:nvSpPr>
        <p:spPr>
          <a:xfrm rot="5400000">
            <a:off x="6826135" y="1437625"/>
            <a:ext cx="581891" cy="541494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D09EC8D1-D5D5-824B-92C4-E5541FB11FBC}"/>
              </a:ext>
            </a:extLst>
          </p:cNvPr>
          <p:cNvSpPr txBox="1"/>
          <p:nvPr/>
        </p:nvSpPr>
        <p:spPr>
          <a:xfrm>
            <a:off x="4942459" y="1827570"/>
            <a:ext cx="1446414" cy="923330"/>
          </a:xfrm>
          <a:prstGeom prst="rect">
            <a:avLst/>
          </a:prstGeom>
          <a:noFill/>
        </p:spPr>
        <p:txBody>
          <a:bodyPr wrap="square" rtlCol="0">
            <a:spAutoFit/>
          </a:bodyPr>
          <a:lstStyle/>
          <a:p>
            <a:r>
              <a:rPr lang="en-US" dirty="0"/>
              <a:t>Average sample read count</a:t>
            </a:r>
          </a:p>
        </p:txBody>
      </p:sp>
      <p:cxnSp>
        <p:nvCxnSpPr>
          <p:cNvPr id="24" name="Straight Arrow Connector 23">
            <a:extLst>
              <a:ext uri="{FF2B5EF4-FFF2-40B4-BE49-F238E27FC236}">
                <a16:creationId xmlns:a16="http://schemas.microsoft.com/office/drawing/2014/main" id="{A3E53A8B-A133-9345-BCC7-302B3A857596}"/>
              </a:ext>
            </a:extLst>
          </p:cNvPr>
          <p:cNvCxnSpPr>
            <a:cxnSpLocks/>
          </p:cNvCxnSpPr>
          <p:nvPr/>
        </p:nvCxnSpPr>
        <p:spPr>
          <a:xfrm>
            <a:off x="5748502" y="2476611"/>
            <a:ext cx="668923" cy="6822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FCA84843-06D9-1846-9D05-C99267C2C02C}"/>
              </a:ext>
            </a:extLst>
          </p:cNvPr>
          <p:cNvSpPr txBox="1"/>
          <p:nvPr/>
        </p:nvSpPr>
        <p:spPr>
          <a:xfrm>
            <a:off x="6308667" y="847024"/>
            <a:ext cx="1616826" cy="1754326"/>
          </a:xfrm>
          <a:prstGeom prst="rect">
            <a:avLst/>
          </a:prstGeom>
          <a:noFill/>
        </p:spPr>
        <p:txBody>
          <a:bodyPr wrap="square" rtlCol="0">
            <a:spAutoFit/>
          </a:bodyPr>
          <a:lstStyle/>
          <a:p>
            <a:r>
              <a:rPr lang="en-US" dirty="0"/>
              <a:t>Probability that a dead individual is replaced by dispersing individual</a:t>
            </a:r>
          </a:p>
        </p:txBody>
      </p:sp>
      <p:cxnSp>
        <p:nvCxnSpPr>
          <p:cNvPr id="30" name="Straight Arrow Connector 29">
            <a:extLst>
              <a:ext uri="{FF2B5EF4-FFF2-40B4-BE49-F238E27FC236}">
                <a16:creationId xmlns:a16="http://schemas.microsoft.com/office/drawing/2014/main" id="{4882A002-6935-344A-8B1A-66D15E06F671}"/>
              </a:ext>
            </a:extLst>
          </p:cNvPr>
          <p:cNvCxnSpPr>
            <a:cxnSpLocks/>
          </p:cNvCxnSpPr>
          <p:nvPr/>
        </p:nvCxnSpPr>
        <p:spPr>
          <a:xfrm>
            <a:off x="6818659" y="2601350"/>
            <a:ext cx="0" cy="557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BCFE50B3-9BF3-954C-944F-82EDC97EB759}"/>
              </a:ext>
            </a:extLst>
          </p:cNvPr>
          <p:cNvSpPr txBox="1"/>
          <p:nvPr/>
        </p:nvSpPr>
        <p:spPr>
          <a:xfrm>
            <a:off x="7610397" y="1348724"/>
            <a:ext cx="1750522" cy="1200329"/>
          </a:xfrm>
          <a:prstGeom prst="rect">
            <a:avLst/>
          </a:prstGeom>
          <a:noFill/>
        </p:spPr>
        <p:txBody>
          <a:bodyPr wrap="square" rtlCol="0">
            <a:spAutoFit/>
          </a:bodyPr>
          <a:lstStyle/>
          <a:p>
            <a:r>
              <a:rPr lang="en-US" dirty="0"/>
              <a:t>Relative abundance of species </a:t>
            </a:r>
            <a:r>
              <a:rPr lang="en-US" i="1" dirty="0" err="1"/>
              <a:t>i</a:t>
            </a:r>
            <a:r>
              <a:rPr lang="en-US" dirty="0"/>
              <a:t> in the metacommunity</a:t>
            </a:r>
          </a:p>
        </p:txBody>
      </p:sp>
      <p:cxnSp>
        <p:nvCxnSpPr>
          <p:cNvPr id="35" name="Straight Arrow Connector 34">
            <a:extLst>
              <a:ext uri="{FF2B5EF4-FFF2-40B4-BE49-F238E27FC236}">
                <a16:creationId xmlns:a16="http://schemas.microsoft.com/office/drawing/2014/main" id="{BA461DE8-5613-484F-87A0-125551D9C0EC}"/>
              </a:ext>
            </a:extLst>
          </p:cNvPr>
          <p:cNvCxnSpPr>
            <a:cxnSpLocks/>
          </p:cNvCxnSpPr>
          <p:nvPr/>
        </p:nvCxnSpPr>
        <p:spPr>
          <a:xfrm flipH="1">
            <a:off x="7117081" y="2601350"/>
            <a:ext cx="844635" cy="557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Right Brace 37">
            <a:extLst>
              <a:ext uri="{FF2B5EF4-FFF2-40B4-BE49-F238E27FC236}">
                <a16:creationId xmlns:a16="http://schemas.microsoft.com/office/drawing/2014/main" id="{3B831A3D-FB0A-2747-9C97-D4D90A414F85}"/>
              </a:ext>
            </a:extLst>
          </p:cNvPr>
          <p:cNvSpPr/>
          <p:nvPr/>
        </p:nvSpPr>
        <p:spPr>
          <a:xfrm rot="5400000">
            <a:off x="5500231" y="124763"/>
            <a:ext cx="515389" cy="1035206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EDE13FD-762C-E645-B28E-EFAF1603682A}"/>
                  </a:ext>
                </a:extLst>
              </p:cNvPr>
              <p:cNvSpPr txBox="1"/>
              <p:nvPr/>
            </p:nvSpPr>
            <p:spPr>
              <a:xfrm>
                <a:off x="2078182" y="5785658"/>
                <a:ext cx="8296102" cy="369332"/>
              </a:xfrm>
              <a:prstGeom prst="rect">
                <a:avLst/>
              </a:prstGeom>
              <a:noFill/>
            </p:spPr>
            <p:txBody>
              <a:bodyPr wrap="square" rtlCol="0">
                <a:spAutoFit/>
              </a:bodyPr>
              <a:lstStyle/>
              <a:p>
                <a14:m>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Pr</m:t>
                        </m:r>
                      </m:fName>
                      <m:e>
                        <m:d>
                          <m:dPr>
                            <m:ctrlPr>
                              <a:rPr lang="en-GB" i="1">
                                <a:latin typeface="Cambria Math" panose="02040503050406030204" pitchFamily="18" charset="0"/>
                              </a:rPr>
                            </m:ctrlPr>
                          </m:dPr>
                          <m:e>
                            <m:r>
                              <a:rPr lang="en-GB" i="1">
                                <a:latin typeface="Cambria Math" panose="02040503050406030204" pitchFamily="18" charset="0"/>
                              </a:rPr>
                              <m:t>𝑥</m:t>
                            </m:r>
                            <m:r>
                              <a:rPr lang="en-GB" i="1" baseline="-25000">
                                <a:latin typeface="Cambria Math" panose="02040503050406030204" pitchFamily="18" charset="0"/>
                              </a:rPr>
                              <m:t>𝑖</m:t>
                            </m:r>
                            <m:r>
                              <a:rPr lang="en-GB" i="1">
                                <a:latin typeface="Cambria Math" panose="02040503050406030204" pitchFamily="18" charset="0"/>
                              </a:rPr>
                              <m:t>&gt;</m:t>
                            </m:r>
                            <m:r>
                              <a:rPr lang="en-GB" i="1">
                                <a:latin typeface="Cambria Math" panose="02040503050406030204" pitchFamily="18" charset="0"/>
                              </a:rPr>
                              <m:t>𝑑</m:t>
                            </m:r>
                          </m:e>
                        </m:d>
                      </m:e>
                    </m:func>
                  </m:oMath>
                </a14:m>
                <a:r>
                  <a:rPr lang="en-US" dirty="0"/>
                  <a:t> is equal to the proportion of samples in which species </a:t>
                </a:r>
                <a:r>
                  <a:rPr lang="en-US" i="1" dirty="0" err="1"/>
                  <a:t>i</a:t>
                </a:r>
                <a:r>
                  <a:rPr lang="en-US" dirty="0"/>
                  <a:t> is observed</a:t>
                </a:r>
              </a:p>
            </p:txBody>
          </p:sp>
        </mc:Choice>
        <mc:Fallback xmlns="">
          <p:sp>
            <p:nvSpPr>
              <p:cNvPr id="39" name="TextBox 38">
                <a:extLst>
                  <a:ext uri="{FF2B5EF4-FFF2-40B4-BE49-F238E27FC236}">
                    <a16:creationId xmlns:a16="http://schemas.microsoft.com/office/drawing/2014/main" id="{1EDE13FD-762C-E645-B28E-EFAF1603682A}"/>
                  </a:ext>
                </a:extLst>
              </p:cNvPr>
              <p:cNvSpPr txBox="1">
                <a:spLocks noRot="1" noChangeAspect="1" noMove="1" noResize="1" noEditPoints="1" noAdjustHandles="1" noChangeArrowheads="1" noChangeShapeType="1" noTextEdit="1"/>
              </p:cNvSpPr>
              <p:nvPr/>
            </p:nvSpPr>
            <p:spPr>
              <a:xfrm>
                <a:off x="2078182" y="5785658"/>
                <a:ext cx="8296102" cy="369332"/>
              </a:xfrm>
              <a:prstGeom prst="rect">
                <a:avLst/>
              </a:prstGeom>
              <a:blipFill>
                <a:blip r:embed="rId4"/>
                <a:stretch>
                  <a:fillRect t="-10345" b="-24138"/>
                </a:stretch>
              </a:blipFill>
            </p:spPr>
            <p:txBody>
              <a:bodyPr/>
              <a:lstStyle/>
              <a:p>
                <a:r>
                  <a:rPr lang="en-US">
                    <a:noFill/>
                  </a:rPr>
                  <a:t> </a:t>
                </a:r>
              </a:p>
            </p:txBody>
          </p:sp>
        </mc:Fallback>
      </mc:AlternateContent>
    </p:spTree>
    <p:extLst>
      <p:ext uri="{BB962C8B-B14F-4D97-AF65-F5344CB8AC3E}">
        <p14:creationId xmlns:p14="http://schemas.microsoft.com/office/powerpoint/2010/main" val="2102182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666F3-51C2-4741-B321-B1E35D0FA677}"/>
              </a:ext>
            </a:extLst>
          </p:cNvPr>
          <p:cNvSpPr>
            <a:spLocks noGrp="1"/>
          </p:cNvSpPr>
          <p:nvPr>
            <p:ph type="title"/>
          </p:nvPr>
        </p:nvSpPr>
        <p:spPr>
          <a:solidFill>
            <a:srgbClr val="8EFA00"/>
          </a:solidFill>
        </p:spPr>
        <p:txBody>
          <a:bodyPr/>
          <a:lstStyle/>
          <a:p>
            <a:r>
              <a:rPr lang="en-US" dirty="0">
                <a:solidFill>
                  <a:schemeClr val="bg1"/>
                </a:solidFill>
              </a:rPr>
              <a:t>Code</a:t>
            </a:r>
          </a:p>
        </p:txBody>
      </p:sp>
      <p:graphicFrame>
        <p:nvGraphicFramePr>
          <p:cNvPr id="4" name="Diagram 3">
            <a:extLst>
              <a:ext uri="{FF2B5EF4-FFF2-40B4-BE49-F238E27FC236}">
                <a16:creationId xmlns:a16="http://schemas.microsoft.com/office/drawing/2014/main" id="{B2B24C83-F06A-6B49-8844-40109AFE847B}"/>
              </a:ext>
            </a:extLst>
          </p:cNvPr>
          <p:cNvGraphicFramePr/>
          <p:nvPr>
            <p:extLst>
              <p:ext uri="{D42A27DB-BD31-4B8C-83A1-F6EECF244321}">
                <p14:modId xmlns:p14="http://schemas.microsoft.com/office/powerpoint/2010/main" val="755050813"/>
              </p:ext>
            </p:extLst>
          </p:nvPr>
        </p:nvGraphicFramePr>
        <p:xfrm>
          <a:off x="3200400" y="623359"/>
          <a:ext cx="84582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2">
            <a:extLst>
              <a:ext uri="{FF2B5EF4-FFF2-40B4-BE49-F238E27FC236}">
                <a16:creationId xmlns:a16="http://schemas.microsoft.com/office/drawing/2014/main" id="{79118AC9-2DCE-9E4F-A300-E8EC5CD657BC}"/>
              </a:ext>
            </a:extLst>
          </p:cNvPr>
          <p:cNvSpPr>
            <a:spLocks noGrp="1"/>
          </p:cNvSpPr>
          <p:nvPr>
            <p:ph idx="1"/>
          </p:nvPr>
        </p:nvSpPr>
        <p:spPr>
          <a:xfrm>
            <a:off x="838200" y="1562101"/>
            <a:ext cx="1804988" cy="4351338"/>
          </a:xfrm>
        </p:spPr>
        <p:txBody>
          <a:bodyPr>
            <a:normAutofit fontScale="92500" lnSpcReduction="10000"/>
          </a:bodyPr>
          <a:lstStyle/>
          <a:p>
            <a:pPr marL="0" indent="0">
              <a:buNone/>
            </a:pPr>
            <a:r>
              <a:rPr lang="en-US" sz="1600" b="1" dirty="0"/>
              <a:t>Packages</a:t>
            </a:r>
          </a:p>
          <a:p>
            <a:pPr marL="0" indent="0">
              <a:buNone/>
            </a:pPr>
            <a:r>
              <a:rPr lang="en-US" sz="1600" dirty="0"/>
              <a:t>library(</a:t>
            </a:r>
            <a:r>
              <a:rPr lang="en-US" sz="1600" dirty="0" err="1"/>
              <a:t>dplyr</a:t>
            </a:r>
            <a:r>
              <a:rPr lang="en-US" sz="1600" dirty="0"/>
              <a:t>)</a:t>
            </a:r>
          </a:p>
          <a:p>
            <a:pPr marL="0" indent="0">
              <a:buNone/>
            </a:pPr>
            <a:r>
              <a:rPr lang="en-US" sz="1600" dirty="0"/>
              <a:t>library(</a:t>
            </a:r>
            <a:r>
              <a:rPr lang="en-US" sz="1600" dirty="0" err="1"/>
              <a:t>tibble</a:t>
            </a:r>
            <a:r>
              <a:rPr lang="en-US" sz="1600" dirty="0"/>
              <a:t>)</a:t>
            </a:r>
          </a:p>
          <a:p>
            <a:pPr marL="0" indent="0">
              <a:buNone/>
            </a:pPr>
            <a:r>
              <a:rPr lang="en-US" sz="1600" dirty="0"/>
              <a:t>library(</a:t>
            </a:r>
            <a:r>
              <a:rPr lang="en-US" sz="1600" dirty="0" err="1"/>
              <a:t>phyloseq</a:t>
            </a:r>
            <a:r>
              <a:rPr lang="en-US" sz="1600" dirty="0"/>
              <a:t>)</a:t>
            </a:r>
          </a:p>
          <a:p>
            <a:pPr marL="0" indent="0">
              <a:buNone/>
            </a:pPr>
            <a:r>
              <a:rPr lang="en-US" sz="1600" dirty="0"/>
              <a:t>library(ape)</a:t>
            </a:r>
          </a:p>
          <a:p>
            <a:pPr marL="0" indent="0">
              <a:buNone/>
            </a:pPr>
            <a:r>
              <a:rPr lang="en-US" sz="1600" dirty="0"/>
              <a:t>library(vegan)</a:t>
            </a:r>
          </a:p>
          <a:p>
            <a:pPr marL="0" indent="0">
              <a:buNone/>
            </a:pPr>
            <a:r>
              <a:rPr lang="en-US" sz="1600" dirty="0"/>
              <a:t>library(FSA)</a:t>
            </a:r>
          </a:p>
          <a:p>
            <a:pPr marL="0" indent="0">
              <a:buNone/>
            </a:pPr>
            <a:r>
              <a:rPr lang="en-US" sz="1600" dirty="0"/>
              <a:t>library(</a:t>
            </a:r>
            <a:r>
              <a:rPr lang="en-US" sz="1600" dirty="0" err="1"/>
              <a:t>eulerr</a:t>
            </a:r>
            <a:r>
              <a:rPr lang="en-US" sz="1600" dirty="0"/>
              <a:t>)</a:t>
            </a:r>
          </a:p>
          <a:p>
            <a:pPr marL="0" indent="0">
              <a:buNone/>
            </a:pPr>
            <a:r>
              <a:rPr lang="en-US" sz="1600" dirty="0"/>
              <a:t>library(</a:t>
            </a:r>
            <a:r>
              <a:rPr lang="en-US" sz="1600" dirty="0" err="1"/>
              <a:t>minpack.lm</a:t>
            </a:r>
            <a:r>
              <a:rPr lang="en-US" sz="1600" dirty="0"/>
              <a:t>)</a:t>
            </a:r>
          </a:p>
          <a:p>
            <a:pPr marL="0" indent="0">
              <a:buNone/>
            </a:pPr>
            <a:r>
              <a:rPr lang="en-US" sz="1600" dirty="0"/>
              <a:t>library(</a:t>
            </a:r>
            <a:r>
              <a:rPr lang="en-US" sz="1600" dirty="0" err="1"/>
              <a:t>Hmisc</a:t>
            </a:r>
            <a:r>
              <a:rPr lang="en-US" sz="1600" dirty="0"/>
              <a:t>)</a:t>
            </a:r>
          </a:p>
          <a:p>
            <a:pPr marL="0" indent="0">
              <a:buNone/>
            </a:pPr>
            <a:r>
              <a:rPr lang="en-US" sz="1600" dirty="0"/>
              <a:t>library(stats4)</a:t>
            </a:r>
          </a:p>
          <a:p>
            <a:pPr marL="0" indent="0">
              <a:buNone/>
            </a:pPr>
            <a:r>
              <a:rPr lang="en-US" sz="1600" dirty="0"/>
              <a:t>library(ggplot2)</a:t>
            </a:r>
          </a:p>
          <a:p>
            <a:pPr marL="0" indent="0">
              <a:buNone/>
            </a:pPr>
            <a:r>
              <a:rPr lang="en-US" sz="1600" dirty="0"/>
              <a:t>library(grid)</a:t>
            </a:r>
          </a:p>
          <a:p>
            <a:pPr marL="0" indent="0">
              <a:buNone/>
            </a:pPr>
            <a:r>
              <a:rPr lang="en-US" sz="1600" dirty="0"/>
              <a:t>library(</a:t>
            </a:r>
            <a:r>
              <a:rPr lang="en-US" sz="1600" dirty="0" err="1"/>
              <a:t>gridExtra</a:t>
            </a:r>
            <a:r>
              <a:rPr lang="en-US" sz="1600" dirty="0"/>
              <a:t>)</a:t>
            </a:r>
          </a:p>
          <a:p>
            <a:endParaRPr lang="en-US" sz="1600" dirty="0"/>
          </a:p>
        </p:txBody>
      </p:sp>
      <p:sp>
        <p:nvSpPr>
          <p:cNvPr id="6" name="TextBox 5">
            <a:extLst>
              <a:ext uri="{FF2B5EF4-FFF2-40B4-BE49-F238E27FC236}">
                <a16:creationId xmlns:a16="http://schemas.microsoft.com/office/drawing/2014/main" id="{FD3270B5-31FF-0647-B915-EE3334BD49A7}"/>
              </a:ext>
            </a:extLst>
          </p:cNvPr>
          <p:cNvSpPr txBox="1"/>
          <p:nvPr/>
        </p:nvSpPr>
        <p:spPr>
          <a:xfrm>
            <a:off x="1181100" y="6186488"/>
            <a:ext cx="9829800" cy="523220"/>
          </a:xfrm>
          <a:prstGeom prst="rect">
            <a:avLst/>
          </a:prstGeom>
          <a:noFill/>
        </p:spPr>
        <p:txBody>
          <a:bodyPr wrap="square" rtlCol="0">
            <a:spAutoFit/>
          </a:bodyPr>
          <a:lstStyle/>
          <a:p>
            <a:r>
              <a:rPr lang="en-US" sz="1400" dirty="0"/>
              <a:t>Code developed from Barnett et al., (2020) Soil characteristics and land-use drive bacterial community assembly patterns (https://</a:t>
            </a:r>
            <a:r>
              <a:rPr lang="en-US" sz="1400" dirty="0" err="1"/>
              <a:t>github.com</a:t>
            </a:r>
            <a:r>
              <a:rPr lang="en-US" sz="1400" dirty="0"/>
              <a:t>/seb369/</a:t>
            </a:r>
            <a:r>
              <a:rPr lang="en-US" sz="1400" dirty="0" err="1"/>
              <a:t>landuse_comm_assembly</a:t>
            </a:r>
            <a:r>
              <a:rPr lang="en-US" sz="1400" dirty="0"/>
              <a:t>)</a:t>
            </a:r>
          </a:p>
        </p:txBody>
      </p:sp>
    </p:spTree>
    <p:extLst>
      <p:ext uri="{BB962C8B-B14F-4D97-AF65-F5344CB8AC3E}">
        <p14:creationId xmlns:p14="http://schemas.microsoft.com/office/powerpoint/2010/main" val="116037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9D4884-8744-C041-9173-CD555FAD40F8}"/>
              </a:ext>
            </a:extLst>
          </p:cNvPr>
          <p:cNvPicPr>
            <a:picLocks noChangeAspect="1"/>
          </p:cNvPicPr>
          <p:nvPr/>
        </p:nvPicPr>
        <p:blipFill>
          <a:blip r:embed="rId3"/>
          <a:stretch>
            <a:fillRect/>
          </a:stretch>
        </p:blipFill>
        <p:spPr>
          <a:xfrm>
            <a:off x="2324101" y="1690688"/>
            <a:ext cx="7543798" cy="5029198"/>
          </a:xfrm>
          <a:prstGeom prst="rect">
            <a:avLst/>
          </a:prstGeom>
        </p:spPr>
      </p:pic>
      <p:sp>
        <p:nvSpPr>
          <p:cNvPr id="2" name="Title 1">
            <a:extLst>
              <a:ext uri="{FF2B5EF4-FFF2-40B4-BE49-F238E27FC236}">
                <a16:creationId xmlns:a16="http://schemas.microsoft.com/office/drawing/2014/main" id="{D33FD964-3202-A846-A157-C84F553A5A37}"/>
              </a:ext>
            </a:extLst>
          </p:cNvPr>
          <p:cNvSpPr>
            <a:spLocks noGrp="1"/>
          </p:cNvSpPr>
          <p:nvPr>
            <p:ph type="title"/>
          </p:nvPr>
        </p:nvSpPr>
        <p:spPr>
          <a:solidFill>
            <a:srgbClr val="8EFA00"/>
          </a:solidFill>
        </p:spPr>
        <p:txBody>
          <a:bodyPr/>
          <a:lstStyle/>
          <a:p>
            <a:r>
              <a:rPr lang="en-US" dirty="0">
                <a:solidFill>
                  <a:schemeClr val="bg1"/>
                </a:solidFill>
              </a:rPr>
              <a:t>Results</a:t>
            </a:r>
          </a:p>
        </p:txBody>
      </p:sp>
    </p:spTree>
    <p:extLst>
      <p:ext uri="{BB962C8B-B14F-4D97-AF65-F5344CB8AC3E}">
        <p14:creationId xmlns:p14="http://schemas.microsoft.com/office/powerpoint/2010/main" val="966227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DD1BCA-F609-E140-AFCA-AB4D5B428C49}"/>
              </a:ext>
            </a:extLst>
          </p:cNvPr>
          <p:cNvSpPr>
            <a:spLocks noGrp="1"/>
          </p:cNvSpPr>
          <p:nvPr>
            <p:ph type="title"/>
          </p:nvPr>
        </p:nvSpPr>
        <p:spPr>
          <a:xfrm>
            <a:off x="838200" y="365125"/>
            <a:ext cx="10515600" cy="1325563"/>
          </a:xfrm>
          <a:solidFill>
            <a:srgbClr val="3CE29B"/>
          </a:solidFill>
        </p:spPr>
        <p:txBody>
          <a:bodyPr/>
          <a:lstStyle/>
          <a:p>
            <a:r>
              <a:rPr lang="en-US" dirty="0">
                <a:solidFill>
                  <a:schemeClr val="bg1"/>
                </a:solidFill>
              </a:rPr>
              <a:t>Phylogenetic Signal</a:t>
            </a:r>
          </a:p>
        </p:txBody>
      </p:sp>
      <p:graphicFrame>
        <p:nvGraphicFramePr>
          <p:cNvPr id="5" name="Diagram 4">
            <a:extLst>
              <a:ext uri="{FF2B5EF4-FFF2-40B4-BE49-F238E27FC236}">
                <a16:creationId xmlns:a16="http://schemas.microsoft.com/office/drawing/2014/main" id="{4109EBBB-D17D-6C4F-A66C-CE43FE6D1EB0}"/>
              </a:ext>
            </a:extLst>
          </p:cNvPr>
          <p:cNvGraphicFramePr/>
          <p:nvPr>
            <p:extLst>
              <p:ext uri="{D42A27DB-BD31-4B8C-83A1-F6EECF244321}">
                <p14:modId xmlns:p14="http://schemas.microsoft.com/office/powerpoint/2010/main" val="313429120"/>
              </p:ext>
            </p:extLst>
          </p:nvPr>
        </p:nvGraphicFramePr>
        <p:xfrm>
          <a:off x="2471737" y="1871663"/>
          <a:ext cx="7248525" cy="43561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7916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15911-3E3A-2D42-812C-A002F73441A0}"/>
              </a:ext>
            </a:extLst>
          </p:cNvPr>
          <p:cNvSpPr>
            <a:spLocks noGrp="1"/>
          </p:cNvSpPr>
          <p:nvPr>
            <p:ph type="title"/>
          </p:nvPr>
        </p:nvSpPr>
        <p:spPr>
          <a:solidFill>
            <a:srgbClr val="3CE29B"/>
          </a:solidFill>
        </p:spPr>
        <p:txBody>
          <a:bodyPr/>
          <a:lstStyle/>
          <a:p>
            <a:r>
              <a:rPr lang="en-US" dirty="0">
                <a:solidFill>
                  <a:schemeClr val="bg1"/>
                </a:solidFill>
              </a:rPr>
              <a:t>Phylogenetic Signal</a:t>
            </a:r>
          </a:p>
        </p:txBody>
      </p:sp>
      <p:pic>
        <p:nvPicPr>
          <p:cNvPr id="5" name="Content Placeholder 4">
            <a:extLst>
              <a:ext uri="{FF2B5EF4-FFF2-40B4-BE49-F238E27FC236}">
                <a16:creationId xmlns:a16="http://schemas.microsoft.com/office/drawing/2014/main" id="{F4496389-1C33-954D-A7E3-FD5E780D1E3B}"/>
              </a:ext>
            </a:extLst>
          </p:cNvPr>
          <p:cNvPicPr>
            <a:picLocks noGrp="1" noChangeAspect="1"/>
          </p:cNvPicPr>
          <p:nvPr>
            <p:ph idx="1"/>
          </p:nvPr>
        </p:nvPicPr>
        <p:blipFill>
          <a:blip r:embed="rId3"/>
          <a:stretch>
            <a:fillRect/>
          </a:stretch>
        </p:blipFill>
        <p:spPr>
          <a:xfrm>
            <a:off x="2469885" y="1825625"/>
            <a:ext cx="7252230" cy="4351338"/>
          </a:xfrm>
        </p:spPr>
      </p:pic>
    </p:spTree>
    <p:extLst>
      <p:ext uri="{BB962C8B-B14F-4D97-AF65-F5344CB8AC3E}">
        <p14:creationId xmlns:p14="http://schemas.microsoft.com/office/powerpoint/2010/main" val="3277568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E3458-3266-244D-BCB1-9A7BADC0BE83}"/>
              </a:ext>
            </a:extLst>
          </p:cNvPr>
          <p:cNvSpPr>
            <a:spLocks noGrp="1"/>
          </p:cNvSpPr>
          <p:nvPr>
            <p:ph type="title"/>
          </p:nvPr>
        </p:nvSpPr>
        <p:spPr>
          <a:solidFill>
            <a:srgbClr val="3CE29B"/>
          </a:solidFill>
        </p:spPr>
        <p:txBody>
          <a:bodyPr/>
          <a:lstStyle/>
          <a:p>
            <a:r>
              <a:rPr lang="en-US" dirty="0" err="1">
                <a:solidFill>
                  <a:schemeClr val="bg1"/>
                </a:solidFill>
              </a:rPr>
              <a:t>Stegen</a:t>
            </a:r>
            <a:r>
              <a:rPr lang="en-US" dirty="0">
                <a:solidFill>
                  <a:schemeClr val="bg1"/>
                </a:solidFill>
              </a:rPr>
              <a:t> </a:t>
            </a:r>
            <a:r>
              <a:rPr lang="en-US" i="1" dirty="0">
                <a:solidFill>
                  <a:schemeClr val="bg1"/>
                </a:solidFill>
              </a:rPr>
              <a:t>et al., </a:t>
            </a:r>
            <a:r>
              <a:rPr lang="en-US" dirty="0">
                <a:solidFill>
                  <a:schemeClr val="bg1"/>
                </a:solidFill>
              </a:rPr>
              <a:t>(2013) Phylogenetic Null Model</a:t>
            </a:r>
          </a:p>
        </p:txBody>
      </p:sp>
      <p:graphicFrame>
        <p:nvGraphicFramePr>
          <p:cNvPr id="8" name="Diagram 7">
            <a:extLst>
              <a:ext uri="{FF2B5EF4-FFF2-40B4-BE49-F238E27FC236}">
                <a16:creationId xmlns:a16="http://schemas.microsoft.com/office/drawing/2014/main" id="{8AE007E0-E98F-624F-A585-6E129FB1664C}"/>
              </a:ext>
            </a:extLst>
          </p:cNvPr>
          <p:cNvGraphicFramePr/>
          <p:nvPr>
            <p:extLst>
              <p:ext uri="{D42A27DB-BD31-4B8C-83A1-F6EECF244321}">
                <p14:modId xmlns:p14="http://schemas.microsoft.com/office/powerpoint/2010/main" val="291247793"/>
              </p:ext>
            </p:extLst>
          </p:nvPr>
        </p:nvGraphicFramePr>
        <p:xfrm>
          <a:off x="2032000" y="1843087"/>
          <a:ext cx="8128000" cy="46238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936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BA72A-65D0-264A-81C1-22BB6ED24C60}"/>
              </a:ext>
            </a:extLst>
          </p:cNvPr>
          <p:cNvSpPr>
            <a:spLocks noGrp="1"/>
          </p:cNvSpPr>
          <p:nvPr>
            <p:ph type="title"/>
          </p:nvPr>
        </p:nvSpPr>
        <p:spPr>
          <a:solidFill>
            <a:srgbClr val="3CE29B"/>
          </a:solidFill>
        </p:spPr>
        <p:txBody>
          <a:bodyPr/>
          <a:lstStyle/>
          <a:p>
            <a:r>
              <a:rPr lang="en-US" dirty="0">
                <a:solidFill>
                  <a:schemeClr val="bg1"/>
                </a:solidFill>
              </a:rPr>
              <a:t>Phylogenetic Null Model</a:t>
            </a:r>
          </a:p>
        </p:txBody>
      </p:sp>
      <p:pic>
        <p:nvPicPr>
          <p:cNvPr id="5" name="Picture 4">
            <a:extLst>
              <a:ext uri="{FF2B5EF4-FFF2-40B4-BE49-F238E27FC236}">
                <a16:creationId xmlns:a16="http://schemas.microsoft.com/office/drawing/2014/main" id="{A36CDF9A-2A20-2B4E-A28F-6A15C12DD210}"/>
              </a:ext>
            </a:extLst>
          </p:cNvPr>
          <p:cNvPicPr>
            <a:picLocks noChangeAspect="1"/>
          </p:cNvPicPr>
          <p:nvPr/>
        </p:nvPicPr>
        <p:blipFill>
          <a:blip r:embed="rId2"/>
          <a:stretch>
            <a:fillRect/>
          </a:stretch>
        </p:blipFill>
        <p:spPr>
          <a:xfrm>
            <a:off x="2709863" y="2300288"/>
            <a:ext cx="7315200" cy="3657600"/>
          </a:xfrm>
          <a:prstGeom prst="rect">
            <a:avLst/>
          </a:prstGeom>
        </p:spPr>
      </p:pic>
    </p:spTree>
    <p:extLst>
      <p:ext uri="{BB962C8B-B14F-4D97-AF65-F5344CB8AC3E}">
        <p14:creationId xmlns:p14="http://schemas.microsoft.com/office/powerpoint/2010/main" val="2838930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BC78-4FE8-2C4B-B3E9-180A5A12FE77}"/>
              </a:ext>
            </a:extLst>
          </p:cNvPr>
          <p:cNvSpPr>
            <a:spLocks noGrp="1"/>
          </p:cNvSpPr>
          <p:nvPr>
            <p:ph type="title"/>
          </p:nvPr>
        </p:nvSpPr>
        <p:spPr>
          <a:solidFill>
            <a:srgbClr val="5C9BD5"/>
          </a:solidFill>
        </p:spPr>
        <p:txBody>
          <a:bodyPr/>
          <a:lstStyle/>
          <a:p>
            <a:r>
              <a:rPr lang="en-US" dirty="0" err="1">
                <a:solidFill>
                  <a:schemeClr val="bg1"/>
                </a:solidFill>
              </a:rPr>
              <a:t>Gephi</a:t>
            </a:r>
            <a:endParaRPr lang="en-US" dirty="0">
              <a:solidFill>
                <a:schemeClr val="bg1"/>
              </a:solidFill>
            </a:endParaRPr>
          </a:p>
        </p:txBody>
      </p:sp>
      <p:pic>
        <p:nvPicPr>
          <p:cNvPr id="6" name="Picture 5">
            <a:extLst>
              <a:ext uri="{FF2B5EF4-FFF2-40B4-BE49-F238E27FC236}">
                <a16:creationId xmlns:a16="http://schemas.microsoft.com/office/drawing/2014/main" id="{D3ECF695-8101-B148-9E3A-CBC46B2DCD81}"/>
              </a:ext>
            </a:extLst>
          </p:cNvPr>
          <p:cNvPicPr>
            <a:picLocks noChangeAspect="1"/>
          </p:cNvPicPr>
          <p:nvPr/>
        </p:nvPicPr>
        <p:blipFill>
          <a:blip r:embed="rId3"/>
          <a:stretch>
            <a:fillRect/>
          </a:stretch>
        </p:blipFill>
        <p:spPr>
          <a:xfrm>
            <a:off x="1788318" y="1858395"/>
            <a:ext cx="8615363" cy="4735774"/>
          </a:xfrm>
          <a:prstGeom prst="rect">
            <a:avLst/>
          </a:prstGeom>
        </p:spPr>
      </p:pic>
    </p:spTree>
    <p:extLst>
      <p:ext uri="{BB962C8B-B14F-4D97-AF65-F5344CB8AC3E}">
        <p14:creationId xmlns:p14="http://schemas.microsoft.com/office/powerpoint/2010/main" val="4153186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5F0F-7C96-DA4F-BD8F-8C9975EFAB82}"/>
              </a:ext>
            </a:extLst>
          </p:cNvPr>
          <p:cNvSpPr>
            <a:spLocks noGrp="1"/>
          </p:cNvSpPr>
          <p:nvPr>
            <p:ph type="title"/>
          </p:nvPr>
        </p:nvSpPr>
        <p:spPr>
          <a:solidFill>
            <a:srgbClr val="5C9BD5"/>
          </a:solidFill>
        </p:spPr>
        <p:txBody>
          <a:bodyPr/>
          <a:lstStyle/>
          <a:p>
            <a:r>
              <a:rPr lang="en-US" dirty="0">
                <a:solidFill>
                  <a:schemeClr val="bg1"/>
                </a:solidFill>
              </a:rPr>
              <a:t>Co-Occurrence Network Analysis</a:t>
            </a:r>
          </a:p>
        </p:txBody>
      </p:sp>
    </p:spTree>
    <p:extLst>
      <p:ext uri="{BB962C8B-B14F-4D97-AF65-F5344CB8AC3E}">
        <p14:creationId xmlns:p14="http://schemas.microsoft.com/office/powerpoint/2010/main" val="1804698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08ED6-3AC3-C74A-BC09-4ACE99BE8CEA}"/>
              </a:ext>
            </a:extLst>
          </p:cNvPr>
          <p:cNvSpPr>
            <a:spLocks noGrp="1"/>
          </p:cNvSpPr>
          <p:nvPr>
            <p:ph type="title"/>
          </p:nvPr>
        </p:nvSpPr>
        <p:spPr>
          <a:solidFill>
            <a:srgbClr val="5C9BD5"/>
          </a:solidFill>
        </p:spPr>
        <p:txBody>
          <a:bodyPr/>
          <a:lstStyle/>
          <a:p>
            <a:r>
              <a:rPr lang="en-US" dirty="0">
                <a:solidFill>
                  <a:schemeClr val="bg1"/>
                </a:solidFill>
              </a:rPr>
              <a:t>Centrality and Clustering</a:t>
            </a:r>
          </a:p>
        </p:txBody>
      </p:sp>
      <p:sp>
        <p:nvSpPr>
          <p:cNvPr id="3" name="Content Placeholder 2">
            <a:extLst>
              <a:ext uri="{FF2B5EF4-FFF2-40B4-BE49-F238E27FC236}">
                <a16:creationId xmlns:a16="http://schemas.microsoft.com/office/drawing/2014/main" id="{AE5C1FCC-630C-704F-9B87-76F833E6EB7A}"/>
              </a:ext>
            </a:extLst>
          </p:cNvPr>
          <p:cNvSpPr>
            <a:spLocks noGrp="1"/>
          </p:cNvSpPr>
          <p:nvPr>
            <p:ph idx="1"/>
          </p:nvPr>
        </p:nvSpPr>
        <p:spPr/>
        <p:txBody>
          <a:bodyPr/>
          <a:lstStyle/>
          <a:p>
            <a:r>
              <a:rPr lang="en-US" dirty="0"/>
              <a:t>Degree Centrality</a:t>
            </a:r>
          </a:p>
          <a:p>
            <a:r>
              <a:rPr lang="en-US" dirty="0"/>
              <a:t>Closeness Centrality</a:t>
            </a:r>
          </a:p>
          <a:p>
            <a:r>
              <a:rPr lang="en-US" dirty="0"/>
              <a:t>Betweenness Centrality</a:t>
            </a:r>
          </a:p>
          <a:p>
            <a:r>
              <a:rPr lang="en-US" dirty="0"/>
              <a:t>Clustering coefficient</a:t>
            </a:r>
          </a:p>
          <a:p>
            <a:endParaRPr lang="en-US" dirty="0"/>
          </a:p>
        </p:txBody>
      </p:sp>
    </p:spTree>
    <p:extLst>
      <p:ext uri="{BB962C8B-B14F-4D97-AF65-F5344CB8AC3E}">
        <p14:creationId xmlns:p14="http://schemas.microsoft.com/office/powerpoint/2010/main" val="3748687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2BF3-8D20-3347-8C3A-FC5C22DAA765}"/>
              </a:ext>
            </a:extLst>
          </p:cNvPr>
          <p:cNvSpPr>
            <a:spLocks noGrp="1"/>
          </p:cNvSpPr>
          <p:nvPr>
            <p:ph type="title"/>
          </p:nvPr>
        </p:nvSpPr>
        <p:spPr>
          <a:solidFill>
            <a:srgbClr val="5C9BD5"/>
          </a:solidFill>
          <a:ln>
            <a:solidFill>
              <a:schemeClr val="accent1"/>
            </a:solidFill>
          </a:ln>
        </p:spPr>
        <p:txBody>
          <a:bodyPr/>
          <a:lstStyle/>
          <a:p>
            <a:r>
              <a:rPr lang="en-US" dirty="0"/>
              <a:t>Results</a:t>
            </a:r>
          </a:p>
        </p:txBody>
      </p:sp>
      <p:sp>
        <p:nvSpPr>
          <p:cNvPr id="3" name="Content Placeholder 2">
            <a:extLst>
              <a:ext uri="{FF2B5EF4-FFF2-40B4-BE49-F238E27FC236}">
                <a16:creationId xmlns:a16="http://schemas.microsoft.com/office/drawing/2014/main" id="{F9534A9C-B446-AB47-AFCB-FC722EBB3FD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29005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D7E04-7C38-FB49-A0A0-EF5E49EDA455}"/>
              </a:ext>
            </a:extLst>
          </p:cNvPr>
          <p:cNvSpPr>
            <a:spLocks noGrp="1"/>
          </p:cNvSpPr>
          <p:nvPr>
            <p:ph type="title"/>
          </p:nvPr>
        </p:nvSpPr>
        <p:spPr>
          <a:solidFill>
            <a:srgbClr val="5C9BD5"/>
          </a:solidFill>
        </p:spPr>
        <p:txBody>
          <a:bodyPr>
            <a:noAutofit/>
          </a:bodyPr>
          <a:lstStyle/>
          <a:p>
            <a:r>
              <a:rPr lang="en-GB" sz="2800" b="1" dirty="0">
                <a:solidFill>
                  <a:schemeClr val="bg1"/>
                </a:solidFill>
              </a:rPr>
              <a:t>Hu et al., (2017) Strong impact of anthropogenic contamination on the co‐occurrence patterns of a riverine microbial community</a:t>
            </a:r>
            <a:br>
              <a:rPr lang="en-GB" sz="2800" b="1" dirty="0">
                <a:solidFill>
                  <a:schemeClr val="bg1"/>
                </a:solidFill>
              </a:rPr>
            </a:br>
            <a:endParaRPr lang="en-US" sz="2800" dirty="0">
              <a:solidFill>
                <a:schemeClr val="bg1"/>
              </a:solidFill>
            </a:endParaRPr>
          </a:p>
        </p:txBody>
      </p:sp>
    </p:spTree>
    <p:extLst>
      <p:ext uri="{BB962C8B-B14F-4D97-AF65-F5344CB8AC3E}">
        <p14:creationId xmlns:p14="http://schemas.microsoft.com/office/powerpoint/2010/main" val="2136607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DA027-B72B-4144-A731-E9B94EB5ED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9B51A7-07A9-CA41-AA95-F674E4BEFDE9}"/>
              </a:ext>
            </a:extLst>
          </p:cNvPr>
          <p:cNvSpPr>
            <a:spLocks noGrp="1"/>
          </p:cNvSpPr>
          <p:nvPr>
            <p:ph idx="1"/>
          </p:nvPr>
        </p:nvSpPr>
        <p:spPr/>
        <p:txBody>
          <a:bodyPr/>
          <a:lstStyle/>
          <a:p>
            <a:pPr marL="514350" indent="-514350">
              <a:buFont typeface="+mj-lt"/>
              <a:buAutoNum type="arabicPeriod"/>
            </a:pPr>
            <a:r>
              <a:rPr lang="en-US" dirty="0"/>
              <a:t>Transpose </a:t>
            </a:r>
            <a:r>
              <a:rPr lang="en-US" dirty="0" err="1"/>
              <a:t>asv</a:t>
            </a:r>
            <a:r>
              <a:rPr lang="en-US" dirty="0"/>
              <a:t> table (</a:t>
            </a:r>
            <a:r>
              <a:rPr lang="en-US" dirty="0" err="1"/>
              <a:t>asv</a:t>
            </a:r>
            <a:r>
              <a:rPr lang="en-US" dirty="0"/>
              <a:t> = rows, samples = columns) and compute a matrix of Spearman’s rho rank correlation coefficients for all possible pairs of columns (</a:t>
            </a:r>
            <a:r>
              <a:rPr lang="en-US" dirty="0" err="1"/>
              <a:t>asvs</a:t>
            </a:r>
            <a:r>
              <a:rPr lang="en-US" dirty="0"/>
              <a:t>).</a:t>
            </a:r>
          </a:p>
          <a:p>
            <a:pPr marL="514350" indent="-514350">
              <a:buFont typeface="+mj-lt"/>
              <a:buAutoNum type="arabicPeriod"/>
            </a:pPr>
            <a:endParaRPr lang="en-US" dirty="0"/>
          </a:p>
        </p:txBody>
      </p:sp>
    </p:spTree>
    <p:extLst>
      <p:ext uri="{BB962C8B-B14F-4D97-AF65-F5344CB8AC3E}">
        <p14:creationId xmlns:p14="http://schemas.microsoft.com/office/powerpoint/2010/main" val="1057470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7765</TotalTime>
  <Words>3090</Words>
  <Application>Microsoft Macintosh PowerPoint</Application>
  <PresentationFormat>Widescreen</PresentationFormat>
  <Paragraphs>270</Paragraphs>
  <Slides>28</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Cambria Math</vt:lpstr>
      <vt:lpstr>Office Theme</vt:lpstr>
      <vt:lpstr>Microbial Biogeography and Community Assembly Mechanisms in the Supraglacial Environment: Influence of activity and abundance</vt:lpstr>
      <vt:lpstr>Hypotheses</vt:lpstr>
      <vt:lpstr>Analysis Workflow</vt:lpstr>
      <vt:lpstr>Sommers et al., (2020) ﻿Microbial Species–Area Relationships in Antarctic Cryoconite Holes Depend on Productivity</vt:lpstr>
      <vt:lpstr>QIIME2 &amp; DADA2</vt:lpstr>
      <vt:lpstr>Data Prep</vt:lpstr>
      <vt:lpstr>Multivariate Analysis</vt:lpstr>
      <vt:lpstr>Alpha Diversity</vt:lpstr>
      <vt:lpstr>Beta Diversity &amp; Ordination: Weighted UniFrac</vt:lpstr>
      <vt:lpstr>Beta Diversity &amp; Ordination: Unweighted UniFrac</vt:lpstr>
      <vt:lpstr>Beta Diversity &amp; Ordination: Bray-Curtis</vt:lpstr>
      <vt:lpstr>All Environmental Plots</vt:lpstr>
      <vt:lpstr>CAP Analysis</vt:lpstr>
      <vt:lpstr>Island Species-Area Relationship (ISAR)</vt:lpstr>
      <vt:lpstr>Distance-Decay Relationship (DDR)</vt:lpstr>
      <vt:lpstr>Sloan’s Neutral Model</vt:lpstr>
      <vt:lpstr>Code</vt:lpstr>
      <vt:lpstr>Results</vt:lpstr>
      <vt:lpstr>Phylogenetic Signal</vt:lpstr>
      <vt:lpstr>Phylogenetic Signal</vt:lpstr>
      <vt:lpstr>Stegen et al., (2013) Phylogenetic Null Model</vt:lpstr>
      <vt:lpstr>Phylogenetic Null Model</vt:lpstr>
      <vt:lpstr>Gephi</vt:lpstr>
      <vt:lpstr>Co-Occurrence Network Analysis</vt:lpstr>
      <vt:lpstr>Centrality and Clustering</vt:lpstr>
      <vt:lpstr>Results</vt:lpstr>
      <vt:lpstr>Hu et al., (2017) Strong impact of anthropogenic contamination on the co‐occurrence patterns of a riverine microbial community </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Microbial Biogeography and Community Assembly Mechanisms</dc:title>
  <dc:creator>Amy Bo Tinky Solman</dc:creator>
  <cp:lastModifiedBy>Amy Bo Tinky Solman</cp:lastModifiedBy>
  <cp:revision>121</cp:revision>
  <dcterms:created xsi:type="dcterms:W3CDTF">2021-04-15T08:49:25Z</dcterms:created>
  <dcterms:modified xsi:type="dcterms:W3CDTF">2021-04-21T18:05:28Z</dcterms:modified>
</cp:coreProperties>
</file>