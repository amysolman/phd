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311" r:id="rId3"/>
    <p:sldId id="270" r:id="rId4"/>
    <p:sldId id="280" r:id="rId5"/>
    <p:sldId id="281" r:id="rId6"/>
    <p:sldId id="283" r:id="rId7"/>
    <p:sldId id="282" r:id="rId8"/>
    <p:sldId id="287" r:id="rId9"/>
    <p:sldId id="299" r:id="rId10"/>
    <p:sldId id="300" r:id="rId11"/>
    <p:sldId id="301" r:id="rId12"/>
    <p:sldId id="302" r:id="rId13"/>
    <p:sldId id="309" r:id="rId14"/>
    <p:sldId id="310" r:id="rId15"/>
    <p:sldId id="258" r:id="rId16"/>
    <p:sldId id="259" r:id="rId17"/>
    <p:sldId id="261" r:id="rId18"/>
    <p:sldId id="277" r:id="rId19"/>
    <p:sldId id="278" r:id="rId20"/>
    <p:sldId id="265" r:id="rId21"/>
    <p:sldId id="293" r:id="rId22"/>
    <p:sldId id="271" r:id="rId23"/>
    <p:sldId id="260" r:id="rId24"/>
    <p:sldId id="295" r:id="rId25"/>
    <p:sldId id="262" r:id="rId26"/>
    <p:sldId id="294" r:id="rId27"/>
    <p:sldId id="298" r:id="rId28"/>
    <p:sldId id="296" r:id="rId29"/>
    <p:sldId id="29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24"/>
    <p:restoredTop sz="65891"/>
  </p:normalViewPr>
  <p:slideViewPr>
    <p:cSldViewPr snapToGrid="0" snapToObjects="1">
      <p:cViewPr varScale="1">
        <p:scale>
          <a:sx n="49" d="100"/>
          <a:sy n="49" d="100"/>
        </p:scale>
        <p:origin x="184" y="648"/>
      </p:cViewPr>
      <p:guideLst/>
    </p:cSldViewPr>
  </p:slideViewPr>
  <p:notesTextViewPr>
    <p:cViewPr>
      <p:scale>
        <a:sx n="1" d="1"/>
        <a:sy n="1" d="1"/>
      </p:scale>
      <p:origin x="0" y="-8784"/>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121398" y="497"/>
          <a:ext cx="6215402" cy="582470"/>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Extract ASV table from </a:t>
          </a:r>
          <a:r>
            <a:rPr lang="en-US" sz="1300" kern="1200" dirty="0" err="1"/>
            <a:t>phyloseq</a:t>
          </a:r>
          <a:r>
            <a:rPr lang="en-US" sz="1300" kern="1200" dirty="0"/>
            <a:t> object</a:t>
          </a:r>
        </a:p>
      </dsp:txBody>
      <dsp:txXfrm>
        <a:off x="1138458" y="17557"/>
        <a:ext cx="6181282" cy="548350"/>
      </dsp:txXfrm>
    </dsp:sp>
    <dsp:sp modelId="{91DA19BA-A0AB-564A-8A9E-322DF18B64CF}">
      <dsp:nvSpPr>
        <dsp:cNvPr id="0" name=""/>
        <dsp:cNvSpPr/>
      </dsp:nvSpPr>
      <dsp:spPr>
        <a:xfrm rot="5400000">
          <a:off x="4119886" y="597530"/>
          <a:ext cx="218426" cy="262111"/>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619372"/>
        <a:ext cx="157267" cy="152898"/>
      </dsp:txXfrm>
    </dsp:sp>
    <dsp:sp modelId="{43D2067A-91F6-8745-98BA-D6A10B24950A}">
      <dsp:nvSpPr>
        <dsp:cNvPr id="0" name=""/>
        <dsp:cNvSpPr/>
      </dsp:nvSpPr>
      <dsp:spPr>
        <a:xfrm>
          <a:off x="1142903" y="874203"/>
          <a:ext cx="6172393" cy="582470"/>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a:t>
          </a:r>
          <a:r>
            <a:rPr lang="en-US" sz="1300" i="1" kern="1200" dirty="0"/>
            <a:t>N</a:t>
          </a:r>
          <a:r>
            <a:rPr lang="en-US" sz="1300" kern="1200" dirty="0"/>
            <a:t> by finding the mean number of reads per sample. We also find the limit of detection (</a:t>
          </a:r>
          <a:r>
            <a:rPr lang="en-US" sz="1300" i="1" kern="1200" dirty="0"/>
            <a:t>d</a:t>
          </a:r>
          <a:r>
            <a:rPr lang="en-US" sz="1300" kern="1200" dirty="0"/>
            <a:t>) = </a:t>
          </a:r>
          <a:r>
            <a:rPr lang="en-US" sz="1300" i="1" kern="1200" dirty="0"/>
            <a:t>1/N</a:t>
          </a:r>
        </a:p>
      </dsp:txBody>
      <dsp:txXfrm>
        <a:off x="1159963" y="891263"/>
        <a:ext cx="6138273" cy="548350"/>
      </dsp:txXfrm>
    </dsp:sp>
    <dsp:sp modelId="{D067C965-9057-9C4A-A1D2-4912C14C50F7}">
      <dsp:nvSpPr>
        <dsp:cNvPr id="0" name=""/>
        <dsp:cNvSpPr/>
      </dsp:nvSpPr>
      <dsp:spPr>
        <a:xfrm rot="5400000">
          <a:off x="4119886" y="1471235"/>
          <a:ext cx="218426" cy="262111"/>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1493077"/>
        <a:ext cx="157267" cy="152898"/>
      </dsp:txXfrm>
    </dsp:sp>
    <dsp:sp modelId="{80C05A4E-2A0A-294C-8DDC-052E97D834DA}">
      <dsp:nvSpPr>
        <dsp:cNvPr id="0" name=""/>
        <dsp:cNvSpPr/>
      </dsp:nvSpPr>
      <dsp:spPr>
        <a:xfrm>
          <a:off x="1164408" y="1747909"/>
          <a:ext cx="6129383" cy="582470"/>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the mean observed relative abundance and occurrence frequency of each ASV</a:t>
          </a:r>
        </a:p>
      </dsp:txBody>
      <dsp:txXfrm>
        <a:off x="1181468" y="1764969"/>
        <a:ext cx="6095263" cy="548350"/>
      </dsp:txXfrm>
    </dsp:sp>
    <dsp:sp modelId="{B3C2DB7A-EC33-6544-A09D-B1205728770A}">
      <dsp:nvSpPr>
        <dsp:cNvPr id="0" name=""/>
        <dsp:cNvSpPr/>
      </dsp:nvSpPr>
      <dsp:spPr>
        <a:xfrm rot="5400000">
          <a:off x="4119886" y="2344941"/>
          <a:ext cx="218426" cy="262111"/>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2366783"/>
        <a:ext cx="157267" cy="152898"/>
      </dsp:txXfrm>
    </dsp:sp>
    <dsp:sp modelId="{6F6C8E07-FBAD-3F4D-A906-27ECCF26E70E}">
      <dsp:nvSpPr>
        <dsp:cNvPr id="0" name=""/>
        <dsp:cNvSpPr/>
      </dsp:nvSpPr>
      <dsp:spPr>
        <a:xfrm>
          <a:off x="1175160" y="2621614"/>
          <a:ext cx="6107878" cy="5824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non-linear least squares fitting we fit the neutral model to our data to find, finding the probability of dispersal (</a:t>
          </a:r>
          <a:r>
            <a:rPr lang="en-US" sz="1300" i="1" kern="1200" dirty="0"/>
            <a:t>m</a:t>
          </a:r>
          <a:r>
            <a:rPr lang="en-US" sz="1300" kern="1200" dirty="0"/>
            <a:t>)</a:t>
          </a:r>
        </a:p>
      </dsp:txBody>
      <dsp:txXfrm>
        <a:off x="1192220" y="2638674"/>
        <a:ext cx="6073758" cy="548350"/>
      </dsp:txXfrm>
    </dsp:sp>
    <dsp:sp modelId="{48489AC1-89DA-0F48-B940-23505B5798FF}">
      <dsp:nvSpPr>
        <dsp:cNvPr id="0" name=""/>
        <dsp:cNvSpPr/>
      </dsp:nvSpPr>
      <dsp:spPr>
        <a:xfrm rot="5400000">
          <a:off x="4119886" y="3218647"/>
          <a:ext cx="218426" cy="262111"/>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3240489"/>
        <a:ext cx="157267" cy="152898"/>
      </dsp:txXfrm>
    </dsp:sp>
    <dsp:sp modelId="{80377AF5-BC76-FB40-840E-12C9D1BDB641}">
      <dsp:nvSpPr>
        <dsp:cNvPr id="0" name=""/>
        <dsp:cNvSpPr/>
      </dsp:nvSpPr>
      <dsp:spPr>
        <a:xfrm>
          <a:off x="1164408" y="3495320"/>
          <a:ext cx="6129383" cy="58247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the estimated value of </a:t>
          </a:r>
          <a:r>
            <a:rPr lang="en-US" sz="1300" i="1" kern="1200" dirty="0"/>
            <a:t>m</a:t>
          </a:r>
          <a:r>
            <a:rPr lang="en-US" sz="1300" kern="1200" dirty="0"/>
            <a:t> we calculate predicted occurrence frequencies and plot predictions from the neutral model against observed frequencies</a:t>
          </a:r>
        </a:p>
      </dsp:txBody>
      <dsp:txXfrm>
        <a:off x="1181468" y="3512380"/>
        <a:ext cx="6095263" cy="5483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4/22/21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5</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6</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7</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a:p>
            <a:endParaRPr lang="en-US" dirty="0"/>
          </a:p>
          <a:p>
            <a:r>
              <a:rPr lang="en-US" dirty="0"/>
              <a:t>Estimates of beta diversity based on phylogenetic dissimilarity show significant variation between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 et al., (2006)</a:t>
            </a:r>
          </a:p>
          <a:p>
            <a:r>
              <a:rPr lang="en-US" i="1" dirty="0"/>
              <a:t>‘The microbial world is hard to observe. It is only recently</a:t>
            </a:r>
          </a:p>
          <a:p>
            <a:r>
              <a:rPr lang="en-US" i="1" dirty="0"/>
              <a:t>that the techniques in microbial ecology have advanced</a:t>
            </a:r>
          </a:p>
          <a:p>
            <a:r>
              <a:rPr lang="en-US" i="1" dirty="0"/>
              <a:t>to the point that patterns such as species area curves</a:t>
            </a:r>
          </a:p>
          <a:p>
            <a:r>
              <a:rPr lang="en-US" i="1" dirty="0"/>
              <a:t>have been reported for prokaryotic communities (Green</a:t>
            </a:r>
          </a:p>
          <a:p>
            <a:r>
              <a:rPr lang="en-US" i="1" dirty="0"/>
              <a:t>et al</a:t>
            </a:r>
          </a:p>
          <a:p>
            <a:r>
              <a:rPr lang="en-US" i="1" dirty="0"/>
              <a:t>., 2004; Horner-Devine </a:t>
            </a:r>
          </a:p>
          <a:p>
            <a:r>
              <a:rPr lang="en-US" i="1" dirty="0"/>
              <a:t>et al</a:t>
            </a:r>
          </a:p>
          <a:p>
            <a:r>
              <a:rPr lang="en-US" i="1" dirty="0"/>
              <a:t>., 2004), at least 83 years</a:t>
            </a:r>
          </a:p>
          <a:p>
            <a:r>
              <a:rPr lang="en-US" i="1" dirty="0"/>
              <a:t>after the observation was ﬁrst made in communities of</a:t>
            </a:r>
          </a:p>
          <a:p>
            <a:r>
              <a:rPr lang="en-US" i="1" dirty="0" err="1"/>
              <a:t>arger</a:t>
            </a:r>
            <a:r>
              <a:rPr lang="en-US" i="1" dirty="0"/>
              <a:t> organisms. Species area curves led directly to the</a:t>
            </a:r>
          </a:p>
          <a:p>
            <a:r>
              <a:rPr lang="en-US" i="1" dirty="0"/>
              <a:t>development of the ﬁrst theories of community assembly</a:t>
            </a:r>
          </a:p>
          <a:p>
            <a:r>
              <a:rPr lang="en-US" i="1" dirty="0"/>
              <a:t>(MacArthur and Wilson, 1967). ‘</a:t>
            </a:r>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7762585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a:p>
            <a:endParaRPr lang="en-US" dirty="0"/>
          </a:p>
          <a:p>
            <a:r>
              <a:rPr lang="en-US" b="1" dirty="0"/>
              <a:t>Why is Sloan's Neutral Model important? (Sloan et al., 2006)</a:t>
            </a:r>
          </a:p>
          <a:p>
            <a:r>
              <a:rPr lang="en-US" dirty="0"/>
              <a:t>Microbial organisms are essential for life on earth.</a:t>
            </a:r>
          </a:p>
          <a:p>
            <a:r>
              <a:rPr lang="en-US" dirty="0"/>
              <a:t>The rules that govern their community assembly are poorly understood.</a:t>
            </a:r>
          </a:p>
          <a:p>
            <a:r>
              <a:rPr lang="en-US" dirty="0"/>
              <a:t>We need mathematical tools to describe these processes.</a:t>
            </a:r>
          </a:p>
          <a:p>
            <a:r>
              <a:rPr lang="en-US" dirty="0"/>
              <a:t>Typically microbial community structure has been thought to be shaped by deterministic processes (abiotic and biotic selection).</a:t>
            </a:r>
          </a:p>
          <a:p>
            <a:r>
              <a:rPr lang="en-US" dirty="0"/>
              <a:t>Despite this, the relative abundances and frequencies of taxa observed can be described using a neutral community model.</a:t>
            </a:r>
          </a:p>
          <a:p>
            <a:r>
              <a:rPr lang="en-US" dirty="0"/>
              <a:t>Sloan’s neutral community model includes stochastic birth-death events (or ecological drift) and immigration.</a:t>
            </a:r>
          </a:p>
          <a:p>
            <a:r>
              <a:rPr lang="en-US" dirty="0"/>
              <a:t>The neutral community model DOES NOT include any deterministic processes and is not supposed to be a complete description of microbial community assembly processes.</a:t>
            </a:r>
          </a:p>
          <a:p>
            <a:r>
              <a:rPr lang="en-US" dirty="0"/>
              <a:t>Despite this, the successful application of the model in describing patterns of community structure suggests that stochastic processes of ecological drift and dispersal are important processes in microbial community assembly.</a:t>
            </a:r>
          </a:p>
          <a:p>
            <a:r>
              <a:rPr lang="en-US" dirty="0"/>
              <a:t>Neutral models allow us to quantify processes which are difficult to directly observe (dispersal) yet that are important to microbial communities.</a:t>
            </a:r>
          </a:p>
          <a:p>
            <a:endParaRPr lang="en-US" dirty="0"/>
          </a:p>
          <a:p>
            <a:endParaRPr lang="en-US" dirty="0"/>
          </a:p>
          <a:p>
            <a:r>
              <a:rPr lang="en-US" dirty="0"/>
              <a:t>To test if stochastic processes play a key role in shaping microbial community structure we need:</a:t>
            </a:r>
          </a:p>
          <a:p>
            <a:pPr marL="228600" indent="-228600">
              <a:buAutoNum type="arabicPeriod"/>
            </a:pPr>
            <a:r>
              <a:rPr lang="en-US" dirty="0"/>
              <a:t>Evidence of random community assembly</a:t>
            </a:r>
          </a:p>
          <a:p>
            <a:pPr marL="228600" indent="-228600">
              <a:buAutoNum type="arabicPeriod"/>
            </a:pPr>
            <a:r>
              <a:rPr lang="en-US" dirty="0"/>
              <a:t>A neutral model for microbes that can deal with large populations</a:t>
            </a:r>
          </a:p>
          <a:p>
            <a:pPr marL="228600" indent="-228600">
              <a:buAutoNum type="arabicPeriod"/>
            </a:pPr>
            <a:r>
              <a:rPr lang="en-US" dirty="0"/>
              <a:t>A method for </a:t>
            </a:r>
            <a:r>
              <a:rPr lang="en-US" dirty="0" err="1"/>
              <a:t>paramaterisation</a:t>
            </a:r>
            <a:r>
              <a:rPr lang="en-US" dirty="0"/>
              <a:t> that does not rely on observed species abundance distributions or assumptions about source community patterns</a:t>
            </a:r>
          </a:p>
          <a:p>
            <a:pPr marL="228600" indent="-228600">
              <a:buAutoNum type="arabicPeriod"/>
            </a:pPr>
            <a:r>
              <a:rPr lang="en-US" dirty="0"/>
              <a:t>Data that support the model</a:t>
            </a:r>
          </a:p>
          <a:p>
            <a:pPr marL="228600" indent="-228600">
              <a:buAutoNum type="arabicPeriod"/>
            </a:pPr>
            <a:r>
              <a:rPr lang="en-US" dirty="0"/>
              <a:t>A model robust to departures from the assumption of neutrality</a:t>
            </a:r>
          </a:p>
          <a:p>
            <a:endParaRPr lang="en-US" b="1" dirty="0"/>
          </a:p>
          <a:p>
            <a:r>
              <a:rPr lang="en-US" b="1" dirty="0"/>
              <a:t>Explain how Sloan's Neutral Model works.</a:t>
            </a:r>
          </a:p>
          <a:p>
            <a:pPr marL="228600" indent="-228600">
              <a:buAutoNum type="arabicParenR"/>
            </a:pPr>
            <a:r>
              <a:rPr lang="en-US" dirty="0"/>
              <a:t>The community is saturated with </a:t>
            </a:r>
            <a:r>
              <a:rPr lang="en-US" dirty="0" err="1"/>
              <a:t>Nt</a:t>
            </a:r>
            <a:r>
              <a:rPr lang="en-US" dirty="0"/>
              <a:t> individuals. For the assemblage to change an individual must die or leave the system. The rate of change within the system is species independent.</a:t>
            </a:r>
          </a:p>
          <a:p>
            <a:pPr marL="228600" indent="-228600">
              <a:buAutoNum type="arabicParenR"/>
            </a:pPr>
            <a:r>
              <a:rPr lang="en-US" dirty="0"/>
              <a:t>The dead individual is replace with probability m by an immigrant from the metacommunity, or replaced by reproduction of a member of the local community with probability 1-m. </a:t>
            </a:r>
          </a:p>
          <a:p>
            <a:pPr marL="228600" indent="-228600">
              <a:buAutoNum type="arabicParenR"/>
            </a:pPr>
            <a:r>
              <a:rPr lang="en-US" dirty="0"/>
              <a:t>The community changed through a cycle of death, birth and immigration only.</a:t>
            </a:r>
          </a:p>
          <a:p>
            <a:pPr marL="228600" indent="-228600">
              <a:buAutoNum type="arabicParenR"/>
            </a:pPr>
            <a:endParaRPr lang="en-US" dirty="0"/>
          </a:p>
          <a:p>
            <a:pPr marL="228600" indent="-228600">
              <a:buAutoNum type="arabicParenR"/>
            </a:pP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a:p>
            <a:endParaRPr lang="en-US" dirty="0"/>
          </a:p>
          <a:p>
            <a:r>
              <a:rPr lang="en-US" dirty="0"/>
              <a:t>So we:</a:t>
            </a:r>
          </a:p>
          <a:p>
            <a:r>
              <a:rPr lang="en-US" dirty="0"/>
              <a:t>Fit the model to the observed frequency of occurrences of ASVs (in what proportion of the samples is each ASV detected?) and their abundance in the metacommunity (estimated as the mean relative abundance across all samples).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Explain how Sloan's Neutral Model works.</a:t>
            </a:r>
            <a:endParaRPr lang="en-US" dirty="0"/>
          </a:p>
          <a:p>
            <a:r>
              <a:rPr lang="en-US" dirty="0"/>
              <a:t>1. Calculate N as the mean read count within samples</a:t>
            </a:r>
          </a:p>
          <a:p>
            <a:r>
              <a:rPr lang="en-US" dirty="0"/>
              <a:t>2. Calculate the average relative abundance of each ASV across samples</a:t>
            </a:r>
          </a:p>
          <a:p>
            <a:r>
              <a:rPr lang="en-US" dirty="0"/>
              <a:t>3. Calculate the occurrence frequency of each ASV</a:t>
            </a:r>
          </a:p>
          <a:p>
            <a:r>
              <a:rPr lang="en-US" dirty="0"/>
              <a:t>4. Calculate the limit of detection </a:t>
            </a:r>
          </a:p>
          <a:p>
            <a:r>
              <a:rPr lang="en-US" dirty="0"/>
              <a:t>5. Fit the model parameter (m – probability that a dead individual is replaced by an immigrant) using non-linear least squares fitting</a:t>
            </a:r>
          </a:p>
          <a:p>
            <a:r>
              <a:rPr lang="en-US" dirty="0"/>
              <a:t>6. Use the fitted m parameter to calculate predicted ASV frequencies under stochastic processes.</a:t>
            </a:r>
          </a:p>
          <a:p>
            <a:r>
              <a:rPr lang="en-US" dirty="0"/>
              <a:t>10. Plot the predicted ASV frequencies (percentage of samples we expect to see an ASV) with the observed ASV frequencies against their mean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endParaRPr lang="en-US" dirty="0"/>
          </a:p>
          <a:p>
            <a:r>
              <a:rPr lang="en-US" dirty="0"/>
              <a:t>X axis = log average relative abundances of each ASV across all samples (</a:t>
            </a:r>
            <a:r>
              <a:rPr lang="en-GB" dirty="0"/>
              <a:t>percent composition of an ASV </a:t>
            </a:r>
            <a:r>
              <a:rPr lang="en-GB" b="1" dirty="0"/>
              <a:t>relative</a:t>
            </a:r>
            <a:r>
              <a:rPr lang="en-GB" dirty="0"/>
              <a:t> to the total number of ASVs across all samples)</a:t>
            </a:r>
          </a:p>
          <a:p>
            <a:endParaRPr lang="en-US" dirty="0"/>
          </a:p>
          <a:p>
            <a:r>
              <a:rPr lang="en-US" dirty="0"/>
              <a:t>Y axis = mean occurrence frequency of each ASV (in what percentage of samples will each ASV occur)</a:t>
            </a:r>
          </a:p>
          <a:p>
            <a:endParaRPr lang="en-US" dirty="0"/>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strike="noStrike" dirty="0"/>
          </a:p>
          <a:p>
            <a:r>
              <a:rPr lang="en-US" b="1" strike="noStrike" dirty="0"/>
              <a:t>WHAT CAN WE INTERPRET FROM THESE RESULTS?</a:t>
            </a:r>
          </a:p>
          <a:p>
            <a:r>
              <a:rPr lang="en-US" strike="noStrike" dirty="0"/>
              <a:t>I have assessed the degree to which stochastic processes explain community assembly within these samples.</a:t>
            </a:r>
          </a:p>
          <a:p>
            <a:r>
              <a:rPr lang="en-US" strike="noStrike" dirty="0"/>
              <a:t>This model ignores phylogenetic distance and explains the frequency of ASV detection across samples as a function of their abundance in the metacommunity (the more individuals of ASV </a:t>
            </a:r>
            <a:r>
              <a:rPr lang="en-US" strike="noStrike" dirty="0" err="1"/>
              <a:t>i</a:t>
            </a:r>
            <a:r>
              <a:rPr lang="en-US" strike="noStrike" dirty="0"/>
              <a:t> are present in the metacommunity, the more likely you are to find them in any given sample).</a:t>
            </a:r>
          </a:p>
          <a:p>
            <a:r>
              <a:rPr lang="en-US" strike="noStrike" dirty="0"/>
              <a:t>The neutral model performed well, explaining 77% of the variation in ASV detection frequency with an estimated migration factor of 0.017 between sites (this means there is ~2% chance of a local death being replaced by an immigrant which is very low – lower than reported for other studies that hover around 16-25%).</a:t>
            </a:r>
          </a:p>
          <a:p>
            <a:r>
              <a:rPr lang="en-US" strike="noStrike" dirty="0"/>
              <a:t>These results indicate that, for the majority of ASVs, neutral assembly processes of ecological drift and dispersal can explain their within sample occurrence patterns across an area, and the composition of the species pool of the area drives community assembly.</a:t>
            </a:r>
          </a:p>
          <a:p>
            <a:r>
              <a:rPr lang="en-US" strike="noStrike" dirty="0"/>
              <a:t>However, the model is not a perfect fit to the data and beta diversity ordination has shown that communities vary significantly between glaciers, suggesting that deterministic processes also play an important role.</a:t>
            </a:r>
          </a:p>
          <a:p>
            <a:endParaRPr lang="en-US" strike="noStrike" dirty="0"/>
          </a:p>
          <a:p>
            <a:r>
              <a:rPr lang="en-US" strike="noStrike" dirty="0"/>
              <a:t>NULL hypothesis: cryoconite bacterial community composition is completely stochastic. Neutral model results (high R2) mean I am unable to reject the null hypothesis. Significant variable in ASV frequency across samples is explained by their relative abundance in the metacommunity. The results suggest that local selection is weak and dispersal is low, indicating that ecological drift is the dominant community assembly process.</a:t>
            </a:r>
          </a:p>
          <a:p>
            <a:endParaRPr lang="en-US"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Estimates of beta diversity based on phylogenetic dissimilarity show significant variation between glaciers. This supports the results that dispersal is limited. We might suggest that variation in beta diversity is a result of local ecological drift and limited dispersal rather than selection.</a:t>
            </a:r>
            <a:endParaRPr lang="en-US" strike="noStrike" dirty="0"/>
          </a:p>
          <a:p>
            <a:endParaRPr lang="en-US" strike="noStrike" dirty="0"/>
          </a:p>
          <a:p>
            <a:r>
              <a:rPr lang="en-US" strike="noStrike" dirty="0"/>
              <a:t>The distribution of ASVs across samples (in the metacommunity) followed the basic pattern of more abundant data being widespread – this is consistent with predictions of neutral theory. Despite the good fit of the model and the low m rate, there was significant difference between the communities on each glacier, illustrating the important point that variation among microbial communities does not need to be the result of environmental differences. Neutral processes can generate diversity on their own!</a:t>
            </a:r>
          </a:p>
          <a:p>
            <a:endParaRPr lang="en-US" strike="noStrike" dirty="0"/>
          </a:p>
          <a:p>
            <a:r>
              <a:rPr lang="en-US" b="1" strike="noStrike" dirty="0"/>
              <a:t>What would I expect to see for abundant/rare, active/bulk communities? What would I infer from this?</a:t>
            </a:r>
          </a:p>
          <a:p>
            <a:endParaRPr lang="en-US" strike="noStrike" dirty="0"/>
          </a:p>
          <a:p>
            <a:r>
              <a:rPr lang="en-US" strike="noStrike" dirty="0"/>
              <a:t>I want to repeat this analysis for abundant/rare taxa and active/bulk groups to see if stochastic processes are as important for each group, as well as to see how chance of immigration changes.</a:t>
            </a:r>
          </a:p>
          <a:p>
            <a:endParaRPr lang="en-US" strike="noStrike" dirty="0"/>
          </a:p>
          <a:p>
            <a:r>
              <a:rPr lang="en-US" strike="noStrike" dirty="0"/>
              <a:t>Previous studies into soil microbial community assembly processes found:</a:t>
            </a:r>
          </a:p>
          <a:p>
            <a:r>
              <a:rPr lang="en-US" strike="noStrike" dirty="0"/>
              <a:t>Neutral model explained more variation in abundant sub-community than rare sub-community.</a:t>
            </a:r>
          </a:p>
          <a:p>
            <a:r>
              <a:rPr lang="en-US" strike="noStrike" dirty="0"/>
              <a:t>Neutral model also predicted lower m values for abundant sub-communities than rare sub-communities.</a:t>
            </a:r>
          </a:p>
          <a:p>
            <a:endParaRPr lang="en-US" strike="noStrike" dirty="0"/>
          </a:p>
          <a:p>
            <a:r>
              <a:rPr lang="en-US" strike="noStrike" dirty="0"/>
              <a:t>Abundant species likely utilize an array of resources and occupy more broad niches, which rare taxa may occupy more specific niches – we would expect rare sub-communities to be more strongly shaped by deterministic processes.</a:t>
            </a:r>
          </a:p>
          <a:p>
            <a:endParaRPr lang="en-US" strike="noStrike" dirty="0"/>
          </a:p>
          <a:p>
            <a:r>
              <a:rPr lang="en-US" strike="noStrike" dirty="0"/>
              <a:t>I predict that the neutral model will describe more variation in the bulk community than the active community as selection will only occur on active species. I also predict that migration rates will be higher for bulk communities because migration requires that an individual successfully transfer to a new habitat – where a dormant individual doesn’t need to worry about selection. </a:t>
            </a:r>
          </a:p>
          <a:p>
            <a:endParaRPr lang="en-US" strike="noStrike"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a:t>
            </a:r>
            <a:r>
              <a:rPr lang="en-US" b="1" dirty="0" err="1"/>
              <a:t>Stegen's</a:t>
            </a:r>
            <a:r>
              <a:rPr lang="en-US" b="1" dirty="0"/>
              <a:t> Phylogenetic Null Model important?</a:t>
            </a:r>
          </a:p>
          <a:p>
            <a:r>
              <a:rPr lang="en-US" b="0" dirty="0"/>
              <a:t>Ecological community assembly is shaped by:</a:t>
            </a:r>
          </a:p>
          <a:p>
            <a:r>
              <a:rPr lang="en-US" b="0" dirty="0"/>
              <a:t>Selection from among-taxa differences in fitness (this can be homogenous or variable)</a:t>
            </a:r>
          </a:p>
          <a:p>
            <a:r>
              <a:rPr lang="en-US" b="0" dirty="0"/>
              <a:t>Dispersal (is a rate that may be limited when there is limited dispersal between communities, or homogenizing dispersal when there is high dispersal between communities)</a:t>
            </a:r>
          </a:p>
          <a:p>
            <a:r>
              <a:rPr lang="en-US" b="0" dirty="0"/>
              <a:t>Ecological drift</a:t>
            </a:r>
          </a:p>
          <a:p>
            <a:r>
              <a:rPr lang="en-US" b="0" dirty="0"/>
              <a:t>The relative importance of these processes varies. </a:t>
            </a:r>
          </a:p>
          <a:p>
            <a:endParaRPr lang="en-US" b="0" dirty="0"/>
          </a:p>
          <a:p>
            <a:r>
              <a:rPr lang="en-US" b="0" dirty="0"/>
              <a:t>If environmental conditions are homogenous through space there will be constant selective pressure resulting in homogenous selection.</a:t>
            </a:r>
          </a:p>
          <a:p>
            <a:r>
              <a:rPr lang="en-US" b="0" dirty="0"/>
              <a:t>If environmental conditions vary across space, the fitness differences of taxa will vary across space and there will be variable selection.</a:t>
            </a:r>
          </a:p>
          <a:p>
            <a:r>
              <a:rPr lang="en-US" b="0" dirty="0"/>
              <a:t>High dispersal rates between communities lead to homogenous community composition if those dispersal rates overcome selective pressures, leading to homogenizing dispersal.</a:t>
            </a:r>
          </a:p>
          <a:p>
            <a:r>
              <a:rPr lang="en-US" b="0" dirty="0"/>
              <a:t>If selection is weak and dispersal between communities is low, ecological drift can generate significant changes in community composition. </a:t>
            </a:r>
          </a:p>
          <a:p>
            <a:r>
              <a:rPr lang="en-US" b="0" dirty="0"/>
              <a:t>Dispersal limitation is the situation in which low dispersal rates are the primary contributor to high community turnover.</a:t>
            </a:r>
          </a:p>
          <a:p>
            <a:r>
              <a:rPr lang="en-US" b="0" dirty="0"/>
              <a:t>Ecological drift is the situation in which there is a combination of moderate selection and moderate dispersal, neither process dominates so community turnover is a result of a mixture of dispersal and random birth/death events. Essentially this is where community assembly is not dominated by a particular process.</a:t>
            </a:r>
            <a:endParaRPr lang="en-US" b="1" dirty="0"/>
          </a:p>
          <a:p>
            <a:endParaRPr lang="en-US" b="1" dirty="0"/>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a:p>
            <a:r>
              <a:rPr lang="en-US" b="1" dirty="0"/>
              <a:t>Explain how </a:t>
            </a:r>
            <a:r>
              <a:rPr lang="en-US" b="1" dirty="0" err="1"/>
              <a:t>Stegen's</a:t>
            </a:r>
            <a:r>
              <a:rPr lang="en-US" b="1" dirty="0"/>
              <a:t> Null Model works.</a:t>
            </a:r>
          </a:p>
          <a:p>
            <a:r>
              <a:rPr lang="en-US" b="0" dirty="0"/>
              <a:t>This framework uses the phylogenetic differences between communities to infer ecological selection. </a:t>
            </a:r>
          </a:p>
          <a:p>
            <a:endParaRPr lang="en-US" b="0" dirty="0"/>
          </a:p>
          <a:p>
            <a:r>
              <a:rPr lang="en-US" b="1" dirty="0"/>
              <a:t>Why is phylogenetic signal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this method to work there need to be significant phylogenetic signal – that is, taxa that are more closely phylogenetically related, exhibit ecological similarities/niche similarities. If more closely related taxa are not more ecologically similar then we cannot use their relatedness to infer if selection or stochastic processes are occurring.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The process</a:t>
            </a:r>
            <a:endParaRPr lang="en-US" b="0" dirty="0"/>
          </a:p>
          <a:p>
            <a:r>
              <a:rPr lang="en-US" b="0" dirty="0"/>
              <a:t>To quantify phylogenetic turnover between communities we first calculate the between-community mean-nearest-taxon-distance metric (βMNTD). This quantifies the distance between each species in one community and it’s closest relative in a second community.</a:t>
            </a:r>
          </a:p>
          <a:p>
            <a:r>
              <a:rPr lang="en-US" b="0" dirty="0"/>
              <a:t>For each pair of community we generate the βMNTD is selection was not driving community assembly by randomly shuffling the tips of the phylogeny and recalculating the βMNTD (repeat 999 times to get distribution of null values).</a:t>
            </a:r>
          </a:p>
          <a:p>
            <a:r>
              <a:rPr lang="en-US" b="0" dirty="0"/>
              <a:t>We use the observed βMNTD and the null βMNTD to generate our β-nearest-taxon-index (βNTI).</a:t>
            </a:r>
          </a:p>
          <a:p>
            <a:r>
              <a:rPr lang="en-US" b="0" dirty="0"/>
              <a:t>If the observed βMNTD is significantly less (i.e. βNTI &lt;-2) or greater than the null expectation (i.e. βNTI &gt;2) we would infer that homogenous selection or variable selection is shaping community assembly respectively.</a:t>
            </a:r>
          </a:p>
          <a:p>
            <a:r>
              <a:rPr lang="en-US" b="0" dirty="0"/>
              <a:t>If the absolute value of βNTI  is less than 2 we suggest that stochastic processes are predominantly driving community assembly.  </a:t>
            </a:r>
          </a:p>
          <a:p>
            <a:endParaRPr lang="en-US" b="0" dirty="0"/>
          </a:p>
          <a:p>
            <a:r>
              <a:rPr lang="en-US" b="0" dirty="0"/>
              <a:t>To distinguish between homogenizing dispersal, limited dispersal and lack of dominance between selection and dispersal, we use the </a:t>
            </a:r>
            <a:r>
              <a:rPr lang="en-US" b="0" dirty="0" err="1"/>
              <a:t>Raup</a:t>
            </a:r>
            <a:r>
              <a:rPr lang="en-US" b="0"/>
              <a:t>-Crick metric</a:t>
            </a:r>
            <a:endParaRPr lang="en-US" b="0" dirty="0"/>
          </a:p>
          <a:p>
            <a:endParaRPr lang="en-US" b="0" dirty="0"/>
          </a:p>
          <a:p>
            <a:endParaRPr lang="en-US" b="0" dirty="0"/>
          </a:p>
          <a:p>
            <a:endParaRPr lang="en-US" b="1" dirty="0"/>
          </a:p>
          <a:p>
            <a:endParaRPr lang="en-US" b="1"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of phylogenetic turnover between samples provides significant evidence that stochastic processes, specifically ecological drift and dispersal limitation, are driving community assembly.</a:t>
            </a:r>
          </a:p>
          <a:p>
            <a:endParaRPr lang="en-US" dirty="0"/>
          </a:p>
          <a:p>
            <a:r>
              <a:rPr lang="en-US" dirty="0"/>
              <a:t>Previous studies of community assembly for abundant and rare taxa have found:</a:t>
            </a:r>
          </a:p>
          <a:p>
            <a:r>
              <a:rPr lang="en-US" dirty="0"/>
              <a:t>Increased homogenous selection for rare taxa.</a:t>
            </a:r>
          </a:p>
          <a:p>
            <a:r>
              <a:rPr lang="en-US" dirty="0"/>
              <a:t>Increased dispersal limitation and variable selection for abundant taxa.</a:t>
            </a:r>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1369074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emf"/><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2.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BAA57-4779-4A41-AFFB-BF6247B0B39E}"/>
              </a:ext>
            </a:extLst>
          </p:cNvPr>
          <p:cNvSpPr>
            <a:spLocks noGrp="1"/>
          </p:cNvSpPr>
          <p:nvPr>
            <p:ph type="title"/>
          </p:nvPr>
        </p:nvSpPr>
        <p:spPr/>
        <p:txBody>
          <a:bodyPr/>
          <a:lstStyle/>
          <a:p>
            <a:r>
              <a:rPr lang="en-US" dirty="0"/>
              <a:t>Neutral Theory</a:t>
            </a:r>
          </a:p>
        </p:txBody>
      </p:sp>
      <p:sp>
        <p:nvSpPr>
          <p:cNvPr id="4" name="TextBox 3">
            <a:extLst>
              <a:ext uri="{FF2B5EF4-FFF2-40B4-BE49-F238E27FC236}">
                <a16:creationId xmlns:a16="http://schemas.microsoft.com/office/drawing/2014/main" id="{DD47A41A-0904-514B-99DB-4E5E573D0747}"/>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86134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10000"/>
          </a:bodyPr>
          <a:lstStyle/>
          <a:p>
            <a:r>
              <a:rPr lang="en-US" u="sng" dirty="0"/>
              <a:t>Microbial community composition in the supraglacial environment is explained by both deterministic and stochastic processes.</a:t>
            </a:r>
          </a:p>
          <a:p>
            <a:r>
              <a:rPr lang="en-US" u="sng" dirty="0"/>
              <a:t>Abundant and rare prokaryotic and eukaryotic diversity exhibit distinct biogeographic patterns that are driven by different community assembly processes.</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3"/>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4"/>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5"/>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Community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1631176"/>
            <a:ext cx="2697455" cy="923330"/>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9149909" y="1827570"/>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2" y="2695038"/>
            <a:ext cx="1889040" cy="4637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490807" y="-16221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1EDE13FD-762C-E645-B28E-EFAF1603682A}"/>
                  </a:ext>
                </a:extLst>
              </p:cNvPr>
              <p:cNvSpPr txBox="1"/>
              <p:nvPr/>
            </p:nvSpPr>
            <p:spPr>
              <a:xfrm>
                <a:off x="2160616" y="5498326"/>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160616" y="5498326"/>
                <a:ext cx="8296102" cy="369332"/>
              </a:xfrm>
              <a:prstGeom prst="rect">
                <a:avLst/>
              </a:prstGeom>
              <a:blipFill>
                <a:blip r:embed="rId4"/>
                <a:stretch>
                  <a:fillRect t="-6667" b="-2333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64287FF-DCC5-4F4E-8947-0EFAF1DAA135}"/>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02182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2289447671"/>
              </p:ext>
            </p:extLst>
          </p:nvPr>
        </p:nvGraphicFramePr>
        <p:xfrm>
          <a:off x="3200400" y="1963737"/>
          <a:ext cx="8458200" cy="4078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(2015)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868AF34-E172-3B49-8783-B1313C7CCE0A}"/>
              </a:ext>
            </a:extLst>
          </p:cNvPr>
          <p:cNvSpPr txBox="1"/>
          <p:nvPr/>
        </p:nvSpPr>
        <p:spPr>
          <a:xfrm>
            <a:off x="8386354" y="2037806"/>
            <a:ext cx="3187337" cy="1477328"/>
          </a:xfrm>
          <a:prstGeom prst="rect">
            <a:avLst/>
          </a:prstGeom>
          <a:noFill/>
        </p:spPr>
        <p:txBody>
          <a:bodyPr wrap="square" rtlCol="0">
            <a:spAutoFit/>
          </a:bodyPr>
          <a:lstStyle/>
          <a:p>
            <a:r>
              <a:rPr lang="en-US" dirty="0" err="1"/>
              <a:t>Stegen</a:t>
            </a:r>
            <a:r>
              <a:rPr lang="en-US" dirty="0"/>
              <a:t> et al., (2015) </a:t>
            </a:r>
            <a:r>
              <a:rPr lang="en-GB" dirty="0"/>
              <a:t>Estimating and mapping ecological processes influencing microbial community assembly</a:t>
            </a:r>
          </a:p>
          <a:p>
            <a:endParaRPr lang="en-US" dirty="0"/>
          </a:p>
        </p:txBody>
      </p:sp>
    </p:spTree>
    <p:extLst>
      <p:ext uri="{BB962C8B-B14F-4D97-AF65-F5344CB8AC3E}">
        <p14:creationId xmlns:p14="http://schemas.microsoft.com/office/powerpoint/2010/main" val="56936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3"/>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err="1">
                <a:solidFill>
                  <a:schemeClr val="bg1"/>
                </a:solidFill>
              </a:rPr>
              <a:t>Gephi</a:t>
            </a:r>
            <a:endParaRPr lang="en-US" dirty="0">
              <a:solidFill>
                <a:schemeClr val="bg1"/>
              </a:solidFill>
            </a:endParaRP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7973</TotalTime>
  <Words>4918</Words>
  <Application>Microsoft Macintosh PowerPoint</Application>
  <PresentationFormat>Widescreen</PresentationFormat>
  <Paragraphs>392</Paragraphs>
  <Slides>29</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Neutral Theory</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Island Species-Area Relationship (ISAR)</vt:lpstr>
      <vt:lpstr>Distance-Decay Relationship (DDR)</vt:lpstr>
      <vt:lpstr>Sloan’s Neutral Community Model</vt:lpstr>
      <vt:lpstr>Code</vt:lpstr>
      <vt:lpstr>Results</vt:lpstr>
      <vt:lpstr>Stegen et al., (2015) Phylogenetic Null Model</vt:lpstr>
      <vt:lpstr>Phylogenetic Signal</vt:lpstr>
      <vt:lpstr>Phylogenetic Signal</vt:lpstr>
      <vt:lpstr>Phylogenetic Null Model</vt:lpstr>
      <vt:lpstr>Gephi</vt:lpstr>
      <vt:lpstr>Co-Occurrence Network Analysis</vt:lpstr>
      <vt:lpstr>Centrality and Clustering</vt:lpstr>
      <vt:lpstr>Results</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140</cp:revision>
  <dcterms:created xsi:type="dcterms:W3CDTF">2021-04-15T08:49:25Z</dcterms:created>
  <dcterms:modified xsi:type="dcterms:W3CDTF">2021-04-22T08:01:26Z</dcterms:modified>
</cp:coreProperties>
</file>