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0" r:id="rId3"/>
    <p:sldId id="280" r:id="rId4"/>
    <p:sldId id="281" r:id="rId5"/>
    <p:sldId id="283" r:id="rId6"/>
    <p:sldId id="282" r:id="rId7"/>
    <p:sldId id="312" r:id="rId8"/>
    <p:sldId id="313" r:id="rId9"/>
    <p:sldId id="314" r:id="rId10"/>
    <p:sldId id="324" r:id="rId11"/>
    <p:sldId id="325" r:id="rId12"/>
    <p:sldId id="326" r:id="rId13"/>
    <p:sldId id="317" r:id="rId14"/>
    <p:sldId id="322" r:id="rId15"/>
    <p:sldId id="327" r:id="rId16"/>
    <p:sldId id="328" r:id="rId17"/>
    <p:sldId id="261" r:id="rId18"/>
    <p:sldId id="277" r:id="rId19"/>
    <p:sldId id="330" r:id="rId20"/>
    <p:sldId id="265" r:id="rId21"/>
    <p:sldId id="293" r:id="rId22"/>
    <p:sldId id="331" r:id="rId23"/>
    <p:sldId id="332" r:id="rId24"/>
    <p:sldId id="295" r:id="rId25"/>
    <p:sldId id="32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3"/>
    <a:srgbClr val="5C9BD5"/>
    <a:srgbClr val="3CE29B"/>
    <a:srgbClr val="7A81FF"/>
    <a:srgbClr val="909090"/>
    <a:srgbClr val="76D6FF"/>
    <a:srgbClr val="0096FF"/>
    <a:srgbClr val="00FB92"/>
    <a:srgbClr val="00FDFF"/>
    <a:srgbClr val="8E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4"/>
    <p:restoredTop sz="83333"/>
  </p:normalViewPr>
  <p:slideViewPr>
    <p:cSldViewPr snapToGrid="0" snapToObjects="1">
      <p:cViewPr>
        <p:scale>
          <a:sx n="110" d="100"/>
          <a:sy n="110" d="100"/>
        </p:scale>
        <p:origin x="119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B4054-FB37-8840-90AB-98D7FF6893B3}" type="doc">
      <dgm:prSet loTypeId="urn:microsoft.com/office/officeart/2005/8/layout/chevron1" loCatId="" qsTypeId="urn:microsoft.com/office/officeart/2005/8/quickstyle/simple1" qsCatId="simple" csTypeId="urn:microsoft.com/office/officeart/2005/8/colors/colorful4" csCatId="colorful" phldr="1"/>
      <dgm:spPr/>
    </dgm:pt>
    <dgm:pt modelId="{85A8E8F9-220E-2E4B-BD17-17B84BAFCEE3}">
      <dgm:prSet phldrT="[Text]"/>
      <dgm:spPr/>
      <dgm:t>
        <a:bodyPr/>
        <a:lstStyle/>
        <a:p>
          <a:r>
            <a:rPr lang="en-US" dirty="0"/>
            <a:t>Statistical/Multivariate Analysis</a:t>
          </a:r>
        </a:p>
      </dgm:t>
    </dgm:pt>
    <dgm:pt modelId="{2F98D148-B91A-6C4F-955D-7EF70029142A}" type="parTrans" cxnId="{3B2C89EA-8598-A44E-8425-4DFD9B15F114}">
      <dgm:prSet/>
      <dgm:spPr/>
      <dgm:t>
        <a:bodyPr/>
        <a:lstStyle/>
        <a:p>
          <a:endParaRPr lang="en-US"/>
        </a:p>
      </dgm:t>
    </dgm:pt>
    <dgm:pt modelId="{774C9424-02F2-6340-9585-68BEEC283337}" type="sibTrans" cxnId="{3B2C89EA-8598-A44E-8425-4DFD9B15F114}">
      <dgm:prSet/>
      <dgm:spPr/>
      <dgm:t>
        <a:bodyPr/>
        <a:lstStyle/>
        <a:p>
          <a:endParaRPr lang="en-US"/>
        </a:p>
      </dgm:t>
    </dgm:pt>
    <dgm:pt modelId="{B5958D73-7CAF-0C4E-93E6-55A6971A912F}">
      <dgm:prSet/>
      <dgm:spPr/>
      <dgm:t>
        <a:bodyPr/>
        <a:lstStyle/>
        <a:p>
          <a:r>
            <a:rPr lang="en-US" dirty="0"/>
            <a:t>Neutral Model</a:t>
          </a:r>
        </a:p>
      </dgm:t>
    </dgm:pt>
    <dgm:pt modelId="{9B3B1D5C-9D31-F94E-BD16-E7D062719ED5}" type="parTrans" cxnId="{F6E6DCDC-089A-6B43-B024-03C361F43633}">
      <dgm:prSet/>
      <dgm:spPr/>
      <dgm:t>
        <a:bodyPr/>
        <a:lstStyle/>
        <a:p>
          <a:endParaRPr lang="en-US"/>
        </a:p>
      </dgm:t>
    </dgm:pt>
    <dgm:pt modelId="{84D8F0DF-497A-B248-B6BD-53C772326452}" type="sibTrans" cxnId="{F6E6DCDC-089A-6B43-B024-03C361F43633}">
      <dgm:prSet/>
      <dgm:spPr/>
      <dgm:t>
        <a:bodyPr/>
        <a:lstStyle/>
        <a:p>
          <a:endParaRPr lang="en-US"/>
        </a:p>
      </dgm:t>
    </dgm:pt>
    <dgm:pt modelId="{611AFF1D-5007-4F44-AF6E-6B036E64DD0B}">
      <dgm:prSet/>
      <dgm:spPr/>
      <dgm:t>
        <a:bodyPr/>
        <a:lstStyle/>
        <a:p>
          <a:r>
            <a:rPr lang="en-US" dirty="0"/>
            <a:t>Null Model</a:t>
          </a:r>
        </a:p>
      </dgm:t>
    </dgm:pt>
    <dgm:pt modelId="{B1290F56-1B2F-A84E-A54F-60F5DA1B7882}" type="parTrans" cxnId="{34659777-6745-184E-B0FD-81FA3738ADE1}">
      <dgm:prSet/>
      <dgm:spPr/>
      <dgm:t>
        <a:bodyPr/>
        <a:lstStyle/>
        <a:p>
          <a:endParaRPr lang="en-US"/>
        </a:p>
      </dgm:t>
    </dgm:pt>
    <dgm:pt modelId="{C2B5D443-1AEA-284F-B1EB-11FBB145377B}" type="sibTrans" cxnId="{34659777-6745-184E-B0FD-81FA3738ADE1}">
      <dgm:prSet/>
      <dgm:spPr/>
      <dgm:t>
        <a:bodyPr/>
        <a:lstStyle/>
        <a:p>
          <a:endParaRPr lang="en-US"/>
        </a:p>
      </dgm:t>
    </dgm:pt>
    <dgm:pt modelId="{7EFDD187-55F0-6147-A8DE-A95F6FE37D83}">
      <dgm:prSet/>
      <dgm:spPr/>
      <dgm:t>
        <a:bodyPr/>
        <a:lstStyle/>
        <a:p>
          <a:r>
            <a:rPr lang="en-US" dirty="0"/>
            <a:t>Network Analysis</a:t>
          </a:r>
        </a:p>
      </dgm:t>
    </dgm:pt>
    <dgm:pt modelId="{9A7ECF4C-1FDC-4241-AD73-239FB1D43CF9}" type="parTrans" cxnId="{3502BEA6-6CBA-2447-A2DA-5FA519569872}">
      <dgm:prSet/>
      <dgm:spPr/>
      <dgm:t>
        <a:bodyPr/>
        <a:lstStyle/>
        <a:p>
          <a:endParaRPr lang="en-US"/>
        </a:p>
      </dgm:t>
    </dgm:pt>
    <dgm:pt modelId="{16FE4422-765B-2144-99EA-F3FECE73A4D8}" type="sibTrans" cxnId="{3502BEA6-6CBA-2447-A2DA-5FA519569872}">
      <dgm:prSet/>
      <dgm:spPr/>
      <dgm:t>
        <a:bodyPr/>
        <a:lstStyle/>
        <a:p>
          <a:endParaRPr lang="en-US"/>
        </a:p>
      </dgm:t>
    </dgm:pt>
    <dgm:pt modelId="{8B93FFDE-05A5-1545-8E2F-A0B473160679}" type="pres">
      <dgm:prSet presAssocID="{633B4054-FB37-8840-90AB-98D7FF6893B3}" presName="Name0" presStyleCnt="0">
        <dgm:presLayoutVars>
          <dgm:dir/>
          <dgm:animLvl val="lvl"/>
          <dgm:resizeHandles val="exact"/>
        </dgm:presLayoutVars>
      </dgm:prSet>
      <dgm:spPr/>
    </dgm:pt>
    <dgm:pt modelId="{DBC67D4B-288C-C941-9948-4D7CB11DC5C5}" type="pres">
      <dgm:prSet presAssocID="{85A8E8F9-220E-2E4B-BD17-17B84BAFCEE3}" presName="parTxOnly" presStyleLbl="node1" presStyleIdx="0" presStyleCnt="4">
        <dgm:presLayoutVars>
          <dgm:chMax val="0"/>
          <dgm:chPref val="0"/>
          <dgm:bulletEnabled val="1"/>
        </dgm:presLayoutVars>
      </dgm:prSet>
      <dgm:spPr/>
    </dgm:pt>
    <dgm:pt modelId="{D10A12CF-7369-5641-88E3-F51093964655}" type="pres">
      <dgm:prSet presAssocID="{774C9424-02F2-6340-9585-68BEEC283337}" presName="parTxOnlySpace" presStyleCnt="0"/>
      <dgm:spPr/>
    </dgm:pt>
    <dgm:pt modelId="{27C5A505-81DC-A445-992D-1BC4566AB6F2}" type="pres">
      <dgm:prSet presAssocID="{B5958D73-7CAF-0C4E-93E6-55A6971A912F}" presName="parTxOnly" presStyleLbl="node1" presStyleIdx="1" presStyleCnt="4">
        <dgm:presLayoutVars>
          <dgm:chMax val="0"/>
          <dgm:chPref val="0"/>
          <dgm:bulletEnabled val="1"/>
        </dgm:presLayoutVars>
      </dgm:prSet>
      <dgm:spPr/>
    </dgm:pt>
    <dgm:pt modelId="{7864293B-1409-F449-B4CF-BF9CB218EB2D}" type="pres">
      <dgm:prSet presAssocID="{84D8F0DF-497A-B248-B6BD-53C772326452}" presName="parTxOnlySpace" presStyleCnt="0"/>
      <dgm:spPr/>
    </dgm:pt>
    <dgm:pt modelId="{CF60189A-F0BD-1B41-89D2-307F1DA955E7}" type="pres">
      <dgm:prSet presAssocID="{611AFF1D-5007-4F44-AF6E-6B036E64DD0B}" presName="parTxOnly" presStyleLbl="node1" presStyleIdx="2" presStyleCnt="4">
        <dgm:presLayoutVars>
          <dgm:chMax val="0"/>
          <dgm:chPref val="0"/>
          <dgm:bulletEnabled val="1"/>
        </dgm:presLayoutVars>
      </dgm:prSet>
      <dgm:spPr/>
    </dgm:pt>
    <dgm:pt modelId="{EEAAC419-0981-234A-943A-98901572F4FF}" type="pres">
      <dgm:prSet presAssocID="{C2B5D443-1AEA-284F-B1EB-11FBB145377B}" presName="parTxOnlySpace" presStyleCnt="0"/>
      <dgm:spPr/>
    </dgm:pt>
    <dgm:pt modelId="{4C6D95A5-AC6D-914C-B774-93CD0C61E4A3}" type="pres">
      <dgm:prSet presAssocID="{7EFDD187-55F0-6147-A8DE-A95F6FE37D83}" presName="parTxOnly" presStyleLbl="node1" presStyleIdx="3" presStyleCnt="4">
        <dgm:presLayoutVars>
          <dgm:chMax val="0"/>
          <dgm:chPref val="0"/>
          <dgm:bulletEnabled val="1"/>
        </dgm:presLayoutVars>
      </dgm:prSet>
      <dgm:spPr/>
    </dgm:pt>
  </dgm:ptLst>
  <dgm:cxnLst>
    <dgm:cxn modelId="{22A64944-DBAC-4041-AD50-EE115E7AF28A}" type="presOf" srcId="{7EFDD187-55F0-6147-A8DE-A95F6FE37D83}" destId="{4C6D95A5-AC6D-914C-B774-93CD0C61E4A3}" srcOrd="0" destOrd="0" presId="urn:microsoft.com/office/officeart/2005/8/layout/chevron1"/>
    <dgm:cxn modelId="{D6504845-27F3-A74D-AB4F-750BB5048E25}" type="presOf" srcId="{611AFF1D-5007-4F44-AF6E-6B036E64DD0B}" destId="{CF60189A-F0BD-1B41-89D2-307F1DA955E7}" srcOrd="0" destOrd="0" presId="urn:microsoft.com/office/officeart/2005/8/layout/chevron1"/>
    <dgm:cxn modelId="{03D37A73-2A07-0748-860F-A0885E972A90}" type="presOf" srcId="{B5958D73-7CAF-0C4E-93E6-55A6971A912F}" destId="{27C5A505-81DC-A445-992D-1BC4566AB6F2}" srcOrd="0" destOrd="0" presId="urn:microsoft.com/office/officeart/2005/8/layout/chevron1"/>
    <dgm:cxn modelId="{34659777-6745-184E-B0FD-81FA3738ADE1}" srcId="{633B4054-FB37-8840-90AB-98D7FF6893B3}" destId="{611AFF1D-5007-4F44-AF6E-6B036E64DD0B}" srcOrd="2" destOrd="0" parTransId="{B1290F56-1B2F-A84E-A54F-60F5DA1B7882}" sibTransId="{C2B5D443-1AEA-284F-B1EB-11FBB145377B}"/>
    <dgm:cxn modelId="{3502BEA6-6CBA-2447-A2DA-5FA519569872}" srcId="{633B4054-FB37-8840-90AB-98D7FF6893B3}" destId="{7EFDD187-55F0-6147-A8DE-A95F6FE37D83}" srcOrd="3" destOrd="0" parTransId="{9A7ECF4C-1FDC-4241-AD73-239FB1D43CF9}" sibTransId="{16FE4422-765B-2144-99EA-F3FECE73A4D8}"/>
    <dgm:cxn modelId="{F6E6DCDC-089A-6B43-B024-03C361F43633}" srcId="{633B4054-FB37-8840-90AB-98D7FF6893B3}" destId="{B5958D73-7CAF-0C4E-93E6-55A6971A912F}" srcOrd="1" destOrd="0" parTransId="{9B3B1D5C-9D31-F94E-BD16-E7D062719ED5}" sibTransId="{84D8F0DF-497A-B248-B6BD-53C772326452}"/>
    <dgm:cxn modelId="{3B2C89EA-8598-A44E-8425-4DFD9B15F114}" srcId="{633B4054-FB37-8840-90AB-98D7FF6893B3}" destId="{85A8E8F9-220E-2E4B-BD17-17B84BAFCEE3}" srcOrd="0" destOrd="0" parTransId="{2F98D148-B91A-6C4F-955D-7EF70029142A}" sibTransId="{774C9424-02F2-6340-9585-68BEEC283337}"/>
    <dgm:cxn modelId="{DBF1B7F3-8B73-B341-8E27-F6D19D91A509}" type="presOf" srcId="{85A8E8F9-220E-2E4B-BD17-17B84BAFCEE3}" destId="{DBC67D4B-288C-C941-9948-4D7CB11DC5C5}" srcOrd="0" destOrd="0" presId="urn:microsoft.com/office/officeart/2005/8/layout/chevron1"/>
    <dgm:cxn modelId="{08BD6DF7-4250-7B40-9621-75A884093113}" type="presOf" srcId="{633B4054-FB37-8840-90AB-98D7FF6893B3}" destId="{8B93FFDE-05A5-1545-8E2F-A0B473160679}" srcOrd="0" destOrd="0" presId="urn:microsoft.com/office/officeart/2005/8/layout/chevron1"/>
    <dgm:cxn modelId="{050D51D1-30B7-6E48-8815-41564E7AB669}" type="presParOf" srcId="{8B93FFDE-05A5-1545-8E2F-A0B473160679}" destId="{DBC67D4B-288C-C941-9948-4D7CB11DC5C5}" srcOrd="0" destOrd="0" presId="urn:microsoft.com/office/officeart/2005/8/layout/chevron1"/>
    <dgm:cxn modelId="{11F89015-2AF5-3544-B5F4-9D2993813F3A}" type="presParOf" srcId="{8B93FFDE-05A5-1545-8E2F-A0B473160679}" destId="{D10A12CF-7369-5641-88E3-F51093964655}" srcOrd="1" destOrd="0" presId="urn:microsoft.com/office/officeart/2005/8/layout/chevron1"/>
    <dgm:cxn modelId="{EFAF16B3-B0A3-2841-86AD-17CF0028B934}" type="presParOf" srcId="{8B93FFDE-05A5-1545-8E2F-A0B473160679}" destId="{27C5A505-81DC-A445-992D-1BC4566AB6F2}" srcOrd="2" destOrd="0" presId="urn:microsoft.com/office/officeart/2005/8/layout/chevron1"/>
    <dgm:cxn modelId="{42DF9720-F235-6748-8AF6-FB220F535113}" type="presParOf" srcId="{8B93FFDE-05A5-1545-8E2F-A0B473160679}" destId="{7864293B-1409-F449-B4CF-BF9CB218EB2D}" srcOrd="3" destOrd="0" presId="urn:microsoft.com/office/officeart/2005/8/layout/chevron1"/>
    <dgm:cxn modelId="{FB251CEA-D66E-F940-A69E-6683039EB759}" type="presParOf" srcId="{8B93FFDE-05A5-1545-8E2F-A0B473160679}" destId="{CF60189A-F0BD-1B41-89D2-307F1DA955E7}" srcOrd="4" destOrd="0" presId="urn:microsoft.com/office/officeart/2005/8/layout/chevron1"/>
    <dgm:cxn modelId="{D3FAC9EE-20AF-1C46-A3B9-E26F2ECCCDDF}" type="presParOf" srcId="{8B93FFDE-05A5-1545-8E2F-A0B473160679}" destId="{EEAAC419-0981-234A-943A-98901572F4FF}" srcOrd="5" destOrd="0" presId="urn:microsoft.com/office/officeart/2005/8/layout/chevron1"/>
    <dgm:cxn modelId="{179A5595-00EA-3144-B2DC-EA82F593D236}" type="presParOf" srcId="{8B93FFDE-05A5-1545-8E2F-A0B473160679}" destId="{4C6D95A5-AC6D-914C-B774-93CD0C61E4A3}"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B5498DE5-7CDC-0347-BA87-FB91FE15E435}">
      <dgm:prSet phldrT="[Text]"/>
      <dgm:spPr/>
      <dgm:t>
        <a:bodyPr/>
        <a:lstStyle/>
        <a:p>
          <a:r>
            <a:rPr lang="en-US" dirty="0"/>
            <a:t>Download sequence data and metadata in command line using SRA toolbox</a:t>
          </a:r>
        </a:p>
      </dgm:t>
    </dgm:pt>
    <dgm:pt modelId="{A4B182FE-28CF-CC4A-A857-D974481A212A}" type="parTrans" cxnId="{6F8A8218-A43D-754D-AC34-7D7A44CB7D31}">
      <dgm:prSet/>
      <dgm:spPr/>
      <dgm:t>
        <a:bodyPr/>
        <a:lstStyle/>
        <a:p>
          <a:endParaRPr lang="en-US"/>
        </a:p>
      </dgm:t>
    </dgm:pt>
    <dgm:pt modelId="{30256DA3-2063-6145-A40C-3F213F51F903}" type="sibTrans" cxnId="{6F8A8218-A43D-754D-AC34-7D7A44CB7D31}">
      <dgm:prSet/>
      <dgm:spPr/>
      <dgm:t>
        <a:bodyPr/>
        <a:lstStyle/>
        <a:p>
          <a:endParaRPr lang="en-US"/>
        </a:p>
      </dgm:t>
    </dgm:pt>
    <dgm:pt modelId="{6D80D72C-DBB2-D94A-BCBD-1B0C1C35E98A}">
      <dgm:prSet phldrT="[Text]"/>
      <dgm:spPr/>
      <dgm:t>
        <a:bodyPr/>
        <a:lstStyle/>
        <a:p>
          <a:r>
            <a:rPr lang="en-US" dirty="0"/>
            <a:t>QIIME2: Modify/convert files to QIIME2 formats</a:t>
          </a:r>
          <a:endParaRPr lang="en-US" i="1" dirty="0"/>
        </a:p>
      </dgm:t>
    </dgm:pt>
    <dgm:pt modelId="{7A0A85DE-826D-F943-B70A-C309B2E35E00}" type="parTrans" cxnId="{A399560D-2686-BB49-BEC8-16E0E59F898C}">
      <dgm:prSet/>
      <dgm:spPr/>
      <dgm:t>
        <a:bodyPr/>
        <a:lstStyle/>
        <a:p>
          <a:endParaRPr lang="en-US"/>
        </a:p>
      </dgm:t>
    </dgm:pt>
    <dgm:pt modelId="{ECF5917A-5A86-4945-92ED-C3A30B725FE7}" type="sibTrans" cxnId="{A399560D-2686-BB49-BEC8-16E0E59F898C}">
      <dgm:prSet/>
      <dgm:spPr/>
      <dgm:t>
        <a:bodyPr/>
        <a:lstStyle/>
        <a:p>
          <a:endParaRPr lang="en-US"/>
        </a:p>
      </dgm:t>
    </dgm:pt>
    <dgm:pt modelId="{3AAD80AB-86BA-354D-A91B-40CE06269A51}">
      <dgm:prSet phldrT="[Text]"/>
      <dgm:spPr/>
      <dgm:t>
        <a:bodyPr/>
        <a:lstStyle/>
        <a:p>
          <a:r>
            <a:rPr lang="en-US" dirty="0"/>
            <a:t>QIIME2: Trim primers</a:t>
          </a:r>
        </a:p>
      </dgm:t>
    </dgm:pt>
    <dgm:pt modelId="{3035F67B-CB08-4446-AE7D-48C039F6D2DF}" type="parTrans" cxnId="{6CC7BC8F-A4DC-3E43-A468-7FE509ECF895}">
      <dgm:prSet/>
      <dgm:spPr/>
      <dgm:t>
        <a:bodyPr/>
        <a:lstStyle/>
        <a:p>
          <a:endParaRPr lang="en-US"/>
        </a:p>
      </dgm:t>
    </dgm:pt>
    <dgm:pt modelId="{C215D862-A291-E848-A659-5797AEF6E6A2}" type="sibTrans" cxnId="{6CC7BC8F-A4DC-3E43-A468-7FE509ECF895}">
      <dgm:prSet/>
      <dgm:spPr/>
      <dgm:t>
        <a:bodyPr/>
        <a:lstStyle/>
        <a:p>
          <a:endParaRPr lang="en-US"/>
        </a:p>
      </dgm:t>
    </dgm:pt>
    <dgm:pt modelId="{99CAAEDC-6392-D343-9A6F-7F5A17C79600}">
      <dgm:prSet/>
      <dgm:spPr/>
      <dgm:t>
        <a:bodyPr/>
        <a:lstStyle/>
        <a:p>
          <a:r>
            <a:rPr lang="en-US" dirty="0"/>
            <a:t>DADA2: Denoise data</a:t>
          </a:r>
        </a:p>
      </dgm:t>
    </dgm:pt>
    <dgm:pt modelId="{C17FB67C-707B-D74A-80D6-94F7481B177D}" type="parTrans" cxnId="{850E1FA5-AA48-724C-8558-F11B12C530EE}">
      <dgm:prSet/>
      <dgm:spPr/>
      <dgm:t>
        <a:bodyPr/>
        <a:lstStyle/>
        <a:p>
          <a:endParaRPr lang="en-US"/>
        </a:p>
      </dgm:t>
    </dgm:pt>
    <dgm:pt modelId="{E9E523D2-25B5-CD4B-9629-508B4D79D50B}" type="sibTrans" cxnId="{850E1FA5-AA48-724C-8558-F11B12C530EE}">
      <dgm:prSet/>
      <dgm:spPr/>
      <dgm:t>
        <a:bodyPr/>
        <a:lstStyle/>
        <a:p>
          <a:endParaRPr lang="en-US"/>
        </a:p>
      </dgm:t>
    </dgm:pt>
    <dgm:pt modelId="{7FA26DE3-9601-BF47-AC3A-1976221D9FF7}">
      <dgm:prSet/>
      <dgm:spPr/>
      <dgm:t>
        <a:bodyPr/>
        <a:lstStyle/>
        <a:p>
          <a:r>
            <a:rPr lang="en-US" dirty="0"/>
            <a:t>QIIME2:  Use SILVA classifier to classify representative sequences</a:t>
          </a:r>
        </a:p>
      </dgm:t>
    </dgm:pt>
    <dgm:pt modelId="{DA997D57-FC54-1543-8E4F-C5A29391F936}" type="parTrans" cxnId="{26E3548D-A542-114A-9949-6B29D19AA1AB}">
      <dgm:prSet/>
      <dgm:spPr/>
      <dgm:t>
        <a:bodyPr/>
        <a:lstStyle/>
        <a:p>
          <a:endParaRPr lang="en-US"/>
        </a:p>
      </dgm:t>
    </dgm:pt>
    <dgm:pt modelId="{6BBB6159-CF03-854D-ADAC-23CBD22E850F}" type="sibTrans" cxnId="{26E3548D-A542-114A-9949-6B29D19AA1AB}">
      <dgm:prSet/>
      <dgm:spPr/>
      <dgm:t>
        <a:bodyPr/>
        <a:lstStyle/>
        <a:p>
          <a:endParaRPr lang="en-US"/>
        </a:p>
      </dgm:t>
    </dgm:pt>
    <dgm:pt modelId="{AF485B0E-A33B-9844-9210-9C1E1BDA0205}">
      <dgm:prSet/>
      <dgm:spPr/>
      <dgm:t>
        <a:bodyPr/>
        <a:lstStyle/>
        <a:p>
          <a:r>
            <a:rPr lang="en-US" dirty="0"/>
            <a:t>QIIME2: Generate feature table </a:t>
          </a:r>
        </a:p>
      </dgm:t>
    </dgm:pt>
    <dgm:pt modelId="{B92E333E-CB20-8E47-8AF4-6EBADD828377}" type="parTrans" cxnId="{06E07FA7-2DFD-C043-8B9F-CA0C5BDC5089}">
      <dgm:prSet/>
      <dgm:spPr/>
      <dgm:t>
        <a:bodyPr/>
        <a:lstStyle/>
        <a:p>
          <a:endParaRPr lang="en-US"/>
        </a:p>
      </dgm:t>
    </dgm:pt>
    <dgm:pt modelId="{F898BA7A-4505-614F-B67E-8FA6BAB686B5}" type="sibTrans" cxnId="{06E07FA7-2DFD-C043-8B9F-CA0C5BDC5089}">
      <dgm:prSet/>
      <dgm:spPr/>
      <dgm:t>
        <a:bodyPr/>
        <a:lstStyle/>
        <a:p>
          <a:endParaRPr lang="en-US"/>
        </a:p>
      </dgm:t>
    </dgm:pt>
    <dgm:pt modelId="{015830E8-F665-B44B-9DB8-53596A8F4B44}">
      <dgm:prSet/>
      <dgm:spPr/>
      <dgm:t>
        <a:bodyPr/>
        <a:lstStyle/>
        <a:p>
          <a:r>
            <a:rPr lang="en-US" dirty="0"/>
            <a:t>QIIME2: Make multiple sequence alignment with MAFFT, construct phylogenetic tree and root.</a:t>
          </a:r>
        </a:p>
      </dgm:t>
    </dgm:pt>
    <dgm:pt modelId="{D463BB94-01E0-5C47-B176-131A99D94AA7}" type="parTrans" cxnId="{DF6E2BC5-4846-D943-9EA0-B9E719A59245}">
      <dgm:prSet/>
      <dgm:spPr/>
      <dgm:t>
        <a:bodyPr/>
        <a:lstStyle/>
        <a:p>
          <a:endParaRPr lang="en-US"/>
        </a:p>
      </dgm:t>
    </dgm:pt>
    <dgm:pt modelId="{762744FF-B12D-B048-A7F9-0D25528B3DD4}" type="sibTrans" cxnId="{DF6E2BC5-4846-D943-9EA0-B9E719A59245}">
      <dgm:prSet/>
      <dgm:spPr/>
      <dgm:t>
        <a:bodyPr/>
        <a:lstStyle/>
        <a:p>
          <a:endParaRPr lang="en-US"/>
        </a:p>
      </dgm:t>
    </dgm:pt>
    <dgm:pt modelId="{4BA86EBA-301B-894C-9E58-371F1419EEF2}">
      <dgm:prSet/>
      <dgm:spPr/>
      <dgm:t>
        <a:bodyPr/>
        <a:lstStyle/>
        <a:p>
          <a:r>
            <a:rPr lang="en-US" dirty="0"/>
            <a:t>QIIME2: Export feature table, ASV count table, representative sequences, taxonomy table and rooted phylogenetic tree.</a:t>
          </a:r>
        </a:p>
      </dgm:t>
    </dgm:pt>
    <dgm:pt modelId="{F0DE1318-0E22-3447-AABB-108F63AEBF76}" type="parTrans" cxnId="{DFDC9720-DA41-4347-BBAC-0777E0F9CD5E}">
      <dgm:prSet/>
      <dgm:spPr/>
      <dgm:t>
        <a:bodyPr/>
        <a:lstStyle/>
        <a:p>
          <a:endParaRPr lang="en-US"/>
        </a:p>
      </dgm:t>
    </dgm:pt>
    <dgm:pt modelId="{374085FA-BF47-3A48-BEA6-BD8154C1D35B}" type="sibTrans" cxnId="{DFDC9720-DA41-4347-BBAC-0777E0F9CD5E}">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8" custScaleX="349935" custScaleY="53000">
        <dgm:presLayoutVars>
          <dgm:bulletEnabled val="1"/>
        </dgm:presLayoutVars>
      </dgm:prSet>
      <dgm:spPr/>
    </dgm:pt>
    <dgm:pt modelId="{91DA19BA-A0AB-564A-8A9E-322DF18B64CF}" type="pres">
      <dgm:prSet presAssocID="{30256DA3-2063-6145-A40C-3F213F51F903}" presName="sibTrans" presStyleLbl="sibTrans2D1" presStyleIdx="0" presStyleCnt="7"/>
      <dgm:spPr/>
    </dgm:pt>
    <dgm:pt modelId="{93A03A25-0C23-0B49-A801-B6DF4800FF1C}" type="pres">
      <dgm:prSet presAssocID="{30256DA3-2063-6145-A40C-3F213F51F903}" presName="connectorText" presStyleLbl="sibTrans2D1" presStyleIdx="0" presStyleCnt="7"/>
      <dgm:spPr/>
    </dgm:pt>
    <dgm:pt modelId="{43D2067A-91F6-8745-98BA-D6A10B24950A}" type="pres">
      <dgm:prSet presAssocID="{6D80D72C-DBB2-D94A-BCBD-1B0C1C35E98A}" presName="node" presStyleLbl="node1" presStyleIdx="1" presStyleCnt="8" custScaleX="349941" custScaleY="53000">
        <dgm:presLayoutVars>
          <dgm:bulletEnabled val="1"/>
        </dgm:presLayoutVars>
      </dgm:prSet>
      <dgm:spPr/>
    </dgm:pt>
    <dgm:pt modelId="{D067C965-9057-9C4A-A1D2-4912C14C50F7}" type="pres">
      <dgm:prSet presAssocID="{ECF5917A-5A86-4945-92ED-C3A30B725FE7}" presName="sibTrans" presStyleLbl="sibTrans2D1" presStyleIdx="1" presStyleCnt="7"/>
      <dgm:spPr/>
    </dgm:pt>
    <dgm:pt modelId="{5030DE2C-F3D5-7E44-98C9-D5A5317CA56C}" type="pres">
      <dgm:prSet presAssocID="{ECF5917A-5A86-4945-92ED-C3A30B725FE7}" presName="connectorText" presStyleLbl="sibTrans2D1" presStyleIdx="1" presStyleCnt="7"/>
      <dgm:spPr/>
    </dgm:pt>
    <dgm:pt modelId="{80C05A4E-2A0A-294C-8DDC-052E97D834DA}" type="pres">
      <dgm:prSet presAssocID="{3AAD80AB-86BA-354D-A91B-40CE06269A51}" presName="node" presStyleLbl="node1" presStyleIdx="2" presStyleCnt="8" custScaleX="349941" custScaleY="53000">
        <dgm:presLayoutVars>
          <dgm:bulletEnabled val="1"/>
        </dgm:presLayoutVars>
      </dgm:prSet>
      <dgm:spPr/>
    </dgm:pt>
    <dgm:pt modelId="{B3C2DB7A-EC33-6544-A09D-B1205728770A}" type="pres">
      <dgm:prSet presAssocID="{C215D862-A291-E848-A659-5797AEF6E6A2}" presName="sibTrans" presStyleLbl="sibTrans2D1" presStyleIdx="2" presStyleCnt="7"/>
      <dgm:spPr/>
    </dgm:pt>
    <dgm:pt modelId="{14D2D5CD-E619-2C4C-83EC-B8786FE7D09C}" type="pres">
      <dgm:prSet presAssocID="{C215D862-A291-E848-A659-5797AEF6E6A2}" presName="connectorText" presStyleLbl="sibTrans2D1" presStyleIdx="2" presStyleCnt="7"/>
      <dgm:spPr/>
    </dgm:pt>
    <dgm:pt modelId="{6F6C8E07-FBAD-3F4D-A906-27ECCF26E70E}" type="pres">
      <dgm:prSet presAssocID="{99CAAEDC-6392-D343-9A6F-7F5A17C79600}" presName="node" presStyleLbl="node1" presStyleIdx="3" presStyleCnt="8" custScaleX="349941" custScaleY="53000">
        <dgm:presLayoutVars>
          <dgm:bulletEnabled val="1"/>
        </dgm:presLayoutVars>
      </dgm:prSet>
      <dgm:spPr/>
    </dgm:pt>
    <dgm:pt modelId="{48489AC1-89DA-0F48-B940-23505B5798FF}" type="pres">
      <dgm:prSet presAssocID="{E9E523D2-25B5-CD4B-9629-508B4D79D50B}" presName="sibTrans" presStyleLbl="sibTrans2D1" presStyleIdx="3" presStyleCnt="7"/>
      <dgm:spPr/>
    </dgm:pt>
    <dgm:pt modelId="{3C8009BD-6E6B-AA43-B36E-EB048E42CE59}" type="pres">
      <dgm:prSet presAssocID="{E9E523D2-25B5-CD4B-9629-508B4D79D50B}" presName="connectorText" presStyleLbl="sibTrans2D1" presStyleIdx="3" presStyleCnt="7"/>
      <dgm:spPr/>
    </dgm:pt>
    <dgm:pt modelId="{BEBB65BD-4B92-BC44-96A8-BAAA586B7BF5}" type="pres">
      <dgm:prSet presAssocID="{AF485B0E-A33B-9844-9210-9C1E1BDA0205}" presName="node" presStyleLbl="node1" presStyleIdx="4" presStyleCnt="8" custScaleX="349941" custScaleY="53000">
        <dgm:presLayoutVars>
          <dgm:bulletEnabled val="1"/>
        </dgm:presLayoutVars>
      </dgm:prSet>
      <dgm:spPr/>
    </dgm:pt>
    <dgm:pt modelId="{2839F08F-24F1-614A-A1A4-847F111C0482}" type="pres">
      <dgm:prSet presAssocID="{F898BA7A-4505-614F-B67E-8FA6BAB686B5}" presName="sibTrans" presStyleLbl="sibTrans2D1" presStyleIdx="4" presStyleCnt="7"/>
      <dgm:spPr/>
    </dgm:pt>
    <dgm:pt modelId="{7F333F59-D690-B24C-ABEB-6EE4EB2A6CE1}" type="pres">
      <dgm:prSet presAssocID="{F898BA7A-4505-614F-B67E-8FA6BAB686B5}" presName="connectorText" presStyleLbl="sibTrans2D1" presStyleIdx="4" presStyleCnt="7"/>
      <dgm:spPr/>
    </dgm:pt>
    <dgm:pt modelId="{80377AF5-BC76-FB40-840E-12C9D1BDB641}" type="pres">
      <dgm:prSet presAssocID="{7FA26DE3-9601-BF47-AC3A-1976221D9FF7}" presName="node" presStyleLbl="node1" presStyleIdx="5" presStyleCnt="8" custScaleX="349941" custScaleY="53000">
        <dgm:presLayoutVars>
          <dgm:bulletEnabled val="1"/>
        </dgm:presLayoutVars>
      </dgm:prSet>
      <dgm:spPr/>
    </dgm:pt>
    <dgm:pt modelId="{C9A34051-A77A-F049-83DF-B23743A74457}" type="pres">
      <dgm:prSet presAssocID="{6BBB6159-CF03-854D-ADAC-23CBD22E850F}" presName="sibTrans" presStyleLbl="sibTrans2D1" presStyleIdx="5" presStyleCnt="7"/>
      <dgm:spPr/>
    </dgm:pt>
    <dgm:pt modelId="{B372B6F6-AA4E-0A43-A234-81DA0BBCD8AB}" type="pres">
      <dgm:prSet presAssocID="{6BBB6159-CF03-854D-ADAC-23CBD22E850F}" presName="connectorText" presStyleLbl="sibTrans2D1" presStyleIdx="5" presStyleCnt="7"/>
      <dgm:spPr/>
    </dgm:pt>
    <dgm:pt modelId="{77F0190E-9B2D-0449-9A36-A264480F521F}" type="pres">
      <dgm:prSet presAssocID="{015830E8-F665-B44B-9DB8-53596A8F4B44}" presName="node" presStyleLbl="node1" presStyleIdx="6" presStyleCnt="8" custScaleX="349941" custScaleY="53000">
        <dgm:presLayoutVars>
          <dgm:bulletEnabled val="1"/>
        </dgm:presLayoutVars>
      </dgm:prSet>
      <dgm:spPr/>
    </dgm:pt>
    <dgm:pt modelId="{26A17077-D919-4B4F-8DCF-A621A4F50A35}" type="pres">
      <dgm:prSet presAssocID="{762744FF-B12D-B048-A7F9-0D25528B3DD4}" presName="sibTrans" presStyleLbl="sibTrans2D1" presStyleIdx="6" presStyleCnt="7"/>
      <dgm:spPr/>
    </dgm:pt>
    <dgm:pt modelId="{1C85A635-76EE-CB45-B9FA-7B7A76246FB3}" type="pres">
      <dgm:prSet presAssocID="{762744FF-B12D-B048-A7F9-0D25528B3DD4}" presName="connectorText" presStyleLbl="sibTrans2D1" presStyleIdx="6" presStyleCnt="7"/>
      <dgm:spPr/>
    </dgm:pt>
    <dgm:pt modelId="{218DEA2E-8D5B-8741-B88A-2B31902D6D39}" type="pres">
      <dgm:prSet presAssocID="{4BA86EBA-301B-894C-9E58-371F1419EEF2}" presName="node" presStyleLbl="node1" presStyleIdx="7" presStyleCnt="8" custScaleX="349941" custScaleY="53000">
        <dgm:presLayoutVars>
          <dgm:bulletEnabled val="1"/>
        </dgm:presLayoutVars>
      </dgm:prSet>
      <dgm:spPr/>
    </dgm:pt>
  </dgm:ptLst>
  <dgm:cxnLst>
    <dgm:cxn modelId="{C7731D08-B68F-EA49-A139-9AE53C623103}" type="presOf" srcId="{762744FF-B12D-B048-A7F9-0D25528B3DD4}" destId="{1C85A635-76EE-CB45-B9FA-7B7A76246FB3}" srcOrd="1" destOrd="0" presId="urn:microsoft.com/office/officeart/2005/8/layout/process2"/>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C16B0C15-CF6C-284A-A383-0640B635E0E2}" type="presOf" srcId="{7FA26DE3-9601-BF47-AC3A-1976221D9FF7}" destId="{80377AF5-BC76-FB40-840E-12C9D1BDB641}"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C0931419-B5B5-9741-91F2-A3180203F038}" type="presOf" srcId="{F898BA7A-4505-614F-B67E-8FA6BAB686B5}" destId="{7F333F59-D690-B24C-ABEB-6EE4EB2A6CE1}" srcOrd="1" destOrd="0" presId="urn:microsoft.com/office/officeart/2005/8/layout/process2"/>
    <dgm:cxn modelId="{4E285119-2459-8646-A275-E2ED993B432A}" type="presOf" srcId="{C215D862-A291-E848-A659-5797AEF6E6A2}" destId="{14D2D5CD-E619-2C4C-83EC-B8786FE7D09C}" srcOrd="1" destOrd="0" presId="urn:microsoft.com/office/officeart/2005/8/layout/process2"/>
    <dgm:cxn modelId="{DFDC9720-DA41-4347-BBAC-0777E0F9CD5E}" srcId="{CB88F0E7-4140-1B4D-A33B-6563FB2E1C23}" destId="{4BA86EBA-301B-894C-9E58-371F1419EEF2}" srcOrd="7" destOrd="0" parTransId="{F0DE1318-0E22-3447-AABB-108F63AEBF76}" sibTransId="{374085FA-BF47-3A48-BEA6-BD8154C1D35B}"/>
    <dgm:cxn modelId="{85095E25-989E-8644-8FAC-8BF624EEEE21}" type="presOf" srcId="{C215D862-A291-E848-A659-5797AEF6E6A2}" destId="{B3C2DB7A-EC33-6544-A09D-B1205728770A}" srcOrd="0" destOrd="0" presId="urn:microsoft.com/office/officeart/2005/8/layout/process2"/>
    <dgm:cxn modelId="{5E573632-5F57-F24C-A760-D2988D36FDA8}" type="presOf" srcId="{6BBB6159-CF03-854D-ADAC-23CBD22E850F}" destId="{C9A34051-A77A-F049-83DF-B23743A74457}"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45637A5C-225F-734B-86EB-139616362E27}" type="presOf" srcId="{6BBB6159-CF03-854D-ADAC-23CBD22E850F}" destId="{B372B6F6-AA4E-0A43-A234-81DA0BBCD8AB}" srcOrd="1" destOrd="0" presId="urn:microsoft.com/office/officeart/2005/8/layout/process2"/>
    <dgm:cxn modelId="{29C6B55E-D2F5-EE46-A8EF-509405DE8534}" type="presOf" srcId="{015830E8-F665-B44B-9DB8-53596A8F4B44}" destId="{77F0190E-9B2D-0449-9A36-A264480F521F}" srcOrd="0" destOrd="0" presId="urn:microsoft.com/office/officeart/2005/8/layout/process2"/>
    <dgm:cxn modelId="{08CFD367-D1E2-774B-B131-FBDC4B1434F3}" type="presOf" srcId="{E9E523D2-25B5-CD4B-9629-508B4D79D50B}" destId="{3C8009BD-6E6B-AA43-B36E-EB048E42CE59}" srcOrd="1" destOrd="0" presId="urn:microsoft.com/office/officeart/2005/8/layout/process2"/>
    <dgm:cxn modelId="{D4EC3F6A-DC63-AB42-84D5-064E1774991E}" type="presOf" srcId="{762744FF-B12D-B048-A7F9-0D25528B3DD4}" destId="{26A17077-D919-4B4F-8DCF-A621A4F50A35}" srcOrd="0"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42693C70-6993-8D4E-8B1C-9211A8B5A1F6}" type="presOf" srcId="{4BA86EBA-301B-894C-9E58-371F1419EEF2}" destId="{218DEA2E-8D5B-8741-B88A-2B31902D6D39}" srcOrd="0" destOrd="0" presId="urn:microsoft.com/office/officeart/2005/8/layout/process2"/>
    <dgm:cxn modelId="{26E3548D-A542-114A-9949-6B29D19AA1AB}" srcId="{CB88F0E7-4140-1B4D-A33B-6563FB2E1C23}" destId="{7FA26DE3-9601-BF47-AC3A-1976221D9FF7}" srcOrd="5" destOrd="0" parTransId="{DA997D57-FC54-1543-8E4F-C5A29391F936}" sibTransId="{6BBB6159-CF03-854D-ADAC-23CBD22E850F}"/>
    <dgm:cxn modelId="{6CC7BC8F-A4DC-3E43-A468-7FE509ECF895}" srcId="{CB88F0E7-4140-1B4D-A33B-6563FB2E1C23}" destId="{3AAD80AB-86BA-354D-A91B-40CE06269A51}" srcOrd="2" destOrd="0" parTransId="{3035F67B-CB08-4446-AE7D-48C039F6D2DF}" sibTransId="{C215D862-A291-E848-A659-5797AEF6E6A2}"/>
    <dgm:cxn modelId="{3A86D698-1F94-304C-A18C-CF7C34B962A8}" type="presOf" srcId="{AF485B0E-A33B-9844-9210-9C1E1BDA0205}" destId="{BEBB65BD-4B92-BC44-96A8-BAAA586B7BF5}" srcOrd="0" destOrd="0" presId="urn:microsoft.com/office/officeart/2005/8/layout/process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06E07FA7-2DFD-C043-8B9F-CA0C5BDC5089}" srcId="{CB88F0E7-4140-1B4D-A33B-6563FB2E1C23}" destId="{AF485B0E-A33B-9844-9210-9C1E1BDA0205}" srcOrd="4" destOrd="0" parTransId="{B92E333E-CB20-8E47-8AF4-6EBADD828377}" sibTransId="{F898BA7A-4505-614F-B67E-8FA6BAB686B5}"/>
    <dgm:cxn modelId="{0C5B59B5-F8B1-E84F-A770-CFDEED93C193}" type="presOf" srcId="{E9E523D2-25B5-CD4B-9629-508B4D79D50B}" destId="{48489AC1-89DA-0F48-B940-23505B5798FF}" srcOrd="0" destOrd="0" presId="urn:microsoft.com/office/officeart/2005/8/layout/process2"/>
    <dgm:cxn modelId="{DF6E2BC5-4846-D943-9EA0-B9E719A59245}" srcId="{CB88F0E7-4140-1B4D-A33B-6563FB2E1C23}" destId="{015830E8-F665-B44B-9DB8-53596A8F4B44}" srcOrd="6" destOrd="0" parTransId="{D463BB94-01E0-5C47-B176-131A99D94AA7}" sibTransId="{762744FF-B12D-B048-A7F9-0D25528B3DD4}"/>
    <dgm:cxn modelId="{4B8D3CDA-C71C-8644-BEF2-25F7C84E26CD}" type="presOf" srcId="{CB88F0E7-4140-1B4D-A33B-6563FB2E1C23}" destId="{55F5C254-F149-8D49-B068-DD2BB6700AB1}" srcOrd="0" destOrd="0" presId="urn:microsoft.com/office/officeart/2005/8/layout/process2"/>
    <dgm:cxn modelId="{48E459E6-5F42-A649-A8DE-8CFE3B1E5409}" type="presOf" srcId="{F898BA7A-4505-614F-B67E-8FA6BAB686B5}" destId="{2839F08F-24F1-614A-A1A4-847F111C0482}"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 modelId="{D858F26B-4C1F-A94D-A8E0-A7E3177794AA}" type="presParOf" srcId="{55F5C254-F149-8D49-B068-DD2BB6700AB1}" destId="{48489AC1-89DA-0F48-B940-23505B5798FF}" srcOrd="7" destOrd="0" presId="urn:microsoft.com/office/officeart/2005/8/layout/process2"/>
    <dgm:cxn modelId="{784D6DCE-95A6-2B43-928C-01BEE8EB9D44}" type="presParOf" srcId="{48489AC1-89DA-0F48-B940-23505B5798FF}" destId="{3C8009BD-6E6B-AA43-B36E-EB048E42CE59}" srcOrd="0" destOrd="0" presId="urn:microsoft.com/office/officeart/2005/8/layout/process2"/>
    <dgm:cxn modelId="{49ED3757-CA91-6F44-A756-371AA5450956}" type="presParOf" srcId="{55F5C254-F149-8D49-B068-DD2BB6700AB1}" destId="{BEBB65BD-4B92-BC44-96A8-BAAA586B7BF5}" srcOrd="8" destOrd="0" presId="urn:microsoft.com/office/officeart/2005/8/layout/process2"/>
    <dgm:cxn modelId="{5D8A5D0C-B77F-CF44-B0BA-6BB9116C2102}" type="presParOf" srcId="{55F5C254-F149-8D49-B068-DD2BB6700AB1}" destId="{2839F08F-24F1-614A-A1A4-847F111C0482}" srcOrd="9" destOrd="0" presId="urn:microsoft.com/office/officeart/2005/8/layout/process2"/>
    <dgm:cxn modelId="{8CA0BD0B-2AA9-F545-98A9-597F9A4172E8}" type="presParOf" srcId="{2839F08F-24F1-614A-A1A4-847F111C0482}" destId="{7F333F59-D690-B24C-ABEB-6EE4EB2A6CE1}" srcOrd="0" destOrd="0" presId="urn:microsoft.com/office/officeart/2005/8/layout/process2"/>
    <dgm:cxn modelId="{D889FC8E-DA0F-DB4D-B68C-E9542CE782E5}" type="presParOf" srcId="{55F5C254-F149-8D49-B068-DD2BB6700AB1}" destId="{80377AF5-BC76-FB40-840E-12C9D1BDB641}" srcOrd="10" destOrd="0" presId="urn:microsoft.com/office/officeart/2005/8/layout/process2"/>
    <dgm:cxn modelId="{9E09BCF5-E8B7-1846-93BF-609BCA819B6B}" type="presParOf" srcId="{55F5C254-F149-8D49-B068-DD2BB6700AB1}" destId="{C9A34051-A77A-F049-83DF-B23743A74457}" srcOrd="11" destOrd="0" presId="urn:microsoft.com/office/officeart/2005/8/layout/process2"/>
    <dgm:cxn modelId="{46CB4DBC-9D42-CE47-8CFC-1F4B2D1AC9FE}" type="presParOf" srcId="{C9A34051-A77A-F049-83DF-B23743A74457}" destId="{B372B6F6-AA4E-0A43-A234-81DA0BBCD8AB}" srcOrd="0" destOrd="0" presId="urn:microsoft.com/office/officeart/2005/8/layout/process2"/>
    <dgm:cxn modelId="{2A289DDD-E86F-8946-9C9E-367E49FE4E4A}" type="presParOf" srcId="{55F5C254-F149-8D49-B068-DD2BB6700AB1}" destId="{77F0190E-9B2D-0449-9A36-A264480F521F}" srcOrd="12" destOrd="0" presId="urn:microsoft.com/office/officeart/2005/8/layout/process2"/>
    <dgm:cxn modelId="{8BCC7B57-EA12-CF40-992C-2CA263431C3B}" type="presParOf" srcId="{55F5C254-F149-8D49-B068-DD2BB6700AB1}" destId="{26A17077-D919-4B4F-8DCF-A621A4F50A35}" srcOrd="13" destOrd="0" presId="urn:microsoft.com/office/officeart/2005/8/layout/process2"/>
    <dgm:cxn modelId="{D5E49362-F01C-2241-A185-9002A1C58B3C}" type="presParOf" srcId="{26A17077-D919-4B4F-8DCF-A621A4F50A35}" destId="{1C85A635-76EE-CB45-B9FA-7B7A76246FB3}" srcOrd="0" destOrd="0" presId="urn:microsoft.com/office/officeart/2005/8/layout/process2"/>
    <dgm:cxn modelId="{9D2BDECB-E8D9-0C4D-8CC4-1D870363DD2D}" type="presParOf" srcId="{55F5C254-F149-8D49-B068-DD2BB6700AB1}" destId="{218DEA2E-8D5B-8741-B88A-2B31902D6D39}" srcOrd="1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6D80D72C-DBB2-D94A-BCBD-1B0C1C35E98A}">
      <dgm:prSet phldrT="[Text]"/>
      <dgm:spPr/>
      <dgm:t>
        <a:bodyPr/>
        <a:lstStyle/>
        <a:p>
          <a:r>
            <a:rPr lang="en-US" dirty="0"/>
            <a:t>Wrangle metadata</a:t>
          </a:r>
          <a:endParaRPr lang="en-US" i="1" dirty="0"/>
        </a:p>
      </dgm:t>
    </dgm:pt>
    <dgm:pt modelId="{7A0A85DE-826D-F943-B70A-C309B2E35E00}" type="parTrans" cxnId="{A399560D-2686-BB49-BEC8-16E0E59F898C}">
      <dgm:prSet/>
      <dgm:spPr/>
      <dgm:t>
        <a:bodyPr/>
        <a:lstStyle/>
        <a:p>
          <a:endParaRPr lang="en-US"/>
        </a:p>
      </dgm:t>
    </dgm:pt>
    <dgm:pt modelId="{ECF5917A-5A86-4945-92ED-C3A30B725FE7}" type="sibTrans" cxnId="{A399560D-2686-BB49-BEC8-16E0E59F898C}">
      <dgm:prSet/>
      <dgm:spPr/>
      <dgm:t>
        <a:bodyPr/>
        <a:lstStyle/>
        <a:p>
          <a:endParaRPr lang="en-US"/>
        </a:p>
      </dgm:t>
    </dgm:pt>
    <dgm:pt modelId="{3AAD80AB-86BA-354D-A91B-40CE06269A51}">
      <dgm:prSet phldrT="[Text]"/>
      <dgm:spPr/>
      <dgm:t>
        <a:bodyPr/>
        <a:lstStyle/>
        <a:p>
          <a:r>
            <a:rPr lang="en-US" dirty="0"/>
            <a:t>Identify and remove contaminant ASVs</a:t>
          </a:r>
        </a:p>
      </dgm:t>
    </dgm:pt>
    <dgm:pt modelId="{3035F67B-CB08-4446-AE7D-48C039F6D2DF}" type="parTrans" cxnId="{6CC7BC8F-A4DC-3E43-A468-7FE509ECF895}">
      <dgm:prSet/>
      <dgm:spPr/>
      <dgm:t>
        <a:bodyPr/>
        <a:lstStyle/>
        <a:p>
          <a:endParaRPr lang="en-US"/>
        </a:p>
      </dgm:t>
    </dgm:pt>
    <dgm:pt modelId="{C215D862-A291-E848-A659-5797AEF6E6A2}" type="sibTrans" cxnId="{6CC7BC8F-A4DC-3E43-A468-7FE509ECF895}">
      <dgm:prSet/>
      <dgm:spPr/>
      <dgm:t>
        <a:bodyPr/>
        <a:lstStyle/>
        <a:p>
          <a:endParaRPr lang="en-US"/>
        </a:p>
      </dgm:t>
    </dgm:pt>
    <dgm:pt modelId="{99CAAEDC-6392-D343-9A6F-7F5A17C79600}">
      <dgm:prSet/>
      <dgm:spPr/>
      <dgm:t>
        <a:bodyPr/>
        <a:lstStyle/>
        <a:p>
          <a:r>
            <a:rPr lang="en-US" strike="sngStrike" dirty="0"/>
            <a:t>Remove singletons</a:t>
          </a:r>
        </a:p>
      </dgm:t>
    </dgm:pt>
    <dgm:pt modelId="{C17FB67C-707B-D74A-80D6-94F7481B177D}" type="parTrans" cxnId="{850E1FA5-AA48-724C-8558-F11B12C530EE}">
      <dgm:prSet/>
      <dgm:spPr/>
      <dgm:t>
        <a:bodyPr/>
        <a:lstStyle/>
        <a:p>
          <a:endParaRPr lang="en-US"/>
        </a:p>
      </dgm:t>
    </dgm:pt>
    <dgm:pt modelId="{E9E523D2-25B5-CD4B-9629-508B4D79D50B}" type="sibTrans" cxnId="{850E1FA5-AA48-724C-8558-F11B12C530EE}">
      <dgm:prSet/>
      <dgm:spPr/>
      <dgm:t>
        <a:bodyPr/>
        <a:lstStyle/>
        <a:p>
          <a:endParaRPr lang="en-US"/>
        </a:p>
      </dgm:t>
    </dgm:pt>
    <dgm:pt modelId="{7FA26DE3-9601-BF47-AC3A-1976221D9FF7}">
      <dgm:prSet/>
      <dgm:spPr/>
      <dgm:t>
        <a:bodyPr/>
        <a:lstStyle/>
        <a:p>
          <a:r>
            <a:rPr lang="en-US" dirty="0"/>
            <a:t>Re-root phylogenetic tree</a:t>
          </a:r>
        </a:p>
      </dgm:t>
    </dgm:pt>
    <dgm:pt modelId="{DA997D57-FC54-1543-8E4F-C5A29391F936}" type="parTrans" cxnId="{26E3548D-A542-114A-9949-6B29D19AA1AB}">
      <dgm:prSet/>
      <dgm:spPr/>
      <dgm:t>
        <a:bodyPr/>
        <a:lstStyle/>
        <a:p>
          <a:endParaRPr lang="en-US"/>
        </a:p>
      </dgm:t>
    </dgm:pt>
    <dgm:pt modelId="{6BBB6159-CF03-854D-ADAC-23CBD22E850F}" type="sibTrans" cxnId="{26E3548D-A542-114A-9949-6B29D19AA1AB}">
      <dgm:prSet/>
      <dgm:spPr/>
      <dgm:t>
        <a:bodyPr/>
        <a:lstStyle/>
        <a:p>
          <a:endParaRPr lang="en-US"/>
        </a:p>
      </dgm:t>
    </dgm:pt>
    <dgm:pt modelId="{AF485B0E-A33B-9844-9210-9C1E1BDA0205}">
      <dgm:prSet/>
      <dgm:spPr/>
      <dgm:t>
        <a:bodyPr/>
        <a:lstStyle/>
        <a:p>
          <a:r>
            <a:rPr lang="en-US" dirty="0"/>
            <a:t>Remove ambiguous annotations </a:t>
          </a:r>
          <a:r>
            <a:rPr lang="en-US" strike="sngStrike" dirty="0"/>
            <a:t>and low abundance phyla</a:t>
          </a:r>
        </a:p>
      </dgm:t>
    </dgm:pt>
    <dgm:pt modelId="{B92E333E-CB20-8E47-8AF4-6EBADD828377}" type="parTrans" cxnId="{06E07FA7-2DFD-C043-8B9F-CA0C5BDC5089}">
      <dgm:prSet/>
      <dgm:spPr/>
      <dgm:t>
        <a:bodyPr/>
        <a:lstStyle/>
        <a:p>
          <a:endParaRPr lang="en-US"/>
        </a:p>
      </dgm:t>
    </dgm:pt>
    <dgm:pt modelId="{F898BA7A-4505-614F-B67E-8FA6BAB686B5}" type="sibTrans" cxnId="{06E07FA7-2DFD-C043-8B9F-CA0C5BDC5089}">
      <dgm:prSet/>
      <dgm:spPr/>
      <dgm:t>
        <a:bodyPr/>
        <a:lstStyle/>
        <a:p>
          <a:endParaRPr lang="en-US"/>
        </a:p>
      </dgm:t>
    </dgm:pt>
    <dgm:pt modelId="{015830E8-F665-B44B-9DB8-53596A8F4B44}">
      <dgm:prSet/>
      <dgm:spPr/>
      <dgm:t>
        <a:bodyPr/>
        <a:lstStyle/>
        <a:p>
          <a:r>
            <a:rPr lang="en-US" dirty="0"/>
            <a:t>Construct </a:t>
          </a:r>
          <a:r>
            <a:rPr lang="en-US" dirty="0" err="1"/>
            <a:t>phyloseq</a:t>
          </a:r>
          <a:r>
            <a:rPr lang="en-US" dirty="0"/>
            <a:t> object and export </a:t>
          </a:r>
        </a:p>
      </dgm:t>
    </dgm:pt>
    <dgm:pt modelId="{D463BB94-01E0-5C47-B176-131A99D94AA7}" type="parTrans" cxnId="{DF6E2BC5-4846-D943-9EA0-B9E719A59245}">
      <dgm:prSet/>
      <dgm:spPr/>
      <dgm:t>
        <a:bodyPr/>
        <a:lstStyle/>
        <a:p>
          <a:endParaRPr lang="en-US"/>
        </a:p>
      </dgm:t>
    </dgm:pt>
    <dgm:pt modelId="{762744FF-B12D-B048-A7F9-0D25528B3DD4}" type="sibTrans" cxnId="{DF6E2BC5-4846-D943-9EA0-B9E719A59245}">
      <dgm:prSet/>
      <dgm:spPr/>
      <dgm:t>
        <a:bodyPr/>
        <a:lstStyle/>
        <a:p>
          <a:endParaRPr lang="en-US"/>
        </a:p>
      </dgm:t>
    </dgm:pt>
    <dgm:pt modelId="{B5498DE5-7CDC-0347-BA87-FB91FE15E435}">
      <dgm:prSet phldrT="[Text]"/>
      <dgm:spPr/>
      <dgm:t>
        <a:bodyPr/>
        <a:lstStyle/>
        <a:p>
          <a:r>
            <a:rPr lang="en-US" dirty="0"/>
            <a:t>Load in data from QIIME2 step</a:t>
          </a:r>
        </a:p>
      </dgm:t>
    </dgm:pt>
    <dgm:pt modelId="{30256DA3-2063-6145-A40C-3F213F51F903}" type="sibTrans" cxnId="{6F8A8218-A43D-754D-AC34-7D7A44CB7D31}">
      <dgm:prSet/>
      <dgm:spPr/>
      <dgm:t>
        <a:bodyPr/>
        <a:lstStyle/>
        <a:p>
          <a:endParaRPr lang="en-US"/>
        </a:p>
      </dgm:t>
    </dgm:pt>
    <dgm:pt modelId="{A4B182FE-28CF-CC4A-A857-D974481A212A}" type="parTrans" cxnId="{6F8A8218-A43D-754D-AC34-7D7A44CB7D31}">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7" custScaleX="349941" custScaleY="53000">
        <dgm:presLayoutVars>
          <dgm:bulletEnabled val="1"/>
        </dgm:presLayoutVars>
      </dgm:prSet>
      <dgm:spPr/>
    </dgm:pt>
    <dgm:pt modelId="{91DA19BA-A0AB-564A-8A9E-322DF18B64CF}" type="pres">
      <dgm:prSet presAssocID="{30256DA3-2063-6145-A40C-3F213F51F903}" presName="sibTrans" presStyleLbl="sibTrans2D1" presStyleIdx="0" presStyleCnt="6"/>
      <dgm:spPr/>
    </dgm:pt>
    <dgm:pt modelId="{93A03A25-0C23-0B49-A801-B6DF4800FF1C}" type="pres">
      <dgm:prSet presAssocID="{30256DA3-2063-6145-A40C-3F213F51F903}" presName="connectorText" presStyleLbl="sibTrans2D1" presStyleIdx="0" presStyleCnt="6"/>
      <dgm:spPr/>
    </dgm:pt>
    <dgm:pt modelId="{43D2067A-91F6-8745-98BA-D6A10B24950A}" type="pres">
      <dgm:prSet presAssocID="{6D80D72C-DBB2-D94A-BCBD-1B0C1C35E98A}" presName="node" presStyleLbl="node1" presStyleIdx="1" presStyleCnt="7" custScaleX="349941" custScaleY="53000">
        <dgm:presLayoutVars>
          <dgm:bulletEnabled val="1"/>
        </dgm:presLayoutVars>
      </dgm:prSet>
      <dgm:spPr/>
    </dgm:pt>
    <dgm:pt modelId="{D067C965-9057-9C4A-A1D2-4912C14C50F7}" type="pres">
      <dgm:prSet presAssocID="{ECF5917A-5A86-4945-92ED-C3A30B725FE7}" presName="sibTrans" presStyleLbl="sibTrans2D1" presStyleIdx="1" presStyleCnt="6"/>
      <dgm:spPr/>
    </dgm:pt>
    <dgm:pt modelId="{5030DE2C-F3D5-7E44-98C9-D5A5317CA56C}" type="pres">
      <dgm:prSet presAssocID="{ECF5917A-5A86-4945-92ED-C3A30B725FE7}" presName="connectorText" presStyleLbl="sibTrans2D1" presStyleIdx="1" presStyleCnt="6"/>
      <dgm:spPr/>
    </dgm:pt>
    <dgm:pt modelId="{80C05A4E-2A0A-294C-8DDC-052E97D834DA}" type="pres">
      <dgm:prSet presAssocID="{3AAD80AB-86BA-354D-A91B-40CE06269A51}" presName="node" presStyleLbl="node1" presStyleIdx="2" presStyleCnt="7" custScaleX="349941" custScaleY="53000">
        <dgm:presLayoutVars>
          <dgm:bulletEnabled val="1"/>
        </dgm:presLayoutVars>
      </dgm:prSet>
      <dgm:spPr/>
    </dgm:pt>
    <dgm:pt modelId="{B3C2DB7A-EC33-6544-A09D-B1205728770A}" type="pres">
      <dgm:prSet presAssocID="{C215D862-A291-E848-A659-5797AEF6E6A2}" presName="sibTrans" presStyleLbl="sibTrans2D1" presStyleIdx="2" presStyleCnt="6"/>
      <dgm:spPr/>
    </dgm:pt>
    <dgm:pt modelId="{14D2D5CD-E619-2C4C-83EC-B8786FE7D09C}" type="pres">
      <dgm:prSet presAssocID="{C215D862-A291-E848-A659-5797AEF6E6A2}" presName="connectorText" presStyleLbl="sibTrans2D1" presStyleIdx="2" presStyleCnt="6"/>
      <dgm:spPr/>
    </dgm:pt>
    <dgm:pt modelId="{6F6C8E07-FBAD-3F4D-A906-27ECCF26E70E}" type="pres">
      <dgm:prSet presAssocID="{99CAAEDC-6392-D343-9A6F-7F5A17C79600}" presName="node" presStyleLbl="node1" presStyleIdx="3" presStyleCnt="7" custScaleX="349941" custScaleY="53000">
        <dgm:presLayoutVars>
          <dgm:bulletEnabled val="1"/>
        </dgm:presLayoutVars>
      </dgm:prSet>
      <dgm:spPr/>
    </dgm:pt>
    <dgm:pt modelId="{48489AC1-89DA-0F48-B940-23505B5798FF}" type="pres">
      <dgm:prSet presAssocID="{E9E523D2-25B5-CD4B-9629-508B4D79D50B}" presName="sibTrans" presStyleLbl="sibTrans2D1" presStyleIdx="3" presStyleCnt="6"/>
      <dgm:spPr/>
    </dgm:pt>
    <dgm:pt modelId="{3C8009BD-6E6B-AA43-B36E-EB048E42CE59}" type="pres">
      <dgm:prSet presAssocID="{E9E523D2-25B5-CD4B-9629-508B4D79D50B}" presName="connectorText" presStyleLbl="sibTrans2D1" presStyleIdx="3" presStyleCnt="6"/>
      <dgm:spPr/>
    </dgm:pt>
    <dgm:pt modelId="{BEBB65BD-4B92-BC44-96A8-BAAA586B7BF5}" type="pres">
      <dgm:prSet presAssocID="{AF485B0E-A33B-9844-9210-9C1E1BDA0205}" presName="node" presStyleLbl="node1" presStyleIdx="4" presStyleCnt="7" custScaleX="349941" custScaleY="53000">
        <dgm:presLayoutVars>
          <dgm:bulletEnabled val="1"/>
        </dgm:presLayoutVars>
      </dgm:prSet>
      <dgm:spPr/>
    </dgm:pt>
    <dgm:pt modelId="{2839F08F-24F1-614A-A1A4-847F111C0482}" type="pres">
      <dgm:prSet presAssocID="{F898BA7A-4505-614F-B67E-8FA6BAB686B5}" presName="sibTrans" presStyleLbl="sibTrans2D1" presStyleIdx="4" presStyleCnt="6"/>
      <dgm:spPr/>
    </dgm:pt>
    <dgm:pt modelId="{7F333F59-D690-B24C-ABEB-6EE4EB2A6CE1}" type="pres">
      <dgm:prSet presAssocID="{F898BA7A-4505-614F-B67E-8FA6BAB686B5}" presName="connectorText" presStyleLbl="sibTrans2D1" presStyleIdx="4" presStyleCnt="6"/>
      <dgm:spPr/>
    </dgm:pt>
    <dgm:pt modelId="{80377AF5-BC76-FB40-840E-12C9D1BDB641}" type="pres">
      <dgm:prSet presAssocID="{7FA26DE3-9601-BF47-AC3A-1976221D9FF7}" presName="node" presStyleLbl="node1" presStyleIdx="5" presStyleCnt="7" custScaleX="349941" custScaleY="53000">
        <dgm:presLayoutVars>
          <dgm:bulletEnabled val="1"/>
        </dgm:presLayoutVars>
      </dgm:prSet>
      <dgm:spPr/>
    </dgm:pt>
    <dgm:pt modelId="{C9A34051-A77A-F049-83DF-B23743A74457}" type="pres">
      <dgm:prSet presAssocID="{6BBB6159-CF03-854D-ADAC-23CBD22E850F}" presName="sibTrans" presStyleLbl="sibTrans2D1" presStyleIdx="5" presStyleCnt="6"/>
      <dgm:spPr/>
    </dgm:pt>
    <dgm:pt modelId="{B372B6F6-AA4E-0A43-A234-81DA0BBCD8AB}" type="pres">
      <dgm:prSet presAssocID="{6BBB6159-CF03-854D-ADAC-23CBD22E850F}" presName="connectorText" presStyleLbl="sibTrans2D1" presStyleIdx="5" presStyleCnt="6"/>
      <dgm:spPr/>
    </dgm:pt>
    <dgm:pt modelId="{77F0190E-9B2D-0449-9A36-A264480F521F}" type="pres">
      <dgm:prSet presAssocID="{015830E8-F665-B44B-9DB8-53596A8F4B44}" presName="node" presStyleLbl="node1" presStyleIdx="6" presStyleCnt="7" custScaleX="349941" custScaleY="53000">
        <dgm:presLayoutVars>
          <dgm:bulletEnabled val="1"/>
        </dgm:presLayoutVars>
      </dgm:prSet>
      <dgm:spPr/>
    </dgm:pt>
  </dgm:ptLst>
  <dgm:cxnLst>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C16B0C15-CF6C-284A-A383-0640B635E0E2}" type="presOf" srcId="{7FA26DE3-9601-BF47-AC3A-1976221D9FF7}" destId="{80377AF5-BC76-FB40-840E-12C9D1BDB641}"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C0931419-B5B5-9741-91F2-A3180203F038}" type="presOf" srcId="{F898BA7A-4505-614F-B67E-8FA6BAB686B5}" destId="{7F333F59-D690-B24C-ABEB-6EE4EB2A6CE1}" srcOrd="1" destOrd="0" presId="urn:microsoft.com/office/officeart/2005/8/layout/process2"/>
    <dgm:cxn modelId="{4E285119-2459-8646-A275-E2ED993B432A}" type="presOf" srcId="{C215D862-A291-E848-A659-5797AEF6E6A2}" destId="{14D2D5CD-E619-2C4C-83EC-B8786FE7D09C}" srcOrd="1" destOrd="0" presId="urn:microsoft.com/office/officeart/2005/8/layout/process2"/>
    <dgm:cxn modelId="{85095E25-989E-8644-8FAC-8BF624EEEE21}" type="presOf" srcId="{C215D862-A291-E848-A659-5797AEF6E6A2}" destId="{B3C2DB7A-EC33-6544-A09D-B1205728770A}" srcOrd="0" destOrd="0" presId="urn:microsoft.com/office/officeart/2005/8/layout/process2"/>
    <dgm:cxn modelId="{5E573632-5F57-F24C-A760-D2988D36FDA8}" type="presOf" srcId="{6BBB6159-CF03-854D-ADAC-23CBD22E850F}" destId="{C9A34051-A77A-F049-83DF-B23743A74457}"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45637A5C-225F-734B-86EB-139616362E27}" type="presOf" srcId="{6BBB6159-CF03-854D-ADAC-23CBD22E850F}" destId="{B372B6F6-AA4E-0A43-A234-81DA0BBCD8AB}" srcOrd="1" destOrd="0" presId="urn:microsoft.com/office/officeart/2005/8/layout/process2"/>
    <dgm:cxn modelId="{29C6B55E-D2F5-EE46-A8EF-509405DE8534}" type="presOf" srcId="{015830E8-F665-B44B-9DB8-53596A8F4B44}" destId="{77F0190E-9B2D-0449-9A36-A264480F521F}" srcOrd="0" destOrd="0" presId="urn:microsoft.com/office/officeart/2005/8/layout/process2"/>
    <dgm:cxn modelId="{08CFD367-D1E2-774B-B131-FBDC4B1434F3}" type="presOf" srcId="{E9E523D2-25B5-CD4B-9629-508B4D79D50B}" destId="{3C8009BD-6E6B-AA43-B36E-EB048E42CE59}" srcOrd="1"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26E3548D-A542-114A-9949-6B29D19AA1AB}" srcId="{CB88F0E7-4140-1B4D-A33B-6563FB2E1C23}" destId="{7FA26DE3-9601-BF47-AC3A-1976221D9FF7}" srcOrd="5" destOrd="0" parTransId="{DA997D57-FC54-1543-8E4F-C5A29391F936}" sibTransId="{6BBB6159-CF03-854D-ADAC-23CBD22E850F}"/>
    <dgm:cxn modelId="{6CC7BC8F-A4DC-3E43-A468-7FE509ECF895}" srcId="{CB88F0E7-4140-1B4D-A33B-6563FB2E1C23}" destId="{3AAD80AB-86BA-354D-A91B-40CE06269A51}" srcOrd="2" destOrd="0" parTransId="{3035F67B-CB08-4446-AE7D-48C039F6D2DF}" sibTransId="{C215D862-A291-E848-A659-5797AEF6E6A2}"/>
    <dgm:cxn modelId="{3A86D698-1F94-304C-A18C-CF7C34B962A8}" type="presOf" srcId="{AF485B0E-A33B-9844-9210-9C1E1BDA0205}" destId="{BEBB65BD-4B92-BC44-96A8-BAAA586B7BF5}" srcOrd="0" destOrd="0" presId="urn:microsoft.com/office/officeart/2005/8/layout/process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06E07FA7-2DFD-C043-8B9F-CA0C5BDC5089}" srcId="{CB88F0E7-4140-1B4D-A33B-6563FB2E1C23}" destId="{AF485B0E-A33B-9844-9210-9C1E1BDA0205}" srcOrd="4" destOrd="0" parTransId="{B92E333E-CB20-8E47-8AF4-6EBADD828377}" sibTransId="{F898BA7A-4505-614F-B67E-8FA6BAB686B5}"/>
    <dgm:cxn modelId="{0C5B59B5-F8B1-E84F-A770-CFDEED93C193}" type="presOf" srcId="{E9E523D2-25B5-CD4B-9629-508B4D79D50B}" destId="{48489AC1-89DA-0F48-B940-23505B5798FF}" srcOrd="0" destOrd="0" presId="urn:microsoft.com/office/officeart/2005/8/layout/process2"/>
    <dgm:cxn modelId="{DF6E2BC5-4846-D943-9EA0-B9E719A59245}" srcId="{CB88F0E7-4140-1B4D-A33B-6563FB2E1C23}" destId="{015830E8-F665-B44B-9DB8-53596A8F4B44}" srcOrd="6" destOrd="0" parTransId="{D463BB94-01E0-5C47-B176-131A99D94AA7}" sibTransId="{762744FF-B12D-B048-A7F9-0D25528B3DD4}"/>
    <dgm:cxn modelId="{4B8D3CDA-C71C-8644-BEF2-25F7C84E26CD}" type="presOf" srcId="{CB88F0E7-4140-1B4D-A33B-6563FB2E1C23}" destId="{55F5C254-F149-8D49-B068-DD2BB6700AB1}" srcOrd="0" destOrd="0" presId="urn:microsoft.com/office/officeart/2005/8/layout/process2"/>
    <dgm:cxn modelId="{48E459E6-5F42-A649-A8DE-8CFE3B1E5409}" type="presOf" srcId="{F898BA7A-4505-614F-B67E-8FA6BAB686B5}" destId="{2839F08F-24F1-614A-A1A4-847F111C0482}"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 modelId="{D858F26B-4C1F-A94D-A8E0-A7E3177794AA}" type="presParOf" srcId="{55F5C254-F149-8D49-B068-DD2BB6700AB1}" destId="{48489AC1-89DA-0F48-B940-23505B5798FF}" srcOrd="7" destOrd="0" presId="urn:microsoft.com/office/officeart/2005/8/layout/process2"/>
    <dgm:cxn modelId="{784D6DCE-95A6-2B43-928C-01BEE8EB9D44}" type="presParOf" srcId="{48489AC1-89DA-0F48-B940-23505B5798FF}" destId="{3C8009BD-6E6B-AA43-B36E-EB048E42CE59}" srcOrd="0" destOrd="0" presId="urn:microsoft.com/office/officeart/2005/8/layout/process2"/>
    <dgm:cxn modelId="{49ED3757-CA91-6F44-A756-371AA5450956}" type="presParOf" srcId="{55F5C254-F149-8D49-B068-DD2BB6700AB1}" destId="{BEBB65BD-4B92-BC44-96A8-BAAA586B7BF5}" srcOrd="8" destOrd="0" presId="urn:microsoft.com/office/officeart/2005/8/layout/process2"/>
    <dgm:cxn modelId="{5D8A5D0C-B77F-CF44-B0BA-6BB9116C2102}" type="presParOf" srcId="{55F5C254-F149-8D49-B068-DD2BB6700AB1}" destId="{2839F08F-24F1-614A-A1A4-847F111C0482}" srcOrd="9" destOrd="0" presId="urn:microsoft.com/office/officeart/2005/8/layout/process2"/>
    <dgm:cxn modelId="{8CA0BD0B-2AA9-F545-98A9-597F9A4172E8}" type="presParOf" srcId="{2839F08F-24F1-614A-A1A4-847F111C0482}" destId="{7F333F59-D690-B24C-ABEB-6EE4EB2A6CE1}" srcOrd="0" destOrd="0" presId="urn:microsoft.com/office/officeart/2005/8/layout/process2"/>
    <dgm:cxn modelId="{D889FC8E-DA0F-DB4D-B68C-E9542CE782E5}" type="presParOf" srcId="{55F5C254-F149-8D49-B068-DD2BB6700AB1}" destId="{80377AF5-BC76-FB40-840E-12C9D1BDB641}" srcOrd="10" destOrd="0" presId="urn:microsoft.com/office/officeart/2005/8/layout/process2"/>
    <dgm:cxn modelId="{9E09BCF5-E8B7-1846-93BF-609BCA819B6B}" type="presParOf" srcId="{55F5C254-F149-8D49-B068-DD2BB6700AB1}" destId="{C9A34051-A77A-F049-83DF-B23743A74457}" srcOrd="11" destOrd="0" presId="urn:microsoft.com/office/officeart/2005/8/layout/process2"/>
    <dgm:cxn modelId="{46CB4DBC-9D42-CE47-8CFC-1F4B2D1AC9FE}" type="presParOf" srcId="{C9A34051-A77A-F049-83DF-B23743A74457}" destId="{B372B6F6-AA4E-0A43-A234-81DA0BBCD8AB}" srcOrd="0" destOrd="0" presId="urn:microsoft.com/office/officeart/2005/8/layout/process2"/>
    <dgm:cxn modelId="{2A289DDD-E86F-8946-9C9E-367E49FE4E4A}" type="presParOf" srcId="{55F5C254-F149-8D49-B068-DD2BB6700AB1}" destId="{77F0190E-9B2D-0449-9A36-A264480F521F}" srcOrd="1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B5498DE5-7CDC-0347-BA87-FB91FE15E435}">
      <dgm:prSet phldrT="[Text]"/>
      <dgm:spPr/>
      <dgm:t>
        <a:bodyPr/>
        <a:lstStyle/>
        <a:p>
          <a:r>
            <a:rPr lang="en-US" dirty="0"/>
            <a:t>Extract ASV table from </a:t>
          </a:r>
          <a:r>
            <a:rPr lang="en-US" dirty="0" err="1"/>
            <a:t>phyloseq</a:t>
          </a:r>
          <a:r>
            <a:rPr lang="en-US" dirty="0"/>
            <a:t> object</a:t>
          </a:r>
        </a:p>
      </dgm:t>
    </dgm:pt>
    <dgm:pt modelId="{A4B182FE-28CF-CC4A-A857-D974481A212A}" type="parTrans" cxnId="{6F8A8218-A43D-754D-AC34-7D7A44CB7D31}">
      <dgm:prSet/>
      <dgm:spPr/>
      <dgm:t>
        <a:bodyPr/>
        <a:lstStyle/>
        <a:p>
          <a:endParaRPr lang="en-US"/>
        </a:p>
      </dgm:t>
    </dgm:pt>
    <dgm:pt modelId="{30256DA3-2063-6145-A40C-3F213F51F903}" type="sibTrans" cxnId="{6F8A8218-A43D-754D-AC34-7D7A44CB7D31}">
      <dgm:prSet/>
      <dgm:spPr/>
      <dgm:t>
        <a:bodyPr/>
        <a:lstStyle/>
        <a:p>
          <a:endParaRPr lang="en-US"/>
        </a:p>
      </dgm:t>
    </dgm:pt>
    <dgm:pt modelId="{6D80D72C-DBB2-D94A-BCBD-1B0C1C35E98A}">
      <dgm:prSet phldrT="[Text]"/>
      <dgm:spPr/>
      <dgm:t>
        <a:bodyPr/>
        <a:lstStyle/>
        <a:p>
          <a:r>
            <a:rPr lang="en-US" dirty="0"/>
            <a:t>Calculate </a:t>
          </a:r>
          <a:r>
            <a:rPr lang="en-US" i="1" dirty="0"/>
            <a:t>N</a:t>
          </a:r>
          <a:r>
            <a:rPr lang="en-US" dirty="0"/>
            <a:t> by finding the mean number of reads per sample. We also find the limit of detection (</a:t>
          </a:r>
          <a:r>
            <a:rPr lang="en-US" i="1" dirty="0"/>
            <a:t>d</a:t>
          </a:r>
          <a:r>
            <a:rPr lang="en-US" dirty="0"/>
            <a:t>) = </a:t>
          </a:r>
          <a:r>
            <a:rPr lang="en-US" i="1" dirty="0"/>
            <a:t>1/N</a:t>
          </a:r>
        </a:p>
      </dgm:t>
    </dgm:pt>
    <dgm:pt modelId="{7A0A85DE-826D-F943-B70A-C309B2E35E00}" type="parTrans" cxnId="{A399560D-2686-BB49-BEC8-16E0E59F898C}">
      <dgm:prSet/>
      <dgm:spPr/>
      <dgm:t>
        <a:bodyPr/>
        <a:lstStyle/>
        <a:p>
          <a:endParaRPr lang="en-US"/>
        </a:p>
      </dgm:t>
    </dgm:pt>
    <dgm:pt modelId="{ECF5917A-5A86-4945-92ED-C3A30B725FE7}" type="sibTrans" cxnId="{A399560D-2686-BB49-BEC8-16E0E59F898C}">
      <dgm:prSet/>
      <dgm:spPr/>
      <dgm:t>
        <a:bodyPr/>
        <a:lstStyle/>
        <a:p>
          <a:endParaRPr lang="en-US"/>
        </a:p>
      </dgm:t>
    </dgm:pt>
    <dgm:pt modelId="{3AAD80AB-86BA-354D-A91B-40CE06269A51}">
      <dgm:prSet phldrT="[Text]"/>
      <dgm:spPr/>
      <dgm:t>
        <a:bodyPr/>
        <a:lstStyle/>
        <a:p>
          <a:r>
            <a:rPr lang="en-US" dirty="0"/>
            <a:t>Calculate the mean observed relative abundance and occurrence frequency of each ASV</a:t>
          </a:r>
        </a:p>
      </dgm:t>
    </dgm:pt>
    <dgm:pt modelId="{3035F67B-CB08-4446-AE7D-48C039F6D2DF}" type="parTrans" cxnId="{6CC7BC8F-A4DC-3E43-A468-7FE509ECF895}">
      <dgm:prSet/>
      <dgm:spPr/>
      <dgm:t>
        <a:bodyPr/>
        <a:lstStyle/>
        <a:p>
          <a:endParaRPr lang="en-US"/>
        </a:p>
      </dgm:t>
    </dgm:pt>
    <dgm:pt modelId="{C215D862-A291-E848-A659-5797AEF6E6A2}" type="sibTrans" cxnId="{6CC7BC8F-A4DC-3E43-A468-7FE509ECF895}">
      <dgm:prSet/>
      <dgm:spPr/>
      <dgm:t>
        <a:bodyPr/>
        <a:lstStyle/>
        <a:p>
          <a:endParaRPr lang="en-US"/>
        </a:p>
      </dgm:t>
    </dgm:pt>
    <dgm:pt modelId="{99CAAEDC-6392-D343-9A6F-7F5A17C79600}">
      <dgm:prSet/>
      <dgm:spPr/>
      <dgm:t>
        <a:bodyPr/>
        <a:lstStyle/>
        <a:p>
          <a:r>
            <a:rPr lang="en-US" dirty="0"/>
            <a:t>Using non-linear least squares fitting we fit the neutral model to our data to find, finding the probability of dispersal (</a:t>
          </a:r>
          <a:r>
            <a:rPr lang="en-US" i="1" dirty="0"/>
            <a:t>m</a:t>
          </a:r>
          <a:r>
            <a:rPr lang="en-US" dirty="0"/>
            <a:t>)</a:t>
          </a:r>
        </a:p>
      </dgm:t>
    </dgm:pt>
    <dgm:pt modelId="{C17FB67C-707B-D74A-80D6-94F7481B177D}" type="parTrans" cxnId="{850E1FA5-AA48-724C-8558-F11B12C530EE}">
      <dgm:prSet/>
      <dgm:spPr/>
      <dgm:t>
        <a:bodyPr/>
        <a:lstStyle/>
        <a:p>
          <a:endParaRPr lang="en-US"/>
        </a:p>
      </dgm:t>
    </dgm:pt>
    <dgm:pt modelId="{E9E523D2-25B5-CD4B-9629-508B4D79D50B}" type="sibTrans" cxnId="{850E1FA5-AA48-724C-8558-F11B12C530EE}">
      <dgm:prSet/>
      <dgm:spPr/>
      <dgm:t>
        <a:bodyPr/>
        <a:lstStyle/>
        <a:p>
          <a:endParaRPr lang="en-US"/>
        </a:p>
      </dgm:t>
    </dgm:pt>
    <dgm:pt modelId="{7FA26DE3-9601-BF47-AC3A-1976221D9FF7}">
      <dgm:prSet/>
      <dgm:spPr/>
      <dgm:t>
        <a:bodyPr/>
        <a:lstStyle/>
        <a:p>
          <a:r>
            <a:rPr lang="en-US" dirty="0"/>
            <a:t>Using the estimated value of </a:t>
          </a:r>
          <a:r>
            <a:rPr lang="en-US" i="1" dirty="0"/>
            <a:t>m</a:t>
          </a:r>
          <a:r>
            <a:rPr lang="en-US" dirty="0"/>
            <a:t> we calculate predicted occurrence frequencies and plot predictions from the neutral model against observed frequencies</a:t>
          </a:r>
        </a:p>
      </dgm:t>
    </dgm:pt>
    <dgm:pt modelId="{DA997D57-FC54-1543-8E4F-C5A29391F936}" type="parTrans" cxnId="{26E3548D-A542-114A-9949-6B29D19AA1AB}">
      <dgm:prSet/>
      <dgm:spPr/>
      <dgm:t>
        <a:bodyPr/>
        <a:lstStyle/>
        <a:p>
          <a:endParaRPr lang="en-US"/>
        </a:p>
      </dgm:t>
    </dgm:pt>
    <dgm:pt modelId="{6BBB6159-CF03-854D-ADAC-23CBD22E850F}" type="sibTrans" cxnId="{26E3548D-A542-114A-9949-6B29D19AA1AB}">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5" custScaleX="266769">
        <dgm:presLayoutVars>
          <dgm:bulletEnabled val="1"/>
        </dgm:presLayoutVars>
      </dgm:prSet>
      <dgm:spPr/>
    </dgm:pt>
    <dgm:pt modelId="{91DA19BA-A0AB-564A-8A9E-322DF18B64CF}" type="pres">
      <dgm:prSet presAssocID="{30256DA3-2063-6145-A40C-3F213F51F903}" presName="sibTrans" presStyleLbl="sibTrans2D1" presStyleIdx="0" presStyleCnt="4"/>
      <dgm:spPr/>
    </dgm:pt>
    <dgm:pt modelId="{93A03A25-0C23-0B49-A801-B6DF4800FF1C}" type="pres">
      <dgm:prSet presAssocID="{30256DA3-2063-6145-A40C-3F213F51F903}" presName="connectorText" presStyleLbl="sibTrans2D1" presStyleIdx="0" presStyleCnt="4"/>
      <dgm:spPr/>
    </dgm:pt>
    <dgm:pt modelId="{43D2067A-91F6-8745-98BA-D6A10B24950A}" type="pres">
      <dgm:prSet presAssocID="{6D80D72C-DBB2-D94A-BCBD-1B0C1C35E98A}" presName="node" presStyleLbl="node1" presStyleIdx="1" presStyleCnt="5" custScaleX="264923">
        <dgm:presLayoutVars>
          <dgm:bulletEnabled val="1"/>
        </dgm:presLayoutVars>
      </dgm:prSet>
      <dgm:spPr/>
    </dgm:pt>
    <dgm:pt modelId="{D067C965-9057-9C4A-A1D2-4912C14C50F7}" type="pres">
      <dgm:prSet presAssocID="{ECF5917A-5A86-4945-92ED-C3A30B725FE7}" presName="sibTrans" presStyleLbl="sibTrans2D1" presStyleIdx="1" presStyleCnt="4"/>
      <dgm:spPr/>
    </dgm:pt>
    <dgm:pt modelId="{5030DE2C-F3D5-7E44-98C9-D5A5317CA56C}" type="pres">
      <dgm:prSet presAssocID="{ECF5917A-5A86-4945-92ED-C3A30B725FE7}" presName="connectorText" presStyleLbl="sibTrans2D1" presStyleIdx="1" presStyleCnt="4"/>
      <dgm:spPr/>
    </dgm:pt>
    <dgm:pt modelId="{80C05A4E-2A0A-294C-8DDC-052E97D834DA}" type="pres">
      <dgm:prSet presAssocID="{3AAD80AB-86BA-354D-A91B-40CE06269A51}" presName="node" presStyleLbl="node1" presStyleIdx="2" presStyleCnt="5" custScaleX="263077">
        <dgm:presLayoutVars>
          <dgm:bulletEnabled val="1"/>
        </dgm:presLayoutVars>
      </dgm:prSet>
      <dgm:spPr/>
    </dgm:pt>
    <dgm:pt modelId="{B3C2DB7A-EC33-6544-A09D-B1205728770A}" type="pres">
      <dgm:prSet presAssocID="{C215D862-A291-E848-A659-5797AEF6E6A2}" presName="sibTrans" presStyleLbl="sibTrans2D1" presStyleIdx="2" presStyleCnt="4"/>
      <dgm:spPr/>
    </dgm:pt>
    <dgm:pt modelId="{14D2D5CD-E619-2C4C-83EC-B8786FE7D09C}" type="pres">
      <dgm:prSet presAssocID="{C215D862-A291-E848-A659-5797AEF6E6A2}" presName="connectorText" presStyleLbl="sibTrans2D1" presStyleIdx="2" presStyleCnt="4"/>
      <dgm:spPr/>
    </dgm:pt>
    <dgm:pt modelId="{6F6C8E07-FBAD-3F4D-A906-27ECCF26E70E}" type="pres">
      <dgm:prSet presAssocID="{99CAAEDC-6392-D343-9A6F-7F5A17C79600}" presName="node" presStyleLbl="node1" presStyleIdx="3" presStyleCnt="5" custScaleX="262154">
        <dgm:presLayoutVars>
          <dgm:bulletEnabled val="1"/>
        </dgm:presLayoutVars>
      </dgm:prSet>
      <dgm:spPr/>
    </dgm:pt>
    <dgm:pt modelId="{48489AC1-89DA-0F48-B940-23505B5798FF}" type="pres">
      <dgm:prSet presAssocID="{E9E523D2-25B5-CD4B-9629-508B4D79D50B}" presName="sibTrans" presStyleLbl="sibTrans2D1" presStyleIdx="3" presStyleCnt="4"/>
      <dgm:spPr/>
    </dgm:pt>
    <dgm:pt modelId="{3C8009BD-6E6B-AA43-B36E-EB048E42CE59}" type="pres">
      <dgm:prSet presAssocID="{E9E523D2-25B5-CD4B-9629-508B4D79D50B}" presName="connectorText" presStyleLbl="sibTrans2D1" presStyleIdx="3" presStyleCnt="4"/>
      <dgm:spPr/>
    </dgm:pt>
    <dgm:pt modelId="{80377AF5-BC76-FB40-840E-12C9D1BDB641}" type="pres">
      <dgm:prSet presAssocID="{7FA26DE3-9601-BF47-AC3A-1976221D9FF7}" presName="node" presStyleLbl="node1" presStyleIdx="4" presStyleCnt="5" custScaleX="263077">
        <dgm:presLayoutVars>
          <dgm:bulletEnabled val="1"/>
        </dgm:presLayoutVars>
      </dgm:prSet>
      <dgm:spPr/>
    </dgm:pt>
  </dgm:ptLst>
  <dgm:cxnLst>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C16B0C15-CF6C-284A-A383-0640B635E0E2}" type="presOf" srcId="{7FA26DE3-9601-BF47-AC3A-1976221D9FF7}" destId="{80377AF5-BC76-FB40-840E-12C9D1BDB641}"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4E285119-2459-8646-A275-E2ED993B432A}" type="presOf" srcId="{C215D862-A291-E848-A659-5797AEF6E6A2}" destId="{14D2D5CD-E619-2C4C-83EC-B8786FE7D09C}" srcOrd="1" destOrd="0" presId="urn:microsoft.com/office/officeart/2005/8/layout/process2"/>
    <dgm:cxn modelId="{85095E25-989E-8644-8FAC-8BF624EEEE21}" type="presOf" srcId="{C215D862-A291-E848-A659-5797AEF6E6A2}" destId="{B3C2DB7A-EC33-6544-A09D-B1205728770A}"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08CFD367-D1E2-774B-B131-FBDC4B1434F3}" type="presOf" srcId="{E9E523D2-25B5-CD4B-9629-508B4D79D50B}" destId="{3C8009BD-6E6B-AA43-B36E-EB048E42CE59}" srcOrd="1"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26E3548D-A542-114A-9949-6B29D19AA1AB}" srcId="{CB88F0E7-4140-1B4D-A33B-6563FB2E1C23}" destId="{7FA26DE3-9601-BF47-AC3A-1976221D9FF7}" srcOrd="4" destOrd="0" parTransId="{DA997D57-FC54-1543-8E4F-C5A29391F936}" sibTransId="{6BBB6159-CF03-854D-ADAC-23CBD22E850F}"/>
    <dgm:cxn modelId="{6CC7BC8F-A4DC-3E43-A468-7FE509ECF895}" srcId="{CB88F0E7-4140-1B4D-A33B-6563FB2E1C23}" destId="{3AAD80AB-86BA-354D-A91B-40CE06269A51}" srcOrd="2" destOrd="0" parTransId="{3035F67B-CB08-4446-AE7D-48C039F6D2DF}" sibTransId="{C215D862-A291-E848-A659-5797AEF6E6A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0C5B59B5-F8B1-E84F-A770-CFDEED93C193}" type="presOf" srcId="{E9E523D2-25B5-CD4B-9629-508B4D79D50B}" destId="{48489AC1-89DA-0F48-B940-23505B5798FF}" srcOrd="0" destOrd="0" presId="urn:microsoft.com/office/officeart/2005/8/layout/process2"/>
    <dgm:cxn modelId="{4B8D3CDA-C71C-8644-BEF2-25F7C84E26CD}" type="presOf" srcId="{CB88F0E7-4140-1B4D-A33B-6563FB2E1C23}" destId="{55F5C254-F149-8D49-B068-DD2BB6700AB1}"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 modelId="{D858F26B-4C1F-A94D-A8E0-A7E3177794AA}" type="presParOf" srcId="{55F5C254-F149-8D49-B068-DD2BB6700AB1}" destId="{48489AC1-89DA-0F48-B940-23505B5798FF}" srcOrd="7" destOrd="0" presId="urn:microsoft.com/office/officeart/2005/8/layout/process2"/>
    <dgm:cxn modelId="{784D6DCE-95A6-2B43-928C-01BEE8EB9D44}" type="presParOf" srcId="{48489AC1-89DA-0F48-B940-23505B5798FF}" destId="{3C8009BD-6E6B-AA43-B36E-EB048E42CE59}" srcOrd="0" destOrd="0" presId="urn:microsoft.com/office/officeart/2005/8/layout/process2"/>
    <dgm:cxn modelId="{D889FC8E-DA0F-DB4D-B68C-E9542CE782E5}" type="presParOf" srcId="{55F5C254-F149-8D49-B068-DD2BB6700AB1}" destId="{80377AF5-BC76-FB40-840E-12C9D1BDB641}"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6577B4F-8805-7F47-9A82-2379E9B73B62}" type="doc">
      <dgm:prSet loTypeId="urn:microsoft.com/office/officeart/2005/8/layout/orgChart1" loCatId="" qsTypeId="urn:microsoft.com/office/officeart/2005/8/quickstyle/simple1" qsCatId="simple" csTypeId="urn:microsoft.com/office/officeart/2005/8/colors/accent4_1" csCatId="accent4" phldr="1"/>
      <dgm:spPr/>
      <dgm:t>
        <a:bodyPr/>
        <a:lstStyle/>
        <a:p>
          <a:endParaRPr lang="en-US"/>
        </a:p>
      </dgm:t>
    </dgm:pt>
    <dgm:pt modelId="{9F219289-8A31-1148-82D4-265246F22380}">
      <dgm:prSet phldrT="[Text]"/>
      <dgm:spPr>
        <a:solidFill>
          <a:srgbClr val="FFC003"/>
        </a:solidFill>
      </dgm:spPr>
      <dgm:t>
        <a:bodyPr/>
        <a:lstStyle/>
        <a:p>
          <a:r>
            <a:rPr lang="en-US" dirty="0"/>
            <a:t>βNTI</a:t>
          </a:r>
        </a:p>
      </dgm:t>
    </dgm:pt>
    <dgm:pt modelId="{F362B115-4CD8-8B4D-9409-2AFAC68C8D1F}" type="parTrans" cxnId="{4591B814-B223-9141-AC55-85ABD811F7E9}">
      <dgm:prSet/>
      <dgm:spPr/>
      <dgm:t>
        <a:bodyPr/>
        <a:lstStyle/>
        <a:p>
          <a:endParaRPr lang="en-US"/>
        </a:p>
      </dgm:t>
    </dgm:pt>
    <dgm:pt modelId="{7EF8A899-D412-0041-8F9F-A7A14C6F32C7}" type="sibTrans" cxnId="{4591B814-B223-9141-AC55-85ABD811F7E9}">
      <dgm:prSet/>
      <dgm:spPr/>
      <dgm:t>
        <a:bodyPr/>
        <a:lstStyle/>
        <a:p>
          <a:endParaRPr lang="en-US"/>
        </a:p>
      </dgm:t>
    </dgm:pt>
    <dgm:pt modelId="{F2DEA3D8-413E-E445-ADF0-FB442F8477B0}">
      <dgm:prSet phldrT="[Text]"/>
      <dgm:spPr>
        <a:solidFill>
          <a:srgbClr val="FFC003"/>
        </a:solidFill>
      </dgm:spPr>
      <dgm:t>
        <a:bodyPr/>
        <a:lstStyle/>
        <a:p>
          <a:r>
            <a:rPr lang="en-US" dirty="0"/>
            <a:t>&lt; -2</a:t>
          </a:r>
        </a:p>
      </dgm:t>
    </dgm:pt>
    <dgm:pt modelId="{4093BDEC-923F-864F-852B-06048A81EC9F}" type="parTrans" cxnId="{6B0342B9-B648-BC43-AA75-F0389220DD82}">
      <dgm:prSet/>
      <dgm:spPr/>
      <dgm:t>
        <a:bodyPr/>
        <a:lstStyle/>
        <a:p>
          <a:endParaRPr lang="en-US"/>
        </a:p>
      </dgm:t>
    </dgm:pt>
    <dgm:pt modelId="{42279889-3E72-1C48-AD74-87DD02ACDC56}" type="sibTrans" cxnId="{6B0342B9-B648-BC43-AA75-F0389220DD82}">
      <dgm:prSet/>
      <dgm:spPr/>
      <dgm:t>
        <a:bodyPr/>
        <a:lstStyle/>
        <a:p>
          <a:endParaRPr lang="en-US"/>
        </a:p>
      </dgm:t>
    </dgm:pt>
    <dgm:pt modelId="{EA384603-0039-6F45-A265-EDF9A1260AD6}">
      <dgm:prSet phldrT="[Text]"/>
      <dgm:spPr>
        <a:solidFill>
          <a:srgbClr val="FFC003"/>
        </a:solidFill>
      </dgm:spPr>
      <dgm:t>
        <a:bodyPr/>
        <a:lstStyle/>
        <a:p>
          <a:r>
            <a:rPr lang="en-US" dirty="0"/>
            <a:t>&gt; 2</a:t>
          </a:r>
        </a:p>
      </dgm:t>
    </dgm:pt>
    <dgm:pt modelId="{995B1156-958E-9D4A-A7B0-0B8F04E31EC6}" type="parTrans" cxnId="{CC76CFF2-6B95-4B47-8AB4-63AEA2DAA34E}">
      <dgm:prSet/>
      <dgm:spPr/>
      <dgm:t>
        <a:bodyPr/>
        <a:lstStyle/>
        <a:p>
          <a:endParaRPr lang="en-US"/>
        </a:p>
      </dgm:t>
    </dgm:pt>
    <dgm:pt modelId="{D402C9A6-A407-F843-9F39-D99AA757C169}" type="sibTrans" cxnId="{CC76CFF2-6B95-4B47-8AB4-63AEA2DAA34E}">
      <dgm:prSet/>
      <dgm:spPr/>
      <dgm:t>
        <a:bodyPr/>
        <a:lstStyle/>
        <a:p>
          <a:endParaRPr lang="en-US"/>
        </a:p>
      </dgm:t>
    </dgm:pt>
    <dgm:pt modelId="{9DBF051C-8233-FB4D-A0A3-D55F08CCB5BD}">
      <dgm:prSet phldrT="[Text]"/>
      <dgm:spPr>
        <a:solidFill>
          <a:srgbClr val="FFC003"/>
        </a:solidFill>
      </dgm:spPr>
      <dgm:t>
        <a:bodyPr/>
        <a:lstStyle/>
        <a:p>
          <a:r>
            <a:rPr lang="en-US" dirty="0"/>
            <a:t>|βNTI| &lt; 2</a:t>
          </a:r>
        </a:p>
      </dgm:t>
    </dgm:pt>
    <dgm:pt modelId="{707933C0-A3C9-7A45-A47C-79B8ACCA5805}" type="parTrans" cxnId="{129CDAE4-0190-F049-B8AC-B33AC0A2DE7B}">
      <dgm:prSet/>
      <dgm:spPr/>
      <dgm:t>
        <a:bodyPr/>
        <a:lstStyle/>
        <a:p>
          <a:endParaRPr lang="en-US"/>
        </a:p>
      </dgm:t>
    </dgm:pt>
    <dgm:pt modelId="{8FB02D23-FA8E-4843-9D9A-59FF96DFB85B}" type="sibTrans" cxnId="{129CDAE4-0190-F049-B8AC-B33AC0A2DE7B}">
      <dgm:prSet/>
      <dgm:spPr/>
      <dgm:t>
        <a:bodyPr/>
        <a:lstStyle/>
        <a:p>
          <a:endParaRPr lang="en-US"/>
        </a:p>
      </dgm:t>
    </dgm:pt>
    <dgm:pt modelId="{2DE1791E-70DD-F74B-8334-5D40841D4B87}">
      <dgm:prSet/>
      <dgm:spPr>
        <a:solidFill>
          <a:srgbClr val="FFC003"/>
        </a:solidFill>
      </dgm:spPr>
      <dgm:t>
        <a:bodyPr/>
        <a:lstStyle/>
        <a:p>
          <a:r>
            <a:rPr lang="en-US" dirty="0"/>
            <a:t>Homogenizing Selection</a:t>
          </a:r>
        </a:p>
      </dgm:t>
    </dgm:pt>
    <dgm:pt modelId="{C8F7C944-DC05-E546-96BD-3A7E566AF139}" type="parTrans" cxnId="{73D87C48-373A-F44E-ADEB-D4E945740264}">
      <dgm:prSet/>
      <dgm:spPr/>
      <dgm:t>
        <a:bodyPr/>
        <a:lstStyle/>
        <a:p>
          <a:endParaRPr lang="en-US"/>
        </a:p>
      </dgm:t>
    </dgm:pt>
    <dgm:pt modelId="{993608DD-162B-5A4A-9275-D0EFC7914127}" type="sibTrans" cxnId="{73D87C48-373A-F44E-ADEB-D4E945740264}">
      <dgm:prSet/>
      <dgm:spPr/>
      <dgm:t>
        <a:bodyPr/>
        <a:lstStyle/>
        <a:p>
          <a:endParaRPr lang="en-US"/>
        </a:p>
      </dgm:t>
    </dgm:pt>
    <dgm:pt modelId="{F1EB112A-8472-7E4E-ABB4-F90EAFE06B71}">
      <dgm:prSet/>
      <dgm:spPr>
        <a:solidFill>
          <a:srgbClr val="FFC003"/>
        </a:solidFill>
      </dgm:spPr>
      <dgm:t>
        <a:bodyPr/>
        <a:lstStyle/>
        <a:p>
          <a:r>
            <a:rPr lang="en-US" dirty="0"/>
            <a:t>Variable Selection</a:t>
          </a:r>
        </a:p>
      </dgm:t>
    </dgm:pt>
    <dgm:pt modelId="{77467C19-AE36-A642-B0A7-0B5561A0D582}" type="parTrans" cxnId="{1B378008-DA23-7146-AC2B-58AE5A6D9C92}">
      <dgm:prSet/>
      <dgm:spPr/>
      <dgm:t>
        <a:bodyPr/>
        <a:lstStyle/>
        <a:p>
          <a:endParaRPr lang="en-US"/>
        </a:p>
      </dgm:t>
    </dgm:pt>
    <dgm:pt modelId="{CB16C8CE-AECE-F748-A547-B824CBA53E7B}" type="sibTrans" cxnId="{1B378008-DA23-7146-AC2B-58AE5A6D9C92}">
      <dgm:prSet/>
      <dgm:spPr/>
      <dgm:t>
        <a:bodyPr/>
        <a:lstStyle/>
        <a:p>
          <a:endParaRPr lang="en-US"/>
        </a:p>
      </dgm:t>
    </dgm:pt>
    <dgm:pt modelId="{C0896CDA-28ED-324E-8617-E101D2F52AEC}">
      <dgm:prSet/>
      <dgm:spPr>
        <a:solidFill>
          <a:srgbClr val="FFC003"/>
        </a:solidFill>
      </dgm:spPr>
      <dgm:t>
        <a:bodyPr/>
        <a:lstStyle/>
        <a:p>
          <a:r>
            <a:rPr lang="en-US" dirty="0"/>
            <a:t>Stochastic Processes</a:t>
          </a:r>
        </a:p>
      </dgm:t>
    </dgm:pt>
    <dgm:pt modelId="{A6576F62-06B3-2B4B-B613-EEBB9B4ACAE0}" type="parTrans" cxnId="{471294A8-786E-9D48-B025-174649422CA1}">
      <dgm:prSet/>
      <dgm:spPr/>
      <dgm:t>
        <a:bodyPr/>
        <a:lstStyle/>
        <a:p>
          <a:endParaRPr lang="en-US"/>
        </a:p>
      </dgm:t>
    </dgm:pt>
    <dgm:pt modelId="{CEBFEC90-B655-A946-8B9A-9A60C022A3C7}" type="sibTrans" cxnId="{471294A8-786E-9D48-B025-174649422CA1}">
      <dgm:prSet/>
      <dgm:spPr/>
      <dgm:t>
        <a:bodyPr/>
        <a:lstStyle/>
        <a:p>
          <a:endParaRPr lang="en-US"/>
        </a:p>
      </dgm:t>
    </dgm:pt>
    <dgm:pt modelId="{FB12D5D1-C56D-7243-82DA-48CCC92EC674}">
      <dgm:prSet/>
      <dgm:spPr>
        <a:solidFill>
          <a:srgbClr val="5C9BD5"/>
        </a:solidFill>
        <a:ln>
          <a:solidFill>
            <a:schemeClr val="accent1"/>
          </a:solidFill>
        </a:ln>
      </dgm:spPr>
      <dgm:t>
        <a:bodyPr/>
        <a:lstStyle/>
        <a:p>
          <a:r>
            <a:rPr lang="en-US" dirty="0" err="1"/>
            <a:t>Raup</a:t>
          </a:r>
          <a:r>
            <a:rPr lang="en-US" dirty="0"/>
            <a:t>-Crick</a:t>
          </a:r>
        </a:p>
      </dgm:t>
    </dgm:pt>
    <dgm:pt modelId="{A544D4FF-9089-4D46-9611-91F620A4236E}" type="parTrans" cxnId="{00E91DDD-6D75-A24A-9A48-74381ED20914}">
      <dgm:prSet/>
      <dgm:spPr/>
      <dgm:t>
        <a:bodyPr/>
        <a:lstStyle/>
        <a:p>
          <a:endParaRPr lang="en-US"/>
        </a:p>
      </dgm:t>
    </dgm:pt>
    <dgm:pt modelId="{0D766AF6-7D4E-464C-839F-A3210BFCB511}" type="sibTrans" cxnId="{00E91DDD-6D75-A24A-9A48-74381ED20914}">
      <dgm:prSet/>
      <dgm:spPr/>
      <dgm:t>
        <a:bodyPr/>
        <a:lstStyle/>
        <a:p>
          <a:endParaRPr lang="en-US"/>
        </a:p>
      </dgm:t>
    </dgm:pt>
    <dgm:pt modelId="{32FDB694-380F-9E45-8B63-6DAA15DEAF01}">
      <dgm:prSet/>
      <dgm:spPr>
        <a:solidFill>
          <a:srgbClr val="5C9BD5"/>
        </a:solidFill>
        <a:ln>
          <a:solidFill>
            <a:schemeClr val="accent1"/>
          </a:solidFill>
        </a:ln>
      </dgm:spPr>
      <dgm:t>
        <a:bodyPr/>
        <a:lstStyle/>
        <a:p>
          <a:r>
            <a:rPr lang="en-US" dirty="0"/>
            <a:t>&lt; - 0.95</a:t>
          </a:r>
        </a:p>
      </dgm:t>
    </dgm:pt>
    <dgm:pt modelId="{E1F08455-1935-544B-B4BD-C2E10279FCB1}" type="parTrans" cxnId="{F175B1F3-FC5B-284F-811D-25CF08403E40}">
      <dgm:prSet/>
      <dgm:spPr/>
      <dgm:t>
        <a:bodyPr/>
        <a:lstStyle/>
        <a:p>
          <a:endParaRPr lang="en-US"/>
        </a:p>
      </dgm:t>
    </dgm:pt>
    <dgm:pt modelId="{BE9084F2-4653-1145-8721-C888F8DC3006}" type="sibTrans" cxnId="{F175B1F3-FC5B-284F-811D-25CF08403E40}">
      <dgm:prSet/>
      <dgm:spPr/>
      <dgm:t>
        <a:bodyPr/>
        <a:lstStyle/>
        <a:p>
          <a:endParaRPr lang="en-US"/>
        </a:p>
      </dgm:t>
    </dgm:pt>
    <dgm:pt modelId="{CE3287B3-59B6-A841-A8F4-4AA48547EE06}">
      <dgm:prSet/>
      <dgm:spPr>
        <a:solidFill>
          <a:srgbClr val="5C9BD5"/>
        </a:solidFill>
        <a:ln>
          <a:solidFill>
            <a:schemeClr val="accent1"/>
          </a:solidFill>
        </a:ln>
      </dgm:spPr>
      <dgm:t>
        <a:bodyPr/>
        <a:lstStyle/>
        <a:p>
          <a:r>
            <a:rPr lang="en-US" dirty="0"/>
            <a:t>Homogenizing Dispersal</a:t>
          </a:r>
        </a:p>
      </dgm:t>
    </dgm:pt>
    <dgm:pt modelId="{A5323AFE-4A12-624F-B685-FC12976F72DB}" type="parTrans" cxnId="{E94B89E0-58E0-1D4A-AA51-75B168E0A8E0}">
      <dgm:prSet/>
      <dgm:spPr/>
      <dgm:t>
        <a:bodyPr/>
        <a:lstStyle/>
        <a:p>
          <a:endParaRPr lang="en-US"/>
        </a:p>
      </dgm:t>
    </dgm:pt>
    <dgm:pt modelId="{48E67B0B-9CF2-FC4D-86E6-CF9E4161DAA1}" type="sibTrans" cxnId="{E94B89E0-58E0-1D4A-AA51-75B168E0A8E0}">
      <dgm:prSet/>
      <dgm:spPr/>
      <dgm:t>
        <a:bodyPr/>
        <a:lstStyle/>
        <a:p>
          <a:endParaRPr lang="en-US"/>
        </a:p>
      </dgm:t>
    </dgm:pt>
    <dgm:pt modelId="{C7A2A054-3937-A44C-AC27-834C4A416E85}">
      <dgm:prSet/>
      <dgm:spPr>
        <a:solidFill>
          <a:srgbClr val="5C9BD5"/>
        </a:solidFill>
        <a:ln>
          <a:solidFill>
            <a:schemeClr val="accent1"/>
          </a:solidFill>
        </a:ln>
      </dgm:spPr>
      <dgm:t>
        <a:bodyPr/>
        <a:lstStyle/>
        <a:p>
          <a:r>
            <a:rPr lang="en-US" dirty="0"/>
            <a:t>&gt; 0.95</a:t>
          </a:r>
        </a:p>
      </dgm:t>
    </dgm:pt>
    <dgm:pt modelId="{2B62E002-EC79-7B45-BF66-51AB729219E1}" type="parTrans" cxnId="{CD224385-F7C0-0D43-96C7-451704515913}">
      <dgm:prSet/>
      <dgm:spPr/>
      <dgm:t>
        <a:bodyPr/>
        <a:lstStyle/>
        <a:p>
          <a:endParaRPr lang="en-US"/>
        </a:p>
      </dgm:t>
    </dgm:pt>
    <dgm:pt modelId="{83BD9989-2687-B442-891D-1A4A1E4534BC}" type="sibTrans" cxnId="{CD224385-F7C0-0D43-96C7-451704515913}">
      <dgm:prSet/>
      <dgm:spPr/>
      <dgm:t>
        <a:bodyPr/>
        <a:lstStyle/>
        <a:p>
          <a:endParaRPr lang="en-US"/>
        </a:p>
      </dgm:t>
    </dgm:pt>
    <dgm:pt modelId="{89E453BE-3108-F942-BAAC-239B0D444B37}">
      <dgm:prSet/>
      <dgm:spPr>
        <a:solidFill>
          <a:srgbClr val="5C9BD5"/>
        </a:solidFill>
        <a:ln>
          <a:solidFill>
            <a:schemeClr val="accent1"/>
          </a:solidFill>
        </a:ln>
      </dgm:spPr>
      <dgm:t>
        <a:bodyPr/>
        <a:lstStyle/>
        <a:p>
          <a:r>
            <a:rPr lang="en-US" dirty="0"/>
            <a:t>Dispersal Limitation</a:t>
          </a:r>
        </a:p>
      </dgm:t>
    </dgm:pt>
    <dgm:pt modelId="{C1C61CF1-EC99-E940-8ADC-FF8309DADC90}" type="parTrans" cxnId="{192BA078-1274-654B-904E-7CAA00A8C330}">
      <dgm:prSet/>
      <dgm:spPr/>
      <dgm:t>
        <a:bodyPr/>
        <a:lstStyle/>
        <a:p>
          <a:endParaRPr lang="en-US"/>
        </a:p>
      </dgm:t>
    </dgm:pt>
    <dgm:pt modelId="{BA3DE453-79CF-2348-8689-13A5C5C3AF22}" type="sibTrans" cxnId="{192BA078-1274-654B-904E-7CAA00A8C330}">
      <dgm:prSet/>
      <dgm:spPr/>
      <dgm:t>
        <a:bodyPr/>
        <a:lstStyle/>
        <a:p>
          <a:endParaRPr lang="en-US"/>
        </a:p>
      </dgm:t>
    </dgm:pt>
    <dgm:pt modelId="{E915863B-29F3-9645-AAEE-79BFA9C00F1C}">
      <dgm:prSet/>
      <dgm:spPr>
        <a:solidFill>
          <a:srgbClr val="5C9BD5"/>
        </a:solidFill>
        <a:ln>
          <a:solidFill>
            <a:schemeClr val="accent1"/>
          </a:solidFill>
        </a:ln>
      </dgm:spPr>
      <dgm:t>
        <a:bodyPr/>
        <a:lstStyle/>
        <a:p>
          <a:r>
            <a:rPr lang="en-US" dirty="0"/>
            <a:t>|</a:t>
          </a:r>
          <a:r>
            <a:rPr lang="en-US" dirty="0" err="1"/>
            <a:t>Raup</a:t>
          </a:r>
          <a:r>
            <a:rPr lang="en-US" dirty="0"/>
            <a:t>-Crip| &lt; 0.95</a:t>
          </a:r>
        </a:p>
      </dgm:t>
    </dgm:pt>
    <dgm:pt modelId="{FA064C62-8AF7-CA4F-B1A2-B7A7F6123235}" type="parTrans" cxnId="{AA6DD423-23BF-8745-A917-3848066F8D57}">
      <dgm:prSet/>
      <dgm:spPr/>
      <dgm:t>
        <a:bodyPr/>
        <a:lstStyle/>
        <a:p>
          <a:endParaRPr lang="en-US"/>
        </a:p>
      </dgm:t>
    </dgm:pt>
    <dgm:pt modelId="{6F2132A3-6A2E-E647-A567-66B90E99A8EB}" type="sibTrans" cxnId="{AA6DD423-23BF-8745-A917-3848066F8D57}">
      <dgm:prSet/>
      <dgm:spPr/>
      <dgm:t>
        <a:bodyPr/>
        <a:lstStyle/>
        <a:p>
          <a:endParaRPr lang="en-US"/>
        </a:p>
      </dgm:t>
    </dgm:pt>
    <dgm:pt modelId="{F30E8B79-A38B-7D46-BE17-CC6155E89F5A}">
      <dgm:prSet/>
      <dgm:spPr>
        <a:solidFill>
          <a:srgbClr val="5C9BD5"/>
        </a:solidFill>
        <a:ln>
          <a:solidFill>
            <a:schemeClr val="accent1"/>
          </a:solidFill>
        </a:ln>
      </dgm:spPr>
      <dgm:t>
        <a:bodyPr/>
        <a:lstStyle/>
        <a:p>
          <a:r>
            <a:rPr lang="en-US"/>
            <a:t>Ecological Drift or Weak Selection</a:t>
          </a:r>
          <a:endParaRPr lang="en-US" dirty="0"/>
        </a:p>
      </dgm:t>
    </dgm:pt>
    <dgm:pt modelId="{31BFB5A6-5134-CF4A-A047-532A9A37732D}" type="parTrans" cxnId="{E0C54CDC-FA6B-AA40-9E22-83BA7C9C2022}">
      <dgm:prSet/>
      <dgm:spPr/>
      <dgm:t>
        <a:bodyPr/>
        <a:lstStyle/>
        <a:p>
          <a:endParaRPr lang="en-US"/>
        </a:p>
      </dgm:t>
    </dgm:pt>
    <dgm:pt modelId="{CB236E88-32D0-1D41-B41C-649367ADF163}" type="sibTrans" cxnId="{E0C54CDC-FA6B-AA40-9E22-83BA7C9C2022}">
      <dgm:prSet/>
      <dgm:spPr/>
      <dgm:t>
        <a:bodyPr/>
        <a:lstStyle/>
        <a:p>
          <a:endParaRPr lang="en-US"/>
        </a:p>
      </dgm:t>
    </dgm:pt>
    <dgm:pt modelId="{4F0F6BFD-666C-D64A-92A7-2DD64DC71A9A}" type="pres">
      <dgm:prSet presAssocID="{26577B4F-8805-7F47-9A82-2379E9B73B62}" presName="hierChild1" presStyleCnt="0">
        <dgm:presLayoutVars>
          <dgm:orgChart val="1"/>
          <dgm:chPref val="1"/>
          <dgm:dir/>
          <dgm:animOne val="branch"/>
          <dgm:animLvl val="lvl"/>
          <dgm:resizeHandles/>
        </dgm:presLayoutVars>
      </dgm:prSet>
      <dgm:spPr/>
    </dgm:pt>
    <dgm:pt modelId="{261554AA-493B-614B-9A4C-07302A2D4587}" type="pres">
      <dgm:prSet presAssocID="{9F219289-8A31-1148-82D4-265246F22380}" presName="hierRoot1" presStyleCnt="0">
        <dgm:presLayoutVars>
          <dgm:hierBranch val="init"/>
        </dgm:presLayoutVars>
      </dgm:prSet>
      <dgm:spPr/>
    </dgm:pt>
    <dgm:pt modelId="{A6B43CE7-3DC6-AF42-A161-F346571D48AC}" type="pres">
      <dgm:prSet presAssocID="{9F219289-8A31-1148-82D4-265246F22380}" presName="rootComposite1" presStyleCnt="0"/>
      <dgm:spPr/>
    </dgm:pt>
    <dgm:pt modelId="{C1CC36B6-BA4D-A641-B415-0E1EE07590C6}" type="pres">
      <dgm:prSet presAssocID="{9F219289-8A31-1148-82D4-265246F22380}" presName="rootText1" presStyleLbl="node0" presStyleIdx="0" presStyleCnt="1">
        <dgm:presLayoutVars>
          <dgm:chPref val="3"/>
        </dgm:presLayoutVars>
      </dgm:prSet>
      <dgm:spPr/>
    </dgm:pt>
    <dgm:pt modelId="{2403C819-5E8E-174D-B6AF-46EDB55FFADF}" type="pres">
      <dgm:prSet presAssocID="{9F219289-8A31-1148-82D4-265246F22380}" presName="rootConnector1" presStyleLbl="node1" presStyleIdx="0" presStyleCnt="0"/>
      <dgm:spPr/>
    </dgm:pt>
    <dgm:pt modelId="{4B0DF92B-4D0C-F544-956D-23ABA4E21F8F}" type="pres">
      <dgm:prSet presAssocID="{9F219289-8A31-1148-82D4-265246F22380}" presName="hierChild2" presStyleCnt="0"/>
      <dgm:spPr/>
    </dgm:pt>
    <dgm:pt modelId="{C8E42A8B-2C64-9B45-84EC-0C2265CC9A45}" type="pres">
      <dgm:prSet presAssocID="{4093BDEC-923F-864F-852B-06048A81EC9F}" presName="Name37" presStyleLbl="parChTrans1D2" presStyleIdx="0" presStyleCnt="3"/>
      <dgm:spPr/>
    </dgm:pt>
    <dgm:pt modelId="{199D1AFE-14AE-8C4A-818A-220142661603}" type="pres">
      <dgm:prSet presAssocID="{F2DEA3D8-413E-E445-ADF0-FB442F8477B0}" presName="hierRoot2" presStyleCnt="0">
        <dgm:presLayoutVars>
          <dgm:hierBranch val="init"/>
        </dgm:presLayoutVars>
      </dgm:prSet>
      <dgm:spPr/>
    </dgm:pt>
    <dgm:pt modelId="{33E6186C-AB0D-9D4B-A629-CA5BC1D90EAE}" type="pres">
      <dgm:prSet presAssocID="{F2DEA3D8-413E-E445-ADF0-FB442F8477B0}" presName="rootComposite" presStyleCnt="0"/>
      <dgm:spPr/>
    </dgm:pt>
    <dgm:pt modelId="{4A63361A-8AFA-2F4C-90B5-FAD7E6F7A3DD}" type="pres">
      <dgm:prSet presAssocID="{F2DEA3D8-413E-E445-ADF0-FB442F8477B0}" presName="rootText" presStyleLbl="node2" presStyleIdx="0" presStyleCnt="3">
        <dgm:presLayoutVars>
          <dgm:chPref val="3"/>
        </dgm:presLayoutVars>
      </dgm:prSet>
      <dgm:spPr/>
    </dgm:pt>
    <dgm:pt modelId="{1A1A0821-D2B4-BF49-9E6C-78A09FE3CA03}" type="pres">
      <dgm:prSet presAssocID="{F2DEA3D8-413E-E445-ADF0-FB442F8477B0}" presName="rootConnector" presStyleLbl="node2" presStyleIdx="0" presStyleCnt="3"/>
      <dgm:spPr/>
    </dgm:pt>
    <dgm:pt modelId="{CA4BCEB8-BC59-2948-B61B-E9C0116FFDB5}" type="pres">
      <dgm:prSet presAssocID="{F2DEA3D8-413E-E445-ADF0-FB442F8477B0}" presName="hierChild4" presStyleCnt="0"/>
      <dgm:spPr/>
    </dgm:pt>
    <dgm:pt modelId="{A27FEB45-0B57-E047-A4DC-4F93C6AAAF17}" type="pres">
      <dgm:prSet presAssocID="{C8F7C944-DC05-E546-96BD-3A7E566AF139}" presName="Name37" presStyleLbl="parChTrans1D3" presStyleIdx="0" presStyleCnt="3"/>
      <dgm:spPr/>
    </dgm:pt>
    <dgm:pt modelId="{0A66F28E-4B05-8D48-8A41-6F3528948617}" type="pres">
      <dgm:prSet presAssocID="{2DE1791E-70DD-F74B-8334-5D40841D4B87}" presName="hierRoot2" presStyleCnt="0">
        <dgm:presLayoutVars>
          <dgm:hierBranch val="init"/>
        </dgm:presLayoutVars>
      </dgm:prSet>
      <dgm:spPr/>
    </dgm:pt>
    <dgm:pt modelId="{6C1F1AB5-6652-0E4B-86E8-0E4C25AEA87D}" type="pres">
      <dgm:prSet presAssocID="{2DE1791E-70DD-F74B-8334-5D40841D4B87}" presName="rootComposite" presStyleCnt="0"/>
      <dgm:spPr/>
    </dgm:pt>
    <dgm:pt modelId="{1926695E-91AE-0542-B3EC-E69772DC1DC7}" type="pres">
      <dgm:prSet presAssocID="{2DE1791E-70DD-F74B-8334-5D40841D4B87}" presName="rootText" presStyleLbl="node3" presStyleIdx="0" presStyleCnt="3">
        <dgm:presLayoutVars>
          <dgm:chPref val="3"/>
        </dgm:presLayoutVars>
      </dgm:prSet>
      <dgm:spPr/>
    </dgm:pt>
    <dgm:pt modelId="{7D7A67F6-E1EE-5D46-B0BC-8DBED0BBDDAB}" type="pres">
      <dgm:prSet presAssocID="{2DE1791E-70DD-F74B-8334-5D40841D4B87}" presName="rootConnector" presStyleLbl="node3" presStyleIdx="0" presStyleCnt="3"/>
      <dgm:spPr/>
    </dgm:pt>
    <dgm:pt modelId="{BD99CE9E-021A-E44E-9364-30ED7FB845A6}" type="pres">
      <dgm:prSet presAssocID="{2DE1791E-70DD-F74B-8334-5D40841D4B87}" presName="hierChild4" presStyleCnt="0"/>
      <dgm:spPr/>
    </dgm:pt>
    <dgm:pt modelId="{8017A869-85CB-C746-BBE2-446B037E0816}" type="pres">
      <dgm:prSet presAssocID="{2DE1791E-70DD-F74B-8334-5D40841D4B87}" presName="hierChild5" presStyleCnt="0"/>
      <dgm:spPr/>
    </dgm:pt>
    <dgm:pt modelId="{48B6D4BC-C2FC-6444-BDE4-1B73337FA1F1}" type="pres">
      <dgm:prSet presAssocID="{F2DEA3D8-413E-E445-ADF0-FB442F8477B0}" presName="hierChild5" presStyleCnt="0"/>
      <dgm:spPr/>
    </dgm:pt>
    <dgm:pt modelId="{365BD677-2E0D-8648-9D43-610DB8DB5B68}" type="pres">
      <dgm:prSet presAssocID="{995B1156-958E-9D4A-A7B0-0B8F04E31EC6}" presName="Name37" presStyleLbl="parChTrans1D2" presStyleIdx="1" presStyleCnt="3"/>
      <dgm:spPr/>
    </dgm:pt>
    <dgm:pt modelId="{3A7150D0-D931-F046-A2AA-541D72AAB0AF}" type="pres">
      <dgm:prSet presAssocID="{EA384603-0039-6F45-A265-EDF9A1260AD6}" presName="hierRoot2" presStyleCnt="0">
        <dgm:presLayoutVars>
          <dgm:hierBranch val="init"/>
        </dgm:presLayoutVars>
      </dgm:prSet>
      <dgm:spPr/>
    </dgm:pt>
    <dgm:pt modelId="{A808265A-90FD-584B-B161-E71B7931F625}" type="pres">
      <dgm:prSet presAssocID="{EA384603-0039-6F45-A265-EDF9A1260AD6}" presName="rootComposite" presStyleCnt="0"/>
      <dgm:spPr/>
    </dgm:pt>
    <dgm:pt modelId="{5DB92BC0-ECCF-1647-98F2-A4BAD5B73C91}" type="pres">
      <dgm:prSet presAssocID="{EA384603-0039-6F45-A265-EDF9A1260AD6}" presName="rootText" presStyleLbl="node2" presStyleIdx="1" presStyleCnt="3">
        <dgm:presLayoutVars>
          <dgm:chPref val="3"/>
        </dgm:presLayoutVars>
      </dgm:prSet>
      <dgm:spPr/>
    </dgm:pt>
    <dgm:pt modelId="{0B6A0A62-E777-1C43-81F8-3843B5C3CE69}" type="pres">
      <dgm:prSet presAssocID="{EA384603-0039-6F45-A265-EDF9A1260AD6}" presName="rootConnector" presStyleLbl="node2" presStyleIdx="1" presStyleCnt="3"/>
      <dgm:spPr/>
    </dgm:pt>
    <dgm:pt modelId="{DB52A068-81A3-F94F-A1E1-57E3A1F772DB}" type="pres">
      <dgm:prSet presAssocID="{EA384603-0039-6F45-A265-EDF9A1260AD6}" presName="hierChild4" presStyleCnt="0"/>
      <dgm:spPr/>
    </dgm:pt>
    <dgm:pt modelId="{F66987EC-151A-764D-9F5F-DAD13DFA210F}" type="pres">
      <dgm:prSet presAssocID="{77467C19-AE36-A642-B0A7-0B5561A0D582}" presName="Name37" presStyleLbl="parChTrans1D3" presStyleIdx="1" presStyleCnt="3"/>
      <dgm:spPr/>
    </dgm:pt>
    <dgm:pt modelId="{A493CD10-9699-BB4B-9798-9313286E05BF}" type="pres">
      <dgm:prSet presAssocID="{F1EB112A-8472-7E4E-ABB4-F90EAFE06B71}" presName="hierRoot2" presStyleCnt="0">
        <dgm:presLayoutVars>
          <dgm:hierBranch val="init"/>
        </dgm:presLayoutVars>
      </dgm:prSet>
      <dgm:spPr/>
    </dgm:pt>
    <dgm:pt modelId="{12C8081E-BBDD-3E45-BCC4-0D05EC2E1472}" type="pres">
      <dgm:prSet presAssocID="{F1EB112A-8472-7E4E-ABB4-F90EAFE06B71}" presName="rootComposite" presStyleCnt="0"/>
      <dgm:spPr/>
    </dgm:pt>
    <dgm:pt modelId="{6B1FF1C0-13E9-8544-AF41-637E038824D7}" type="pres">
      <dgm:prSet presAssocID="{F1EB112A-8472-7E4E-ABB4-F90EAFE06B71}" presName="rootText" presStyleLbl="node3" presStyleIdx="1" presStyleCnt="3">
        <dgm:presLayoutVars>
          <dgm:chPref val="3"/>
        </dgm:presLayoutVars>
      </dgm:prSet>
      <dgm:spPr/>
    </dgm:pt>
    <dgm:pt modelId="{B6F7D033-73DC-B744-8C8D-E702F004A83C}" type="pres">
      <dgm:prSet presAssocID="{F1EB112A-8472-7E4E-ABB4-F90EAFE06B71}" presName="rootConnector" presStyleLbl="node3" presStyleIdx="1" presStyleCnt="3"/>
      <dgm:spPr/>
    </dgm:pt>
    <dgm:pt modelId="{448780AB-0479-4341-8495-ED186D8A005A}" type="pres">
      <dgm:prSet presAssocID="{F1EB112A-8472-7E4E-ABB4-F90EAFE06B71}" presName="hierChild4" presStyleCnt="0"/>
      <dgm:spPr/>
    </dgm:pt>
    <dgm:pt modelId="{EE70936C-4E5A-4F49-9FA1-40696B4EAAF7}" type="pres">
      <dgm:prSet presAssocID="{F1EB112A-8472-7E4E-ABB4-F90EAFE06B71}" presName="hierChild5" presStyleCnt="0"/>
      <dgm:spPr/>
    </dgm:pt>
    <dgm:pt modelId="{2B6A2B99-719E-C04C-9B8D-094887828A64}" type="pres">
      <dgm:prSet presAssocID="{EA384603-0039-6F45-A265-EDF9A1260AD6}" presName="hierChild5" presStyleCnt="0"/>
      <dgm:spPr/>
    </dgm:pt>
    <dgm:pt modelId="{AF294D60-9B72-9641-80C4-60237BEBC252}" type="pres">
      <dgm:prSet presAssocID="{707933C0-A3C9-7A45-A47C-79B8ACCA5805}" presName="Name37" presStyleLbl="parChTrans1D2" presStyleIdx="2" presStyleCnt="3"/>
      <dgm:spPr/>
    </dgm:pt>
    <dgm:pt modelId="{18F9806C-8688-E24D-92A2-25135D2EE0A7}" type="pres">
      <dgm:prSet presAssocID="{9DBF051C-8233-FB4D-A0A3-D55F08CCB5BD}" presName="hierRoot2" presStyleCnt="0">
        <dgm:presLayoutVars>
          <dgm:hierBranch val="init"/>
        </dgm:presLayoutVars>
      </dgm:prSet>
      <dgm:spPr/>
    </dgm:pt>
    <dgm:pt modelId="{E135D09B-66EE-2646-A510-CACA0FC24D49}" type="pres">
      <dgm:prSet presAssocID="{9DBF051C-8233-FB4D-A0A3-D55F08CCB5BD}" presName="rootComposite" presStyleCnt="0"/>
      <dgm:spPr/>
    </dgm:pt>
    <dgm:pt modelId="{AE62488F-B611-A844-8B8F-FD92D7733871}" type="pres">
      <dgm:prSet presAssocID="{9DBF051C-8233-FB4D-A0A3-D55F08CCB5BD}" presName="rootText" presStyleLbl="node2" presStyleIdx="2" presStyleCnt="3">
        <dgm:presLayoutVars>
          <dgm:chPref val="3"/>
        </dgm:presLayoutVars>
      </dgm:prSet>
      <dgm:spPr/>
    </dgm:pt>
    <dgm:pt modelId="{D5903FDF-A36C-5A4A-84BD-2642D156709B}" type="pres">
      <dgm:prSet presAssocID="{9DBF051C-8233-FB4D-A0A3-D55F08CCB5BD}" presName="rootConnector" presStyleLbl="node2" presStyleIdx="2" presStyleCnt="3"/>
      <dgm:spPr/>
    </dgm:pt>
    <dgm:pt modelId="{890C5310-8245-A946-962C-21B3CD11967F}" type="pres">
      <dgm:prSet presAssocID="{9DBF051C-8233-FB4D-A0A3-D55F08CCB5BD}" presName="hierChild4" presStyleCnt="0"/>
      <dgm:spPr/>
    </dgm:pt>
    <dgm:pt modelId="{46F7C25B-8A6B-9A4C-AEA5-79B511634C22}" type="pres">
      <dgm:prSet presAssocID="{A6576F62-06B3-2B4B-B613-EEBB9B4ACAE0}" presName="Name37" presStyleLbl="parChTrans1D3" presStyleIdx="2" presStyleCnt="3"/>
      <dgm:spPr/>
    </dgm:pt>
    <dgm:pt modelId="{9ECF6CD8-FC09-8642-A83A-F03AE2EBDBC1}" type="pres">
      <dgm:prSet presAssocID="{C0896CDA-28ED-324E-8617-E101D2F52AEC}" presName="hierRoot2" presStyleCnt="0">
        <dgm:presLayoutVars>
          <dgm:hierBranch val="init"/>
        </dgm:presLayoutVars>
      </dgm:prSet>
      <dgm:spPr/>
    </dgm:pt>
    <dgm:pt modelId="{4EDE2DF0-D923-9048-800B-DC5295E37D55}" type="pres">
      <dgm:prSet presAssocID="{C0896CDA-28ED-324E-8617-E101D2F52AEC}" presName="rootComposite" presStyleCnt="0"/>
      <dgm:spPr/>
    </dgm:pt>
    <dgm:pt modelId="{087B432B-A73B-7846-8B5A-25403EDAE7DC}" type="pres">
      <dgm:prSet presAssocID="{C0896CDA-28ED-324E-8617-E101D2F52AEC}" presName="rootText" presStyleLbl="node3" presStyleIdx="2" presStyleCnt="3">
        <dgm:presLayoutVars>
          <dgm:chPref val="3"/>
        </dgm:presLayoutVars>
      </dgm:prSet>
      <dgm:spPr/>
    </dgm:pt>
    <dgm:pt modelId="{10FFFC58-7EA2-F746-B467-E0051543092E}" type="pres">
      <dgm:prSet presAssocID="{C0896CDA-28ED-324E-8617-E101D2F52AEC}" presName="rootConnector" presStyleLbl="node3" presStyleIdx="2" presStyleCnt="3"/>
      <dgm:spPr/>
    </dgm:pt>
    <dgm:pt modelId="{B2F50107-C8CD-9E49-AA2A-90C7E875A119}" type="pres">
      <dgm:prSet presAssocID="{C0896CDA-28ED-324E-8617-E101D2F52AEC}" presName="hierChild4" presStyleCnt="0"/>
      <dgm:spPr/>
    </dgm:pt>
    <dgm:pt modelId="{2F5B253E-CAC3-7C48-A37C-FD28DF4E1921}" type="pres">
      <dgm:prSet presAssocID="{A544D4FF-9089-4D46-9611-91F620A4236E}" presName="Name37" presStyleLbl="parChTrans1D4" presStyleIdx="0" presStyleCnt="7"/>
      <dgm:spPr/>
    </dgm:pt>
    <dgm:pt modelId="{8E926447-DD46-BA49-B9AD-F10B0B6323BE}" type="pres">
      <dgm:prSet presAssocID="{FB12D5D1-C56D-7243-82DA-48CCC92EC674}" presName="hierRoot2" presStyleCnt="0">
        <dgm:presLayoutVars>
          <dgm:hierBranch val="init"/>
        </dgm:presLayoutVars>
      </dgm:prSet>
      <dgm:spPr/>
    </dgm:pt>
    <dgm:pt modelId="{AD465AE8-421C-5A4A-ACD1-9BE97AF73C9B}" type="pres">
      <dgm:prSet presAssocID="{FB12D5D1-C56D-7243-82DA-48CCC92EC674}" presName="rootComposite" presStyleCnt="0"/>
      <dgm:spPr/>
    </dgm:pt>
    <dgm:pt modelId="{955D6E37-AD6C-734D-A59C-17F7C8CCBF6E}" type="pres">
      <dgm:prSet presAssocID="{FB12D5D1-C56D-7243-82DA-48CCC92EC674}" presName="rootText" presStyleLbl="node4" presStyleIdx="0" presStyleCnt="7">
        <dgm:presLayoutVars>
          <dgm:chPref val="3"/>
        </dgm:presLayoutVars>
      </dgm:prSet>
      <dgm:spPr/>
    </dgm:pt>
    <dgm:pt modelId="{D58740E1-516B-CF47-92D9-7387FE462A89}" type="pres">
      <dgm:prSet presAssocID="{FB12D5D1-C56D-7243-82DA-48CCC92EC674}" presName="rootConnector" presStyleLbl="node4" presStyleIdx="0" presStyleCnt="7"/>
      <dgm:spPr/>
    </dgm:pt>
    <dgm:pt modelId="{B23CE2F2-F5E1-AB4B-BCE7-F27260B5CDA1}" type="pres">
      <dgm:prSet presAssocID="{FB12D5D1-C56D-7243-82DA-48CCC92EC674}" presName="hierChild4" presStyleCnt="0"/>
      <dgm:spPr/>
    </dgm:pt>
    <dgm:pt modelId="{28950DD6-701B-604E-A21E-09DDFA200060}" type="pres">
      <dgm:prSet presAssocID="{E1F08455-1935-544B-B4BD-C2E10279FCB1}" presName="Name37" presStyleLbl="parChTrans1D4" presStyleIdx="1" presStyleCnt="7"/>
      <dgm:spPr/>
    </dgm:pt>
    <dgm:pt modelId="{6A1F3F0F-4DAF-7C42-A524-30254598EAA3}" type="pres">
      <dgm:prSet presAssocID="{32FDB694-380F-9E45-8B63-6DAA15DEAF01}" presName="hierRoot2" presStyleCnt="0">
        <dgm:presLayoutVars>
          <dgm:hierBranch val="init"/>
        </dgm:presLayoutVars>
      </dgm:prSet>
      <dgm:spPr/>
    </dgm:pt>
    <dgm:pt modelId="{BDFAA52F-E24B-9A46-8230-F29FF867AD8D}" type="pres">
      <dgm:prSet presAssocID="{32FDB694-380F-9E45-8B63-6DAA15DEAF01}" presName="rootComposite" presStyleCnt="0"/>
      <dgm:spPr/>
    </dgm:pt>
    <dgm:pt modelId="{A8E99C39-923B-884F-AE10-80995E192317}" type="pres">
      <dgm:prSet presAssocID="{32FDB694-380F-9E45-8B63-6DAA15DEAF01}" presName="rootText" presStyleLbl="node4" presStyleIdx="1" presStyleCnt="7">
        <dgm:presLayoutVars>
          <dgm:chPref val="3"/>
        </dgm:presLayoutVars>
      </dgm:prSet>
      <dgm:spPr/>
    </dgm:pt>
    <dgm:pt modelId="{C4EDFE6C-296D-204F-BB4C-E0383AD6462D}" type="pres">
      <dgm:prSet presAssocID="{32FDB694-380F-9E45-8B63-6DAA15DEAF01}" presName="rootConnector" presStyleLbl="node4" presStyleIdx="1" presStyleCnt="7"/>
      <dgm:spPr/>
    </dgm:pt>
    <dgm:pt modelId="{48093C1D-4B04-784E-BBA1-E8742EC1B5D2}" type="pres">
      <dgm:prSet presAssocID="{32FDB694-380F-9E45-8B63-6DAA15DEAF01}" presName="hierChild4" presStyleCnt="0"/>
      <dgm:spPr/>
    </dgm:pt>
    <dgm:pt modelId="{B3BAC4AD-153B-1343-BCE5-6024ABCC6DE8}" type="pres">
      <dgm:prSet presAssocID="{A5323AFE-4A12-624F-B685-FC12976F72DB}" presName="Name37" presStyleLbl="parChTrans1D4" presStyleIdx="2" presStyleCnt="7"/>
      <dgm:spPr/>
    </dgm:pt>
    <dgm:pt modelId="{B530C9B4-A504-D840-B24B-BF0B3A956607}" type="pres">
      <dgm:prSet presAssocID="{CE3287B3-59B6-A841-A8F4-4AA48547EE06}" presName="hierRoot2" presStyleCnt="0">
        <dgm:presLayoutVars>
          <dgm:hierBranch val="init"/>
        </dgm:presLayoutVars>
      </dgm:prSet>
      <dgm:spPr/>
    </dgm:pt>
    <dgm:pt modelId="{EE710273-3FAA-D149-8B8A-D9F0E84BBFD9}" type="pres">
      <dgm:prSet presAssocID="{CE3287B3-59B6-A841-A8F4-4AA48547EE06}" presName="rootComposite" presStyleCnt="0"/>
      <dgm:spPr/>
    </dgm:pt>
    <dgm:pt modelId="{E183F606-1C96-4141-8ACB-48748EBBC1FA}" type="pres">
      <dgm:prSet presAssocID="{CE3287B3-59B6-A841-A8F4-4AA48547EE06}" presName="rootText" presStyleLbl="node4" presStyleIdx="2" presStyleCnt="7">
        <dgm:presLayoutVars>
          <dgm:chPref val="3"/>
        </dgm:presLayoutVars>
      </dgm:prSet>
      <dgm:spPr/>
    </dgm:pt>
    <dgm:pt modelId="{B5477C9E-3996-AF45-86DA-0AAA40C2EC22}" type="pres">
      <dgm:prSet presAssocID="{CE3287B3-59B6-A841-A8F4-4AA48547EE06}" presName="rootConnector" presStyleLbl="node4" presStyleIdx="2" presStyleCnt="7"/>
      <dgm:spPr/>
    </dgm:pt>
    <dgm:pt modelId="{594E86C5-878C-F849-A081-87DFB6B04F56}" type="pres">
      <dgm:prSet presAssocID="{CE3287B3-59B6-A841-A8F4-4AA48547EE06}" presName="hierChild4" presStyleCnt="0"/>
      <dgm:spPr/>
    </dgm:pt>
    <dgm:pt modelId="{057FD28B-4660-5B4C-B994-67C0D305B56D}" type="pres">
      <dgm:prSet presAssocID="{CE3287B3-59B6-A841-A8F4-4AA48547EE06}" presName="hierChild5" presStyleCnt="0"/>
      <dgm:spPr/>
    </dgm:pt>
    <dgm:pt modelId="{C19C0975-458B-C140-9A32-37EEC0E4FD03}" type="pres">
      <dgm:prSet presAssocID="{32FDB694-380F-9E45-8B63-6DAA15DEAF01}" presName="hierChild5" presStyleCnt="0"/>
      <dgm:spPr/>
    </dgm:pt>
    <dgm:pt modelId="{AC91ED32-A1FB-DB46-A178-565D051BB5E5}" type="pres">
      <dgm:prSet presAssocID="{2B62E002-EC79-7B45-BF66-51AB729219E1}" presName="Name37" presStyleLbl="parChTrans1D4" presStyleIdx="3" presStyleCnt="7"/>
      <dgm:spPr/>
    </dgm:pt>
    <dgm:pt modelId="{F4D0DCD9-B9A6-AB41-A457-3AA646F622A7}" type="pres">
      <dgm:prSet presAssocID="{C7A2A054-3937-A44C-AC27-834C4A416E85}" presName="hierRoot2" presStyleCnt="0">
        <dgm:presLayoutVars>
          <dgm:hierBranch val="init"/>
        </dgm:presLayoutVars>
      </dgm:prSet>
      <dgm:spPr/>
    </dgm:pt>
    <dgm:pt modelId="{705D8CF2-94BA-2C43-BC32-8E153DEF2CA4}" type="pres">
      <dgm:prSet presAssocID="{C7A2A054-3937-A44C-AC27-834C4A416E85}" presName="rootComposite" presStyleCnt="0"/>
      <dgm:spPr/>
    </dgm:pt>
    <dgm:pt modelId="{F30CE27B-3103-BF4D-8809-14F89566BA7A}" type="pres">
      <dgm:prSet presAssocID="{C7A2A054-3937-A44C-AC27-834C4A416E85}" presName="rootText" presStyleLbl="node4" presStyleIdx="3" presStyleCnt="7">
        <dgm:presLayoutVars>
          <dgm:chPref val="3"/>
        </dgm:presLayoutVars>
      </dgm:prSet>
      <dgm:spPr/>
    </dgm:pt>
    <dgm:pt modelId="{FE3C1292-2EE9-0D4F-BCCE-255B96D554DE}" type="pres">
      <dgm:prSet presAssocID="{C7A2A054-3937-A44C-AC27-834C4A416E85}" presName="rootConnector" presStyleLbl="node4" presStyleIdx="3" presStyleCnt="7"/>
      <dgm:spPr/>
    </dgm:pt>
    <dgm:pt modelId="{1EBF62AE-4F21-6844-B4BB-460168FEB89F}" type="pres">
      <dgm:prSet presAssocID="{C7A2A054-3937-A44C-AC27-834C4A416E85}" presName="hierChild4" presStyleCnt="0"/>
      <dgm:spPr/>
    </dgm:pt>
    <dgm:pt modelId="{20FCD94B-15CD-C74F-ABCC-2480E9F96D8C}" type="pres">
      <dgm:prSet presAssocID="{C1C61CF1-EC99-E940-8ADC-FF8309DADC90}" presName="Name37" presStyleLbl="parChTrans1D4" presStyleIdx="4" presStyleCnt="7"/>
      <dgm:spPr/>
    </dgm:pt>
    <dgm:pt modelId="{AD6AA469-CC78-F140-92BD-ADB208BE6909}" type="pres">
      <dgm:prSet presAssocID="{89E453BE-3108-F942-BAAC-239B0D444B37}" presName="hierRoot2" presStyleCnt="0">
        <dgm:presLayoutVars>
          <dgm:hierBranch val="init"/>
        </dgm:presLayoutVars>
      </dgm:prSet>
      <dgm:spPr/>
    </dgm:pt>
    <dgm:pt modelId="{618823E6-FBBD-9243-8A4C-ADAF7576E31E}" type="pres">
      <dgm:prSet presAssocID="{89E453BE-3108-F942-BAAC-239B0D444B37}" presName="rootComposite" presStyleCnt="0"/>
      <dgm:spPr/>
    </dgm:pt>
    <dgm:pt modelId="{3141EBE4-0F85-9949-AE3B-CA73549AF9B6}" type="pres">
      <dgm:prSet presAssocID="{89E453BE-3108-F942-BAAC-239B0D444B37}" presName="rootText" presStyleLbl="node4" presStyleIdx="4" presStyleCnt="7">
        <dgm:presLayoutVars>
          <dgm:chPref val="3"/>
        </dgm:presLayoutVars>
      </dgm:prSet>
      <dgm:spPr/>
    </dgm:pt>
    <dgm:pt modelId="{279CDE4C-F739-8E44-87EA-9D73FB6FAAA6}" type="pres">
      <dgm:prSet presAssocID="{89E453BE-3108-F942-BAAC-239B0D444B37}" presName="rootConnector" presStyleLbl="node4" presStyleIdx="4" presStyleCnt="7"/>
      <dgm:spPr/>
    </dgm:pt>
    <dgm:pt modelId="{A05150FF-30ED-0A46-A3CC-DF6198AC0ED8}" type="pres">
      <dgm:prSet presAssocID="{89E453BE-3108-F942-BAAC-239B0D444B37}" presName="hierChild4" presStyleCnt="0"/>
      <dgm:spPr/>
    </dgm:pt>
    <dgm:pt modelId="{2AD65E57-998A-8D43-8C8A-239030E4CC30}" type="pres">
      <dgm:prSet presAssocID="{89E453BE-3108-F942-BAAC-239B0D444B37}" presName="hierChild5" presStyleCnt="0"/>
      <dgm:spPr/>
    </dgm:pt>
    <dgm:pt modelId="{83711FD2-38D5-4645-815A-7182B2C232C7}" type="pres">
      <dgm:prSet presAssocID="{C7A2A054-3937-A44C-AC27-834C4A416E85}" presName="hierChild5" presStyleCnt="0"/>
      <dgm:spPr/>
    </dgm:pt>
    <dgm:pt modelId="{B0318548-0BA3-884A-BC27-61832F8DCC8D}" type="pres">
      <dgm:prSet presAssocID="{FA064C62-8AF7-CA4F-B1A2-B7A7F6123235}" presName="Name37" presStyleLbl="parChTrans1D4" presStyleIdx="5" presStyleCnt="7"/>
      <dgm:spPr/>
    </dgm:pt>
    <dgm:pt modelId="{CEFF4E65-222B-6E42-B136-D7A1C831FF39}" type="pres">
      <dgm:prSet presAssocID="{E915863B-29F3-9645-AAEE-79BFA9C00F1C}" presName="hierRoot2" presStyleCnt="0">
        <dgm:presLayoutVars>
          <dgm:hierBranch val="init"/>
        </dgm:presLayoutVars>
      </dgm:prSet>
      <dgm:spPr/>
    </dgm:pt>
    <dgm:pt modelId="{D646B421-3263-AA46-AA44-55074AA13097}" type="pres">
      <dgm:prSet presAssocID="{E915863B-29F3-9645-AAEE-79BFA9C00F1C}" presName="rootComposite" presStyleCnt="0"/>
      <dgm:spPr/>
    </dgm:pt>
    <dgm:pt modelId="{E58F5466-ED82-8B46-BAD2-35ED1FAACC6A}" type="pres">
      <dgm:prSet presAssocID="{E915863B-29F3-9645-AAEE-79BFA9C00F1C}" presName="rootText" presStyleLbl="node4" presStyleIdx="5" presStyleCnt="7">
        <dgm:presLayoutVars>
          <dgm:chPref val="3"/>
        </dgm:presLayoutVars>
      </dgm:prSet>
      <dgm:spPr/>
    </dgm:pt>
    <dgm:pt modelId="{A71BB2FB-9A2C-BF4C-8A5C-068BA32EDB9C}" type="pres">
      <dgm:prSet presAssocID="{E915863B-29F3-9645-AAEE-79BFA9C00F1C}" presName="rootConnector" presStyleLbl="node4" presStyleIdx="5" presStyleCnt="7"/>
      <dgm:spPr/>
    </dgm:pt>
    <dgm:pt modelId="{8663427C-5532-B046-A239-6EBAF671875E}" type="pres">
      <dgm:prSet presAssocID="{E915863B-29F3-9645-AAEE-79BFA9C00F1C}" presName="hierChild4" presStyleCnt="0"/>
      <dgm:spPr/>
    </dgm:pt>
    <dgm:pt modelId="{27AFB1F9-1B64-0848-BC8B-8BDD4637556A}" type="pres">
      <dgm:prSet presAssocID="{31BFB5A6-5134-CF4A-A047-532A9A37732D}" presName="Name37" presStyleLbl="parChTrans1D4" presStyleIdx="6" presStyleCnt="7"/>
      <dgm:spPr/>
    </dgm:pt>
    <dgm:pt modelId="{694D0BD6-FB70-A242-BD27-374B2AEA0D7D}" type="pres">
      <dgm:prSet presAssocID="{F30E8B79-A38B-7D46-BE17-CC6155E89F5A}" presName="hierRoot2" presStyleCnt="0">
        <dgm:presLayoutVars>
          <dgm:hierBranch val="init"/>
        </dgm:presLayoutVars>
      </dgm:prSet>
      <dgm:spPr/>
    </dgm:pt>
    <dgm:pt modelId="{52BB717A-6B5A-B04C-A22A-1F3A7AAF8109}" type="pres">
      <dgm:prSet presAssocID="{F30E8B79-A38B-7D46-BE17-CC6155E89F5A}" presName="rootComposite" presStyleCnt="0"/>
      <dgm:spPr/>
    </dgm:pt>
    <dgm:pt modelId="{10FD6445-05F3-1740-B3F6-23464BAFFA36}" type="pres">
      <dgm:prSet presAssocID="{F30E8B79-A38B-7D46-BE17-CC6155E89F5A}" presName="rootText" presStyleLbl="node4" presStyleIdx="6" presStyleCnt="7">
        <dgm:presLayoutVars>
          <dgm:chPref val="3"/>
        </dgm:presLayoutVars>
      </dgm:prSet>
      <dgm:spPr/>
    </dgm:pt>
    <dgm:pt modelId="{0D4172C9-A63E-AC47-B10E-553F52D47448}" type="pres">
      <dgm:prSet presAssocID="{F30E8B79-A38B-7D46-BE17-CC6155E89F5A}" presName="rootConnector" presStyleLbl="node4" presStyleIdx="6" presStyleCnt="7"/>
      <dgm:spPr/>
    </dgm:pt>
    <dgm:pt modelId="{11AA4700-4245-6040-8A9C-503FCFDA9651}" type="pres">
      <dgm:prSet presAssocID="{F30E8B79-A38B-7D46-BE17-CC6155E89F5A}" presName="hierChild4" presStyleCnt="0"/>
      <dgm:spPr/>
    </dgm:pt>
    <dgm:pt modelId="{11849661-222B-C244-829C-D3E22E09AFC6}" type="pres">
      <dgm:prSet presAssocID="{F30E8B79-A38B-7D46-BE17-CC6155E89F5A}" presName="hierChild5" presStyleCnt="0"/>
      <dgm:spPr/>
    </dgm:pt>
    <dgm:pt modelId="{D6D66BD3-B101-5443-BC65-7597D4057AB4}" type="pres">
      <dgm:prSet presAssocID="{E915863B-29F3-9645-AAEE-79BFA9C00F1C}" presName="hierChild5" presStyleCnt="0"/>
      <dgm:spPr/>
    </dgm:pt>
    <dgm:pt modelId="{895F966E-A273-DD48-993A-9AA8DD8C029E}" type="pres">
      <dgm:prSet presAssocID="{FB12D5D1-C56D-7243-82DA-48CCC92EC674}" presName="hierChild5" presStyleCnt="0"/>
      <dgm:spPr/>
    </dgm:pt>
    <dgm:pt modelId="{3A14CBD8-4AFF-BC44-B8F9-B648C9898142}" type="pres">
      <dgm:prSet presAssocID="{C0896CDA-28ED-324E-8617-E101D2F52AEC}" presName="hierChild5" presStyleCnt="0"/>
      <dgm:spPr/>
    </dgm:pt>
    <dgm:pt modelId="{92778392-B540-AB42-967F-E79FFA8A97F7}" type="pres">
      <dgm:prSet presAssocID="{9DBF051C-8233-FB4D-A0A3-D55F08CCB5BD}" presName="hierChild5" presStyleCnt="0"/>
      <dgm:spPr/>
    </dgm:pt>
    <dgm:pt modelId="{83603B0B-CCEB-6C4F-875F-951BF6E30502}" type="pres">
      <dgm:prSet presAssocID="{9F219289-8A31-1148-82D4-265246F22380}" presName="hierChild3" presStyleCnt="0"/>
      <dgm:spPr/>
    </dgm:pt>
  </dgm:ptLst>
  <dgm:cxnLst>
    <dgm:cxn modelId="{9B65B700-46DB-E543-9AE0-E5986BFFBA7B}" type="presOf" srcId="{F30E8B79-A38B-7D46-BE17-CC6155E89F5A}" destId="{10FD6445-05F3-1740-B3F6-23464BAFFA36}" srcOrd="0" destOrd="0" presId="urn:microsoft.com/office/officeart/2005/8/layout/orgChart1"/>
    <dgm:cxn modelId="{1A18CD02-58D0-1549-91D8-2EDD53BF2FA1}" type="presOf" srcId="{F1EB112A-8472-7E4E-ABB4-F90EAFE06B71}" destId="{6B1FF1C0-13E9-8544-AF41-637E038824D7}" srcOrd="0" destOrd="0" presId="urn:microsoft.com/office/officeart/2005/8/layout/orgChart1"/>
    <dgm:cxn modelId="{1B378008-DA23-7146-AC2B-58AE5A6D9C92}" srcId="{EA384603-0039-6F45-A265-EDF9A1260AD6}" destId="{F1EB112A-8472-7E4E-ABB4-F90EAFE06B71}" srcOrd="0" destOrd="0" parTransId="{77467C19-AE36-A642-B0A7-0B5561A0D582}" sibTransId="{CB16C8CE-AECE-F748-A547-B824CBA53E7B}"/>
    <dgm:cxn modelId="{0C5ACA08-2632-CA44-BE5D-82E856A86922}" type="presOf" srcId="{89E453BE-3108-F942-BAAC-239B0D444B37}" destId="{3141EBE4-0F85-9949-AE3B-CA73549AF9B6}" srcOrd="0" destOrd="0" presId="urn:microsoft.com/office/officeart/2005/8/layout/orgChart1"/>
    <dgm:cxn modelId="{33EFFD0A-D120-8345-8AE4-87873BDB8790}" type="presOf" srcId="{9F219289-8A31-1148-82D4-265246F22380}" destId="{2403C819-5E8E-174D-B6AF-46EDB55FFADF}" srcOrd="1" destOrd="0" presId="urn:microsoft.com/office/officeart/2005/8/layout/orgChart1"/>
    <dgm:cxn modelId="{4591B814-B223-9141-AC55-85ABD811F7E9}" srcId="{26577B4F-8805-7F47-9A82-2379E9B73B62}" destId="{9F219289-8A31-1148-82D4-265246F22380}" srcOrd="0" destOrd="0" parTransId="{F362B115-4CD8-8B4D-9409-2AFAC68C8D1F}" sibTransId="{7EF8A899-D412-0041-8F9F-A7A14C6F32C7}"/>
    <dgm:cxn modelId="{0A571F18-F7DC-B644-9C6A-2F7079EC7970}" type="presOf" srcId="{E915863B-29F3-9645-AAEE-79BFA9C00F1C}" destId="{E58F5466-ED82-8B46-BAD2-35ED1FAACC6A}" srcOrd="0" destOrd="0" presId="urn:microsoft.com/office/officeart/2005/8/layout/orgChart1"/>
    <dgm:cxn modelId="{69A4A41F-401B-244E-BBDB-391F0B494E37}" type="presOf" srcId="{F2DEA3D8-413E-E445-ADF0-FB442F8477B0}" destId="{1A1A0821-D2B4-BF49-9E6C-78A09FE3CA03}" srcOrd="1" destOrd="0" presId="urn:microsoft.com/office/officeart/2005/8/layout/orgChart1"/>
    <dgm:cxn modelId="{AA6DD423-23BF-8745-A917-3848066F8D57}" srcId="{FB12D5D1-C56D-7243-82DA-48CCC92EC674}" destId="{E915863B-29F3-9645-AAEE-79BFA9C00F1C}" srcOrd="2" destOrd="0" parTransId="{FA064C62-8AF7-CA4F-B1A2-B7A7F6123235}" sibTransId="{6F2132A3-6A2E-E647-A567-66B90E99A8EB}"/>
    <dgm:cxn modelId="{303E3A28-B01B-3B40-9870-F6076CE6C42B}" type="presOf" srcId="{C7A2A054-3937-A44C-AC27-834C4A416E85}" destId="{F30CE27B-3103-BF4D-8809-14F89566BA7A}" srcOrd="0" destOrd="0" presId="urn:microsoft.com/office/officeart/2005/8/layout/orgChart1"/>
    <dgm:cxn modelId="{DC582629-F8F9-DF46-9FE5-B9EE12CB80CD}" type="presOf" srcId="{707933C0-A3C9-7A45-A47C-79B8ACCA5805}" destId="{AF294D60-9B72-9641-80C4-60237BEBC252}" srcOrd="0" destOrd="0" presId="urn:microsoft.com/office/officeart/2005/8/layout/orgChart1"/>
    <dgm:cxn modelId="{65BA0B2C-09BA-414E-9802-81CB2EDC4D2B}" type="presOf" srcId="{C1C61CF1-EC99-E940-8ADC-FF8309DADC90}" destId="{20FCD94B-15CD-C74F-ABCC-2480E9F96D8C}" srcOrd="0" destOrd="0" presId="urn:microsoft.com/office/officeart/2005/8/layout/orgChart1"/>
    <dgm:cxn modelId="{1362EC2E-D594-EF45-9664-68DDB098258D}" type="presOf" srcId="{EA384603-0039-6F45-A265-EDF9A1260AD6}" destId="{0B6A0A62-E777-1C43-81F8-3843B5C3CE69}" srcOrd="1" destOrd="0" presId="urn:microsoft.com/office/officeart/2005/8/layout/orgChart1"/>
    <dgm:cxn modelId="{FEE31E40-1BEC-B541-B3E4-9FADB60857F2}" type="presOf" srcId="{2B62E002-EC79-7B45-BF66-51AB729219E1}" destId="{AC91ED32-A1FB-DB46-A178-565D051BB5E5}" srcOrd="0" destOrd="0" presId="urn:microsoft.com/office/officeart/2005/8/layout/orgChart1"/>
    <dgm:cxn modelId="{73D87C48-373A-F44E-ADEB-D4E945740264}" srcId="{F2DEA3D8-413E-E445-ADF0-FB442F8477B0}" destId="{2DE1791E-70DD-F74B-8334-5D40841D4B87}" srcOrd="0" destOrd="0" parTransId="{C8F7C944-DC05-E546-96BD-3A7E566AF139}" sibTransId="{993608DD-162B-5A4A-9275-D0EFC7914127}"/>
    <dgm:cxn modelId="{35868C59-70F4-5B4B-AD5D-AEC6262BAA0A}" type="presOf" srcId="{9DBF051C-8233-FB4D-A0A3-D55F08CCB5BD}" destId="{D5903FDF-A36C-5A4A-84BD-2642D156709B}" srcOrd="1" destOrd="0" presId="urn:microsoft.com/office/officeart/2005/8/layout/orgChart1"/>
    <dgm:cxn modelId="{1A343B5A-BB1F-9B47-9B31-3951DCBBE1ED}" type="presOf" srcId="{A6576F62-06B3-2B4B-B613-EEBB9B4ACAE0}" destId="{46F7C25B-8A6B-9A4C-AEA5-79B511634C22}" srcOrd="0" destOrd="0" presId="urn:microsoft.com/office/officeart/2005/8/layout/orgChart1"/>
    <dgm:cxn modelId="{4BEC895C-242C-C243-9EE7-BCCC6A8AFCBD}" type="presOf" srcId="{9F219289-8A31-1148-82D4-265246F22380}" destId="{C1CC36B6-BA4D-A641-B415-0E1EE07590C6}" srcOrd="0" destOrd="0" presId="urn:microsoft.com/office/officeart/2005/8/layout/orgChart1"/>
    <dgm:cxn modelId="{5C5ACA5D-57E5-5540-80BC-F4DC00F7255D}" type="presOf" srcId="{F1EB112A-8472-7E4E-ABB4-F90EAFE06B71}" destId="{B6F7D033-73DC-B744-8C8D-E702F004A83C}" srcOrd="1" destOrd="0" presId="urn:microsoft.com/office/officeart/2005/8/layout/orgChart1"/>
    <dgm:cxn modelId="{664CED63-83BD-AE44-AF30-60D65C1AF02B}" type="presOf" srcId="{E1F08455-1935-544B-B4BD-C2E10279FCB1}" destId="{28950DD6-701B-604E-A21E-09DDFA200060}" srcOrd="0" destOrd="0" presId="urn:microsoft.com/office/officeart/2005/8/layout/orgChart1"/>
    <dgm:cxn modelId="{9C33D868-A727-AA41-B3A7-93CB2EBC899C}" type="presOf" srcId="{E915863B-29F3-9645-AAEE-79BFA9C00F1C}" destId="{A71BB2FB-9A2C-BF4C-8A5C-068BA32EDB9C}" srcOrd="1" destOrd="0" presId="urn:microsoft.com/office/officeart/2005/8/layout/orgChart1"/>
    <dgm:cxn modelId="{2FDE8069-B5E9-EF45-A948-D88D0A2F30C9}" type="presOf" srcId="{4093BDEC-923F-864F-852B-06048A81EC9F}" destId="{C8E42A8B-2C64-9B45-84EC-0C2265CC9A45}" srcOrd="0" destOrd="0" presId="urn:microsoft.com/office/officeart/2005/8/layout/orgChart1"/>
    <dgm:cxn modelId="{3FA3A06D-54F5-7541-BB5F-0B363C4B81C6}" type="presOf" srcId="{2DE1791E-70DD-F74B-8334-5D40841D4B87}" destId="{1926695E-91AE-0542-B3EC-E69772DC1DC7}" srcOrd="0" destOrd="0" presId="urn:microsoft.com/office/officeart/2005/8/layout/orgChart1"/>
    <dgm:cxn modelId="{4A6A146E-87CE-8A40-B5B5-8DC8D321D760}" type="presOf" srcId="{FA064C62-8AF7-CA4F-B1A2-B7A7F6123235}" destId="{B0318548-0BA3-884A-BC27-61832F8DCC8D}" srcOrd="0" destOrd="0" presId="urn:microsoft.com/office/officeart/2005/8/layout/orgChart1"/>
    <dgm:cxn modelId="{59613078-CEBF-FD42-AE6A-BAF016044017}" type="presOf" srcId="{EA384603-0039-6F45-A265-EDF9A1260AD6}" destId="{5DB92BC0-ECCF-1647-98F2-A4BAD5B73C91}" srcOrd="0" destOrd="0" presId="urn:microsoft.com/office/officeart/2005/8/layout/orgChart1"/>
    <dgm:cxn modelId="{192BA078-1274-654B-904E-7CAA00A8C330}" srcId="{C7A2A054-3937-A44C-AC27-834C4A416E85}" destId="{89E453BE-3108-F942-BAAC-239B0D444B37}" srcOrd="0" destOrd="0" parTransId="{C1C61CF1-EC99-E940-8ADC-FF8309DADC90}" sibTransId="{BA3DE453-79CF-2348-8689-13A5C5C3AF22}"/>
    <dgm:cxn modelId="{92836181-FFB6-E042-8DC1-83768466D7F3}" type="presOf" srcId="{31BFB5A6-5134-CF4A-A047-532A9A37732D}" destId="{27AFB1F9-1B64-0848-BC8B-8BDD4637556A}" srcOrd="0" destOrd="0" presId="urn:microsoft.com/office/officeart/2005/8/layout/orgChart1"/>
    <dgm:cxn modelId="{CD224385-F7C0-0D43-96C7-451704515913}" srcId="{FB12D5D1-C56D-7243-82DA-48CCC92EC674}" destId="{C7A2A054-3937-A44C-AC27-834C4A416E85}" srcOrd="1" destOrd="0" parTransId="{2B62E002-EC79-7B45-BF66-51AB729219E1}" sibTransId="{83BD9989-2687-B442-891D-1A4A1E4534BC}"/>
    <dgm:cxn modelId="{FDC18F89-0525-0743-A619-219EC6CC3A69}" type="presOf" srcId="{F2DEA3D8-413E-E445-ADF0-FB442F8477B0}" destId="{4A63361A-8AFA-2F4C-90B5-FAD7E6F7A3DD}" srcOrd="0" destOrd="0" presId="urn:microsoft.com/office/officeart/2005/8/layout/orgChart1"/>
    <dgm:cxn modelId="{C55B7B8B-052D-7549-ADA2-DC721D736343}" type="presOf" srcId="{32FDB694-380F-9E45-8B63-6DAA15DEAF01}" destId="{C4EDFE6C-296D-204F-BB4C-E0383AD6462D}" srcOrd="1" destOrd="0" presId="urn:microsoft.com/office/officeart/2005/8/layout/orgChart1"/>
    <dgm:cxn modelId="{90E90690-9A6D-8946-83FB-C395C3C70B60}" type="presOf" srcId="{F30E8B79-A38B-7D46-BE17-CC6155E89F5A}" destId="{0D4172C9-A63E-AC47-B10E-553F52D47448}" srcOrd="1" destOrd="0" presId="urn:microsoft.com/office/officeart/2005/8/layout/orgChart1"/>
    <dgm:cxn modelId="{066C0790-84C6-8C49-8D86-0CF769EA24C7}" type="presOf" srcId="{26577B4F-8805-7F47-9A82-2379E9B73B62}" destId="{4F0F6BFD-666C-D64A-92A7-2DD64DC71A9A}" srcOrd="0" destOrd="0" presId="urn:microsoft.com/office/officeart/2005/8/layout/orgChart1"/>
    <dgm:cxn modelId="{16218590-6F32-0448-8DC2-8016C6BF44DD}" type="presOf" srcId="{C0896CDA-28ED-324E-8617-E101D2F52AEC}" destId="{087B432B-A73B-7846-8B5A-25403EDAE7DC}" srcOrd="0" destOrd="0" presId="urn:microsoft.com/office/officeart/2005/8/layout/orgChart1"/>
    <dgm:cxn modelId="{AC0D5E96-AB61-8A43-95EC-1BA1D54EAC52}" type="presOf" srcId="{32FDB694-380F-9E45-8B63-6DAA15DEAF01}" destId="{A8E99C39-923B-884F-AE10-80995E192317}" srcOrd="0" destOrd="0" presId="urn:microsoft.com/office/officeart/2005/8/layout/orgChart1"/>
    <dgm:cxn modelId="{BDB41498-4666-C042-AC52-B16CA384674A}" type="presOf" srcId="{CE3287B3-59B6-A841-A8F4-4AA48547EE06}" destId="{E183F606-1C96-4141-8ACB-48748EBBC1FA}" srcOrd="0" destOrd="0" presId="urn:microsoft.com/office/officeart/2005/8/layout/orgChart1"/>
    <dgm:cxn modelId="{EE234999-E521-0048-8907-EA9E41C10C82}" type="presOf" srcId="{995B1156-958E-9D4A-A7B0-0B8F04E31EC6}" destId="{365BD677-2E0D-8648-9D43-610DB8DB5B68}" srcOrd="0" destOrd="0" presId="urn:microsoft.com/office/officeart/2005/8/layout/orgChart1"/>
    <dgm:cxn modelId="{92E942A1-F47E-7741-9D54-98B3A3797C75}" type="presOf" srcId="{2DE1791E-70DD-F74B-8334-5D40841D4B87}" destId="{7D7A67F6-E1EE-5D46-B0BC-8DBED0BBDDAB}" srcOrd="1" destOrd="0" presId="urn:microsoft.com/office/officeart/2005/8/layout/orgChart1"/>
    <dgm:cxn modelId="{9D941DA2-21BA-0E42-965B-047CFAE7F9C1}" type="presOf" srcId="{FB12D5D1-C56D-7243-82DA-48CCC92EC674}" destId="{D58740E1-516B-CF47-92D9-7387FE462A89}" srcOrd="1" destOrd="0" presId="urn:microsoft.com/office/officeart/2005/8/layout/orgChart1"/>
    <dgm:cxn modelId="{471294A8-786E-9D48-B025-174649422CA1}" srcId="{9DBF051C-8233-FB4D-A0A3-D55F08CCB5BD}" destId="{C0896CDA-28ED-324E-8617-E101D2F52AEC}" srcOrd="0" destOrd="0" parTransId="{A6576F62-06B3-2B4B-B613-EEBB9B4ACAE0}" sibTransId="{CEBFEC90-B655-A946-8B9A-9A60C022A3C7}"/>
    <dgm:cxn modelId="{9F280FA9-9008-FB48-A585-C82D5E092074}" type="presOf" srcId="{C0896CDA-28ED-324E-8617-E101D2F52AEC}" destId="{10FFFC58-7EA2-F746-B467-E0051543092E}" srcOrd="1" destOrd="0" presId="urn:microsoft.com/office/officeart/2005/8/layout/orgChart1"/>
    <dgm:cxn modelId="{A1A476B1-971A-C34E-A8A0-171C7DA6A9E0}" type="presOf" srcId="{A5323AFE-4A12-624F-B685-FC12976F72DB}" destId="{B3BAC4AD-153B-1343-BCE5-6024ABCC6DE8}" srcOrd="0" destOrd="0" presId="urn:microsoft.com/office/officeart/2005/8/layout/orgChart1"/>
    <dgm:cxn modelId="{31D78BB7-2F9B-924D-840E-8B407BB4B22D}" type="presOf" srcId="{A544D4FF-9089-4D46-9611-91F620A4236E}" destId="{2F5B253E-CAC3-7C48-A37C-FD28DF4E1921}" srcOrd="0" destOrd="0" presId="urn:microsoft.com/office/officeart/2005/8/layout/orgChart1"/>
    <dgm:cxn modelId="{6B0342B9-B648-BC43-AA75-F0389220DD82}" srcId="{9F219289-8A31-1148-82D4-265246F22380}" destId="{F2DEA3D8-413E-E445-ADF0-FB442F8477B0}" srcOrd="0" destOrd="0" parTransId="{4093BDEC-923F-864F-852B-06048A81EC9F}" sibTransId="{42279889-3E72-1C48-AD74-87DD02ACDC56}"/>
    <dgm:cxn modelId="{B4DC7CC4-4154-1A46-BE32-93EFB4D57151}" type="presOf" srcId="{C8F7C944-DC05-E546-96BD-3A7E566AF139}" destId="{A27FEB45-0B57-E047-A4DC-4F93C6AAAF17}" srcOrd="0" destOrd="0" presId="urn:microsoft.com/office/officeart/2005/8/layout/orgChart1"/>
    <dgm:cxn modelId="{72C3E4C4-DDDD-084B-AAEA-5D802E0D1FA0}" type="presOf" srcId="{9DBF051C-8233-FB4D-A0A3-D55F08CCB5BD}" destId="{AE62488F-B611-A844-8B8F-FD92D7733871}" srcOrd="0" destOrd="0" presId="urn:microsoft.com/office/officeart/2005/8/layout/orgChart1"/>
    <dgm:cxn modelId="{8206DACA-DF13-0E4E-9ADC-481BFABB8D66}" type="presOf" srcId="{FB12D5D1-C56D-7243-82DA-48CCC92EC674}" destId="{955D6E37-AD6C-734D-A59C-17F7C8CCBF6E}" srcOrd="0" destOrd="0" presId="urn:microsoft.com/office/officeart/2005/8/layout/orgChart1"/>
    <dgm:cxn modelId="{D4B786CE-FB68-3A47-B6B9-B4671CEB0D45}" type="presOf" srcId="{89E453BE-3108-F942-BAAC-239B0D444B37}" destId="{279CDE4C-F739-8E44-87EA-9D73FB6FAAA6}" srcOrd="1" destOrd="0" presId="urn:microsoft.com/office/officeart/2005/8/layout/orgChart1"/>
    <dgm:cxn modelId="{F83464D0-8579-F945-807F-0050E49F8A94}" type="presOf" srcId="{77467C19-AE36-A642-B0A7-0B5561A0D582}" destId="{F66987EC-151A-764D-9F5F-DAD13DFA210F}" srcOrd="0" destOrd="0" presId="urn:microsoft.com/office/officeart/2005/8/layout/orgChart1"/>
    <dgm:cxn modelId="{E0C54CDC-FA6B-AA40-9E22-83BA7C9C2022}" srcId="{E915863B-29F3-9645-AAEE-79BFA9C00F1C}" destId="{F30E8B79-A38B-7D46-BE17-CC6155E89F5A}" srcOrd="0" destOrd="0" parTransId="{31BFB5A6-5134-CF4A-A047-532A9A37732D}" sibTransId="{CB236E88-32D0-1D41-B41C-649367ADF163}"/>
    <dgm:cxn modelId="{00E91DDD-6D75-A24A-9A48-74381ED20914}" srcId="{C0896CDA-28ED-324E-8617-E101D2F52AEC}" destId="{FB12D5D1-C56D-7243-82DA-48CCC92EC674}" srcOrd="0" destOrd="0" parTransId="{A544D4FF-9089-4D46-9611-91F620A4236E}" sibTransId="{0D766AF6-7D4E-464C-839F-A3210BFCB511}"/>
    <dgm:cxn modelId="{E94B89E0-58E0-1D4A-AA51-75B168E0A8E0}" srcId="{32FDB694-380F-9E45-8B63-6DAA15DEAF01}" destId="{CE3287B3-59B6-A841-A8F4-4AA48547EE06}" srcOrd="0" destOrd="0" parTransId="{A5323AFE-4A12-624F-B685-FC12976F72DB}" sibTransId="{48E67B0B-9CF2-FC4D-86E6-CF9E4161DAA1}"/>
    <dgm:cxn modelId="{129CDAE4-0190-F049-B8AC-B33AC0A2DE7B}" srcId="{9F219289-8A31-1148-82D4-265246F22380}" destId="{9DBF051C-8233-FB4D-A0A3-D55F08CCB5BD}" srcOrd="2" destOrd="0" parTransId="{707933C0-A3C9-7A45-A47C-79B8ACCA5805}" sibTransId="{8FB02D23-FA8E-4843-9D9A-59FF96DFB85B}"/>
    <dgm:cxn modelId="{CD3D51EE-0A0C-9449-B8AA-43A2CD0B201A}" type="presOf" srcId="{C7A2A054-3937-A44C-AC27-834C4A416E85}" destId="{FE3C1292-2EE9-0D4F-BCCE-255B96D554DE}" srcOrd="1" destOrd="0" presId="urn:microsoft.com/office/officeart/2005/8/layout/orgChart1"/>
    <dgm:cxn modelId="{AD42F3EF-56D9-A94D-A79A-1B2417FA2241}" type="presOf" srcId="{CE3287B3-59B6-A841-A8F4-4AA48547EE06}" destId="{B5477C9E-3996-AF45-86DA-0AAA40C2EC22}" srcOrd="1" destOrd="0" presId="urn:microsoft.com/office/officeart/2005/8/layout/orgChart1"/>
    <dgm:cxn modelId="{CC76CFF2-6B95-4B47-8AB4-63AEA2DAA34E}" srcId="{9F219289-8A31-1148-82D4-265246F22380}" destId="{EA384603-0039-6F45-A265-EDF9A1260AD6}" srcOrd="1" destOrd="0" parTransId="{995B1156-958E-9D4A-A7B0-0B8F04E31EC6}" sibTransId="{D402C9A6-A407-F843-9F39-D99AA757C169}"/>
    <dgm:cxn modelId="{F175B1F3-FC5B-284F-811D-25CF08403E40}" srcId="{FB12D5D1-C56D-7243-82DA-48CCC92EC674}" destId="{32FDB694-380F-9E45-8B63-6DAA15DEAF01}" srcOrd="0" destOrd="0" parTransId="{E1F08455-1935-544B-B4BD-C2E10279FCB1}" sibTransId="{BE9084F2-4653-1145-8721-C888F8DC3006}"/>
    <dgm:cxn modelId="{9BCB9EBB-1A01-624A-9714-4EA5022D2A38}" type="presParOf" srcId="{4F0F6BFD-666C-D64A-92A7-2DD64DC71A9A}" destId="{261554AA-493B-614B-9A4C-07302A2D4587}" srcOrd="0" destOrd="0" presId="urn:microsoft.com/office/officeart/2005/8/layout/orgChart1"/>
    <dgm:cxn modelId="{0454B525-96B0-E14C-8063-A96E8E4D7F36}" type="presParOf" srcId="{261554AA-493B-614B-9A4C-07302A2D4587}" destId="{A6B43CE7-3DC6-AF42-A161-F346571D48AC}" srcOrd="0" destOrd="0" presId="urn:microsoft.com/office/officeart/2005/8/layout/orgChart1"/>
    <dgm:cxn modelId="{C4F61C49-36A3-1744-94F8-F3D344536AC0}" type="presParOf" srcId="{A6B43CE7-3DC6-AF42-A161-F346571D48AC}" destId="{C1CC36B6-BA4D-A641-B415-0E1EE07590C6}" srcOrd="0" destOrd="0" presId="urn:microsoft.com/office/officeart/2005/8/layout/orgChart1"/>
    <dgm:cxn modelId="{97F7A8A7-24E7-9C4F-8F78-9DADB39DE37F}" type="presParOf" srcId="{A6B43CE7-3DC6-AF42-A161-F346571D48AC}" destId="{2403C819-5E8E-174D-B6AF-46EDB55FFADF}" srcOrd="1" destOrd="0" presId="urn:microsoft.com/office/officeart/2005/8/layout/orgChart1"/>
    <dgm:cxn modelId="{5EB316E6-7A90-324F-8815-35D0F9155D55}" type="presParOf" srcId="{261554AA-493B-614B-9A4C-07302A2D4587}" destId="{4B0DF92B-4D0C-F544-956D-23ABA4E21F8F}" srcOrd="1" destOrd="0" presId="urn:microsoft.com/office/officeart/2005/8/layout/orgChart1"/>
    <dgm:cxn modelId="{AD9043EA-278A-4845-83CE-390D3CD3BCCF}" type="presParOf" srcId="{4B0DF92B-4D0C-F544-956D-23ABA4E21F8F}" destId="{C8E42A8B-2C64-9B45-84EC-0C2265CC9A45}" srcOrd="0" destOrd="0" presId="urn:microsoft.com/office/officeart/2005/8/layout/orgChart1"/>
    <dgm:cxn modelId="{051DB52C-2AD2-3444-8885-85DB00134475}" type="presParOf" srcId="{4B0DF92B-4D0C-F544-956D-23ABA4E21F8F}" destId="{199D1AFE-14AE-8C4A-818A-220142661603}" srcOrd="1" destOrd="0" presId="urn:microsoft.com/office/officeart/2005/8/layout/orgChart1"/>
    <dgm:cxn modelId="{F4DF999F-9F4B-FA4F-A152-2553DC3230FF}" type="presParOf" srcId="{199D1AFE-14AE-8C4A-818A-220142661603}" destId="{33E6186C-AB0D-9D4B-A629-CA5BC1D90EAE}" srcOrd="0" destOrd="0" presId="urn:microsoft.com/office/officeart/2005/8/layout/orgChart1"/>
    <dgm:cxn modelId="{99082AD9-6817-E64F-AA69-EDE799E411FF}" type="presParOf" srcId="{33E6186C-AB0D-9D4B-A629-CA5BC1D90EAE}" destId="{4A63361A-8AFA-2F4C-90B5-FAD7E6F7A3DD}" srcOrd="0" destOrd="0" presId="urn:microsoft.com/office/officeart/2005/8/layout/orgChart1"/>
    <dgm:cxn modelId="{5FF66A52-5368-D746-87ED-AAEC55301A54}" type="presParOf" srcId="{33E6186C-AB0D-9D4B-A629-CA5BC1D90EAE}" destId="{1A1A0821-D2B4-BF49-9E6C-78A09FE3CA03}" srcOrd="1" destOrd="0" presId="urn:microsoft.com/office/officeart/2005/8/layout/orgChart1"/>
    <dgm:cxn modelId="{DB59050F-D3BB-3E41-91BF-22B5FBC9ED79}" type="presParOf" srcId="{199D1AFE-14AE-8C4A-818A-220142661603}" destId="{CA4BCEB8-BC59-2948-B61B-E9C0116FFDB5}" srcOrd="1" destOrd="0" presId="urn:microsoft.com/office/officeart/2005/8/layout/orgChart1"/>
    <dgm:cxn modelId="{B2D6EA45-18EE-D04E-AD75-C0DB40B44690}" type="presParOf" srcId="{CA4BCEB8-BC59-2948-B61B-E9C0116FFDB5}" destId="{A27FEB45-0B57-E047-A4DC-4F93C6AAAF17}" srcOrd="0" destOrd="0" presId="urn:microsoft.com/office/officeart/2005/8/layout/orgChart1"/>
    <dgm:cxn modelId="{37FB377C-15B8-814D-81B9-8DBF87284D81}" type="presParOf" srcId="{CA4BCEB8-BC59-2948-B61B-E9C0116FFDB5}" destId="{0A66F28E-4B05-8D48-8A41-6F3528948617}" srcOrd="1" destOrd="0" presId="urn:microsoft.com/office/officeart/2005/8/layout/orgChart1"/>
    <dgm:cxn modelId="{E43626BC-A97B-0340-BBE4-D71654BDD040}" type="presParOf" srcId="{0A66F28E-4B05-8D48-8A41-6F3528948617}" destId="{6C1F1AB5-6652-0E4B-86E8-0E4C25AEA87D}" srcOrd="0" destOrd="0" presId="urn:microsoft.com/office/officeart/2005/8/layout/orgChart1"/>
    <dgm:cxn modelId="{729B0540-BBF3-684D-93B1-F442875181DE}" type="presParOf" srcId="{6C1F1AB5-6652-0E4B-86E8-0E4C25AEA87D}" destId="{1926695E-91AE-0542-B3EC-E69772DC1DC7}" srcOrd="0" destOrd="0" presId="urn:microsoft.com/office/officeart/2005/8/layout/orgChart1"/>
    <dgm:cxn modelId="{FB37D224-ED8D-EF4E-A8E5-F202210F6234}" type="presParOf" srcId="{6C1F1AB5-6652-0E4B-86E8-0E4C25AEA87D}" destId="{7D7A67F6-E1EE-5D46-B0BC-8DBED0BBDDAB}" srcOrd="1" destOrd="0" presId="urn:microsoft.com/office/officeart/2005/8/layout/orgChart1"/>
    <dgm:cxn modelId="{902164AE-2ECF-2645-A69F-8772B4904763}" type="presParOf" srcId="{0A66F28E-4B05-8D48-8A41-6F3528948617}" destId="{BD99CE9E-021A-E44E-9364-30ED7FB845A6}" srcOrd="1" destOrd="0" presId="urn:microsoft.com/office/officeart/2005/8/layout/orgChart1"/>
    <dgm:cxn modelId="{A4058D17-A225-474C-80F8-ED9BE125D2CB}" type="presParOf" srcId="{0A66F28E-4B05-8D48-8A41-6F3528948617}" destId="{8017A869-85CB-C746-BBE2-446B037E0816}" srcOrd="2" destOrd="0" presId="urn:microsoft.com/office/officeart/2005/8/layout/orgChart1"/>
    <dgm:cxn modelId="{796889A1-A54B-3648-80D3-F81EBFD87BC2}" type="presParOf" srcId="{199D1AFE-14AE-8C4A-818A-220142661603}" destId="{48B6D4BC-C2FC-6444-BDE4-1B73337FA1F1}" srcOrd="2" destOrd="0" presId="urn:microsoft.com/office/officeart/2005/8/layout/orgChart1"/>
    <dgm:cxn modelId="{D9CE8201-30BC-0743-804B-9B37B70563AE}" type="presParOf" srcId="{4B0DF92B-4D0C-F544-956D-23ABA4E21F8F}" destId="{365BD677-2E0D-8648-9D43-610DB8DB5B68}" srcOrd="2" destOrd="0" presId="urn:microsoft.com/office/officeart/2005/8/layout/orgChart1"/>
    <dgm:cxn modelId="{54B0F316-3944-A54F-BFFE-770D37627F24}" type="presParOf" srcId="{4B0DF92B-4D0C-F544-956D-23ABA4E21F8F}" destId="{3A7150D0-D931-F046-A2AA-541D72AAB0AF}" srcOrd="3" destOrd="0" presId="urn:microsoft.com/office/officeart/2005/8/layout/orgChart1"/>
    <dgm:cxn modelId="{DEB592BE-E0D7-C04C-AC57-9F535BCB0917}" type="presParOf" srcId="{3A7150D0-D931-F046-A2AA-541D72AAB0AF}" destId="{A808265A-90FD-584B-B161-E71B7931F625}" srcOrd="0" destOrd="0" presId="urn:microsoft.com/office/officeart/2005/8/layout/orgChart1"/>
    <dgm:cxn modelId="{AE31FD83-56BD-124F-B5DE-A46BAE851EC4}" type="presParOf" srcId="{A808265A-90FD-584B-B161-E71B7931F625}" destId="{5DB92BC0-ECCF-1647-98F2-A4BAD5B73C91}" srcOrd="0" destOrd="0" presId="urn:microsoft.com/office/officeart/2005/8/layout/orgChart1"/>
    <dgm:cxn modelId="{01A9301D-A8B8-4D4F-9025-3B96700A8510}" type="presParOf" srcId="{A808265A-90FD-584B-B161-E71B7931F625}" destId="{0B6A0A62-E777-1C43-81F8-3843B5C3CE69}" srcOrd="1" destOrd="0" presId="urn:microsoft.com/office/officeart/2005/8/layout/orgChart1"/>
    <dgm:cxn modelId="{A8277F22-0C66-6343-9737-21C32D07A838}" type="presParOf" srcId="{3A7150D0-D931-F046-A2AA-541D72AAB0AF}" destId="{DB52A068-81A3-F94F-A1E1-57E3A1F772DB}" srcOrd="1" destOrd="0" presId="urn:microsoft.com/office/officeart/2005/8/layout/orgChart1"/>
    <dgm:cxn modelId="{BD38E99B-BB56-1348-8BA8-F8B757234FEB}" type="presParOf" srcId="{DB52A068-81A3-F94F-A1E1-57E3A1F772DB}" destId="{F66987EC-151A-764D-9F5F-DAD13DFA210F}" srcOrd="0" destOrd="0" presId="urn:microsoft.com/office/officeart/2005/8/layout/orgChart1"/>
    <dgm:cxn modelId="{2E67AA70-18F7-1245-8972-52013C571343}" type="presParOf" srcId="{DB52A068-81A3-F94F-A1E1-57E3A1F772DB}" destId="{A493CD10-9699-BB4B-9798-9313286E05BF}" srcOrd="1" destOrd="0" presId="urn:microsoft.com/office/officeart/2005/8/layout/orgChart1"/>
    <dgm:cxn modelId="{C2421C32-582F-4344-8809-F94B0CF965DD}" type="presParOf" srcId="{A493CD10-9699-BB4B-9798-9313286E05BF}" destId="{12C8081E-BBDD-3E45-BCC4-0D05EC2E1472}" srcOrd="0" destOrd="0" presId="urn:microsoft.com/office/officeart/2005/8/layout/orgChart1"/>
    <dgm:cxn modelId="{A3EFAE4D-5214-1D49-87D5-6723CE3AA1D5}" type="presParOf" srcId="{12C8081E-BBDD-3E45-BCC4-0D05EC2E1472}" destId="{6B1FF1C0-13E9-8544-AF41-637E038824D7}" srcOrd="0" destOrd="0" presId="urn:microsoft.com/office/officeart/2005/8/layout/orgChart1"/>
    <dgm:cxn modelId="{DFACAB1B-DB02-2B44-AF8A-69B30C7F7BC1}" type="presParOf" srcId="{12C8081E-BBDD-3E45-BCC4-0D05EC2E1472}" destId="{B6F7D033-73DC-B744-8C8D-E702F004A83C}" srcOrd="1" destOrd="0" presId="urn:microsoft.com/office/officeart/2005/8/layout/orgChart1"/>
    <dgm:cxn modelId="{419BFFE5-9B0B-E94B-8D2B-C5D4EAD192B4}" type="presParOf" srcId="{A493CD10-9699-BB4B-9798-9313286E05BF}" destId="{448780AB-0479-4341-8495-ED186D8A005A}" srcOrd="1" destOrd="0" presId="urn:microsoft.com/office/officeart/2005/8/layout/orgChart1"/>
    <dgm:cxn modelId="{8CBB84AE-2A55-B046-914E-2AE969983727}" type="presParOf" srcId="{A493CD10-9699-BB4B-9798-9313286E05BF}" destId="{EE70936C-4E5A-4F49-9FA1-40696B4EAAF7}" srcOrd="2" destOrd="0" presId="urn:microsoft.com/office/officeart/2005/8/layout/orgChart1"/>
    <dgm:cxn modelId="{3967969D-D71F-5649-BBE7-1AD209BF452F}" type="presParOf" srcId="{3A7150D0-D931-F046-A2AA-541D72AAB0AF}" destId="{2B6A2B99-719E-C04C-9B8D-094887828A64}" srcOrd="2" destOrd="0" presId="urn:microsoft.com/office/officeart/2005/8/layout/orgChart1"/>
    <dgm:cxn modelId="{19F1396B-F417-4D45-94CE-FA91D3C2FB02}" type="presParOf" srcId="{4B0DF92B-4D0C-F544-956D-23ABA4E21F8F}" destId="{AF294D60-9B72-9641-80C4-60237BEBC252}" srcOrd="4" destOrd="0" presId="urn:microsoft.com/office/officeart/2005/8/layout/orgChart1"/>
    <dgm:cxn modelId="{111E9D8E-7E54-BA4C-AE8D-2AD61C5E7242}" type="presParOf" srcId="{4B0DF92B-4D0C-F544-956D-23ABA4E21F8F}" destId="{18F9806C-8688-E24D-92A2-25135D2EE0A7}" srcOrd="5" destOrd="0" presId="urn:microsoft.com/office/officeart/2005/8/layout/orgChart1"/>
    <dgm:cxn modelId="{5E9D8175-7CA3-8E4B-9E45-503D91CFC369}" type="presParOf" srcId="{18F9806C-8688-E24D-92A2-25135D2EE0A7}" destId="{E135D09B-66EE-2646-A510-CACA0FC24D49}" srcOrd="0" destOrd="0" presId="urn:microsoft.com/office/officeart/2005/8/layout/orgChart1"/>
    <dgm:cxn modelId="{A32278A9-AACD-E147-A9C3-BCB8E6BB23D1}" type="presParOf" srcId="{E135D09B-66EE-2646-A510-CACA0FC24D49}" destId="{AE62488F-B611-A844-8B8F-FD92D7733871}" srcOrd="0" destOrd="0" presId="urn:microsoft.com/office/officeart/2005/8/layout/orgChart1"/>
    <dgm:cxn modelId="{AEED7180-D6AE-814D-AB3E-9A7F488A69B5}" type="presParOf" srcId="{E135D09B-66EE-2646-A510-CACA0FC24D49}" destId="{D5903FDF-A36C-5A4A-84BD-2642D156709B}" srcOrd="1" destOrd="0" presId="urn:microsoft.com/office/officeart/2005/8/layout/orgChart1"/>
    <dgm:cxn modelId="{63860C37-8A4E-FB4A-BB70-AD5A09FE96DC}" type="presParOf" srcId="{18F9806C-8688-E24D-92A2-25135D2EE0A7}" destId="{890C5310-8245-A946-962C-21B3CD11967F}" srcOrd="1" destOrd="0" presId="urn:microsoft.com/office/officeart/2005/8/layout/orgChart1"/>
    <dgm:cxn modelId="{1829A7C7-0AE6-A847-84AF-2F33D54CD844}" type="presParOf" srcId="{890C5310-8245-A946-962C-21B3CD11967F}" destId="{46F7C25B-8A6B-9A4C-AEA5-79B511634C22}" srcOrd="0" destOrd="0" presId="urn:microsoft.com/office/officeart/2005/8/layout/orgChart1"/>
    <dgm:cxn modelId="{D4C29CD5-3CC7-3D44-9C07-4148FCDCDD5F}" type="presParOf" srcId="{890C5310-8245-A946-962C-21B3CD11967F}" destId="{9ECF6CD8-FC09-8642-A83A-F03AE2EBDBC1}" srcOrd="1" destOrd="0" presId="urn:microsoft.com/office/officeart/2005/8/layout/orgChart1"/>
    <dgm:cxn modelId="{1D7B1180-45BA-1C43-BF4F-E615A4F4236C}" type="presParOf" srcId="{9ECF6CD8-FC09-8642-A83A-F03AE2EBDBC1}" destId="{4EDE2DF0-D923-9048-800B-DC5295E37D55}" srcOrd="0" destOrd="0" presId="urn:microsoft.com/office/officeart/2005/8/layout/orgChart1"/>
    <dgm:cxn modelId="{570B6883-EECB-884D-8030-FF0D3190A52A}" type="presParOf" srcId="{4EDE2DF0-D923-9048-800B-DC5295E37D55}" destId="{087B432B-A73B-7846-8B5A-25403EDAE7DC}" srcOrd="0" destOrd="0" presId="urn:microsoft.com/office/officeart/2005/8/layout/orgChart1"/>
    <dgm:cxn modelId="{6FB336CC-A604-A64A-8B06-B955917D4F54}" type="presParOf" srcId="{4EDE2DF0-D923-9048-800B-DC5295E37D55}" destId="{10FFFC58-7EA2-F746-B467-E0051543092E}" srcOrd="1" destOrd="0" presId="urn:microsoft.com/office/officeart/2005/8/layout/orgChart1"/>
    <dgm:cxn modelId="{A154C793-F8B3-D948-B3FD-07E9BC141E00}" type="presParOf" srcId="{9ECF6CD8-FC09-8642-A83A-F03AE2EBDBC1}" destId="{B2F50107-C8CD-9E49-AA2A-90C7E875A119}" srcOrd="1" destOrd="0" presId="urn:microsoft.com/office/officeart/2005/8/layout/orgChart1"/>
    <dgm:cxn modelId="{C1D09355-6DCA-3444-9E63-71F5F0565506}" type="presParOf" srcId="{B2F50107-C8CD-9E49-AA2A-90C7E875A119}" destId="{2F5B253E-CAC3-7C48-A37C-FD28DF4E1921}" srcOrd="0" destOrd="0" presId="urn:microsoft.com/office/officeart/2005/8/layout/orgChart1"/>
    <dgm:cxn modelId="{302C8472-4DD5-6F40-B0F1-C1EC8E590D34}" type="presParOf" srcId="{B2F50107-C8CD-9E49-AA2A-90C7E875A119}" destId="{8E926447-DD46-BA49-B9AD-F10B0B6323BE}" srcOrd="1" destOrd="0" presId="urn:microsoft.com/office/officeart/2005/8/layout/orgChart1"/>
    <dgm:cxn modelId="{FE223F91-31D7-5046-98E4-25E27221494F}" type="presParOf" srcId="{8E926447-DD46-BA49-B9AD-F10B0B6323BE}" destId="{AD465AE8-421C-5A4A-ACD1-9BE97AF73C9B}" srcOrd="0" destOrd="0" presId="urn:microsoft.com/office/officeart/2005/8/layout/orgChart1"/>
    <dgm:cxn modelId="{B10428AA-E1E1-5144-B4A3-5B61D364C603}" type="presParOf" srcId="{AD465AE8-421C-5A4A-ACD1-9BE97AF73C9B}" destId="{955D6E37-AD6C-734D-A59C-17F7C8CCBF6E}" srcOrd="0" destOrd="0" presId="urn:microsoft.com/office/officeart/2005/8/layout/orgChart1"/>
    <dgm:cxn modelId="{0DC59FE2-D4B7-C742-80F0-7DEDE2AAB759}" type="presParOf" srcId="{AD465AE8-421C-5A4A-ACD1-9BE97AF73C9B}" destId="{D58740E1-516B-CF47-92D9-7387FE462A89}" srcOrd="1" destOrd="0" presId="urn:microsoft.com/office/officeart/2005/8/layout/orgChart1"/>
    <dgm:cxn modelId="{6E74A1BB-7F0C-0544-AFB6-69F29FFB5926}" type="presParOf" srcId="{8E926447-DD46-BA49-B9AD-F10B0B6323BE}" destId="{B23CE2F2-F5E1-AB4B-BCE7-F27260B5CDA1}" srcOrd="1" destOrd="0" presId="urn:microsoft.com/office/officeart/2005/8/layout/orgChart1"/>
    <dgm:cxn modelId="{3D39F164-DBE4-3C4B-B88C-A0A947100821}" type="presParOf" srcId="{B23CE2F2-F5E1-AB4B-BCE7-F27260B5CDA1}" destId="{28950DD6-701B-604E-A21E-09DDFA200060}" srcOrd="0" destOrd="0" presId="urn:microsoft.com/office/officeart/2005/8/layout/orgChart1"/>
    <dgm:cxn modelId="{EB162B01-4D0D-5541-B0B5-58FD0212FCFD}" type="presParOf" srcId="{B23CE2F2-F5E1-AB4B-BCE7-F27260B5CDA1}" destId="{6A1F3F0F-4DAF-7C42-A524-30254598EAA3}" srcOrd="1" destOrd="0" presId="urn:microsoft.com/office/officeart/2005/8/layout/orgChart1"/>
    <dgm:cxn modelId="{F37C6E34-E6BC-BE4F-A55C-BC8E1521D1B6}" type="presParOf" srcId="{6A1F3F0F-4DAF-7C42-A524-30254598EAA3}" destId="{BDFAA52F-E24B-9A46-8230-F29FF867AD8D}" srcOrd="0" destOrd="0" presId="urn:microsoft.com/office/officeart/2005/8/layout/orgChart1"/>
    <dgm:cxn modelId="{AA6B71F7-A952-E143-9881-A2C1A7D09E10}" type="presParOf" srcId="{BDFAA52F-E24B-9A46-8230-F29FF867AD8D}" destId="{A8E99C39-923B-884F-AE10-80995E192317}" srcOrd="0" destOrd="0" presId="urn:microsoft.com/office/officeart/2005/8/layout/orgChart1"/>
    <dgm:cxn modelId="{9C007BF3-35FC-A540-A7A1-11283AFD05C0}" type="presParOf" srcId="{BDFAA52F-E24B-9A46-8230-F29FF867AD8D}" destId="{C4EDFE6C-296D-204F-BB4C-E0383AD6462D}" srcOrd="1" destOrd="0" presId="urn:microsoft.com/office/officeart/2005/8/layout/orgChart1"/>
    <dgm:cxn modelId="{110146BE-9E9E-2F4A-97B8-53C2B3351717}" type="presParOf" srcId="{6A1F3F0F-4DAF-7C42-A524-30254598EAA3}" destId="{48093C1D-4B04-784E-BBA1-E8742EC1B5D2}" srcOrd="1" destOrd="0" presId="urn:microsoft.com/office/officeart/2005/8/layout/orgChart1"/>
    <dgm:cxn modelId="{57BC536C-8A86-5E41-87D4-3E5506B0899A}" type="presParOf" srcId="{48093C1D-4B04-784E-BBA1-E8742EC1B5D2}" destId="{B3BAC4AD-153B-1343-BCE5-6024ABCC6DE8}" srcOrd="0" destOrd="0" presId="urn:microsoft.com/office/officeart/2005/8/layout/orgChart1"/>
    <dgm:cxn modelId="{AA1FF042-2D8A-9642-9A94-50E8A477393D}" type="presParOf" srcId="{48093C1D-4B04-784E-BBA1-E8742EC1B5D2}" destId="{B530C9B4-A504-D840-B24B-BF0B3A956607}" srcOrd="1" destOrd="0" presId="urn:microsoft.com/office/officeart/2005/8/layout/orgChart1"/>
    <dgm:cxn modelId="{7ABF6C71-7849-CB4A-90D3-41FFCC9FDA55}" type="presParOf" srcId="{B530C9B4-A504-D840-B24B-BF0B3A956607}" destId="{EE710273-3FAA-D149-8B8A-D9F0E84BBFD9}" srcOrd="0" destOrd="0" presId="urn:microsoft.com/office/officeart/2005/8/layout/orgChart1"/>
    <dgm:cxn modelId="{9D1AF3E2-63CB-FC4A-88E0-97F67A1B077D}" type="presParOf" srcId="{EE710273-3FAA-D149-8B8A-D9F0E84BBFD9}" destId="{E183F606-1C96-4141-8ACB-48748EBBC1FA}" srcOrd="0" destOrd="0" presId="urn:microsoft.com/office/officeart/2005/8/layout/orgChart1"/>
    <dgm:cxn modelId="{33EAE2FA-823F-334A-A4A4-3DC877D56BAF}" type="presParOf" srcId="{EE710273-3FAA-D149-8B8A-D9F0E84BBFD9}" destId="{B5477C9E-3996-AF45-86DA-0AAA40C2EC22}" srcOrd="1" destOrd="0" presId="urn:microsoft.com/office/officeart/2005/8/layout/orgChart1"/>
    <dgm:cxn modelId="{DB233EAA-567A-6C4A-A313-A84B49190B11}" type="presParOf" srcId="{B530C9B4-A504-D840-B24B-BF0B3A956607}" destId="{594E86C5-878C-F849-A081-87DFB6B04F56}" srcOrd="1" destOrd="0" presId="urn:microsoft.com/office/officeart/2005/8/layout/orgChart1"/>
    <dgm:cxn modelId="{A4CDC2FB-ACF5-8442-BC02-4BFEC042B903}" type="presParOf" srcId="{B530C9B4-A504-D840-B24B-BF0B3A956607}" destId="{057FD28B-4660-5B4C-B994-67C0D305B56D}" srcOrd="2" destOrd="0" presId="urn:microsoft.com/office/officeart/2005/8/layout/orgChart1"/>
    <dgm:cxn modelId="{4E6F6D8D-5306-CB41-A250-75D9BE3C7756}" type="presParOf" srcId="{6A1F3F0F-4DAF-7C42-A524-30254598EAA3}" destId="{C19C0975-458B-C140-9A32-37EEC0E4FD03}" srcOrd="2" destOrd="0" presId="urn:microsoft.com/office/officeart/2005/8/layout/orgChart1"/>
    <dgm:cxn modelId="{CDB67901-5C31-8348-A8DE-56E2B8758D95}" type="presParOf" srcId="{B23CE2F2-F5E1-AB4B-BCE7-F27260B5CDA1}" destId="{AC91ED32-A1FB-DB46-A178-565D051BB5E5}" srcOrd="2" destOrd="0" presId="urn:microsoft.com/office/officeart/2005/8/layout/orgChart1"/>
    <dgm:cxn modelId="{7C8E9BA2-A88C-794C-A799-D4353FA0DD09}" type="presParOf" srcId="{B23CE2F2-F5E1-AB4B-BCE7-F27260B5CDA1}" destId="{F4D0DCD9-B9A6-AB41-A457-3AA646F622A7}" srcOrd="3" destOrd="0" presId="urn:microsoft.com/office/officeart/2005/8/layout/orgChart1"/>
    <dgm:cxn modelId="{37DC703B-D1A1-054A-A4DA-52BAB20388CA}" type="presParOf" srcId="{F4D0DCD9-B9A6-AB41-A457-3AA646F622A7}" destId="{705D8CF2-94BA-2C43-BC32-8E153DEF2CA4}" srcOrd="0" destOrd="0" presId="urn:microsoft.com/office/officeart/2005/8/layout/orgChart1"/>
    <dgm:cxn modelId="{06DA20D9-78ED-1943-8649-EAA6DAF7E110}" type="presParOf" srcId="{705D8CF2-94BA-2C43-BC32-8E153DEF2CA4}" destId="{F30CE27B-3103-BF4D-8809-14F89566BA7A}" srcOrd="0" destOrd="0" presId="urn:microsoft.com/office/officeart/2005/8/layout/orgChart1"/>
    <dgm:cxn modelId="{94B81596-0B2C-5349-A65A-D8FAA72E7175}" type="presParOf" srcId="{705D8CF2-94BA-2C43-BC32-8E153DEF2CA4}" destId="{FE3C1292-2EE9-0D4F-BCCE-255B96D554DE}" srcOrd="1" destOrd="0" presId="urn:microsoft.com/office/officeart/2005/8/layout/orgChart1"/>
    <dgm:cxn modelId="{E143FC85-CCBE-6F4E-9C05-27DD90F1E186}" type="presParOf" srcId="{F4D0DCD9-B9A6-AB41-A457-3AA646F622A7}" destId="{1EBF62AE-4F21-6844-B4BB-460168FEB89F}" srcOrd="1" destOrd="0" presId="urn:microsoft.com/office/officeart/2005/8/layout/orgChart1"/>
    <dgm:cxn modelId="{865B1075-7EC3-964A-BEEB-8D5E81714859}" type="presParOf" srcId="{1EBF62AE-4F21-6844-B4BB-460168FEB89F}" destId="{20FCD94B-15CD-C74F-ABCC-2480E9F96D8C}" srcOrd="0" destOrd="0" presId="urn:microsoft.com/office/officeart/2005/8/layout/orgChart1"/>
    <dgm:cxn modelId="{31FF76F5-073A-1840-BD98-03063C7F45D0}" type="presParOf" srcId="{1EBF62AE-4F21-6844-B4BB-460168FEB89F}" destId="{AD6AA469-CC78-F140-92BD-ADB208BE6909}" srcOrd="1" destOrd="0" presId="urn:microsoft.com/office/officeart/2005/8/layout/orgChart1"/>
    <dgm:cxn modelId="{88911E02-4991-5948-817B-5545A0E6324C}" type="presParOf" srcId="{AD6AA469-CC78-F140-92BD-ADB208BE6909}" destId="{618823E6-FBBD-9243-8A4C-ADAF7576E31E}" srcOrd="0" destOrd="0" presId="urn:microsoft.com/office/officeart/2005/8/layout/orgChart1"/>
    <dgm:cxn modelId="{E8A7DB5F-91EE-924F-A12F-EA7342C33BA3}" type="presParOf" srcId="{618823E6-FBBD-9243-8A4C-ADAF7576E31E}" destId="{3141EBE4-0F85-9949-AE3B-CA73549AF9B6}" srcOrd="0" destOrd="0" presId="urn:microsoft.com/office/officeart/2005/8/layout/orgChart1"/>
    <dgm:cxn modelId="{A19116BC-4092-634B-96AC-B7FFDB614C16}" type="presParOf" srcId="{618823E6-FBBD-9243-8A4C-ADAF7576E31E}" destId="{279CDE4C-F739-8E44-87EA-9D73FB6FAAA6}" srcOrd="1" destOrd="0" presId="urn:microsoft.com/office/officeart/2005/8/layout/orgChart1"/>
    <dgm:cxn modelId="{60F3467F-D4D9-BA48-A645-9F3876AB6BF0}" type="presParOf" srcId="{AD6AA469-CC78-F140-92BD-ADB208BE6909}" destId="{A05150FF-30ED-0A46-A3CC-DF6198AC0ED8}" srcOrd="1" destOrd="0" presId="urn:microsoft.com/office/officeart/2005/8/layout/orgChart1"/>
    <dgm:cxn modelId="{2416DC42-257E-564D-903F-12AE303A0CC2}" type="presParOf" srcId="{AD6AA469-CC78-F140-92BD-ADB208BE6909}" destId="{2AD65E57-998A-8D43-8C8A-239030E4CC30}" srcOrd="2" destOrd="0" presId="urn:microsoft.com/office/officeart/2005/8/layout/orgChart1"/>
    <dgm:cxn modelId="{BA8AD4CF-4DCC-064B-BBBD-A8E8E6FA1974}" type="presParOf" srcId="{F4D0DCD9-B9A6-AB41-A457-3AA646F622A7}" destId="{83711FD2-38D5-4645-815A-7182B2C232C7}" srcOrd="2" destOrd="0" presId="urn:microsoft.com/office/officeart/2005/8/layout/orgChart1"/>
    <dgm:cxn modelId="{7BEA46C5-12CA-7341-A384-D471B1C07822}" type="presParOf" srcId="{B23CE2F2-F5E1-AB4B-BCE7-F27260B5CDA1}" destId="{B0318548-0BA3-884A-BC27-61832F8DCC8D}" srcOrd="4" destOrd="0" presId="urn:microsoft.com/office/officeart/2005/8/layout/orgChart1"/>
    <dgm:cxn modelId="{09BB8A18-9E06-044F-850F-437761402F43}" type="presParOf" srcId="{B23CE2F2-F5E1-AB4B-BCE7-F27260B5CDA1}" destId="{CEFF4E65-222B-6E42-B136-D7A1C831FF39}" srcOrd="5" destOrd="0" presId="urn:microsoft.com/office/officeart/2005/8/layout/orgChart1"/>
    <dgm:cxn modelId="{87C9E1E2-C226-4043-8E08-2C92F71A89F2}" type="presParOf" srcId="{CEFF4E65-222B-6E42-B136-D7A1C831FF39}" destId="{D646B421-3263-AA46-AA44-55074AA13097}" srcOrd="0" destOrd="0" presId="urn:microsoft.com/office/officeart/2005/8/layout/orgChart1"/>
    <dgm:cxn modelId="{E734926C-2A4F-B141-9951-E214AC7142F1}" type="presParOf" srcId="{D646B421-3263-AA46-AA44-55074AA13097}" destId="{E58F5466-ED82-8B46-BAD2-35ED1FAACC6A}" srcOrd="0" destOrd="0" presId="urn:microsoft.com/office/officeart/2005/8/layout/orgChart1"/>
    <dgm:cxn modelId="{56901EEE-F8C0-EC4F-B43B-07042EFCABF1}" type="presParOf" srcId="{D646B421-3263-AA46-AA44-55074AA13097}" destId="{A71BB2FB-9A2C-BF4C-8A5C-068BA32EDB9C}" srcOrd="1" destOrd="0" presId="urn:microsoft.com/office/officeart/2005/8/layout/orgChart1"/>
    <dgm:cxn modelId="{CE0314B9-3AD1-D74B-A8DA-73F985AFC82C}" type="presParOf" srcId="{CEFF4E65-222B-6E42-B136-D7A1C831FF39}" destId="{8663427C-5532-B046-A239-6EBAF671875E}" srcOrd="1" destOrd="0" presId="urn:microsoft.com/office/officeart/2005/8/layout/orgChart1"/>
    <dgm:cxn modelId="{FB9D244B-EC81-5048-BC8F-DE11A3EF0E0F}" type="presParOf" srcId="{8663427C-5532-B046-A239-6EBAF671875E}" destId="{27AFB1F9-1B64-0848-BC8B-8BDD4637556A}" srcOrd="0" destOrd="0" presId="urn:microsoft.com/office/officeart/2005/8/layout/orgChart1"/>
    <dgm:cxn modelId="{48EE5867-6537-034D-8B3C-F7D3B8D836F2}" type="presParOf" srcId="{8663427C-5532-B046-A239-6EBAF671875E}" destId="{694D0BD6-FB70-A242-BD27-374B2AEA0D7D}" srcOrd="1" destOrd="0" presId="urn:microsoft.com/office/officeart/2005/8/layout/orgChart1"/>
    <dgm:cxn modelId="{FC0D578A-F397-BB44-B2AE-EA86BA9D8FE0}" type="presParOf" srcId="{694D0BD6-FB70-A242-BD27-374B2AEA0D7D}" destId="{52BB717A-6B5A-B04C-A22A-1F3A7AAF8109}" srcOrd="0" destOrd="0" presId="urn:microsoft.com/office/officeart/2005/8/layout/orgChart1"/>
    <dgm:cxn modelId="{ED395445-E76E-B644-8265-E286780B39FF}" type="presParOf" srcId="{52BB717A-6B5A-B04C-A22A-1F3A7AAF8109}" destId="{10FD6445-05F3-1740-B3F6-23464BAFFA36}" srcOrd="0" destOrd="0" presId="urn:microsoft.com/office/officeart/2005/8/layout/orgChart1"/>
    <dgm:cxn modelId="{A17F6116-7C78-D846-A8C1-94E730C201A5}" type="presParOf" srcId="{52BB717A-6B5A-B04C-A22A-1F3A7AAF8109}" destId="{0D4172C9-A63E-AC47-B10E-553F52D47448}" srcOrd="1" destOrd="0" presId="urn:microsoft.com/office/officeart/2005/8/layout/orgChart1"/>
    <dgm:cxn modelId="{C6F3D227-2AC2-314C-8A33-763B3D8F4CDF}" type="presParOf" srcId="{694D0BD6-FB70-A242-BD27-374B2AEA0D7D}" destId="{11AA4700-4245-6040-8A9C-503FCFDA9651}" srcOrd="1" destOrd="0" presId="urn:microsoft.com/office/officeart/2005/8/layout/orgChart1"/>
    <dgm:cxn modelId="{1B0A327E-CF26-BC46-94B3-6BE22F466BD9}" type="presParOf" srcId="{694D0BD6-FB70-A242-BD27-374B2AEA0D7D}" destId="{11849661-222B-C244-829C-D3E22E09AFC6}" srcOrd="2" destOrd="0" presId="urn:microsoft.com/office/officeart/2005/8/layout/orgChart1"/>
    <dgm:cxn modelId="{9945DF4D-696B-F748-A788-C7D45E92421D}" type="presParOf" srcId="{CEFF4E65-222B-6E42-B136-D7A1C831FF39}" destId="{D6D66BD3-B101-5443-BC65-7597D4057AB4}" srcOrd="2" destOrd="0" presId="urn:microsoft.com/office/officeart/2005/8/layout/orgChart1"/>
    <dgm:cxn modelId="{1636EE34-276D-9A4B-9656-1FB5FD53F462}" type="presParOf" srcId="{8E926447-DD46-BA49-B9AD-F10B0B6323BE}" destId="{895F966E-A273-DD48-993A-9AA8DD8C029E}" srcOrd="2" destOrd="0" presId="urn:microsoft.com/office/officeart/2005/8/layout/orgChart1"/>
    <dgm:cxn modelId="{61CA2A49-FCE0-1741-AEDB-80C53517C70D}" type="presParOf" srcId="{9ECF6CD8-FC09-8642-A83A-F03AE2EBDBC1}" destId="{3A14CBD8-4AFF-BC44-B8F9-B648C9898142}" srcOrd="2" destOrd="0" presId="urn:microsoft.com/office/officeart/2005/8/layout/orgChart1"/>
    <dgm:cxn modelId="{61ADF048-19EA-744C-AA25-93A7745ADAF5}" type="presParOf" srcId="{18F9806C-8688-E24D-92A2-25135D2EE0A7}" destId="{92778392-B540-AB42-967F-E79FFA8A97F7}" srcOrd="2" destOrd="0" presId="urn:microsoft.com/office/officeart/2005/8/layout/orgChart1"/>
    <dgm:cxn modelId="{8BB84B95-D956-5B4F-95EB-63BC67BDEBCE}" type="presParOf" srcId="{261554AA-493B-614B-9A4C-07302A2D4587}" destId="{83603B0B-CCEB-6C4F-875F-951BF6E3050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B5498DE5-7CDC-0347-BA87-FB91FE15E435}">
      <dgm:prSet phldrT="[Text]"/>
      <dgm:spPr/>
      <dgm:t>
        <a:bodyPr/>
        <a:lstStyle/>
        <a:p>
          <a:r>
            <a:rPr lang="en-US" dirty="0"/>
            <a:t>Find phylogenetic distances between ASVs</a:t>
          </a:r>
        </a:p>
      </dgm:t>
    </dgm:pt>
    <dgm:pt modelId="{A4B182FE-28CF-CC4A-A857-D974481A212A}" type="parTrans" cxnId="{6F8A8218-A43D-754D-AC34-7D7A44CB7D31}">
      <dgm:prSet/>
      <dgm:spPr/>
      <dgm:t>
        <a:bodyPr/>
        <a:lstStyle/>
        <a:p>
          <a:endParaRPr lang="en-US"/>
        </a:p>
      </dgm:t>
    </dgm:pt>
    <dgm:pt modelId="{30256DA3-2063-6145-A40C-3F213F51F903}" type="sibTrans" cxnId="{6F8A8218-A43D-754D-AC34-7D7A44CB7D31}">
      <dgm:prSet/>
      <dgm:spPr/>
      <dgm:t>
        <a:bodyPr/>
        <a:lstStyle/>
        <a:p>
          <a:endParaRPr lang="en-US"/>
        </a:p>
      </dgm:t>
    </dgm:pt>
    <dgm:pt modelId="{99CAAEDC-6392-D343-9A6F-7F5A17C79600}">
      <dgm:prSet/>
      <dgm:spPr/>
      <dgm:t>
        <a:bodyPr/>
        <a:lstStyle/>
        <a:p>
          <a:r>
            <a:rPr lang="en-US" dirty="0"/>
            <a:t>Plot results of the mantel correlograms against phylogenetic distance classes for each environmental parameter to check for significant relationships</a:t>
          </a:r>
        </a:p>
      </dgm:t>
    </dgm:pt>
    <dgm:pt modelId="{E9E523D2-25B5-CD4B-9629-508B4D79D50B}" type="sibTrans" cxnId="{850E1FA5-AA48-724C-8558-F11B12C530EE}">
      <dgm:prSet/>
      <dgm:spPr/>
      <dgm:t>
        <a:bodyPr/>
        <a:lstStyle/>
        <a:p>
          <a:endParaRPr lang="en-US"/>
        </a:p>
      </dgm:t>
    </dgm:pt>
    <dgm:pt modelId="{C17FB67C-707B-D74A-80D6-94F7481B177D}" type="parTrans" cxnId="{850E1FA5-AA48-724C-8558-F11B12C530EE}">
      <dgm:prSet/>
      <dgm:spPr/>
      <dgm:t>
        <a:bodyPr/>
        <a:lstStyle/>
        <a:p>
          <a:endParaRPr lang="en-US"/>
        </a:p>
      </dgm:t>
    </dgm:pt>
    <dgm:pt modelId="{3AAD80AB-86BA-354D-A91B-40CE06269A51}">
      <dgm:prSet phldrT="[Text]"/>
      <dgm:spPr/>
      <dgm:t>
        <a:bodyPr/>
        <a:lstStyle/>
        <a:p>
          <a:r>
            <a:rPr lang="en-US" dirty="0"/>
            <a:t>Calculate mantel correlograms for each environmental parameter </a:t>
          </a:r>
        </a:p>
      </dgm:t>
    </dgm:pt>
    <dgm:pt modelId="{C215D862-A291-E848-A659-5797AEF6E6A2}" type="sibTrans" cxnId="{6CC7BC8F-A4DC-3E43-A468-7FE509ECF895}">
      <dgm:prSet/>
      <dgm:spPr/>
      <dgm:t>
        <a:bodyPr/>
        <a:lstStyle/>
        <a:p>
          <a:endParaRPr lang="en-US"/>
        </a:p>
      </dgm:t>
    </dgm:pt>
    <dgm:pt modelId="{3035F67B-CB08-4446-AE7D-48C039F6D2DF}" type="parTrans" cxnId="{6CC7BC8F-A4DC-3E43-A468-7FE509ECF895}">
      <dgm:prSet/>
      <dgm:spPr/>
      <dgm:t>
        <a:bodyPr/>
        <a:lstStyle/>
        <a:p>
          <a:endParaRPr lang="en-US"/>
        </a:p>
      </dgm:t>
    </dgm:pt>
    <dgm:pt modelId="{6D80D72C-DBB2-D94A-BCBD-1B0C1C35E98A}">
      <dgm:prSet phldrT="[Text]"/>
      <dgm:spPr/>
      <dgm:t>
        <a:bodyPr/>
        <a:lstStyle/>
        <a:p>
          <a:r>
            <a:rPr lang="en-US" dirty="0"/>
            <a:t>Find the weighted mean environmental parameters for each ASV = niche preferences </a:t>
          </a:r>
          <a:endParaRPr lang="en-US" i="1" dirty="0"/>
        </a:p>
      </dgm:t>
    </dgm:pt>
    <dgm:pt modelId="{ECF5917A-5A86-4945-92ED-C3A30B725FE7}" type="sibTrans" cxnId="{A399560D-2686-BB49-BEC8-16E0E59F898C}">
      <dgm:prSet/>
      <dgm:spPr/>
      <dgm:t>
        <a:bodyPr/>
        <a:lstStyle/>
        <a:p>
          <a:endParaRPr lang="en-US"/>
        </a:p>
      </dgm:t>
    </dgm:pt>
    <dgm:pt modelId="{7A0A85DE-826D-F943-B70A-C309B2E35E00}" type="parTrans" cxnId="{A399560D-2686-BB49-BEC8-16E0E59F898C}">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4" custScaleX="266769">
        <dgm:presLayoutVars>
          <dgm:bulletEnabled val="1"/>
        </dgm:presLayoutVars>
      </dgm:prSet>
      <dgm:spPr/>
    </dgm:pt>
    <dgm:pt modelId="{91DA19BA-A0AB-564A-8A9E-322DF18B64CF}" type="pres">
      <dgm:prSet presAssocID="{30256DA3-2063-6145-A40C-3F213F51F903}" presName="sibTrans" presStyleLbl="sibTrans2D1" presStyleIdx="0" presStyleCnt="3"/>
      <dgm:spPr/>
    </dgm:pt>
    <dgm:pt modelId="{93A03A25-0C23-0B49-A801-B6DF4800FF1C}" type="pres">
      <dgm:prSet presAssocID="{30256DA3-2063-6145-A40C-3F213F51F903}" presName="connectorText" presStyleLbl="sibTrans2D1" presStyleIdx="0" presStyleCnt="3"/>
      <dgm:spPr/>
    </dgm:pt>
    <dgm:pt modelId="{43D2067A-91F6-8745-98BA-D6A10B24950A}" type="pres">
      <dgm:prSet presAssocID="{6D80D72C-DBB2-D94A-BCBD-1B0C1C35E98A}" presName="node" presStyleLbl="node1" presStyleIdx="1" presStyleCnt="4" custScaleX="264923" custLinFactNeighborX="1148">
        <dgm:presLayoutVars>
          <dgm:bulletEnabled val="1"/>
        </dgm:presLayoutVars>
      </dgm:prSet>
      <dgm:spPr/>
    </dgm:pt>
    <dgm:pt modelId="{D067C965-9057-9C4A-A1D2-4912C14C50F7}" type="pres">
      <dgm:prSet presAssocID="{ECF5917A-5A86-4945-92ED-C3A30B725FE7}" presName="sibTrans" presStyleLbl="sibTrans2D1" presStyleIdx="1" presStyleCnt="3"/>
      <dgm:spPr/>
    </dgm:pt>
    <dgm:pt modelId="{5030DE2C-F3D5-7E44-98C9-D5A5317CA56C}" type="pres">
      <dgm:prSet presAssocID="{ECF5917A-5A86-4945-92ED-C3A30B725FE7}" presName="connectorText" presStyleLbl="sibTrans2D1" presStyleIdx="1" presStyleCnt="3"/>
      <dgm:spPr/>
    </dgm:pt>
    <dgm:pt modelId="{80C05A4E-2A0A-294C-8DDC-052E97D834DA}" type="pres">
      <dgm:prSet presAssocID="{3AAD80AB-86BA-354D-A91B-40CE06269A51}" presName="node" presStyleLbl="node1" presStyleIdx="2" presStyleCnt="4" custScaleX="263077">
        <dgm:presLayoutVars>
          <dgm:bulletEnabled val="1"/>
        </dgm:presLayoutVars>
      </dgm:prSet>
      <dgm:spPr/>
    </dgm:pt>
    <dgm:pt modelId="{B3C2DB7A-EC33-6544-A09D-B1205728770A}" type="pres">
      <dgm:prSet presAssocID="{C215D862-A291-E848-A659-5797AEF6E6A2}" presName="sibTrans" presStyleLbl="sibTrans2D1" presStyleIdx="2" presStyleCnt="3"/>
      <dgm:spPr/>
    </dgm:pt>
    <dgm:pt modelId="{14D2D5CD-E619-2C4C-83EC-B8786FE7D09C}" type="pres">
      <dgm:prSet presAssocID="{C215D862-A291-E848-A659-5797AEF6E6A2}" presName="connectorText" presStyleLbl="sibTrans2D1" presStyleIdx="2" presStyleCnt="3"/>
      <dgm:spPr/>
    </dgm:pt>
    <dgm:pt modelId="{6F6C8E07-FBAD-3F4D-A906-27ECCF26E70E}" type="pres">
      <dgm:prSet presAssocID="{99CAAEDC-6392-D343-9A6F-7F5A17C79600}" presName="node" presStyleLbl="node1" presStyleIdx="3" presStyleCnt="4" custScaleX="262154">
        <dgm:presLayoutVars>
          <dgm:bulletEnabled val="1"/>
        </dgm:presLayoutVars>
      </dgm:prSet>
      <dgm:spPr/>
    </dgm:pt>
  </dgm:ptLst>
  <dgm:cxnLst>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4E285119-2459-8646-A275-E2ED993B432A}" type="presOf" srcId="{C215D862-A291-E848-A659-5797AEF6E6A2}" destId="{14D2D5CD-E619-2C4C-83EC-B8786FE7D09C}" srcOrd="1" destOrd="0" presId="urn:microsoft.com/office/officeart/2005/8/layout/process2"/>
    <dgm:cxn modelId="{85095E25-989E-8644-8FAC-8BF624EEEE21}" type="presOf" srcId="{C215D862-A291-E848-A659-5797AEF6E6A2}" destId="{B3C2DB7A-EC33-6544-A09D-B1205728770A}"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6CC7BC8F-A4DC-3E43-A468-7FE509ECF895}" srcId="{CB88F0E7-4140-1B4D-A33B-6563FB2E1C23}" destId="{3AAD80AB-86BA-354D-A91B-40CE06269A51}" srcOrd="2" destOrd="0" parTransId="{3035F67B-CB08-4446-AE7D-48C039F6D2DF}" sibTransId="{C215D862-A291-E848-A659-5797AEF6E6A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4B8D3CDA-C71C-8644-BEF2-25F7C84E26CD}" type="presOf" srcId="{CB88F0E7-4140-1B4D-A33B-6563FB2E1C23}" destId="{55F5C254-F149-8D49-B068-DD2BB6700AB1}"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67D4B-288C-C941-9948-4D7CB11DC5C5}">
      <dsp:nvSpPr>
        <dsp:cNvPr id="0" name=""/>
        <dsp:cNvSpPr/>
      </dsp:nvSpPr>
      <dsp:spPr>
        <a:xfrm>
          <a:off x="5155" y="2109108"/>
          <a:ext cx="3001123" cy="1200449"/>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Statistical/Multivariate Analysis</a:t>
          </a:r>
        </a:p>
      </dsp:txBody>
      <dsp:txXfrm>
        <a:off x="605380" y="2109108"/>
        <a:ext cx="1800674" cy="1200449"/>
      </dsp:txXfrm>
    </dsp:sp>
    <dsp:sp modelId="{27C5A505-81DC-A445-992D-1BC4566AB6F2}">
      <dsp:nvSpPr>
        <dsp:cNvPr id="0" name=""/>
        <dsp:cNvSpPr/>
      </dsp:nvSpPr>
      <dsp:spPr>
        <a:xfrm>
          <a:off x="2706166" y="2109108"/>
          <a:ext cx="3001123" cy="1200449"/>
        </a:xfrm>
        <a:prstGeom prst="chevron">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Neutral Model</a:t>
          </a:r>
        </a:p>
      </dsp:txBody>
      <dsp:txXfrm>
        <a:off x="3306391" y="2109108"/>
        <a:ext cx="1800674" cy="1200449"/>
      </dsp:txXfrm>
    </dsp:sp>
    <dsp:sp modelId="{CF60189A-F0BD-1B41-89D2-307F1DA955E7}">
      <dsp:nvSpPr>
        <dsp:cNvPr id="0" name=""/>
        <dsp:cNvSpPr/>
      </dsp:nvSpPr>
      <dsp:spPr>
        <a:xfrm>
          <a:off x="5407177" y="2109108"/>
          <a:ext cx="3001123" cy="1200449"/>
        </a:xfrm>
        <a:prstGeom prst="chevron">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Null Model</a:t>
          </a:r>
        </a:p>
      </dsp:txBody>
      <dsp:txXfrm>
        <a:off x="6007402" y="2109108"/>
        <a:ext cx="1800674" cy="1200449"/>
      </dsp:txXfrm>
    </dsp:sp>
    <dsp:sp modelId="{4C6D95A5-AC6D-914C-B774-93CD0C61E4A3}">
      <dsp:nvSpPr>
        <dsp:cNvPr id="0" name=""/>
        <dsp:cNvSpPr/>
      </dsp:nvSpPr>
      <dsp:spPr>
        <a:xfrm>
          <a:off x="8108188" y="2109108"/>
          <a:ext cx="3001123" cy="1200449"/>
        </a:xfrm>
        <a:prstGeom prst="chevron">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t>Network Analysis</a:t>
          </a:r>
        </a:p>
      </dsp:txBody>
      <dsp:txXfrm>
        <a:off x="8708413" y="2109108"/>
        <a:ext cx="1800674" cy="12004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948603" y="988"/>
          <a:ext cx="9507592" cy="35999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Download sequence data and metadata in command line using SRA toolbox</a:t>
          </a:r>
        </a:p>
      </dsp:txBody>
      <dsp:txXfrm>
        <a:off x="959147" y="11532"/>
        <a:ext cx="9486504" cy="338909"/>
      </dsp:txXfrm>
    </dsp:sp>
    <dsp:sp modelId="{91DA19BA-A0AB-564A-8A9E-322DF18B64CF}">
      <dsp:nvSpPr>
        <dsp:cNvPr id="0" name=""/>
        <dsp:cNvSpPr/>
      </dsp:nvSpPr>
      <dsp:spPr>
        <a:xfrm rot="5400000">
          <a:off x="5575042" y="377966"/>
          <a:ext cx="254714" cy="3056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403437"/>
        <a:ext cx="183395" cy="178300"/>
      </dsp:txXfrm>
    </dsp:sp>
    <dsp:sp modelId="{43D2067A-91F6-8745-98BA-D6A10B24950A}">
      <dsp:nvSpPr>
        <dsp:cNvPr id="0" name=""/>
        <dsp:cNvSpPr/>
      </dsp:nvSpPr>
      <dsp:spPr>
        <a:xfrm>
          <a:off x="948522" y="700605"/>
          <a:ext cx="9507755" cy="3599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Modify/convert files to QIIME2 formats</a:t>
          </a:r>
          <a:endParaRPr lang="en-US" sz="1300" i="1" kern="1200" dirty="0"/>
        </a:p>
      </dsp:txBody>
      <dsp:txXfrm>
        <a:off x="959066" y="711149"/>
        <a:ext cx="9486667" cy="338909"/>
      </dsp:txXfrm>
    </dsp:sp>
    <dsp:sp modelId="{D067C965-9057-9C4A-A1D2-4912C14C50F7}">
      <dsp:nvSpPr>
        <dsp:cNvPr id="0" name=""/>
        <dsp:cNvSpPr/>
      </dsp:nvSpPr>
      <dsp:spPr>
        <a:xfrm rot="5400000">
          <a:off x="5575042" y="1077583"/>
          <a:ext cx="254714" cy="3056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1103054"/>
        <a:ext cx="183395" cy="178300"/>
      </dsp:txXfrm>
    </dsp:sp>
    <dsp:sp modelId="{80C05A4E-2A0A-294C-8DDC-052E97D834DA}">
      <dsp:nvSpPr>
        <dsp:cNvPr id="0" name=""/>
        <dsp:cNvSpPr/>
      </dsp:nvSpPr>
      <dsp:spPr>
        <a:xfrm>
          <a:off x="948522" y="1400222"/>
          <a:ext cx="9507755" cy="35999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Trim primers</a:t>
          </a:r>
        </a:p>
      </dsp:txBody>
      <dsp:txXfrm>
        <a:off x="959066" y="1410766"/>
        <a:ext cx="9486667" cy="338909"/>
      </dsp:txXfrm>
    </dsp:sp>
    <dsp:sp modelId="{B3C2DB7A-EC33-6544-A09D-B1205728770A}">
      <dsp:nvSpPr>
        <dsp:cNvPr id="0" name=""/>
        <dsp:cNvSpPr/>
      </dsp:nvSpPr>
      <dsp:spPr>
        <a:xfrm rot="5400000">
          <a:off x="5575042" y="1777200"/>
          <a:ext cx="254714" cy="3056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1802671"/>
        <a:ext cx="183395" cy="178300"/>
      </dsp:txXfrm>
    </dsp:sp>
    <dsp:sp modelId="{6F6C8E07-FBAD-3F4D-A906-27ECCF26E70E}">
      <dsp:nvSpPr>
        <dsp:cNvPr id="0" name=""/>
        <dsp:cNvSpPr/>
      </dsp:nvSpPr>
      <dsp:spPr>
        <a:xfrm>
          <a:off x="948522" y="2099839"/>
          <a:ext cx="9507755" cy="35999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DADA2: Denoise data</a:t>
          </a:r>
        </a:p>
      </dsp:txBody>
      <dsp:txXfrm>
        <a:off x="959066" y="2110383"/>
        <a:ext cx="9486667" cy="338909"/>
      </dsp:txXfrm>
    </dsp:sp>
    <dsp:sp modelId="{48489AC1-89DA-0F48-B940-23505B5798FF}">
      <dsp:nvSpPr>
        <dsp:cNvPr id="0" name=""/>
        <dsp:cNvSpPr/>
      </dsp:nvSpPr>
      <dsp:spPr>
        <a:xfrm rot="5400000">
          <a:off x="5575042" y="2476818"/>
          <a:ext cx="254714" cy="30565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2502289"/>
        <a:ext cx="183395" cy="178300"/>
      </dsp:txXfrm>
    </dsp:sp>
    <dsp:sp modelId="{BEBB65BD-4B92-BC44-96A8-BAAA586B7BF5}">
      <dsp:nvSpPr>
        <dsp:cNvPr id="0" name=""/>
        <dsp:cNvSpPr/>
      </dsp:nvSpPr>
      <dsp:spPr>
        <a:xfrm>
          <a:off x="948522" y="2799456"/>
          <a:ext cx="9507755" cy="35999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Generate feature table </a:t>
          </a:r>
        </a:p>
      </dsp:txBody>
      <dsp:txXfrm>
        <a:off x="959066" y="2810000"/>
        <a:ext cx="9486667" cy="338909"/>
      </dsp:txXfrm>
    </dsp:sp>
    <dsp:sp modelId="{2839F08F-24F1-614A-A1A4-847F111C0482}">
      <dsp:nvSpPr>
        <dsp:cNvPr id="0" name=""/>
        <dsp:cNvSpPr/>
      </dsp:nvSpPr>
      <dsp:spPr>
        <a:xfrm rot="5400000">
          <a:off x="5575042" y="3176435"/>
          <a:ext cx="254714" cy="30565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3201906"/>
        <a:ext cx="183395" cy="178300"/>
      </dsp:txXfrm>
    </dsp:sp>
    <dsp:sp modelId="{80377AF5-BC76-FB40-840E-12C9D1BDB641}">
      <dsp:nvSpPr>
        <dsp:cNvPr id="0" name=""/>
        <dsp:cNvSpPr/>
      </dsp:nvSpPr>
      <dsp:spPr>
        <a:xfrm>
          <a:off x="948522" y="3499074"/>
          <a:ext cx="9507755" cy="35999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Use SILVA classifier to classify representative sequences</a:t>
          </a:r>
        </a:p>
      </dsp:txBody>
      <dsp:txXfrm>
        <a:off x="959066" y="3509618"/>
        <a:ext cx="9486667" cy="338909"/>
      </dsp:txXfrm>
    </dsp:sp>
    <dsp:sp modelId="{C9A34051-A77A-F049-83DF-B23743A74457}">
      <dsp:nvSpPr>
        <dsp:cNvPr id="0" name=""/>
        <dsp:cNvSpPr/>
      </dsp:nvSpPr>
      <dsp:spPr>
        <a:xfrm rot="5400000">
          <a:off x="5575042" y="3876052"/>
          <a:ext cx="254714" cy="3056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3901523"/>
        <a:ext cx="183395" cy="178300"/>
      </dsp:txXfrm>
    </dsp:sp>
    <dsp:sp modelId="{77F0190E-9B2D-0449-9A36-A264480F521F}">
      <dsp:nvSpPr>
        <dsp:cNvPr id="0" name=""/>
        <dsp:cNvSpPr/>
      </dsp:nvSpPr>
      <dsp:spPr>
        <a:xfrm>
          <a:off x="948522" y="4198691"/>
          <a:ext cx="9507755" cy="3599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Make multiple sequence alignment with MAFFT, construct phylogenetic tree and root.</a:t>
          </a:r>
        </a:p>
      </dsp:txBody>
      <dsp:txXfrm>
        <a:off x="959066" y="4209235"/>
        <a:ext cx="9486667" cy="338909"/>
      </dsp:txXfrm>
    </dsp:sp>
    <dsp:sp modelId="{26A17077-D919-4B4F-8DCF-A621A4F50A35}">
      <dsp:nvSpPr>
        <dsp:cNvPr id="0" name=""/>
        <dsp:cNvSpPr/>
      </dsp:nvSpPr>
      <dsp:spPr>
        <a:xfrm rot="5400000">
          <a:off x="5575042" y="4575669"/>
          <a:ext cx="254714" cy="3056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4601140"/>
        <a:ext cx="183395" cy="178300"/>
      </dsp:txXfrm>
    </dsp:sp>
    <dsp:sp modelId="{218DEA2E-8D5B-8741-B88A-2B31902D6D39}">
      <dsp:nvSpPr>
        <dsp:cNvPr id="0" name=""/>
        <dsp:cNvSpPr/>
      </dsp:nvSpPr>
      <dsp:spPr>
        <a:xfrm>
          <a:off x="948522" y="4898308"/>
          <a:ext cx="9507755" cy="35999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Export feature table, ASV count table, representative sequences, taxonomy table and rooted phylogenetic tree.</a:t>
          </a:r>
        </a:p>
      </dsp:txBody>
      <dsp:txXfrm>
        <a:off x="959066" y="4908852"/>
        <a:ext cx="9486667" cy="338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413538" y="1861"/>
          <a:ext cx="10576028" cy="41511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Load in data from QIIME2 step</a:t>
          </a:r>
        </a:p>
      </dsp:txBody>
      <dsp:txXfrm>
        <a:off x="425696" y="14019"/>
        <a:ext cx="10551712" cy="390803"/>
      </dsp:txXfrm>
    </dsp:sp>
    <dsp:sp modelId="{91DA19BA-A0AB-564A-8A9E-322DF18B64CF}">
      <dsp:nvSpPr>
        <dsp:cNvPr id="0" name=""/>
        <dsp:cNvSpPr/>
      </dsp:nvSpPr>
      <dsp:spPr>
        <a:xfrm rot="5400000">
          <a:off x="5554694" y="436562"/>
          <a:ext cx="293716" cy="3524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465934"/>
        <a:ext cx="211476" cy="205601"/>
      </dsp:txXfrm>
    </dsp:sp>
    <dsp:sp modelId="{43D2067A-91F6-8745-98BA-D6A10B24950A}">
      <dsp:nvSpPr>
        <dsp:cNvPr id="0" name=""/>
        <dsp:cNvSpPr/>
      </dsp:nvSpPr>
      <dsp:spPr>
        <a:xfrm>
          <a:off x="413538" y="808603"/>
          <a:ext cx="10576028" cy="41511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Wrangle metadata</a:t>
          </a:r>
          <a:endParaRPr lang="en-US" sz="1700" i="1" kern="1200" dirty="0"/>
        </a:p>
      </dsp:txBody>
      <dsp:txXfrm>
        <a:off x="425696" y="820761"/>
        <a:ext cx="10551712" cy="390803"/>
      </dsp:txXfrm>
    </dsp:sp>
    <dsp:sp modelId="{D067C965-9057-9C4A-A1D2-4912C14C50F7}">
      <dsp:nvSpPr>
        <dsp:cNvPr id="0" name=""/>
        <dsp:cNvSpPr/>
      </dsp:nvSpPr>
      <dsp:spPr>
        <a:xfrm rot="5400000">
          <a:off x="5554694" y="1243304"/>
          <a:ext cx="293716" cy="35246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1272676"/>
        <a:ext cx="211476" cy="205601"/>
      </dsp:txXfrm>
    </dsp:sp>
    <dsp:sp modelId="{80C05A4E-2A0A-294C-8DDC-052E97D834DA}">
      <dsp:nvSpPr>
        <dsp:cNvPr id="0" name=""/>
        <dsp:cNvSpPr/>
      </dsp:nvSpPr>
      <dsp:spPr>
        <a:xfrm>
          <a:off x="413538" y="1615345"/>
          <a:ext cx="10576028" cy="41511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Identify and remove contaminant ASVs</a:t>
          </a:r>
        </a:p>
      </dsp:txBody>
      <dsp:txXfrm>
        <a:off x="425696" y="1627503"/>
        <a:ext cx="10551712" cy="390803"/>
      </dsp:txXfrm>
    </dsp:sp>
    <dsp:sp modelId="{B3C2DB7A-EC33-6544-A09D-B1205728770A}">
      <dsp:nvSpPr>
        <dsp:cNvPr id="0" name=""/>
        <dsp:cNvSpPr/>
      </dsp:nvSpPr>
      <dsp:spPr>
        <a:xfrm rot="5400000">
          <a:off x="5554694" y="2050046"/>
          <a:ext cx="293716" cy="352460"/>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2079418"/>
        <a:ext cx="211476" cy="205601"/>
      </dsp:txXfrm>
    </dsp:sp>
    <dsp:sp modelId="{6F6C8E07-FBAD-3F4D-A906-27ECCF26E70E}">
      <dsp:nvSpPr>
        <dsp:cNvPr id="0" name=""/>
        <dsp:cNvSpPr/>
      </dsp:nvSpPr>
      <dsp:spPr>
        <a:xfrm>
          <a:off x="413538" y="2422087"/>
          <a:ext cx="10576028" cy="41511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strike="sngStrike" kern="1200" dirty="0"/>
            <a:t>Remove singletons</a:t>
          </a:r>
        </a:p>
      </dsp:txBody>
      <dsp:txXfrm>
        <a:off x="425696" y="2434245"/>
        <a:ext cx="10551712" cy="390803"/>
      </dsp:txXfrm>
    </dsp:sp>
    <dsp:sp modelId="{48489AC1-89DA-0F48-B940-23505B5798FF}">
      <dsp:nvSpPr>
        <dsp:cNvPr id="0" name=""/>
        <dsp:cNvSpPr/>
      </dsp:nvSpPr>
      <dsp:spPr>
        <a:xfrm rot="5400000">
          <a:off x="5554694" y="2856787"/>
          <a:ext cx="293716" cy="35246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2886159"/>
        <a:ext cx="211476" cy="205601"/>
      </dsp:txXfrm>
    </dsp:sp>
    <dsp:sp modelId="{BEBB65BD-4B92-BC44-96A8-BAAA586B7BF5}">
      <dsp:nvSpPr>
        <dsp:cNvPr id="0" name=""/>
        <dsp:cNvSpPr/>
      </dsp:nvSpPr>
      <dsp:spPr>
        <a:xfrm>
          <a:off x="413538" y="3228829"/>
          <a:ext cx="10576028" cy="41511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Remove ambiguous annotations </a:t>
          </a:r>
          <a:r>
            <a:rPr lang="en-US" sz="1700" strike="sngStrike" kern="1200" dirty="0"/>
            <a:t>and low abundance phyla</a:t>
          </a:r>
        </a:p>
      </dsp:txBody>
      <dsp:txXfrm>
        <a:off x="425696" y="3240987"/>
        <a:ext cx="10551712" cy="390803"/>
      </dsp:txXfrm>
    </dsp:sp>
    <dsp:sp modelId="{2839F08F-24F1-614A-A1A4-847F111C0482}">
      <dsp:nvSpPr>
        <dsp:cNvPr id="0" name=""/>
        <dsp:cNvSpPr/>
      </dsp:nvSpPr>
      <dsp:spPr>
        <a:xfrm rot="5400000">
          <a:off x="5554694" y="3663529"/>
          <a:ext cx="293716" cy="352460"/>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3692901"/>
        <a:ext cx="211476" cy="205601"/>
      </dsp:txXfrm>
    </dsp:sp>
    <dsp:sp modelId="{80377AF5-BC76-FB40-840E-12C9D1BDB641}">
      <dsp:nvSpPr>
        <dsp:cNvPr id="0" name=""/>
        <dsp:cNvSpPr/>
      </dsp:nvSpPr>
      <dsp:spPr>
        <a:xfrm>
          <a:off x="413538" y="4035570"/>
          <a:ext cx="10576028" cy="41511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Re-root phylogenetic tree</a:t>
          </a:r>
        </a:p>
      </dsp:txBody>
      <dsp:txXfrm>
        <a:off x="425696" y="4047728"/>
        <a:ext cx="10551712" cy="390803"/>
      </dsp:txXfrm>
    </dsp:sp>
    <dsp:sp modelId="{C9A34051-A77A-F049-83DF-B23743A74457}">
      <dsp:nvSpPr>
        <dsp:cNvPr id="0" name=""/>
        <dsp:cNvSpPr/>
      </dsp:nvSpPr>
      <dsp:spPr>
        <a:xfrm rot="5400000">
          <a:off x="5554694" y="4470271"/>
          <a:ext cx="293716" cy="3524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4499643"/>
        <a:ext cx="211476" cy="205601"/>
      </dsp:txXfrm>
    </dsp:sp>
    <dsp:sp modelId="{77F0190E-9B2D-0449-9A36-A264480F521F}">
      <dsp:nvSpPr>
        <dsp:cNvPr id="0" name=""/>
        <dsp:cNvSpPr/>
      </dsp:nvSpPr>
      <dsp:spPr>
        <a:xfrm>
          <a:off x="413538" y="4842312"/>
          <a:ext cx="10576028" cy="41511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Construct </a:t>
          </a:r>
          <a:r>
            <a:rPr lang="en-US" sz="1700" kern="1200" dirty="0" err="1"/>
            <a:t>phyloseq</a:t>
          </a:r>
          <a:r>
            <a:rPr lang="en-US" sz="1700" kern="1200" dirty="0"/>
            <a:t> object and export </a:t>
          </a:r>
        </a:p>
      </dsp:txBody>
      <dsp:txXfrm>
        <a:off x="425696" y="4854470"/>
        <a:ext cx="10551712" cy="3908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1121398" y="497"/>
          <a:ext cx="6215402" cy="58247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Extract ASV table from </a:t>
          </a:r>
          <a:r>
            <a:rPr lang="en-US" sz="1300" kern="1200" dirty="0" err="1"/>
            <a:t>phyloseq</a:t>
          </a:r>
          <a:r>
            <a:rPr lang="en-US" sz="1300" kern="1200" dirty="0"/>
            <a:t> object</a:t>
          </a:r>
        </a:p>
      </dsp:txBody>
      <dsp:txXfrm>
        <a:off x="1138458" y="17557"/>
        <a:ext cx="6181282" cy="548350"/>
      </dsp:txXfrm>
    </dsp:sp>
    <dsp:sp modelId="{91DA19BA-A0AB-564A-8A9E-322DF18B64CF}">
      <dsp:nvSpPr>
        <dsp:cNvPr id="0" name=""/>
        <dsp:cNvSpPr/>
      </dsp:nvSpPr>
      <dsp:spPr>
        <a:xfrm rot="5400000">
          <a:off x="4119886" y="597530"/>
          <a:ext cx="218426" cy="262111"/>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4150466" y="619372"/>
        <a:ext cx="157267" cy="152898"/>
      </dsp:txXfrm>
    </dsp:sp>
    <dsp:sp modelId="{43D2067A-91F6-8745-98BA-D6A10B24950A}">
      <dsp:nvSpPr>
        <dsp:cNvPr id="0" name=""/>
        <dsp:cNvSpPr/>
      </dsp:nvSpPr>
      <dsp:spPr>
        <a:xfrm>
          <a:off x="1142903" y="874203"/>
          <a:ext cx="6172393" cy="58247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Calculate </a:t>
          </a:r>
          <a:r>
            <a:rPr lang="en-US" sz="1300" i="1" kern="1200" dirty="0"/>
            <a:t>N</a:t>
          </a:r>
          <a:r>
            <a:rPr lang="en-US" sz="1300" kern="1200" dirty="0"/>
            <a:t> by finding the mean number of reads per sample. We also find the limit of detection (</a:t>
          </a:r>
          <a:r>
            <a:rPr lang="en-US" sz="1300" i="1" kern="1200" dirty="0"/>
            <a:t>d</a:t>
          </a:r>
          <a:r>
            <a:rPr lang="en-US" sz="1300" kern="1200" dirty="0"/>
            <a:t>) = </a:t>
          </a:r>
          <a:r>
            <a:rPr lang="en-US" sz="1300" i="1" kern="1200" dirty="0"/>
            <a:t>1/N</a:t>
          </a:r>
        </a:p>
      </dsp:txBody>
      <dsp:txXfrm>
        <a:off x="1159963" y="891263"/>
        <a:ext cx="6138273" cy="548350"/>
      </dsp:txXfrm>
    </dsp:sp>
    <dsp:sp modelId="{D067C965-9057-9C4A-A1D2-4912C14C50F7}">
      <dsp:nvSpPr>
        <dsp:cNvPr id="0" name=""/>
        <dsp:cNvSpPr/>
      </dsp:nvSpPr>
      <dsp:spPr>
        <a:xfrm rot="5400000">
          <a:off x="4119886" y="1471235"/>
          <a:ext cx="218426" cy="262111"/>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4150466" y="1493077"/>
        <a:ext cx="157267" cy="152898"/>
      </dsp:txXfrm>
    </dsp:sp>
    <dsp:sp modelId="{80C05A4E-2A0A-294C-8DDC-052E97D834DA}">
      <dsp:nvSpPr>
        <dsp:cNvPr id="0" name=""/>
        <dsp:cNvSpPr/>
      </dsp:nvSpPr>
      <dsp:spPr>
        <a:xfrm>
          <a:off x="1164408" y="1747909"/>
          <a:ext cx="6129383" cy="5824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Calculate the mean observed relative abundance and occurrence frequency of each ASV</a:t>
          </a:r>
        </a:p>
      </dsp:txBody>
      <dsp:txXfrm>
        <a:off x="1181468" y="1764969"/>
        <a:ext cx="6095263" cy="548350"/>
      </dsp:txXfrm>
    </dsp:sp>
    <dsp:sp modelId="{B3C2DB7A-EC33-6544-A09D-B1205728770A}">
      <dsp:nvSpPr>
        <dsp:cNvPr id="0" name=""/>
        <dsp:cNvSpPr/>
      </dsp:nvSpPr>
      <dsp:spPr>
        <a:xfrm rot="5400000">
          <a:off x="4119886" y="2344941"/>
          <a:ext cx="218426" cy="262111"/>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4150466" y="2366783"/>
        <a:ext cx="157267" cy="152898"/>
      </dsp:txXfrm>
    </dsp:sp>
    <dsp:sp modelId="{6F6C8E07-FBAD-3F4D-A906-27ECCF26E70E}">
      <dsp:nvSpPr>
        <dsp:cNvPr id="0" name=""/>
        <dsp:cNvSpPr/>
      </dsp:nvSpPr>
      <dsp:spPr>
        <a:xfrm>
          <a:off x="1175160" y="2621614"/>
          <a:ext cx="6107878" cy="58247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Using non-linear least squares fitting we fit the neutral model to our data to find, finding the probability of dispersal (</a:t>
          </a:r>
          <a:r>
            <a:rPr lang="en-US" sz="1300" i="1" kern="1200" dirty="0"/>
            <a:t>m</a:t>
          </a:r>
          <a:r>
            <a:rPr lang="en-US" sz="1300" kern="1200" dirty="0"/>
            <a:t>)</a:t>
          </a:r>
        </a:p>
      </dsp:txBody>
      <dsp:txXfrm>
        <a:off x="1192220" y="2638674"/>
        <a:ext cx="6073758" cy="548350"/>
      </dsp:txXfrm>
    </dsp:sp>
    <dsp:sp modelId="{48489AC1-89DA-0F48-B940-23505B5798FF}">
      <dsp:nvSpPr>
        <dsp:cNvPr id="0" name=""/>
        <dsp:cNvSpPr/>
      </dsp:nvSpPr>
      <dsp:spPr>
        <a:xfrm rot="5400000">
          <a:off x="4119886" y="3218647"/>
          <a:ext cx="218426" cy="26211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4150466" y="3240489"/>
        <a:ext cx="157267" cy="152898"/>
      </dsp:txXfrm>
    </dsp:sp>
    <dsp:sp modelId="{80377AF5-BC76-FB40-840E-12C9D1BDB641}">
      <dsp:nvSpPr>
        <dsp:cNvPr id="0" name=""/>
        <dsp:cNvSpPr/>
      </dsp:nvSpPr>
      <dsp:spPr>
        <a:xfrm>
          <a:off x="1164408" y="3495320"/>
          <a:ext cx="6129383" cy="582470"/>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Using the estimated value of </a:t>
          </a:r>
          <a:r>
            <a:rPr lang="en-US" sz="1300" i="1" kern="1200" dirty="0"/>
            <a:t>m</a:t>
          </a:r>
          <a:r>
            <a:rPr lang="en-US" sz="1300" kern="1200" dirty="0"/>
            <a:t> we calculate predicted occurrence frequencies and plot predictions from the neutral model against observed frequencies</a:t>
          </a:r>
        </a:p>
      </dsp:txBody>
      <dsp:txXfrm>
        <a:off x="1181468" y="3512380"/>
        <a:ext cx="6095263" cy="5483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AFB1F9-1B64-0848-BC8B-8BDD4637556A}">
      <dsp:nvSpPr>
        <dsp:cNvPr id="0" name=""/>
        <dsp:cNvSpPr/>
      </dsp:nvSpPr>
      <dsp:spPr>
        <a:xfrm>
          <a:off x="5678537" y="3812364"/>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18548-0BA3-884A-BC27-61832F8DCC8D}">
      <dsp:nvSpPr>
        <dsp:cNvPr id="0" name=""/>
        <dsp:cNvSpPr/>
      </dsp:nvSpPr>
      <dsp:spPr>
        <a:xfrm>
          <a:off x="4754314" y="3002243"/>
          <a:ext cx="1380628" cy="239613"/>
        </a:xfrm>
        <a:custGeom>
          <a:avLst/>
          <a:gdLst/>
          <a:ahLst/>
          <a:cxnLst/>
          <a:rect l="0" t="0" r="0" b="0"/>
          <a:pathLst>
            <a:path>
              <a:moveTo>
                <a:pt x="0" y="0"/>
              </a:moveTo>
              <a:lnTo>
                <a:pt x="0" y="119806"/>
              </a:lnTo>
              <a:lnTo>
                <a:pt x="1380628" y="119806"/>
              </a:lnTo>
              <a:lnTo>
                <a:pt x="1380628"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FCD94B-15CD-C74F-ABCC-2480E9F96D8C}">
      <dsp:nvSpPr>
        <dsp:cNvPr id="0" name=""/>
        <dsp:cNvSpPr/>
      </dsp:nvSpPr>
      <dsp:spPr>
        <a:xfrm>
          <a:off x="4297908" y="3812364"/>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91ED32-A1FB-DB46-A178-565D051BB5E5}">
      <dsp:nvSpPr>
        <dsp:cNvPr id="0" name=""/>
        <dsp:cNvSpPr/>
      </dsp:nvSpPr>
      <dsp:spPr>
        <a:xfrm>
          <a:off x="4708594" y="3002243"/>
          <a:ext cx="91440" cy="239613"/>
        </a:xfrm>
        <a:custGeom>
          <a:avLst/>
          <a:gdLst/>
          <a:ahLst/>
          <a:cxnLst/>
          <a:rect l="0" t="0" r="0" b="0"/>
          <a:pathLst>
            <a:path>
              <a:moveTo>
                <a:pt x="45720" y="0"/>
              </a:moveTo>
              <a:lnTo>
                <a:pt x="4572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BAC4AD-153B-1343-BCE5-6024ABCC6DE8}">
      <dsp:nvSpPr>
        <dsp:cNvPr id="0" name=""/>
        <dsp:cNvSpPr/>
      </dsp:nvSpPr>
      <dsp:spPr>
        <a:xfrm>
          <a:off x="2917279" y="3812364"/>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950DD6-701B-604E-A21E-09DDFA200060}">
      <dsp:nvSpPr>
        <dsp:cNvPr id="0" name=""/>
        <dsp:cNvSpPr/>
      </dsp:nvSpPr>
      <dsp:spPr>
        <a:xfrm>
          <a:off x="3373685" y="3002243"/>
          <a:ext cx="1380628" cy="239613"/>
        </a:xfrm>
        <a:custGeom>
          <a:avLst/>
          <a:gdLst/>
          <a:ahLst/>
          <a:cxnLst/>
          <a:rect l="0" t="0" r="0" b="0"/>
          <a:pathLst>
            <a:path>
              <a:moveTo>
                <a:pt x="1380628" y="0"/>
              </a:moveTo>
              <a:lnTo>
                <a:pt x="1380628" y="119806"/>
              </a:lnTo>
              <a:lnTo>
                <a:pt x="0" y="119806"/>
              </a:lnTo>
              <a:lnTo>
                <a:pt x="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5B253E-CAC3-7C48-A37C-FD28DF4E1921}">
      <dsp:nvSpPr>
        <dsp:cNvPr id="0" name=""/>
        <dsp:cNvSpPr/>
      </dsp:nvSpPr>
      <dsp:spPr>
        <a:xfrm>
          <a:off x="4708594" y="2192122"/>
          <a:ext cx="91440" cy="239613"/>
        </a:xfrm>
        <a:custGeom>
          <a:avLst/>
          <a:gdLst/>
          <a:ahLst/>
          <a:cxnLst/>
          <a:rect l="0" t="0" r="0" b="0"/>
          <a:pathLst>
            <a:path>
              <a:moveTo>
                <a:pt x="45720" y="0"/>
              </a:moveTo>
              <a:lnTo>
                <a:pt x="4572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F7C25B-8A6B-9A4C-AEA5-79B511634C22}">
      <dsp:nvSpPr>
        <dsp:cNvPr id="0" name=""/>
        <dsp:cNvSpPr/>
      </dsp:nvSpPr>
      <dsp:spPr>
        <a:xfrm>
          <a:off x="4708594" y="1382001"/>
          <a:ext cx="91440" cy="239613"/>
        </a:xfrm>
        <a:custGeom>
          <a:avLst/>
          <a:gdLst/>
          <a:ahLst/>
          <a:cxnLst/>
          <a:rect l="0" t="0" r="0" b="0"/>
          <a:pathLst>
            <a:path>
              <a:moveTo>
                <a:pt x="45720" y="0"/>
              </a:moveTo>
              <a:lnTo>
                <a:pt x="4572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294D60-9B72-9641-80C4-60237BEBC252}">
      <dsp:nvSpPr>
        <dsp:cNvPr id="0" name=""/>
        <dsp:cNvSpPr/>
      </dsp:nvSpPr>
      <dsp:spPr>
        <a:xfrm>
          <a:off x="3231058" y="571880"/>
          <a:ext cx="1523255" cy="239613"/>
        </a:xfrm>
        <a:custGeom>
          <a:avLst/>
          <a:gdLst/>
          <a:ahLst/>
          <a:cxnLst/>
          <a:rect l="0" t="0" r="0" b="0"/>
          <a:pathLst>
            <a:path>
              <a:moveTo>
                <a:pt x="0" y="0"/>
              </a:moveTo>
              <a:lnTo>
                <a:pt x="0" y="119806"/>
              </a:lnTo>
              <a:lnTo>
                <a:pt x="1523255" y="119806"/>
              </a:lnTo>
              <a:lnTo>
                <a:pt x="1523255" y="23961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6987EC-151A-764D-9F5F-DAD13DFA210F}">
      <dsp:nvSpPr>
        <dsp:cNvPr id="0" name=""/>
        <dsp:cNvSpPr/>
      </dsp:nvSpPr>
      <dsp:spPr>
        <a:xfrm>
          <a:off x="2632025" y="1382001"/>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5BD677-2E0D-8648-9D43-610DB8DB5B68}">
      <dsp:nvSpPr>
        <dsp:cNvPr id="0" name=""/>
        <dsp:cNvSpPr/>
      </dsp:nvSpPr>
      <dsp:spPr>
        <a:xfrm>
          <a:off x="3088431" y="571880"/>
          <a:ext cx="142626" cy="239613"/>
        </a:xfrm>
        <a:custGeom>
          <a:avLst/>
          <a:gdLst/>
          <a:ahLst/>
          <a:cxnLst/>
          <a:rect l="0" t="0" r="0" b="0"/>
          <a:pathLst>
            <a:path>
              <a:moveTo>
                <a:pt x="142626" y="0"/>
              </a:moveTo>
              <a:lnTo>
                <a:pt x="142626" y="119806"/>
              </a:lnTo>
              <a:lnTo>
                <a:pt x="0" y="119806"/>
              </a:lnTo>
              <a:lnTo>
                <a:pt x="0" y="23961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7FEB45-0B57-E047-A4DC-4F93C6AAAF17}">
      <dsp:nvSpPr>
        <dsp:cNvPr id="0" name=""/>
        <dsp:cNvSpPr/>
      </dsp:nvSpPr>
      <dsp:spPr>
        <a:xfrm>
          <a:off x="1251396" y="1382001"/>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E42A8B-2C64-9B45-84EC-0C2265CC9A45}">
      <dsp:nvSpPr>
        <dsp:cNvPr id="0" name=""/>
        <dsp:cNvSpPr/>
      </dsp:nvSpPr>
      <dsp:spPr>
        <a:xfrm>
          <a:off x="1707802" y="571880"/>
          <a:ext cx="1523255" cy="239613"/>
        </a:xfrm>
        <a:custGeom>
          <a:avLst/>
          <a:gdLst/>
          <a:ahLst/>
          <a:cxnLst/>
          <a:rect l="0" t="0" r="0" b="0"/>
          <a:pathLst>
            <a:path>
              <a:moveTo>
                <a:pt x="1523255" y="0"/>
              </a:moveTo>
              <a:lnTo>
                <a:pt x="1523255" y="119806"/>
              </a:lnTo>
              <a:lnTo>
                <a:pt x="0" y="119806"/>
              </a:lnTo>
              <a:lnTo>
                <a:pt x="0" y="23961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CC36B6-BA4D-A641-B415-0E1EE07590C6}">
      <dsp:nvSpPr>
        <dsp:cNvPr id="0" name=""/>
        <dsp:cNvSpPr/>
      </dsp:nvSpPr>
      <dsp:spPr>
        <a:xfrm>
          <a:off x="2660550" y="1372"/>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βNTI</a:t>
          </a:r>
        </a:p>
      </dsp:txBody>
      <dsp:txXfrm>
        <a:off x="2660550" y="1372"/>
        <a:ext cx="1141015" cy="570507"/>
      </dsp:txXfrm>
    </dsp:sp>
    <dsp:sp modelId="{4A63361A-8AFA-2F4C-90B5-FAD7E6F7A3DD}">
      <dsp:nvSpPr>
        <dsp:cNvPr id="0" name=""/>
        <dsp:cNvSpPr/>
      </dsp:nvSpPr>
      <dsp:spPr>
        <a:xfrm>
          <a:off x="1137294" y="811493"/>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&lt; -2</a:t>
          </a:r>
        </a:p>
      </dsp:txBody>
      <dsp:txXfrm>
        <a:off x="1137294" y="811493"/>
        <a:ext cx="1141015" cy="570507"/>
      </dsp:txXfrm>
    </dsp:sp>
    <dsp:sp modelId="{1926695E-91AE-0542-B3EC-E69772DC1DC7}">
      <dsp:nvSpPr>
        <dsp:cNvPr id="0" name=""/>
        <dsp:cNvSpPr/>
      </dsp:nvSpPr>
      <dsp:spPr>
        <a:xfrm>
          <a:off x="1422548" y="1621614"/>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Homogenizing Selection</a:t>
          </a:r>
        </a:p>
      </dsp:txBody>
      <dsp:txXfrm>
        <a:off x="1422548" y="1621614"/>
        <a:ext cx="1141015" cy="570507"/>
      </dsp:txXfrm>
    </dsp:sp>
    <dsp:sp modelId="{5DB92BC0-ECCF-1647-98F2-A4BAD5B73C91}">
      <dsp:nvSpPr>
        <dsp:cNvPr id="0" name=""/>
        <dsp:cNvSpPr/>
      </dsp:nvSpPr>
      <dsp:spPr>
        <a:xfrm>
          <a:off x="2517923" y="811493"/>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&gt; 2</a:t>
          </a:r>
        </a:p>
      </dsp:txBody>
      <dsp:txXfrm>
        <a:off x="2517923" y="811493"/>
        <a:ext cx="1141015" cy="570507"/>
      </dsp:txXfrm>
    </dsp:sp>
    <dsp:sp modelId="{6B1FF1C0-13E9-8544-AF41-637E038824D7}">
      <dsp:nvSpPr>
        <dsp:cNvPr id="0" name=""/>
        <dsp:cNvSpPr/>
      </dsp:nvSpPr>
      <dsp:spPr>
        <a:xfrm>
          <a:off x="2803177" y="1621614"/>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Variable Selection</a:t>
          </a:r>
        </a:p>
      </dsp:txBody>
      <dsp:txXfrm>
        <a:off x="2803177" y="1621614"/>
        <a:ext cx="1141015" cy="570507"/>
      </dsp:txXfrm>
    </dsp:sp>
    <dsp:sp modelId="{AE62488F-B611-A844-8B8F-FD92D7733871}">
      <dsp:nvSpPr>
        <dsp:cNvPr id="0" name=""/>
        <dsp:cNvSpPr/>
      </dsp:nvSpPr>
      <dsp:spPr>
        <a:xfrm>
          <a:off x="4183806" y="811493"/>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|βNTI| &lt; 2</a:t>
          </a:r>
        </a:p>
      </dsp:txBody>
      <dsp:txXfrm>
        <a:off x="4183806" y="811493"/>
        <a:ext cx="1141015" cy="570507"/>
      </dsp:txXfrm>
    </dsp:sp>
    <dsp:sp modelId="{087B432B-A73B-7846-8B5A-25403EDAE7DC}">
      <dsp:nvSpPr>
        <dsp:cNvPr id="0" name=""/>
        <dsp:cNvSpPr/>
      </dsp:nvSpPr>
      <dsp:spPr>
        <a:xfrm>
          <a:off x="4183806" y="1621614"/>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Stochastic Processes</a:t>
          </a:r>
        </a:p>
      </dsp:txBody>
      <dsp:txXfrm>
        <a:off x="4183806" y="1621614"/>
        <a:ext cx="1141015" cy="570507"/>
      </dsp:txXfrm>
    </dsp:sp>
    <dsp:sp modelId="{955D6E37-AD6C-734D-A59C-17F7C8CCBF6E}">
      <dsp:nvSpPr>
        <dsp:cNvPr id="0" name=""/>
        <dsp:cNvSpPr/>
      </dsp:nvSpPr>
      <dsp:spPr>
        <a:xfrm>
          <a:off x="4183806" y="2431735"/>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err="1"/>
            <a:t>Raup</a:t>
          </a:r>
          <a:r>
            <a:rPr lang="en-US" sz="1300" kern="1200" dirty="0"/>
            <a:t>-Crick</a:t>
          </a:r>
        </a:p>
      </dsp:txBody>
      <dsp:txXfrm>
        <a:off x="4183806" y="2431735"/>
        <a:ext cx="1141015" cy="570507"/>
      </dsp:txXfrm>
    </dsp:sp>
    <dsp:sp modelId="{A8E99C39-923B-884F-AE10-80995E192317}">
      <dsp:nvSpPr>
        <dsp:cNvPr id="0" name=""/>
        <dsp:cNvSpPr/>
      </dsp:nvSpPr>
      <dsp:spPr>
        <a:xfrm>
          <a:off x="2803177" y="3241856"/>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&lt; - 0.95</a:t>
          </a:r>
        </a:p>
      </dsp:txBody>
      <dsp:txXfrm>
        <a:off x="2803177" y="3241856"/>
        <a:ext cx="1141015" cy="570507"/>
      </dsp:txXfrm>
    </dsp:sp>
    <dsp:sp modelId="{E183F606-1C96-4141-8ACB-48748EBBC1FA}">
      <dsp:nvSpPr>
        <dsp:cNvPr id="0" name=""/>
        <dsp:cNvSpPr/>
      </dsp:nvSpPr>
      <dsp:spPr>
        <a:xfrm>
          <a:off x="3088431" y="4051977"/>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Homogenizing Dispersal</a:t>
          </a:r>
        </a:p>
      </dsp:txBody>
      <dsp:txXfrm>
        <a:off x="3088431" y="4051977"/>
        <a:ext cx="1141015" cy="570507"/>
      </dsp:txXfrm>
    </dsp:sp>
    <dsp:sp modelId="{F30CE27B-3103-BF4D-8809-14F89566BA7A}">
      <dsp:nvSpPr>
        <dsp:cNvPr id="0" name=""/>
        <dsp:cNvSpPr/>
      </dsp:nvSpPr>
      <dsp:spPr>
        <a:xfrm>
          <a:off x="4183806" y="3241856"/>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&gt; 0.95</a:t>
          </a:r>
        </a:p>
      </dsp:txBody>
      <dsp:txXfrm>
        <a:off x="4183806" y="3241856"/>
        <a:ext cx="1141015" cy="570507"/>
      </dsp:txXfrm>
    </dsp:sp>
    <dsp:sp modelId="{3141EBE4-0F85-9949-AE3B-CA73549AF9B6}">
      <dsp:nvSpPr>
        <dsp:cNvPr id="0" name=""/>
        <dsp:cNvSpPr/>
      </dsp:nvSpPr>
      <dsp:spPr>
        <a:xfrm>
          <a:off x="4469060" y="4051977"/>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Dispersal Limitation</a:t>
          </a:r>
        </a:p>
      </dsp:txBody>
      <dsp:txXfrm>
        <a:off x="4469060" y="4051977"/>
        <a:ext cx="1141015" cy="570507"/>
      </dsp:txXfrm>
    </dsp:sp>
    <dsp:sp modelId="{E58F5466-ED82-8B46-BAD2-35ED1FAACC6A}">
      <dsp:nvSpPr>
        <dsp:cNvPr id="0" name=""/>
        <dsp:cNvSpPr/>
      </dsp:nvSpPr>
      <dsp:spPr>
        <a:xfrm>
          <a:off x="5564435" y="3241856"/>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t>
          </a:r>
          <a:r>
            <a:rPr lang="en-US" sz="1300" kern="1200" dirty="0" err="1"/>
            <a:t>Raup</a:t>
          </a:r>
          <a:r>
            <a:rPr lang="en-US" sz="1300" kern="1200" dirty="0"/>
            <a:t>-Crip| &lt; 0.95</a:t>
          </a:r>
        </a:p>
      </dsp:txBody>
      <dsp:txXfrm>
        <a:off x="5564435" y="3241856"/>
        <a:ext cx="1141015" cy="570507"/>
      </dsp:txXfrm>
    </dsp:sp>
    <dsp:sp modelId="{10FD6445-05F3-1740-B3F6-23464BAFFA36}">
      <dsp:nvSpPr>
        <dsp:cNvPr id="0" name=""/>
        <dsp:cNvSpPr/>
      </dsp:nvSpPr>
      <dsp:spPr>
        <a:xfrm>
          <a:off x="5849689" y="4051977"/>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Ecological Drift or Weak Selection</a:t>
          </a:r>
          <a:endParaRPr lang="en-US" sz="1300" kern="1200" dirty="0"/>
        </a:p>
      </dsp:txBody>
      <dsp:txXfrm>
        <a:off x="5849689" y="4051977"/>
        <a:ext cx="1141015" cy="5705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0" y="2127"/>
          <a:ext cx="7248525" cy="79124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Find phylogenetic distances between ASVs</a:t>
          </a:r>
        </a:p>
      </dsp:txBody>
      <dsp:txXfrm>
        <a:off x="23175" y="25302"/>
        <a:ext cx="7202175" cy="744894"/>
      </dsp:txXfrm>
    </dsp:sp>
    <dsp:sp modelId="{91DA19BA-A0AB-564A-8A9E-322DF18B64CF}">
      <dsp:nvSpPr>
        <dsp:cNvPr id="0" name=""/>
        <dsp:cNvSpPr/>
      </dsp:nvSpPr>
      <dsp:spPr>
        <a:xfrm rot="5327369">
          <a:off x="3488410" y="813153"/>
          <a:ext cx="296783" cy="3560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529043" y="842801"/>
        <a:ext cx="213636" cy="207748"/>
      </dsp:txXfrm>
    </dsp:sp>
    <dsp:sp modelId="{43D2067A-91F6-8745-98BA-D6A10B24950A}">
      <dsp:nvSpPr>
        <dsp:cNvPr id="0" name=""/>
        <dsp:cNvSpPr/>
      </dsp:nvSpPr>
      <dsp:spPr>
        <a:xfrm>
          <a:off x="50158" y="1188994"/>
          <a:ext cx="7198366" cy="79124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Find the weighted mean environmental parameters for each ASV = niche preferences </a:t>
          </a:r>
          <a:endParaRPr lang="en-US" sz="1600" i="1" kern="1200" dirty="0"/>
        </a:p>
      </dsp:txBody>
      <dsp:txXfrm>
        <a:off x="73333" y="1212169"/>
        <a:ext cx="7152016" cy="744894"/>
      </dsp:txXfrm>
    </dsp:sp>
    <dsp:sp modelId="{D067C965-9057-9C4A-A1D2-4912C14C50F7}">
      <dsp:nvSpPr>
        <dsp:cNvPr id="0" name=""/>
        <dsp:cNvSpPr/>
      </dsp:nvSpPr>
      <dsp:spPr>
        <a:xfrm rot="5472631">
          <a:off x="3488410" y="2000020"/>
          <a:ext cx="296783" cy="35606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530924" y="2029668"/>
        <a:ext cx="213636" cy="207748"/>
      </dsp:txXfrm>
    </dsp:sp>
    <dsp:sp modelId="{80C05A4E-2A0A-294C-8DDC-052E97D834DA}">
      <dsp:nvSpPr>
        <dsp:cNvPr id="0" name=""/>
        <dsp:cNvSpPr/>
      </dsp:nvSpPr>
      <dsp:spPr>
        <a:xfrm>
          <a:off x="50158" y="2375861"/>
          <a:ext cx="7148207" cy="79124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Calculate mantel correlograms for each environmental parameter </a:t>
          </a:r>
        </a:p>
      </dsp:txBody>
      <dsp:txXfrm>
        <a:off x="73333" y="2399036"/>
        <a:ext cx="7101857" cy="744894"/>
      </dsp:txXfrm>
    </dsp:sp>
    <dsp:sp modelId="{B3C2DB7A-EC33-6544-A09D-B1205728770A}">
      <dsp:nvSpPr>
        <dsp:cNvPr id="0" name=""/>
        <dsp:cNvSpPr/>
      </dsp:nvSpPr>
      <dsp:spPr>
        <a:xfrm rot="5400000">
          <a:off x="3475904" y="3186887"/>
          <a:ext cx="296716" cy="356060"/>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517445" y="3216559"/>
        <a:ext cx="213636" cy="207701"/>
      </dsp:txXfrm>
    </dsp:sp>
    <dsp:sp modelId="{6F6C8E07-FBAD-3F4D-A906-27ECCF26E70E}">
      <dsp:nvSpPr>
        <dsp:cNvPr id="0" name=""/>
        <dsp:cNvSpPr/>
      </dsp:nvSpPr>
      <dsp:spPr>
        <a:xfrm>
          <a:off x="62698" y="3562729"/>
          <a:ext cx="7123128" cy="79124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Plot results of the mantel correlograms against phylogenetic distance classes for each environmental parameter to check for significant relationships</a:t>
          </a:r>
        </a:p>
      </dsp:txBody>
      <dsp:txXfrm>
        <a:off x="85873" y="3585904"/>
        <a:ext cx="7076778" cy="74489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55017-D10A-7E41-A628-FFBA6D86E32F}" type="datetimeFigureOut">
              <a:rPr lang="en-US" smtClean="0"/>
              <a:t>4/29/21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E2140-D502-214A-B76B-E0784B2C949B}" type="slidenum">
              <a:rPr lang="en-US" smtClean="0"/>
              <a:t>‹#›</a:t>
            </a:fld>
            <a:endParaRPr lang="en-US"/>
          </a:p>
        </p:txBody>
      </p:sp>
    </p:spTree>
    <p:extLst>
      <p:ext uri="{BB962C8B-B14F-4D97-AF65-F5344CB8AC3E}">
        <p14:creationId xmlns:p14="http://schemas.microsoft.com/office/powerpoint/2010/main" val="428051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I want to ask:</a:t>
            </a:r>
          </a:p>
          <a:p>
            <a:endParaRPr lang="en-US" dirty="0"/>
          </a:p>
          <a:p>
            <a:r>
              <a:rPr lang="en-US" dirty="0"/>
              <a:t>How does dormancy influence microbial dispersal and community assembly?</a:t>
            </a:r>
          </a:p>
          <a:p>
            <a:r>
              <a:rPr lang="en-US" dirty="0"/>
              <a:t>How do dispersal and community assembly mechanisms differ at local, regional and global scales?</a:t>
            </a:r>
          </a:p>
          <a:p>
            <a:r>
              <a:rPr lang="en-US" dirty="0"/>
              <a:t>Does dispersal and community assembly mechanisms change between Spring and Summer seasons?</a:t>
            </a:r>
          </a:p>
          <a:p>
            <a:endParaRPr lang="en-US" dirty="0"/>
          </a:p>
          <a:p>
            <a:r>
              <a:rPr lang="en-US" dirty="0"/>
              <a:t>Why are we interested in community assembly?</a:t>
            </a:r>
          </a:p>
          <a:p>
            <a:r>
              <a:rPr lang="en-US" dirty="0"/>
              <a:t>Because we want to understand the evolutionary and ecological mechanisms that govern microbial community composition at local scales, thus shaping large scale patterns of microbial biogeography. Community composition affects community function with profound impacts on the wider ecosystem functioning and biodiversity.  </a:t>
            </a:r>
          </a:p>
          <a:p>
            <a:endParaRPr lang="en-US" dirty="0"/>
          </a:p>
          <a:p>
            <a:r>
              <a:rPr lang="en-US" dirty="0"/>
              <a:t>This study aims to develop an in-depth understanding of cryoconite community interactions and assembly processes. Particular questions of interest include:</a:t>
            </a:r>
          </a:p>
          <a:p>
            <a:r>
              <a:rPr lang="en-US" dirty="0"/>
              <a:t>(</a:t>
            </a:r>
            <a:r>
              <a:rPr lang="en-US" dirty="0" err="1"/>
              <a:t>i</a:t>
            </a:r>
            <a:r>
              <a:rPr lang="en-US" dirty="0"/>
              <a:t>) Do cryoconite community exhibit nonrandom co-occurrence patterns?</a:t>
            </a:r>
          </a:p>
        </p:txBody>
      </p:sp>
      <p:sp>
        <p:nvSpPr>
          <p:cNvPr id="4" name="Slide Number Placeholder 3"/>
          <p:cNvSpPr>
            <a:spLocks noGrp="1"/>
          </p:cNvSpPr>
          <p:nvPr>
            <p:ph type="sldNum" sz="quarter" idx="5"/>
          </p:nvPr>
        </p:nvSpPr>
        <p:spPr/>
        <p:txBody>
          <a:bodyPr/>
          <a:lstStyle/>
          <a:p>
            <a:fld id="{91AE2140-D502-214A-B76B-E0784B2C949B}" type="slidenum">
              <a:rPr lang="en-US" smtClean="0"/>
              <a:t>1</a:t>
            </a:fld>
            <a:endParaRPr lang="en-US"/>
          </a:p>
        </p:txBody>
      </p:sp>
    </p:spTree>
    <p:extLst>
      <p:ext uri="{BB962C8B-B14F-4D97-AF65-F5344CB8AC3E}">
        <p14:creationId xmlns:p14="http://schemas.microsoft.com/office/powerpoint/2010/main" val="3068617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am I using this analysis workflow?</a:t>
            </a:r>
          </a:p>
          <a:p>
            <a:r>
              <a:rPr lang="en-US" b="0" dirty="0"/>
              <a:t>I am combining multiple analytical techniques in order to collect a wide range of evidence pointing towards the drivers of community assembly.</a:t>
            </a:r>
          </a:p>
          <a:p>
            <a:endParaRPr lang="en-US" b="0" dirty="0"/>
          </a:p>
          <a:p>
            <a:r>
              <a:rPr lang="en-US" b="0" dirty="0"/>
              <a:t>Each method used in isolate may have its caveats, but used in combination we can build a robust picture of the processes at play in our environment of interest.</a:t>
            </a:r>
          </a:p>
          <a:p>
            <a:endParaRPr lang="en-US" b="0" dirty="0"/>
          </a:p>
          <a:p>
            <a:r>
              <a:rPr lang="en-US" b="0" dirty="0"/>
              <a:t>Multivariate analysis looks primarily at deterministic drivers of community assembly (e.g. environmental factors)</a:t>
            </a:r>
          </a:p>
          <a:p>
            <a:r>
              <a:rPr lang="en-US" b="0" dirty="0"/>
              <a:t>Neutral model looks at how much of the patterns we see can be explained by stochastic processes alone.</a:t>
            </a:r>
          </a:p>
          <a:p>
            <a:r>
              <a:rPr lang="en-US" b="0" dirty="0"/>
              <a:t>Null model takes a phylogenetic approach to look at deviation between our observed communities are what we expect at random to investigate both deterministic and stochastic processes.</a:t>
            </a:r>
          </a:p>
          <a:p>
            <a:r>
              <a:rPr lang="en-US" b="0" dirty="0"/>
              <a:t>Network analysis allows us to explore biotic selection as a deterministic process of community assembly. </a:t>
            </a:r>
          </a:p>
          <a:p>
            <a:endParaRPr lang="en-US" b="0" dirty="0"/>
          </a:p>
          <a:p>
            <a:endParaRPr lang="en-US" b="0" dirty="0"/>
          </a:p>
        </p:txBody>
      </p:sp>
      <p:sp>
        <p:nvSpPr>
          <p:cNvPr id="4" name="Slide Number Placeholder 3"/>
          <p:cNvSpPr>
            <a:spLocks noGrp="1"/>
          </p:cNvSpPr>
          <p:nvPr>
            <p:ph type="sldNum" sz="quarter" idx="5"/>
          </p:nvPr>
        </p:nvSpPr>
        <p:spPr/>
        <p:txBody>
          <a:bodyPr/>
          <a:lstStyle/>
          <a:p>
            <a:fld id="{91AE2140-D502-214A-B76B-E0784B2C949B}" type="slidenum">
              <a:rPr lang="en-US" smtClean="0"/>
              <a:t>3</a:t>
            </a:fld>
            <a:endParaRPr lang="en-US"/>
          </a:p>
        </p:txBody>
      </p:sp>
    </p:spTree>
    <p:extLst>
      <p:ext uri="{BB962C8B-B14F-4D97-AF65-F5344CB8AC3E}">
        <p14:creationId xmlns:p14="http://schemas.microsoft.com/office/powerpoint/2010/main" val="2176468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dataset on which to develop my analysis pipeline because it included recently published cryoconite community data and cryoconite communities are of specific interest to me as they are a hotspot of biological activity on the glacier surface. Also, they act as discrete microcosms which can be measured in terms of area, therefore have the advantage of being used to explore the present of island-species area relationships.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fact that ISAR had already been investigated in this dataset meant that I could carry out my own analyses and compare the results to ensure that I was analyzing the data correctly.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paper included information on sequence processing that I was able to use in my first QIIME workflow. </a:t>
            </a:r>
          </a:p>
          <a:p>
            <a:endParaRPr lang="en-US" dirty="0"/>
          </a:p>
          <a:p>
            <a:r>
              <a:rPr lang="en-US" dirty="0"/>
              <a:t>It gave me the opportunity to work with 16S and 18S data (although here I have only analyzed the 16S data) </a:t>
            </a:r>
          </a:p>
          <a:p>
            <a:endParaRPr lang="en-US" dirty="0"/>
          </a:p>
          <a:p>
            <a:r>
              <a:rPr lang="en-US" dirty="0"/>
              <a:t>The data could also be grouped by glacier which was useful for comparative analyses.</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4</a:t>
            </a:fld>
            <a:endParaRPr lang="en-US"/>
          </a:p>
        </p:txBody>
      </p:sp>
    </p:spTree>
    <p:extLst>
      <p:ext uri="{BB962C8B-B14F-4D97-AF65-F5344CB8AC3E}">
        <p14:creationId xmlns:p14="http://schemas.microsoft.com/office/powerpoint/2010/main" val="29509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QIIME2 on my local computer I downloaded Sequence Read Archive (SRA) toolbox that allowed me to prefetch the sequence data from the SRA website using the archive umber supplied by the paper, splitting the flies into forward and reverse reads and saving them to my laptop.</a:t>
            </a:r>
          </a:p>
          <a:p>
            <a:endParaRPr lang="en-US" dirty="0"/>
          </a:p>
          <a:p>
            <a:r>
              <a:rPr lang="en-US" dirty="0"/>
              <a:t>I renamed the sequence files and modified the metadata file into formats expected by QIIME2.</a:t>
            </a:r>
          </a:p>
          <a:p>
            <a:endParaRPr lang="en-US" dirty="0"/>
          </a:p>
          <a:p>
            <a:r>
              <a:rPr lang="en-GB" sz="1200" kern="1200" dirty="0">
                <a:solidFill>
                  <a:schemeClr val="tx1"/>
                </a:solidFill>
                <a:effectLst/>
                <a:latin typeface="+mn-lt"/>
                <a:ea typeface="+mn-ea"/>
                <a:cs typeface="+mn-cs"/>
              </a:rPr>
              <a:t>Import </a:t>
            </a:r>
            <a:r>
              <a:rPr lang="en-GB" sz="1200" kern="1200" dirty="0" err="1">
                <a:solidFill>
                  <a:schemeClr val="tx1"/>
                </a:solidFill>
                <a:effectLst/>
                <a:latin typeface="+mn-lt"/>
                <a:ea typeface="+mn-ea"/>
                <a:cs typeface="+mn-cs"/>
              </a:rPr>
              <a:t>fastq</a:t>
            </a:r>
            <a:r>
              <a:rPr lang="en-GB" sz="1200" kern="1200" dirty="0">
                <a:solidFill>
                  <a:schemeClr val="tx1"/>
                </a:solidFill>
                <a:effectLst/>
                <a:latin typeface="+mn-lt"/>
                <a:ea typeface="+mn-ea"/>
                <a:cs typeface="+mn-cs"/>
              </a:rPr>
              <a:t> files and convert them into a format </a:t>
            </a:r>
            <a:r>
              <a:rPr lang="en-GB" sz="1200" kern="1200" dirty="0" err="1">
                <a:solidFill>
                  <a:schemeClr val="tx1"/>
                </a:solidFill>
                <a:effectLst/>
                <a:latin typeface="+mn-lt"/>
                <a:ea typeface="+mn-ea"/>
                <a:cs typeface="+mn-cs"/>
              </a:rPr>
              <a:t>Qiime</a:t>
            </a:r>
            <a:r>
              <a:rPr lang="en-GB" sz="1200" kern="1200" dirty="0">
                <a:solidFill>
                  <a:schemeClr val="tx1"/>
                </a:solidFill>
                <a:effectLst/>
                <a:latin typeface="+mn-lt"/>
                <a:ea typeface="+mn-ea"/>
                <a:cs typeface="+mn-cs"/>
              </a:rPr>
              <a:t> wants to work with.</a:t>
            </a:r>
            <a:r>
              <a:rPr lang="en-GB" dirty="0">
                <a:effectLst/>
              </a:rPr>
              <a:t> </a:t>
            </a:r>
          </a:p>
          <a:p>
            <a:endParaRPr lang="en-GB" dirty="0">
              <a:effectLst/>
            </a:endParaRPr>
          </a:p>
          <a:p>
            <a:r>
              <a:rPr lang="en-GB" sz="1200" kern="1200" dirty="0">
                <a:solidFill>
                  <a:schemeClr val="tx1"/>
                </a:solidFill>
                <a:effectLst/>
                <a:latin typeface="+mn-lt"/>
                <a:ea typeface="+mn-ea"/>
                <a:cs typeface="+mn-cs"/>
              </a:rPr>
              <a:t>Remove primers. I'm getting the primers from https://</a:t>
            </a:r>
            <a:r>
              <a:rPr lang="en-GB" sz="1200" kern="1200" dirty="0" err="1">
                <a:solidFill>
                  <a:schemeClr val="tx1"/>
                </a:solidFill>
                <a:effectLst/>
                <a:latin typeface="+mn-lt"/>
                <a:ea typeface="+mn-ea"/>
                <a:cs typeface="+mn-cs"/>
              </a:rPr>
              <a:t>earthmicrobiome.org</a:t>
            </a:r>
            <a:r>
              <a:rPr lang="en-GB" sz="1200" kern="1200" dirty="0">
                <a:solidFill>
                  <a:schemeClr val="tx1"/>
                </a:solidFill>
                <a:effectLst/>
                <a:latin typeface="+mn-lt"/>
                <a:ea typeface="+mn-ea"/>
                <a:cs typeface="+mn-cs"/>
              </a:rPr>
              <a:t>/protocols-and-standards/16s/ as described by Sommers et al., (2020)</a:t>
            </a:r>
          </a:p>
          <a:p>
            <a:r>
              <a:rPr lang="en-GB" sz="1200" kern="1200" dirty="0">
                <a:solidFill>
                  <a:schemeClr val="tx1"/>
                </a:solidFill>
                <a:effectLst/>
                <a:latin typeface="+mn-lt"/>
                <a:ea typeface="+mn-ea"/>
                <a:cs typeface="+mn-cs"/>
              </a:rPr>
              <a:t>The primer sequences are :</a:t>
            </a:r>
          </a:p>
          <a:p>
            <a:r>
              <a:rPr lang="en-GB" sz="1200" kern="1200" dirty="0">
                <a:solidFill>
                  <a:schemeClr val="tx1"/>
                </a:solidFill>
                <a:effectLst/>
                <a:latin typeface="+mn-lt"/>
                <a:ea typeface="+mn-ea"/>
                <a:cs typeface="+mn-cs"/>
              </a:rPr>
              <a:t>Updated sequences: 515F (</a:t>
            </a:r>
            <a:r>
              <a:rPr lang="en-GB" sz="1200" kern="1200" dirty="0" err="1">
                <a:solidFill>
                  <a:schemeClr val="tx1"/>
                </a:solidFill>
                <a:effectLst/>
                <a:latin typeface="+mn-lt"/>
                <a:ea typeface="+mn-ea"/>
                <a:cs typeface="+mn-cs"/>
              </a:rPr>
              <a:t>Parada</a:t>
            </a:r>
            <a:r>
              <a:rPr lang="en-GB" sz="1200" kern="1200" dirty="0">
                <a:solidFill>
                  <a:schemeClr val="tx1"/>
                </a:solidFill>
                <a:effectLst/>
                <a:latin typeface="+mn-lt"/>
                <a:ea typeface="+mn-ea"/>
                <a:cs typeface="+mn-cs"/>
              </a:rPr>
              <a:t>)–806R (</a:t>
            </a:r>
            <a:r>
              <a:rPr lang="en-GB" sz="1200" kern="1200" dirty="0" err="1">
                <a:solidFill>
                  <a:schemeClr val="tx1"/>
                </a:solidFill>
                <a:effectLst/>
                <a:latin typeface="+mn-lt"/>
                <a:ea typeface="+mn-ea"/>
                <a:cs typeface="+mn-cs"/>
              </a:rPr>
              <a:t>Apprill</a:t>
            </a:r>
            <a:r>
              <a:rPr lang="en-GB" sz="1200" kern="1200" dirty="0">
                <a:solidFill>
                  <a:schemeClr val="tx1"/>
                </a:solidFill>
                <a:effectLst/>
                <a:latin typeface="+mn-lt"/>
                <a:ea typeface="+mn-ea"/>
                <a:cs typeface="+mn-cs"/>
              </a:rPr>
              <a:t>), forward-barcoded:</a:t>
            </a:r>
          </a:p>
          <a:p>
            <a:r>
              <a:rPr lang="en-GB" sz="1200" kern="1200" dirty="0">
                <a:solidFill>
                  <a:schemeClr val="tx1"/>
                </a:solidFill>
                <a:effectLst/>
                <a:latin typeface="+mn-lt"/>
                <a:ea typeface="+mn-ea"/>
                <a:cs typeface="+mn-cs"/>
              </a:rPr>
              <a:t>FWD:GTGYCAGCMGCCGCGGTAA; REV:GGACTACNVGGGTWTCTAAT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Check the quality of trimmed reads and visualise.</a:t>
            </a:r>
            <a:r>
              <a:rPr lang="en-GB" dirty="0">
                <a:effectLst/>
              </a:rPr>
              <a:t> </a:t>
            </a:r>
          </a:p>
          <a:p>
            <a:endParaRPr lang="en-GB" dirty="0">
              <a:effectLst/>
            </a:endParaRPr>
          </a:p>
          <a:p>
            <a:r>
              <a:rPr lang="en-GB" sz="1200" kern="1200" dirty="0">
                <a:solidFill>
                  <a:schemeClr val="tx1"/>
                </a:solidFill>
                <a:effectLst/>
                <a:latin typeface="+mn-lt"/>
                <a:ea typeface="+mn-ea"/>
                <a:cs typeface="+mn-cs"/>
              </a:rPr>
              <a:t>Call DADA2.  Where are the adaptors? Front or back? Use trim in DADA2 to cut them, in stead of QIIME2 </a:t>
            </a:r>
            <a:r>
              <a:rPr lang="en-GB" sz="1200" kern="1200" dirty="0" err="1">
                <a:solidFill>
                  <a:schemeClr val="tx1"/>
                </a:solidFill>
                <a:effectLst/>
                <a:latin typeface="+mn-lt"/>
                <a:ea typeface="+mn-ea"/>
                <a:cs typeface="+mn-cs"/>
              </a:rPr>
              <a:t>cutadapt</a:t>
            </a:r>
            <a:endParaRPr lang="en-GB" sz="1200" kern="1200" dirty="0">
              <a:solidFill>
                <a:schemeClr val="tx1"/>
              </a:solidFill>
              <a:effectLst/>
              <a:latin typeface="+mn-lt"/>
              <a:ea typeface="+mn-ea"/>
              <a:cs typeface="+mn-cs"/>
            </a:endParaRPr>
          </a:p>
          <a:p>
            <a:r>
              <a:rPr lang="en-GB" sz="1200" kern="1200" dirty="0" err="1">
                <a:solidFill>
                  <a:schemeClr val="tx1"/>
                </a:solidFill>
                <a:effectLst/>
                <a:latin typeface="+mn-lt"/>
                <a:ea typeface="+mn-ea"/>
                <a:cs typeface="+mn-cs"/>
              </a:rPr>
              <a:t>FastQC</a:t>
            </a:r>
            <a:r>
              <a:rPr lang="en-GB" sz="1200" kern="1200" dirty="0">
                <a:solidFill>
                  <a:schemeClr val="tx1"/>
                </a:solidFill>
                <a:effectLst/>
                <a:latin typeface="+mn-lt"/>
                <a:ea typeface="+mn-ea"/>
                <a:cs typeface="+mn-cs"/>
              </a:rPr>
              <a:t> - look at for adaptor - if adaptor isn't there then don't worry about it! Warning: Not all adaptors are picked up by </a:t>
            </a:r>
            <a:r>
              <a:rPr lang="en-GB" sz="1200" kern="1200" dirty="0" err="1">
                <a:solidFill>
                  <a:schemeClr val="tx1"/>
                </a:solidFill>
                <a:effectLst/>
                <a:latin typeface="+mn-lt"/>
                <a:ea typeface="+mn-ea"/>
                <a:cs typeface="+mn-cs"/>
              </a:rPr>
              <a:t>FastQC</a:t>
            </a:r>
            <a:r>
              <a:rPr lang="en-GB" sz="1200" kern="1200" dirty="0">
                <a:solidFill>
                  <a:schemeClr val="tx1"/>
                </a:solidFill>
                <a:effectLst/>
                <a:latin typeface="+mn-lt"/>
                <a:ea typeface="+mn-ea"/>
                <a:cs typeface="+mn-cs"/>
              </a:rPr>
              <a:t>.</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Denoise data and check results of this step.</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Summarise remaining reads after denoising and visualise.  Through the sequence table generated below you can click on a representative sequence and BLAST it.</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Generate a feature table and visualise.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Download Silva classifier and move to work folder.</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Classify representative sequences and visualise.</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Make a multiple sequence alignment with MAFFT.</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Now mask the alignment.</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Construct the phylogenetic tree and root.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Export feature table (Feature table of the remaining sequences after denoising that tells us how many samples we have, how many features (ASVs) we have, how frequent (how many individual cells there are) per sample, how many ASVs we see per sample</a:t>
            </a:r>
            <a:r>
              <a:rPr lang="en-GB" dirty="0">
                <a:effectLst/>
              </a:rPr>
              <a:t> ) </a:t>
            </a:r>
            <a:r>
              <a:rPr lang="en-GB" sz="1200" kern="1200" dirty="0">
                <a:solidFill>
                  <a:schemeClr val="tx1"/>
                </a:solidFill>
                <a:effectLst/>
                <a:latin typeface="+mn-lt"/>
                <a:ea typeface="+mn-ea"/>
                <a:cs typeface="+mn-cs"/>
              </a:rPr>
              <a:t>, ASV count table (ASV count table with sample as columns and ASV as row</a:t>
            </a:r>
            <a:r>
              <a:rPr lang="en-GB" dirty="0">
                <a:effectLst/>
              </a:rPr>
              <a:t> )</a:t>
            </a:r>
            <a:r>
              <a:rPr lang="en-GB" sz="1200" kern="1200" dirty="0">
                <a:solidFill>
                  <a:schemeClr val="tx1"/>
                </a:solidFill>
                <a:effectLst/>
                <a:latin typeface="+mn-lt"/>
                <a:ea typeface="+mn-ea"/>
                <a:cs typeface="+mn-cs"/>
              </a:rPr>
              <a:t>, representative sequences (The remaining representative sequences after denoising (i.e. a list of all the unique base pair sequences present in the denoised dataset), exported as a </a:t>
            </a:r>
            <a:r>
              <a:rPr lang="en-GB" sz="1200" kern="1200" dirty="0" err="1">
                <a:solidFill>
                  <a:schemeClr val="tx1"/>
                </a:solidFill>
                <a:effectLst/>
                <a:latin typeface="+mn-lt"/>
                <a:ea typeface="+mn-ea"/>
                <a:cs typeface="+mn-cs"/>
              </a:rPr>
              <a:t>fasta</a:t>
            </a:r>
            <a:r>
              <a:rPr lang="en-GB" sz="1200" kern="1200" dirty="0">
                <a:solidFill>
                  <a:schemeClr val="tx1"/>
                </a:solidFill>
                <a:effectLst/>
                <a:latin typeface="+mn-lt"/>
                <a:ea typeface="+mn-ea"/>
                <a:cs typeface="+mn-cs"/>
              </a:rPr>
              <a:t> file</a:t>
            </a:r>
            <a:r>
              <a:rPr lang="en-GB" dirty="0">
                <a:effectLst/>
              </a:rPr>
              <a:t>)</a:t>
            </a:r>
            <a:r>
              <a:rPr lang="en-GB" sz="1200" kern="1200" dirty="0">
                <a:solidFill>
                  <a:schemeClr val="tx1"/>
                </a:solidFill>
                <a:effectLst/>
                <a:latin typeface="+mn-lt"/>
                <a:ea typeface="+mn-ea"/>
                <a:cs typeface="+mn-cs"/>
              </a:rPr>
              <a:t>, taxonomy table (Table of feature (ASV) IDs and their taxonomic classifications</a:t>
            </a:r>
            <a:r>
              <a:rPr lang="en-GB" dirty="0">
                <a:effectLst/>
              </a:rPr>
              <a:t> ) </a:t>
            </a:r>
            <a:r>
              <a:rPr lang="en-GB" sz="1200" kern="1200" dirty="0">
                <a:solidFill>
                  <a:schemeClr val="tx1"/>
                </a:solidFill>
                <a:effectLst/>
                <a:latin typeface="+mn-lt"/>
                <a:ea typeface="+mn-ea"/>
                <a:cs typeface="+mn-cs"/>
              </a:rPr>
              <a:t>and phylogenetic tree.</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5</a:t>
            </a:fld>
            <a:endParaRPr lang="en-US"/>
          </a:p>
        </p:txBody>
      </p:sp>
    </p:spTree>
    <p:extLst>
      <p:ext uri="{BB962C8B-B14F-4D97-AF65-F5344CB8AC3E}">
        <p14:creationId xmlns:p14="http://schemas.microsoft.com/office/powerpoint/2010/main" val="2819534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6</a:t>
            </a:fld>
            <a:endParaRPr lang="en-US"/>
          </a:p>
        </p:txBody>
      </p:sp>
    </p:spTree>
    <p:extLst>
      <p:ext uri="{BB962C8B-B14F-4D97-AF65-F5344CB8AC3E}">
        <p14:creationId xmlns:p14="http://schemas.microsoft.com/office/powerpoint/2010/main" val="791841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Faith: Total community = No difference. Abundant community = No difference (significant difference with non-parametric). Rare community = No difference.</a:t>
            </a:r>
          </a:p>
          <a:p>
            <a:endParaRPr lang="en-US" sz="1200" dirty="0"/>
          </a:p>
          <a:p>
            <a:r>
              <a:rPr lang="en-US" sz="1200" dirty="0"/>
              <a:t>Simpson: Total community = No difference. Abundant community = Significant difference (no difference with non-parametric). Rare community = No difference.</a:t>
            </a:r>
          </a:p>
          <a:p>
            <a:endParaRPr lang="en-US" sz="1200" dirty="0"/>
          </a:p>
          <a:p>
            <a:r>
              <a:rPr lang="en-US" sz="1200" dirty="0"/>
              <a:t>Inverse Simpson: Total community = No difference. Abundant community = No difference. Rare community = No difference.</a:t>
            </a:r>
          </a:p>
          <a:p>
            <a:endParaRPr lang="en-US" sz="1200" dirty="0"/>
          </a:p>
          <a:p>
            <a:r>
              <a:rPr lang="en-US" sz="1200" dirty="0" err="1"/>
              <a:t>Pilou</a:t>
            </a:r>
            <a:r>
              <a:rPr lang="en-US" sz="1200" dirty="0"/>
              <a:t>: Total community = Significant difference. Abundant community = Significant difference. Rare community = No difference.</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9</a:t>
            </a:fld>
            <a:endParaRPr lang="en-US"/>
          </a:p>
        </p:txBody>
      </p:sp>
    </p:spTree>
    <p:extLst>
      <p:ext uri="{BB962C8B-B14F-4D97-AF65-F5344CB8AC3E}">
        <p14:creationId xmlns:p14="http://schemas.microsoft.com/office/powerpoint/2010/main" val="2867786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10</a:t>
            </a:fld>
            <a:endParaRPr lang="en-US"/>
          </a:p>
        </p:txBody>
      </p:sp>
    </p:spTree>
    <p:extLst>
      <p:ext uri="{BB962C8B-B14F-4D97-AF65-F5344CB8AC3E}">
        <p14:creationId xmlns:p14="http://schemas.microsoft.com/office/powerpoint/2010/main" val="4000139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Unweighted </a:t>
            </a:r>
            <a:r>
              <a:rPr lang="en-US" dirty="0" err="1"/>
              <a:t>unifrac</a:t>
            </a:r>
            <a:r>
              <a:rPr lang="en-US" dirty="0"/>
              <a:t> ordination indicates that there is significant variation in beta diversity between abundant sub-communities, but no significant variation between rare communities. This may also be indicative of separate abundant communities established due to selection, while the rare sub-community randomly disperses between the glaciers.</a:t>
            </a:r>
          </a:p>
        </p:txBody>
      </p:sp>
      <p:sp>
        <p:nvSpPr>
          <p:cNvPr id="4" name="Slide Number Placeholder 3"/>
          <p:cNvSpPr>
            <a:spLocks noGrp="1"/>
          </p:cNvSpPr>
          <p:nvPr>
            <p:ph type="sldNum" sz="quarter" idx="5"/>
          </p:nvPr>
        </p:nvSpPr>
        <p:spPr/>
        <p:txBody>
          <a:bodyPr/>
          <a:lstStyle/>
          <a:p>
            <a:fld id="{91AE2140-D502-214A-B76B-E0784B2C949B}" type="slidenum">
              <a:rPr lang="en-US" smtClean="0"/>
              <a:t>11</a:t>
            </a:fld>
            <a:endParaRPr lang="en-US"/>
          </a:p>
        </p:txBody>
      </p:sp>
    </p:spTree>
    <p:extLst>
      <p:ext uri="{BB962C8B-B14F-4D97-AF65-F5344CB8AC3E}">
        <p14:creationId xmlns:p14="http://schemas.microsoft.com/office/powerpoint/2010/main" val="1397233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12</a:t>
            </a:fld>
            <a:endParaRPr lang="en-US"/>
          </a:p>
        </p:txBody>
      </p:sp>
    </p:spTree>
    <p:extLst>
      <p:ext uri="{BB962C8B-B14F-4D97-AF65-F5344CB8AC3E}">
        <p14:creationId xmlns:p14="http://schemas.microsoft.com/office/powerpoint/2010/main" val="3703516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indicates that abundant sub-community is correlated with hole area, DNA per gram of cryoconite and organic matter content of cryoconite.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Linear regression indicates that rare sub-community is correlated with hole depth and area. Suggests that abundant community may be shaped more by selection, which rare community may be more shaped by stochastic processes.</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13</a:t>
            </a:fld>
            <a:endParaRPr lang="en-US"/>
          </a:p>
        </p:txBody>
      </p:sp>
    </p:spTree>
    <p:extLst>
      <p:ext uri="{BB962C8B-B14F-4D97-AF65-F5344CB8AC3E}">
        <p14:creationId xmlns:p14="http://schemas.microsoft.com/office/powerpoint/2010/main" val="398490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model simplification with interaction, I started with a maximal model that included area, organic matter content, hole depth, DNA per gram, water content and glacier.</a:t>
            </a:r>
          </a:p>
          <a:p>
            <a:endParaRPr lang="en-US" dirty="0"/>
          </a:p>
          <a:p>
            <a:r>
              <a:rPr lang="en-US" dirty="0"/>
              <a:t>The minimum adequate model to explain abundant richness involved a range of environmental parameters.</a:t>
            </a:r>
          </a:p>
          <a:p>
            <a:endParaRPr lang="en-US" dirty="0"/>
          </a:p>
          <a:p>
            <a:r>
              <a:rPr lang="en-US" dirty="0"/>
              <a:t>The minimum adequate model to explain rare community richness was hole area.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Suggests that abundant community may be shaped more by selection, which rare community may be more shaped by stochastic processes.</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14</a:t>
            </a:fld>
            <a:endParaRPr lang="en-US"/>
          </a:p>
        </p:txBody>
      </p:sp>
    </p:spTree>
    <p:extLst>
      <p:ext uri="{BB962C8B-B14F-4D97-AF65-F5344CB8AC3E}">
        <p14:creationId xmlns:p14="http://schemas.microsoft.com/office/powerpoint/2010/main" val="2728637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 ordination shows the correlation between beta diversity and area across both glaciers for abundant taxa, with water content also being correlated for Canada glacier.. Had problems with rare community.</a:t>
            </a:r>
          </a:p>
        </p:txBody>
      </p:sp>
      <p:sp>
        <p:nvSpPr>
          <p:cNvPr id="4" name="Slide Number Placeholder 3"/>
          <p:cNvSpPr>
            <a:spLocks noGrp="1"/>
          </p:cNvSpPr>
          <p:nvPr>
            <p:ph type="sldNum" sz="quarter" idx="5"/>
          </p:nvPr>
        </p:nvSpPr>
        <p:spPr/>
        <p:txBody>
          <a:bodyPr/>
          <a:lstStyle/>
          <a:p>
            <a:fld id="{91AE2140-D502-214A-B76B-E0784B2C949B}" type="slidenum">
              <a:rPr lang="en-US" smtClean="0"/>
              <a:t>15</a:t>
            </a:fld>
            <a:endParaRPr lang="en-US"/>
          </a:p>
        </p:txBody>
      </p:sp>
    </p:spTree>
    <p:extLst>
      <p:ext uri="{BB962C8B-B14F-4D97-AF65-F5344CB8AC3E}">
        <p14:creationId xmlns:p14="http://schemas.microsoft.com/office/powerpoint/2010/main" val="3910410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linear regression log area explained significant variation in abundant sub-community richness with a slope of 0.05 for Canada and 0.14 for Taylor. These slope coefficients are fairly commonly found for microbes.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linear regression log area explained significant variation in rare sub-community richness with a slope of 0.39 for Canada and 0.43 for Taylor. These slope coefficients are extremely high for microbes. Rare community richness increases more quickly with cryoconite area, suggesting that stochastic processes of dispersal are more important than for abundant taxa.</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16</a:t>
            </a:fld>
            <a:endParaRPr lang="en-US"/>
          </a:p>
        </p:txBody>
      </p:sp>
    </p:spTree>
    <p:extLst>
      <p:ext uri="{BB962C8B-B14F-4D97-AF65-F5344CB8AC3E}">
        <p14:creationId xmlns:p14="http://schemas.microsoft.com/office/powerpoint/2010/main" val="3875507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Sloan’s Neutral Model states that the probability of species </a:t>
            </a:r>
            <a:r>
              <a:rPr lang="en-US" i="1" dirty="0" err="1"/>
              <a:t>i</a:t>
            </a:r>
            <a:r>
              <a:rPr lang="en-US" dirty="0"/>
              <a:t> occurring within a sample at abundance (x</a:t>
            </a:r>
            <a:r>
              <a:rPr lang="en-US" i="0" baseline="-25000" dirty="0"/>
              <a:t>i</a:t>
            </a:r>
            <a:r>
              <a:rPr lang="en-US" dirty="0"/>
              <a:t>) above a detection threshold (d) </a:t>
            </a:r>
          </a:p>
          <a:p>
            <a:endParaRPr lang="en-US" dirty="0"/>
          </a:p>
          <a:p>
            <a:r>
              <a:rPr lang="en-US" dirty="0"/>
              <a:t>Model results are compared to the observed data. Deviation of observed data from model results is assumed to be evidence of deterministic community assembly.</a:t>
            </a:r>
          </a:p>
          <a:p>
            <a:endParaRPr lang="en-US" dirty="0"/>
          </a:p>
          <a:p>
            <a:r>
              <a:rPr lang="en-US" dirty="0"/>
              <a:t>The abundance of each ASV in the metacommunity (p</a:t>
            </a:r>
            <a:r>
              <a:rPr lang="en-US" i="1" dirty="0"/>
              <a:t>i</a:t>
            </a:r>
            <a:r>
              <a:rPr lang="en-US" dirty="0"/>
              <a:t>) is estimated by averaging it’s relative abundance across all samples.</a:t>
            </a:r>
          </a:p>
          <a:p>
            <a:endParaRPr lang="en-US" dirty="0"/>
          </a:p>
          <a:p>
            <a:r>
              <a:rPr lang="en-US" b="1" dirty="0"/>
              <a:t>Why is Sloan's Neutral Model important? (Sloan et al., 2006)</a:t>
            </a:r>
          </a:p>
          <a:p>
            <a:r>
              <a:rPr lang="en-US" dirty="0"/>
              <a:t>Microbial organisms are essential for life on earth.</a:t>
            </a:r>
          </a:p>
          <a:p>
            <a:r>
              <a:rPr lang="en-US" dirty="0"/>
              <a:t>The rules that govern their community assembly are poorly understood.</a:t>
            </a:r>
          </a:p>
          <a:p>
            <a:r>
              <a:rPr lang="en-US" dirty="0"/>
              <a:t>We need mathematical tools to describe these processes.</a:t>
            </a:r>
          </a:p>
          <a:p>
            <a:r>
              <a:rPr lang="en-US" dirty="0"/>
              <a:t>Typically microbial community structure has been thought to be shaped by deterministic processes (abiotic and biotic selection).</a:t>
            </a:r>
          </a:p>
          <a:p>
            <a:r>
              <a:rPr lang="en-US" dirty="0"/>
              <a:t>Despite this, the relative abundances and frequencies of taxa observed can be described using a neutral community model.</a:t>
            </a:r>
          </a:p>
          <a:p>
            <a:r>
              <a:rPr lang="en-US" dirty="0"/>
              <a:t>Sloan’s neutral community model includes stochastic birth-death events (or ecological drift) and immigration.</a:t>
            </a:r>
          </a:p>
          <a:p>
            <a:r>
              <a:rPr lang="en-US" dirty="0"/>
              <a:t>The neutral community model DOES NOT include any deterministic processes and is not supposed to be a complete description of microbial community assembly processes.</a:t>
            </a:r>
          </a:p>
          <a:p>
            <a:r>
              <a:rPr lang="en-US" dirty="0"/>
              <a:t>Despite this, the successful application of the model in describing patterns of community structure suggests that stochastic processes of ecological drift and dispersal are important processes in microbial community assembly.</a:t>
            </a:r>
          </a:p>
          <a:p>
            <a:r>
              <a:rPr lang="en-US" dirty="0"/>
              <a:t>Neutral models allow us to quantify processes which are difficult to directly observe (dispersal) yet that are important to microbial communities.</a:t>
            </a:r>
          </a:p>
          <a:p>
            <a:endParaRPr lang="en-US" dirty="0"/>
          </a:p>
          <a:p>
            <a:endParaRPr lang="en-US" dirty="0"/>
          </a:p>
          <a:p>
            <a:r>
              <a:rPr lang="en-US" dirty="0"/>
              <a:t>To test if stochastic processes play a key role in shaping microbial community structure we need:</a:t>
            </a:r>
          </a:p>
          <a:p>
            <a:pPr marL="228600" indent="-228600">
              <a:buAutoNum type="arabicPeriod"/>
            </a:pPr>
            <a:r>
              <a:rPr lang="en-US" dirty="0"/>
              <a:t>Evidence of random community assembly</a:t>
            </a:r>
          </a:p>
          <a:p>
            <a:pPr marL="228600" indent="-228600">
              <a:buAutoNum type="arabicPeriod"/>
            </a:pPr>
            <a:r>
              <a:rPr lang="en-US" dirty="0"/>
              <a:t>A neutral model for microbes that can deal with large populations</a:t>
            </a:r>
          </a:p>
          <a:p>
            <a:pPr marL="228600" indent="-228600">
              <a:buAutoNum type="arabicPeriod"/>
            </a:pPr>
            <a:r>
              <a:rPr lang="en-US" dirty="0"/>
              <a:t>A method for </a:t>
            </a:r>
            <a:r>
              <a:rPr lang="en-US" dirty="0" err="1"/>
              <a:t>paramaterisation</a:t>
            </a:r>
            <a:r>
              <a:rPr lang="en-US" dirty="0"/>
              <a:t> that does not rely on observed species abundance distributions or assumptions about source community patterns</a:t>
            </a:r>
          </a:p>
          <a:p>
            <a:pPr marL="228600" indent="-228600">
              <a:buAutoNum type="arabicPeriod"/>
            </a:pPr>
            <a:r>
              <a:rPr lang="en-US" dirty="0"/>
              <a:t>Data that support the model</a:t>
            </a:r>
          </a:p>
          <a:p>
            <a:pPr marL="228600" indent="-228600">
              <a:buAutoNum type="arabicPeriod"/>
            </a:pPr>
            <a:r>
              <a:rPr lang="en-US" dirty="0"/>
              <a:t>A model robust to departures from the assumption of neutrality</a:t>
            </a:r>
          </a:p>
          <a:p>
            <a:endParaRPr lang="en-US" b="1" dirty="0"/>
          </a:p>
          <a:p>
            <a:r>
              <a:rPr lang="en-US" b="1" dirty="0"/>
              <a:t>Explain how Sloan's Neutral Model works.</a:t>
            </a:r>
          </a:p>
          <a:p>
            <a:pPr marL="228600" indent="-228600">
              <a:buAutoNum type="arabicParenR"/>
            </a:pPr>
            <a:r>
              <a:rPr lang="en-US" dirty="0"/>
              <a:t>The community is saturated with </a:t>
            </a:r>
            <a:r>
              <a:rPr lang="en-US" dirty="0" err="1"/>
              <a:t>Nt</a:t>
            </a:r>
            <a:r>
              <a:rPr lang="en-US" dirty="0"/>
              <a:t> individuals. For the assemblage to change an individual must die or leave the system. The rate of change within the system is species independent.</a:t>
            </a:r>
          </a:p>
          <a:p>
            <a:pPr marL="228600" indent="-228600">
              <a:buAutoNum type="arabicParenR"/>
            </a:pPr>
            <a:r>
              <a:rPr lang="en-US" dirty="0"/>
              <a:t>The dead individual is replace with probability m by an immigrant from the metacommunity, or replaced by reproduction of a member of the local community with probability 1-m. </a:t>
            </a:r>
          </a:p>
          <a:p>
            <a:pPr marL="228600" indent="-228600">
              <a:buAutoNum type="arabicParenR"/>
            </a:pPr>
            <a:r>
              <a:rPr lang="en-US" dirty="0"/>
              <a:t>The community changed through a cycle of death, birth and immigration only.</a:t>
            </a:r>
          </a:p>
          <a:p>
            <a:pPr marL="228600" indent="-228600">
              <a:buAutoNum type="arabicParenR"/>
            </a:pPr>
            <a:endParaRPr lang="en-US" dirty="0"/>
          </a:p>
          <a:p>
            <a:pPr marL="228600" indent="-228600">
              <a:buAutoNum type="arabicParenR"/>
            </a:pPr>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17</a:t>
            </a:fld>
            <a:endParaRPr lang="en-US"/>
          </a:p>
        </p:txBody>
      </p:sp>
    </p:spTree>
    <p:extLst>
      <p:ext uri="{BB962C8B-B14F-4D97-AF65-F5344CB8AC3E}">
        <p14:creationId xmlns:p14="http://schemas.microsoft.com/office/powerpoint/2010/main" val="1811139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developed from Barnett et al., (2020) Soil characteristics and land-use drive bacterial community assembly patterns (https://</a:t>
            </a:r>
            <a:r>
              <a:rPr lang="en-US" dirty="0" err="1"/>
              <a:t>github.com</a:t>
            </a:r>
            <a:r>
              <a:rPr lang="en-US" dirty="0"/>
              <a:t>/seb369/</a:t>
            </a:r>
            <a:r>
              <a:rPr lang="en-US" dirty="0" err="1"/>
              <a:t>landuse_comm_assembly</a:t>
            </a:r>
            <a:r>
              <a:rPr lang="en-US" dirty="0"/>
              <a:t>)</a:t>
            </a:r>
          </a:p>
          <a:p>
            <a:endParaRPr lang="en-US" dirty="0"/>
          </a:p>
          <a:p>
            <a:r>
              <a:rPr lang="en-US" dirty="0"/>
              <a:t>So we:</a:t>
            </a:r>
          </a:p>
          <a:p>
            <a:r>
              <a:rPr lang="en-US" dirty="0"/>
              <a:t>Fit the model to the observed frequency of occurrences of ASVs (in what proportion of the samples is each ASV detected?) and their abundance in the metacommunity (estimated as the mean relative abundance across all samples).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Explain how Sloan's Neutral Model works.</a:t>
            </a:r>
            <a:endParaRPr lang="en-US" dirty="0"/>
          </a:p>
          <a:p>
            <a:r>
              <a:rPr lang="en-US" dirty="0"/>
              <a:t>1. Calculate N as the mean read count within samples</a:t>
            </a:r>
          </a:p>
          <a:p>
            <a:r>
              <a:rPr lang="en-US" dirty="0"/>
              <a:t>2. Calculate the average relative abundance of each ASV across samples</a:t>
            </a:r>
          </a:p>
          <a:p>
            <a:r>
              <a:rPr lang="en-US" dirty="0"/>
              <a:t>3. Calculate the occurrence frequency of each ASV</a:t>
            </a:r>
          </a:p>
          <a:p>
            <a:r>
              <a:rPr lang="en-US" dirty="0"/>
              <a:t>4. Calculate the limit of detection </a:t>
            </a:r>
          </a:p>
          <a:p>
            <a:r>
              <a:rPr lang="en-US" dirty="0"/>
              <a:t>5. Fit the model parameter (m – probability that a dead individual is replaced by an immigrant) using non-linear least squares fitting</a:t>
            </a:r>
          </a:p>
          <a:p>
            <a:r>
              <a:rPr lang="en-US" dirty="0"/>
              <a:t>6. Use the fitted m parameter to calculate predicted ASV frequencies under stochastic processes.</a:t>
            </a:r>
          </a:p>
          <a:p>
            <a:r>
              <a:rPr lang="en-US" dirty="0"/>
              <a:t>10. Plot the predicted ASV frequencies (percentage of samples we expect to see an ASV) with the observed ASV frequencies against their mean relative abundance across all samples</a:t>
            </a:r>
          </a:p>
        </p:txBody>
      </p:sp>
      <p:sp>
        <p:nvSpPr>
          <p:cNvPr id="4" name="Slide Number Placeholder 3"/>
          <p:cNvSpPr>
            <a:spLocks noGrp="1"/>
          </p:cNvSpPr>
          <p:nvPr>
            <p:ph type="sldNum" sz="quarter" idx="5"/>
          </p:nvPr>
        </p:nvSpPr>
        <p:spPr/>
        <p:txBody>
          <a:bodyPr/>
          <a:lstStyle/>
          <a:p>
            <a:fld id="{91AE2140-D502-214A-B76B-E0784B2C949B}" type="slidenum">
              <a:rPr lang="en-US" smtClean="0"/>
              <a:t>18</a:t>
            </a:fld>
            <a:endParaRPr lang="en-US"/>
          </a:p>
        </p:txBody>
      </p:sp>
    </p:spTree>
    <p:extLst>
      <p:ext uri="{BB962C8B-B14F-4D97-AF65-F5344CB8AC3E}">
        <p14:creationId xmlns:p14="http://schemas.microsoft.com/office/powerpoint/2010/main" val="2263901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neutral model performed well for TOTAL community, explaining 77% of variation in ASV detection frequency with an estimated migration factor of 0.017 between sites.</a:t>
            </a:r>
          </a:p>
          <a:p>
            <a:r>
              <a:rPr lang="en-US" dirty="0"/>
              <a:t>These results suggest that neutral assembly processes can explain the pattern of observed ASV occurrence frequencies </a:t>
            </a:r>
          </a:p>
          <a:p>
            <a:endParaRPr lang="en-US" dirty="0"/>
          </a:p>
          <a:p>
            <a:r>
              <a:rPr lang="en-US" dirty="0"/>
              <a:t>Neutral processes less successful at explaining pattern of abundant community. Suggests intermediate and rare communities may be better explained by neutral processes. Rare community model fitting failed!</a:t>
            </a:r>
          </a:p>
          <a:p>
            <a:endParaRPr lang="en-US" dirty="0"/>
          </a:p>
          <a:p>
            <a:r>
              <a:rPr lang="en-US" dirty="0"/>
              <a:t>This is the result of the model fitting with the Sommers dataset (not reduced).</a:t>
            </a:r>
          </a:p>
          <a:p>
            <a:endParaRPr lang="en-US" dirty="0"/>
          </a:p>
          <a:p>
            <a:r>
              <a:rPr lang="en-US" dirty="0"/>
              <a:t>X axis = log average relative abundances of each ASV across all samples (</a:t>
            </a:r>
            <a:r>
              <a:rPr lang="en-GB" dirty="0"/>
              <a:t>percent composition of an ASV </a:t>
            </a:r>
            <a:r>
              <a:rPr lang="en-GB" b="1" dirty="0"/>
              <a:t>relative</a:t>
            </a:r>
            <a:r>
              <a:rPr lang="en-GB" dirty="0"/>
              <a:t> to the total number of ASVs across all samples)</a:t>
            </a:r>
          </a:p>
          <a:p>
            <a:endParaRPr lang="en-US" dirty="0"/>
          </a:p>
          <a:p>
            <a:r>
              <a:rPr lang="en-US" dirty="0"/>
              <a:t>Y axis = mean occurrence frequency of each ASV (in what percentage of samples will each ASV occur)</a:t>
            </a:r>
          </a:p>
          <a:p>
            <a:endParaRPr lang="en-US" dirty="0"/>
          </a:p>
          <a:p>
            <a:r>
              <a:rPr lang="en-US" dirty="0"/>
              <a:t>Points = observed log relative abundances against occurrence frequencies</a:t>
            </a:r>
          </a:p>
          <a:p>
            <a:r>
              <a:rPr lang="en-US" dirty="0"/>
              <a:t>Solid line = predicted log relative abundances plotted against occurrence frequencies</a:t>
            </a:r>
          </a:p>
          <a:p>
            <a:r>
              <a:rPr lang="en-US" dirty="0"/>
              <a:t>Dotted lines = 95% confidence intervals</a:t>
            </a:r>
          </a:p>
          <a:p>
            <a:endParaRPr lang="en-US" dirty="0"/>
          </a:p>
          <a:p>
            <a:r>
              <a:rPr lang="en-US" dirty="0"/>
              <a:t>This allows us to assess to what degree observed community structure can be explained by stochastic processes within each sample.</a:t>
            </a:r>
          </a:p>
          <a:p>
            <a:r>
              <a:rPr lang="en-US" dirty="0"/>
              <a:t>The Sloan neutral model is applied here. This model does not take into account phylogenetic distance. </a:t>
            </a:r>
          </a:p>
          <a:p>
            <a:r>
              <a:rPr lang="en-US" dirty="0"/>
              <a:t>ASV occurrence frequency is explained as a function of ASV abundance within the metacommunity (i.e. the more abundant an ASV is in the metacommunity, the more frequently it will be detected in the local community by chance). </a:t>
            </a:r>
          </a:p>
          <a:p>
            <a:r>
              <a:rPr lang="en-US" dirty="0"/>
              <a:t>The neutral model performed well, explaining 77% of variation in ASV detection frequency with an estimated migration factor of 0.017 between sites.</a:t>
            </a:r>
          </a:p>
          <a:p>
            <a:r>
              <a:rPr lang="en-US" dirty="0"/>
              <a:t>These results suggest that neutral assembly processes can explain the pattern of observed ASV occurrence frequencies </a:t>
            </a:r>
            <a:r>
              <a:rPr lang="en-US" strike="sngStrike" dirty="0"/>
              <a:t>and that the the regional species pool is a driving factor in the community composition of these samples. </a:t>
            </a:r>
          </a:p>
          <a:p>
            <a:r>
              <a:rPr lang="en-US" strike="noStrike" dirty="0"/>
              <a:t>The deviation of predicted occurrence frequencies from observed occurrence frequencies suggests that there are also deterministic processes driving community composition.</a:t>
            </a:r>
          </a:p>
          <a:p>
            <a:endParaRPr lang="en-US" strike="noStrike" dirty="0"/>
          </a:p>
          <a:p>
            <a:r>
              <a:rPr lang="en-US" b="1" strike="noStrike" dirty="0"/>
              <a:t>WHAT CAN WE INTERPRET FROM THESE RESULTS?</a:t>
            </a:r>
          </a:p>
          <a:p>
            <a:r>
              <a:rPr lang="en-US" strike="noStrike" dirty="0"/>
              <a:t>I have assessed the degree to which stochastic processes explain community assembly within these samples.</a:t>
            </a:r>
          </a:p>
          <a:p>
            <a:r>
              <a:rPr lang="en-US" strike="noStrike" dirty="0"/>
              <a:t>This model ignores phylogenetic distance and explains the frequency of ASV detection across samples as a function of their abundance in the metacommunity (the more individuals of ASV </a:t>
            </a:r>
            <a:r>
              <a:rPr lang="en-US" strike="noStrike" dirty="0" err="1"/>
              <a:t>i</a:t>
            </a:r>
            <a:r>
              <a:rPr lang="en-US" strike="noStrike" dirty="0"/>
              <a:t> are present in the metacommunity, the more likely you are to find them in any given sample).</a:t>
            </a:r>
          </a:p>
          <a:p>
            <a:r>
              <a:rPr lang="en-US" strike="noStrike" dirty="0"/>
              <a:t>The neutral model performed well, explaining 77% of the variation in ASV detection frequency with an estimated migration factor of 0.017 between sites (this means there is ~2% chance of a local death being replaced by an immigrant which is very low – lower than reported for other studies that hover around 16-25%).</a:t>
            </a:r>
          </a:p>
          <a:p>
            <a:r>
              <a:rPr lang="en-US" strike="noStrike" dirty="0"/>
              <a:t>These results indicate that, for the majority of ASVs, neutral assembly processes of ecological drift and dispersal can explain their within sample occurrence patterns across an area, and the composition of the species pool of the area drives community assembly.</a:t>
            </a:r>
          </a:p>
          <a:p>
            <a:r>
              <a:rPr lang="en-US" strike="noStrike" dirty="0"/>
              <a:t>However, the model is not a perfect fit to the data and beta diversity ordination has shown that communities vary significantly between glaciers, suggesting that deterministic processes also play an important role.</a:t>
            </a:r>
          </a:p>
          <a:p>
            <a:endParaRPr lang="en-US" strike="noStrike" dirty="0"/>
          </a:p>
          <a:p>
            <a:r>
              <a:rPr lang="en-US" strike="noStrike" dirty="0"/>
              <a:t>NULL hypothesis: cryoconite bacterial community composition is completely stochastic. Neutral model results (high R2) mean I am unable to reject the null hypothesis. Significant variable in ASV frequency across samples is explained by their relative abundance in the metacommunity. The results suggest that local selection is weak and dispersal is low, indicating that ecological drift is the dominant community assembly process.</a:t>
            </a:r>
          </a:p>
          <a:p>
            <a:endParaRPr lang="en-US"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Estimates of beta diversity based on phylogenetic dissimilarity show significant variation between glaciers. This supports the results that dispersal is limited. We might suggest that variation in beta diversity is a result of local ecological drift and limited dispersal rather than selection.</a:t>
            </a:r>
            <a:endParaRPr lang="en-US" strike="noStrike" dirty="0"/>
          </a:p>
          <a:p>
            <a:endParaRPr lang="en-US" strike="noStrike" dirty="0"/>
          </a:p>
          <a:p>
            <a:r>
              <a:rPr lang="en-US" strike="noStrike" dirty="0"/>
              <a:t>The distribution of ASVs across samples (in the metacommunity) followed the basic pattern of more abundant data being widespread – this is consistent with predictions of neutral theory. Despite the good fit of the model and the low m rate, there was significant difference between the communities on each glacier, illustrating the important point that variation among microbial communities does not need to be the result of environmental differences. Neutral processes can generate diversity on their own!</a:t>
            </a:r>
          </a:p>
          <a:p>
            <a:endParaRPr lang="en-US" strike="noStrike" dirty="0"/>
          </a:p>
          <a:p>
            <a:r>
              <a:rPr lang="en-US" b="1" strike="noStrike" dirty="0"/>
              <a:t>What would I expect to see for abundant/rare, active/bulk communities? What would I infer from this?</a:t>
            </a:r>
          </a:p>
          <a:p>
            <a:endParaRPr lang="en-US" strike="noStrike" dirty="0"/>
          </a:p>
          <a:p>
            <a:r>
              <a:rPr lang="en-US" strike="noStrike" dirty="0"/>
              <a:t>I want to repeat this analysis for abundant/rare taxa and active/bulk groups to see if stochastic processes are as important for each group, as well as to see how chance of immigration changes.</a:t>
            </a:r>
          </a:p>
          <a:p>
            <a:endParaRPr lang="en-US" strike="noStrike" dirty="0"/>
          </a:p>
          <a:p>
            <a:r>
              <a:rPr lang="en-US" strike="noStrike" dirty="0"/>
              <a:t>Previous studies into soil microbial community assembly processes found:</a:t>
            </a:r>
          </a:p>
          <a:p>
            <a:r>
              <a:rPr lang="en-US" strike="noStrike" dirty="0"/>
              <a:t>Neutral model explained more variation in abundant sub-community than rare sub-community.</a:t>
            </a:r>
          </a:p>
          <a:p>
            <a:r>
              <a:rPr lang="en-US" strike="noStrike" dirty="0"/>
              <a:t>Neutral model also predicted lower m values for abundant sub-communities than rare sub-communities.</a:t>
            </a:r>
          </a:p>
          <a:p>
            <a:endParaRPr lang="en-US" strike="noStrike" dirty="0"/>
          </a:p>
          <a:p>
            <a:r>
              <a:rPr lang="en-US" strike="noStrike" dirty="0"/>
              <a:t>Abundant species likely utilize an array of resources and occupy more broad niches, which rare taxa may occupy more specific niches – we would expect rare sub-communities to be more strongly shaped by deterministic processes.</a:t>
            </a:r>
          </a:p>
          <a:p>
            <a:endParaRPr lang="en-US" strike="noStrike" dirty="0"/>
          </a:p>
          <a:p>
            <a:r>
              <a:rPr lang="en-US" strike="noStrike" dirty="0"/>
              <a:t>I predict that the neutral model will describe more variation in the bulk community than the active community as selection will only occur on active species. I also predict that migration rates will be higher for bulk communities because migration requires that an individual successfully transfer to a new habitat – where a dormant individual doesn’t need to worry about selection. </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19</a:t>
            </a:fld>
            <a:endParaRPr lang="en-US"/>
          </a:p>
        </p:txBody>
      </p:sp>
    </p:spTree>
    <p:extLst>
      <p:ext uri="{BB962C8B-B14F-4D97-AF65-F5344CB8AC3E}">
        <p14:creationId xmlns:p14="http://schemas.microsoft.com/office/powerpoint/2010/main" val="1684522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For each pair of community we generate the βMNTD is selection was not driving community assembly by randomly shuffling the tips of the phylogeny and recalculating the βMNTD (repeat 999 times to get distribution of null values).</a:t>
            </a:r>
          </a:p>
          <a:p>
            <a:r>
              <a:rPr lang="en-US" b="0" dirty="0"/>
              <a:t>We use the observed βMNTD and the null βMNTD to generate our β-nearest-taxon-index (βNTI).</a:t>
            </a:r>
          </a:p>
          <a:p>
            <a:r>
              <a:rPr lang="en-US" b="0" dirty="0"/>
              <a:t>If the observed βMNTD is significantly less (i.e. βNTI &lt;-2) or greater than the null expectation (i.e. βNTI &gt;2) we would infer that homogenous selection or variable selection is shaping community assembly respectively.</a:t>
            </a:r>
          </a:p>
          <a:p>
            <a:r>
              <a:rPr lang="en-US" b="0" dirty="0"/>
              <a:t>If the absolute value of βNTI  is less than 2 we suggest that stochastic processes are predominantly driving community assembly. </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Observed bray-Curtis dissimilarities are then compared to the null distribution to get the </a:t>
            </a:r>
            <a:r>
              <a:rPr lang="en-US" b="0" dirty="0" err="1"/>
              <a:t>RCbray</a:t>
            </a:r>
            <a:r>
              <a:rPr lang="en-US" b="0" dirty="0"/>
              <a:t> value. If the </a:t>
            </a:r>
            <a:r>
              <a:rPr lang="en-US" b="0" dirty="0" err="1"/>
              <a:t>Rcbray</a:t>
            </a:r>
            <a:r>
              <a:rPr lang="en-US" b="0" dirty="0"/>
              <a:t> value is less than -0.95 then the community is more homogenous than expected at random and this is driven by high dispersal rates. If the </a:t>
            </a:r>
            <a:r>
              <a:rPr lang="en-US" b="0" dirty="0" err="1"/>
              <a:t>Rcbray</a:t>
            </a:r>
            <a:r>
              <a:rPr lang="en-US" b="0" dirty="0"/>
              <a:t> value is &gt; 0.95 than the communities are more different than expected by random and they are shaped by dispersal limitation. If the absolute value of </a:t>
            </a:r>
            <a:r>
              <a:rPr lang="en-US" b="0" dirty="0" err="1"/>
              <a:t>Rcbray</a:t>
            </a:r>
            <a:r>
              <a:rPr lang="en-US" b="0" dirty="0"/>
              <a:t> is less than 0.95 then the compositional turnover between a given pair of communities is undominated by selection or dispersal.</a:t>
            </a:r>
          </a:p>
          <a:p>
            <a:endParaRPr lang="en-US" b="1" dirty="0"/>
          </a:p>
          <a:p>
            <a:endParaRPr lang="en-US" b="1" dirty="0"/>
          </a:p>
          <a:p>
            <a:r>
              <a:rPr lang="en-US" b="1" dirty="0"/>
              <a:t>Why is </a:t>
            </a:r>
            <a:r>
              <a:rPr lang="en-US" b="1" dirty="0" err="1"/>
              <a:t>Stegen's</a:t>
            </a:r>
            <a:r>
              <a:rPr lang="en-US" b="1" dirty="0"/>
              <a:t> Phylogenetic Null Model important?</a:t>
            </a:r>
          </a:p>
          <a:p>
            <a:r>
              <a:rPr lang="en-US" b="0" dirty="0"/>
              <a:t>Ecological community assembly is shaped by:</a:t>
            </a:r>
          </a:p>
          <a:p>
            <a:r>
              <a:rPr lang="en-US" b="0" dirty="0"/>
              <a:t>Selection from among-taxa differences in fitness (this can be homogenous or variable)</a:t>
            </a:r>
          </a:p>
          <a:p>
            <a:r>
              <a:rPr lang="en-US" b="0" dirty="0"/>
              <a:t>Dispersal (is a rate that may be limited when there is limited dispersal between communities, or homogenizing dispersal when there is high dispersal between communities)</a:t>
            </a:r>
          </a:p>
          <a:p>
            <a:r>
              <a:rPr lang="en-US" b="0" dirty="0"/>
              <a:t>Ecological drift</a:t>
            </a:r>
          </a:p>
          <a:p>
            <a:r>
              <a:rPr lang="en-US" b="0" dirty="0"/>
              <a:t>The relative importance of these processes varies. </a:t>
            </a:r>
          </a:p>
          <a:p>
            <a:endParaRPr lang="en-US" b="0" dirty="0"/>
          </a:p>
          <a:p>
            <a:r>
              <a:rPr lang="en-US" b="0" dirty="0"/>
              <a:t>If environmental conditions are homogenous through space there will be constant selective pressure resulting in homogenous selection.</a:t>
            </a:r>
          </a:p>
          <a:p>
            <a:r>
              <a:rPr lang="en-US" b="0" dirty="0"/>
              <a:t>If environmental conditions vary across space, the fitness differences of taxa will vary across space and there will be variable selection.</a:t>
            </a:r>
          </a:p>
          <a:p>
            <a:r>
              <a:rPr lang="en-US" b="0" dirty="0"/>
              <a:t>High dispersal rates between communities lead to homogenous community composition if those dispersal rates overcome selective pressures, leading to homogenizing dispersal.</a:t>
            </a:r>
          </a:p>
          <a:p>
            <a:r>
              <a:rPr lang="en-US" b="0" dirty="0"/>
              <a:t>If selection is weak and dispersal between communities is low, ecological drift can generate significant changes in community composition. </a:t>
            </a:r>
          </a:p>
          <a:p>
            <a:r>
              <a:rPr lang="en-US" b="0" dirty="0"/>
              <a:t>Dispersal limitation is the situation in which low dispersal rates are the primary contributor to high community turnover.</a:t>
            </a:r>
          </a:p>
          <a:p>
            <a:r>
              <a:rPr lang="en-US" b="0" dirty="0"/>
              <a:t>Ecological drift is the situation in which there is a combination of moderate selection and moderate dispersal, neither process dominates so community turnover is a result of a mixture of dispersal and random birth/death events. Essentially this is where community assembly is not dominated by a particular process.</a:t>
            </a:r>
            <a:endParaRPr lang="en-US" b="1" dirty="0"/>
          </a:p>
          <a:p>
            <a:endParaRPr lang="en-US" b="1" dirty="0"/>
          </a:p>
          <a:p>
            <a:endParaRPr lang="en-US" dirty="0"/>
          </a:p>
          <a:p>
            <a:r>
              <a:rPr lang="en-US" dirty="0"/>
              <a:t>Stochastic processes can produce complex spatial community patterns. </a:t>
            </a:r>
          </a:p>
          <a:p>
            <a:r>
              <a:rPr lang="en-US" dirty="0"/>
              <a:t>Ecological drift = random birth/death events in a specific area, in the absence of selection. Ecological drift is particularly important when dispersal is limited as illustrated by island biogeography theory.</a:t>
            </a:r>
          </a:p>
          <a:p>
            <a:r>
              <a:rPr lang="en-US" dirty="0"/>
              <a:t>Dispersal limitation between isolated habitats promotes local extinction and ecological drift which causes initially identical communities to diverge. Ecological drift can cause communities to diverge, even when dispersal is high and selection pressure is low.</a:t>
            </a:r>
          </a:p>
          <a:p>
            <a:r>
              <a:rPr lang="en-US" dirty="0"/>
              <a:t>Homogenizing dispersal = high dispersal rates leading to similar communities between habitats (overcomes the impact of ecological drift and even deterministic processes)</a:t>
            </a:r>
          </a:p>
          <a:p>
            <a:endParaRPr lang="en-US" dirty="0"/>
          </a:p>
          <a:p>
            <a:r>
              <a:rPr lang="en-US" dirty="0"/>
              <a:t>Deterministic (deterministic processes commonly mean beta diversity varies as a result of environmental characteristics – i.e. communities are more or less different due to the differences or similarities of the environments)</a:t>
            </a:r>
          </a:p>
          <a:p>
            <a:r>
              <a:rPr lang="en-US" dirty="0"/>
              <a:t>Variable selection – deterministic processes are driving variable composition between communities. Different areas have different environmental characteristics that select for different species.</a:t>
            </a:r>
          </a:p>
          <a:p>
            <a:r>
              <a:rPr lang="en-US" dirty="0"/>
              <a:t>Homogenizing selection – deterministic processes are driving homogenous composition between communities. Different areas have similar environmental characteristics that select for similar species.</a:t>
            </a:r>
          </a:p>
          <a:p>
            <a:endParaRPr lang="en-US" dirty="0"/>
          </a:p>
          <a:p>
            <a:r>
              <a:rPr lang="en-US" dirty="0"/>
              <a:t>Dispersal limitation – stochastic dispersal limitation is driving variable composition between communities </a:t>
            </a:r>
          </a:p>
          <a:p>
            <a:r>
              <a:rPr lang="en-US" dirty="0"/>
              <a:t>Homogenizing dispersal – stochastic high dispersal is driving homogenous composition between communities</a:t>
            </a:r>
          </a:p>
          <a:p>
            <a:r>
              <a:rPr lang="en-US" dirty="0"/>
              <a:t>Ecological drift – stochastic ecological drift is driving variable composition between communities</a:t>
            </a:r>
          </a:p>
          <a:p>
            <a:endParaRPr lang="en-US" dirty="0"/>
          </a:p>
          <a:p>
            <a:r>
              <a:rPr lang="en-US" b="1" dirty="0"/>
              <a:t>Explain how </a:t>
            </a:r>
            <a:r>
              <a:rPr lang="en-US" b="1" dirty="0" err="1"/>
              <a:t>Stegen's</a:t>
            </a:r>
            <a:r>
              <a:rPr lang="en-US" b="1" dirty="0"/>
              <a:t> Null Model works.</a:t>
            </a:r>
          </a:p>
          <a:p>
            <a:r>
              <a:rPr lang="en-US" b="0" dirty="0"/>
              <a:t>This framework uses the phylogenetic differences between communities to infer ecological selection. </a:t>
            </a:r>
          </a:p>
          <a:p>
            <a:endParaRPr lang="en-US" b="0" dirty="0"/>
          </a:p>
          <a:p>
            <a:r>
              <a:rPr lang="en-US" b="1" dirty="0"/>
              <a:t>Why is phylogenetic signal important?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For this method to work there need to be significant phylogenetic signal – that is, taxa that are more closely phylogenetically related, exhibit ecological similarities/niche similarities. If more closely related taxa are not more ecologically similar then we cannot use their relatedness to infer if selection or stochastic processes are occurring.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process</a:t>
            </a:r>
            <a:endParaRPr lang="en-US" b="0" dirty="0"/>
          </a:p>
          <a:p>
            <a:r>
              <a:rPr lang="en-US" b="0" dirty="0"/>
              <a:t>To quantify phylogenetic turnover between communities we first calculate the between-community mean-nearest-taxon-distance metric (βMNTD). This quantifies the distance between each species in one community and it’s closest relative in a second community.</a:t>
            </a:r>
          </a:p>
          <a:p>
            <a:r>
              <a:rPr lang="en-US" b="0" dirty="0"/>
              <a:t>For each pair of community we generate the βMNTD is selection was not driving community assembly by randomly shuffling the tips of the phylogeny and recalculating the βMNTD (repeat 999 times to get distribution of null values).</a:t>
            </a:r>
          </a:p>
          <a:p>
            <a:r>
              <a:rPr lang="en-US" b="0" dirty="0"/>
              <a:t>We use the observed βMNTD and the null βMNTD to generate our β-nearest-taxon-index (βNTI).</a:t>
            </a:r>
          </a:p>
          <a:p>
            <a:r>
              <a:rPr lang="en-US" b="0" dirty="0"/>
              <a:t>If the observed βMNTD is significantly less (i.e. βNTI &lt;-2) or greater than the null expectation (i.e. βNTI &gt;2) we would infer that homogenous selection or variable selection is shaping community assembly respectively.</a:t>
            </a:r>
          </a:p>
          <a:p>
            <a:r>
              <a:rPr lang="en-US" b="0" dirty="0"/>
              <a:t>If the absolute value of βNTI  is less than 2 we suggest that stochastic processes are predominantly driving community assembly.  </a:t>
            </a:r>
          </a:p>
          <a:p>
            <a:endParaRPr lang="en-US" b="0" dirty="0"/>
          </a:p>
          <a:p>
            <a:r>
              <a:rPr lang="en-US" b="0" dirty="0"/>
              <a:t>To distinguish between homogenizing dispersal, limited dispersal and lack of dominance between selection and dispersal, we use the </a:t>
            </a:r>
            <a:r>
              <a:rPr lang="en-US" b="0" dirty="0" err="1"/>
              <a:t>Raup</a:t>
            </a:r>
            <a:r>
              <a:rPr lang="en-US" b="0" dirty="0"/>
              <a:t>-Crick metric which incorporates species relative abundances but doesn’t use phylogenetic information.</a:t>
            </a:r>
          </a:p>
          <a:p>
            <a:endParaRPr lang="en-US" b="0" dirty="0"/>
          </a:p>
          <a:p>
            <a:r>
              <a:rPr lang="en-US" b="0" dirty="0"/>
              <a:t>To generate the RC metric, species are drawn into each sample until the observed species richness of each sample is reached.</a:t>
            </a:r>
          </a:p>
          <a:p>
            <a:r>
              <a:rPr lang="en-US" b="0" dirty="0"/>
              <a:t>Then individuals are draw into each species until the observed abundance is reached. This procedure approximates stochastic community assembly under the assumption of weak selection and random dispersal. Compositional differences are qualified using Bray-Curtis and this is repeated 999 times for each pair of communities to generate a null distribution of dissimilarities.</a:t>
            </a:r>
          </a:p>
          <a:p>
            <a:endParaRPr lang="en-US" b="0" dirty="0"/>
          </a:p>
          <a:p>
            <a:r>
              <a:rPr lang="en-US" b="0" dirty="0"/>
              <a:t>Observed bray-Curtis dissimilarities are then compared to the null distribution to get the </a:t>
            </a:r>
            <a:r>
              <a:rPr lang="en-US" b="0" dirty="0" err="1"/>
              <a:t>RCbray</a:t>
            </a:r>
            <a:r>
              <a:rPr lang="en-US" b="0" dirty="0"/>
              <a:t> value. If the </a:t>
            </a:r>
            <a:r>
              <a:rPr lang="en-US" b="0" dirty="0" err="1"/>
              <a:t>Rcbray</a:t>
            </a:r>
            <a:r>
              <a:rPr lang="en-US" b="0" dirty="0"/>
              <a:t> value is less than -0.95 then the community is more homogenous than expected at random and this is driven by high dispersal rates. If the </a:t>
            </a:r>
            <a:r>
              <a:rPr lang="en-US" b="0" dirty="0" err="1"/>
              <a:t>Rcbray</a:t>
            </a:r>
            <a:r>
              <a:rPr lang="en-US" b="0" dirty="0"/>
              <a:t> value is &gt; 0.95 than the communities are more different than expected by random and they are shaped by dispersal limitation. If the absolute value of </a:t>
            </a:r>
            <a:r>
              <a:rPr lang="en-US" b="0" dirty="0" err="1"/>
              <a:t>Rcbray</a:t>
            </a:r>
            <a:r>
              <a:rPr lang="en-US" b="0" dirty="0"/>
              <a:t> is less than 0.95 then the compositional turnover between a given pair of communities is undominated by selection or dispersal.</a:t>
            </a:r>
          </a:p>
          <a:p>
            <a:endParaRPr lang="en-US" b="0" dirty="0"/>
          </a:p>
          <a:p>
            <a:endParaRPr lang="en-US" b="0" dirty="0"/>
          </a:p>
          <a:p>
            <a:endParaRPr lang="en-US" b="0" dirty="0"/>
          </a:p>
          <a:p>
            <a:endParaRPr lang="en-US" b="1" dirty="0"/>
          </a:p>
          <a:p>
            <a:endParaRPr lang="en-US" b="1" dirty="0"/>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20</a:t>
            </a:fld>
            <a:endParaRPr lang="en-US"/>
          </a:p>
        </p:txBody>
      </p:sp>
    </p:spTree>
    <p:extLst>
      <p:ext uri="{BB962C8B-B14F-4D97-AF65-F5344CB8AC3E}">
        <p14:creationId xmlns:p14="http://schemas.microsoft.com/office/powerpoint/2010/main" val="4270121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and open dots signify significant and non-significant correlations respectively. This related between ASV niche differences and between ASV phylogenetic distances. I used the cryoconite properties of chlorophyll, hole depth, pH and water content to estimate ASV environmental niches. Significant positive correlations indicates that the niche distance between ASVs increases with phylogenetic distance. </a:t>
            </a:r>
          </a:p>
          <a:p>
            <a:endParaRPr lang="en-US" dirty="0"/>
          </a:p>
          <a:p>
            <a:r>
              <a:rPr lang="en-US" dirty="0"/>
              <a:t>The null model may not be appropriate for this data due to lack of significant correlations– however, we must consider that this dataset was drastically reduced to allow the correlograms to process on my local computer. With that in mind, we continue with the null model analysis.</a:t>
            </a:r>
          </a:p>
          <a:p>
            <a:endParaRPr lang="en-US" dirty="0"/>
          </a:p>
          <a:p>
            <a:r>
              <a:rPr lang="en-US" dirty="0"/>
              <a:t>There are multi ways of testing for phylogenetic signal so it’d like to look into them (https://</a:t>
            </a:r>
            <a:r>
              <a:rPr lang="en-US" dirty="0" err="1"/>
              <a:t>besjournals.onlinelibrary.wiley.com</a:t>
            </a:r>
            <a:r>
              <a:rPr lang="en-US" dirty="0"/>
              <a:t>/</a:t>
            </a:r>
            <a:r>
              <a:rPr lang="en-US" dirty="0" err="1"/>
              <a:t>doi</a:t>
            </a:r>
            <a:r>
              <a:rPr lang="en-US" dirty="0"/>
              <a:t>/full/10.1111/j.2041-210X.2012.00196.x) </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22</a:t>
            </a:fld>
            <a:endParaRPr lang="en-US"/>
          </a:p>
        </p:txBody>
      </p:sp>
    </p:spTree>
    <p:extLst>
      <p:ext uri="{BB962C8B-B14F-4D97-AF65-F5344CB8AC3E}">
        <p14:creationId xmlns:p14="http://schemas.microsoft.com/office/powerpoint/2010/main" val="3915721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abundant community is mostly shaped by dispersal limitation between sites. </a:t>
            </a:r>
          </a:p>
          <a:p>
            <a:r>
              <a:rPr lang="en-US" dirty="0"/>
              <a:t>The rare community is mainly shaped by drift (no </a:t>
            </a:r>
            <a:r>
              <a:rPr lang="en-US" dirty="0" err="1"/>
              <a:t>dominat</a:t>
            </a:r>
            <a:r>
              <a:rPr lang="en-US" dirty="0"/>
              <a:t> selection process).</a:t>
            </a:r>
          </a:p>
          <a:p>
            <a:endParaRPr lang="en-US" dirty="0"/>
          </a:p>
          <a:p>
            <a:r>
              <a:rPr lang="en-US" dirty="0"/>
              <a:t>Here we see that when I compared the composition of each community to the composition of all other communities, the absolute values of the </a:t>
            </a:r>
            <a:r>
              <a:rPr lang="en-US" b="0" dirty="0"/>
              <a:t>β-nearest-taxon-index (βNTI) were generally &lt; 2, suggesting that community assembly is predominantly driven by homogenizing dispersal, limiting dispersal or is undominated/a result of drift.</a:t>
            </a:r>
            <a:endParaRPr lang="en-US" dirty="0"/>
          </a:p>
          <a:p>
            <a:endParaRPr lang="en-US" dirty="0"/>
          </a:p>
          <a:p>
            <a:r>
              <a:rPr lang="en-US" b="0" dirty="0"/>
              <a:t>βNTI combined with </a:t>
            </a:r>
            <a:r>
              <a:rPr lang="en-US" b="0" dirty="0" err="1"/>
              <a:t>Rcbray</a:t>
            </a:r>
            <a:r>
              <a:rPr lang="en-US" b="0" dirty="0"/>
              <a:t> scores indicated that communities on both glaciers were shaped by a combination of dispersal limitation (making the communities less similar than would be expected by chance) and drift (where neither selection or dispersal are particularly strong).</a:t>
            </a:r>
          </a:p>
          <a:p>
            <a:endParaRPr lang="en-US" b="0" dirty="0"/>
          </a:p>
          <a:p>
            <a:r>
              <a:rPr lang="en-US" b="0" dirty="0"/>
              <a:t>The dominance of stochastic processes is in keeping with the results of my neutral model analysis which suggested a large portion of the variation between communities could be explained by stochastic processes. Moreover, this is consistent with my CAP analysis that suggested cryoconite hole area and water content explained a low level of variation in community composition. </a:t>
            </a:r>
            <a:endParaRPr lang="en-US" dirty="0"/>
          </a:p>
          <a:p>
            <a:endParaRPr lang="en-US" dirty="0"/>
          </a:p>
          <a:p>
            <a:r>
              <a:rPr lang="en-US" b="1" dirty="0"/>
              <a:t>What would I expect to see for abundant/rare, active/bulk communities? What would I infer from this?</a:t>
            </a:r>
          </a:p>
          <a:p>
            <a:endParaRPr lang="en-US" dirty="0"/>
          </a:p>
          <a:p>
            <a:r>
              <a:rPr lang="en-US" dirty="0"/>
              <a:t>Previous studies of community assembly for abundant and rare taxa have found:</a:t>
            </a:r>
          </a:p>
          <a:p>
            <a:r>
              <a:rPr lang="en-US" dirty="0"/>
              <a:t>Increased homogenous selection for rare taxa.</a:t>
            </a:r>
          </a:p>
          <a:p>
            <a:r>
              <a:rPr lang="en-US" dirty="0"/>
              <a:t>Increased dispersal limitation and variable selection for abundant taxa.</a:t>
            </a:r>
          </a:p>
          <a:p>
            <a:endParaRPr lang="en-US" dirty="0"/>
          </a:p>
          <a:p>
            <a:r>
              <a:rPr lang="en-US" dirty="0"/>
              <a:t>Other studies have found selection more dominant for abundant taxa and drift more dominant for rare taxa.</a:t>
            </a:r>
          </a:p>
          <a:p>
            <a:endParaRPr lang="en-US" dirty="0"/>
          </a:p>
          <a:p>
            <a:r>
              <a:rPr lang="en-US" dirty="0"/>
              <a:t>These processes very depending on environment. Because as far as I know null modelling with abundant/rare sub-communities hasn’t been applied to the supraglacial environment so it’s s mystery.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trike="noStrike" dirty="0"/>
              <a:t>I predict that stochastic processes will drive more variation in the bulk community than the active community as selection will only occur on active species. I also predict that Selection will be more important for rare than abundant taxa as abundant taxa may experience higher immigration rates that overcomes selection processes.</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23</a:t>
            </a:fld>
            <a:endParaRPr lang="en-US"/>
          </a:p>
        </p:txBody>
      </p:sp>
    </p:spTree>
    <p:extLst>
      <p:ext uri="{BB962C8B-B14F-4D97-AF65-F5344CB8AC3E}">
        <p14:creationId xmlns:p14="http://schemas.microsoft.com/office/powerpoint/2010/main" val="35153258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is network analysis important?</a:t>
            </a:r>
          </a:p>
          <a:p>
            <a:r>
              <a:rPr lang="en-US" dirty="0"/>
              <a:t>Network analysis allows us to explore biotic selection, that is the interactions between microbial taxa that may drive microbial community assembly.</a:t>
            </a:r>
          </a:p>
          <a:p>
            <a:endParaRPr lang="en-US" dirty="0"/>
          </a:p>
          <a:p>
            <a:r>
              <a:rPr lang="en-US" dirty="0"/>
              <a:t>If we see a low number of significant taxon co-occurrence patterns this may support our theory that community assembly is primarily stochastic. If there are high numbers of significant taxon co-occurrence patterns this may lend support to deterministic processes driving community assembly.</a:t>
            </a:r>
          </a:p>
        </p:txBody>
      </p:sp>
      <p:sp>
        <p:nvSpPr>
          <p:cNvPr id="4" name="Slide Number Placeholder 3"/>
          <p:cNvSpPr>
            <a:spLocks noGrp="1"/>
          </p:cNvSpPr>
          <p:nvPr>
            <p:ph type="sldNum" sz="quarter" idx="5"/>
          </p:nvPr>
        </p:nvSpPr>
        <p:spPr/>
        <p:txBody>
          <a:bodyPr/>
          <a:lstStyle/>
          <a:p>
            <a:fld id="{91AE2140-D502-214A-B76B-E0784B2C949B}" type="slidenum">
              <a:rPr lang="en-US" smtClean="0"/>
              <a:t>24</a:t>
            </a:fld>
            <a:endParaRPr lang="en-US"/>
          </a:p>
        </p:txBody>
      </p:sp>
    </p:spTree>
    <p:extLst>
      <p:ext uri="{BB962C8B-B14F-4D97-AF65-F5344CB8AC3E}">
        <p14:creationId xmlns:p14="http://schemas.microsoft.com/office/powerpoint/2010/main" val="21210789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indicates that abundant sub-community is correlated with hole area, DNA per gram of cryoconite and organic matter content of cryoconite.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Linear regression indicates that rare sub-community is correlated with hole depth and area. Suggests that abundant community may be shaped more by selection, which rare community may be more shaped by stochastic processes.</a:t>
            </a:r>
          </a:p>
          <a:p>
            <a:endParaRPr lang="en-US" dirty="0"/>
          </a:p>
          <a:p>
            <a:r>
              <a:rPr lang="en-US" dirty="0"/>
              <a:t>Linear regression with interactions</a:t>
            </a:r>
          </a:p>
          <a:p>
            <a:r>
              <a:rPr lang="en-US" dirty="0"/>
              <a:t>The minimum adequate model to explain abundant richness involved a range of environmental parameters.</a:t>
            </a:r>
          </a:p>
          <a:p>
            <a:r>
              <a:rPr lang="en-US" dirty="0"/>
              <a:t>The minimum adequate model to explain rare community richness was hole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Suggests that abundant community may be shaped more by selection, which rare community may be more shaped by stochastic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Unweighted </a:t>
            </a:r>
            <a:r>
              <a:rPr lang="en-US" dirty="0" err="1"/>
              <a:t>unifrac</a:t>
            </a:r>
            <a:r>
              <a:rPr lang="en-US" dirty="0"/>
              <a:t> ordination indicates that there is significant variation in beta diversity between abundant sub-communities, but no significant variation between rare communities. This may also be indicative of separate abundant communities established due to selection, while the rare sub-community randomly disperses between the glaciers.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CAP ordination shows the correlation between beta diversity and area across both glaciers for abundant taxa, with water content also being correlated for Canada glacier.. Had problems with rare community.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Using linear regression log area explained significant variation in abundant sub-community richness with a slope of 0.05 for Canada and 0.14 for Taylor. These slope coefficients are fairly commonly found for microbes.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linear regression log area explained significant variation in rare sub-community richness with a slope of 0.39 for Canada and 0.43 for Taylor. These slope coefficients are extremely high for microbes. Rare community richness increases more quickly with cryoconite area, suggesting that stochastic processes of dispersal are more important than for abundant taxa.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 neutral model performed well for TOTAL community, explaining 77% of variation in ASV detection frequency with an estimated migration factor of 0.017 between sites.</a:t>
            </a:r>
          </a:p>
          <a:p>
            <a:r>
              <a:rPr lang="en-US" dirty="0"/>
              <a:t>These results suggest that neutral assembly processes can explain the pattern of observed ASV occurrence frequencies </a:t>
            </a:r>
          </a:p>
          <a:p>
            <a:endParaRPr lang="en-US" dirty="0"/>
          </a:p>
          <a:p>
            <a:r>
              <a:rPr lang="en-US" dirty="0"/>
              <a:t>Neutral processes less successful at explaining pattern of abundant community. Suggests intermediate and rare communities may be better explained by neutral processes. Rare community model fitting failed!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 abundant community is mostly shaped by dispersal limitation between sites. </a:t>
            </a:r>
          </a:p>
          <a:p>
            <a:r>
              <a:rPr lang="en-US" dirty="0"/>
              <a:t>The rare community is mainly shaped by drift (no </a:t>
            </a:r>
            <a:r>
              <a:rPr lang="en-US" dirty="0" err="1"/>
              <a:t>dominat</a:t>
            </a:r>
            <a:r>
              <a:rPr lang="en-US" dirty="0"/>
              <a:t> selection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25</a:t>
            </a:fld>
            <a:endParaRPr lang="en-US"/>
          </a:p>
        </p:txBody>
      </p:sp>
    </p:spTree>
    <p:extLst>
      <p:ext uri="{BB962C8B-B14F-4D97-AF65-F5344CB8AC3E}">
        <p14:creationId xmlns:p14="http://schemas.microsoft.com/office/powerpoint/2010/main" val="2711108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6ED4-37C7-E448-902F-EE6F0CE1D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71A2E0-F835-014B-80CB-77E9AEE989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6D316A-042F-B74E-8DC6-4E4014393382}"/>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5" name="Footer Placeholder 4">
            <a:extLst>
              <a:ext uri="{FF2B5EF4-FFF2-40B4-BE49-F238E27FC236}">
                <a16:creationId xmlns:a16="http://schemas.microsoft.com/office/drawing/2014/main" id="{2C71B796-2B75-0D42-8306-673D9131C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F2C0B-EF26-CD47-A0FB-195E4A2DE356}"/>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62015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55D21-E73E-A54C-99C6-133F6056E3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F6754-47FC-6D45-80E9-AAF130C6E06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15A83-D0F5-8540-B5A8-566B05F23178}"/>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5" name="Footer Placeholder 4">
            <a:extLst>
              <a:ext uri="{FF2B5EF4-FFF2-40B4-BE49-F238E27FC236}">
                <a16:creationId xmlns:a16="http://schemas.microsoft.com/office/drawing/2014/main" id="{8AD7AC9D-C511-1E4E-864C-A891B0215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7D621-DCB0-3142-BF13-694096EF6AEF}"/>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562619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4B48-3643-3B48-8B28-44961569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05AFAA-9D63-5441-956D-C29B7339F3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D8EE7C-67D2-5340-81AC-B55ECE40ACB2}"/>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5" name="Footer Placeholder 4">
            <a:extLst>
              <a:ext uri="{FF2B5EF4-FFF2-40B4-BE49-F238E27FC236}">
                <a16:creationId xmlns:a16="http://schemas.microsoft.com/office/drawing/2014/main" id="{FC943995-AADD-C244-A8B2-5A0A5FA90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B4D55-D831-E247-95F3-35788DCA421C}"/>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357130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BF75-992E-B34D-8B5A-39D45C763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17CD1A-9E1B-C748-80F1-51F7D91724F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B57FF9-3960-8449-B387-22E13124996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2447D3-F1B6-7D4C-A043-B174BFB92518}"/>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6" name="Footer Placeholder 5">
            <a:extLst>
              <a:ext uri="{FF2B5EF4-FFF2-40B4-BE49-F238E27FC236}">
                <a16:creationId xmlns:a16="http://schemas.microsoft.com/office/drawing/2014/main" id="{874F9E9E-0285-DD4B-872C-1F47CA6015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2C7EF3-B524-044C-A4E4-5EA74CB0B144}"/>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895092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FF04-926E-E848-B2DB-5B926AFDF3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92B505-751C-644A-897E-678102EF62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40E3200-2E67-C044-8633-8D8642D84EC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B9841-CADB-384C-9B99-7ED3B3179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8D7F8D0-68DF-AD48-9B1E-5D27F4CEDD9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DD943A-0DC8-6E47-AED3-C7681ED2881B}"/>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8" name="Footer Placeholder 7">
            <a:extLst>
              <a:ext uri="{FF2B5EF4-FFF2-40B4-BE49-F238E27FC236}">
                <a16:creationId xmlns:a16="http://schemas.microsoft.com/office/drawing/2014/main" id="{AB51F04D-6ED7-6245-AA23-240BDF451C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FDCF7C-B092-2844-8651-FD66318BC1EB}"/>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497000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7436-E267-2E43-BFF0-3FEE581344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ED9E8F-3DEF-AF4C-B5D8-7073CA24E422}"/>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4" name="Footer Placeholder 3">
            <a:extLst>
              <a:ext uri="{FF2B5EF4-FFF2-40B4-BE49-F238E27FC236}">
                <a16:creationId xmlns:a16="http://schemas.microsoft.com/office/drawing/2014/main" id="{FF764CB4-7254-BD48-BB35-9E29D4D345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AC1217-DDE3-A14F-A526-2FFFDD0627A9}"/>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962791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9D74E3-041D-AD43-B0B2-EBA7BAD23AC0}"/>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3" name="Footer Placeholder 2">
            <a:extLst>
              <a:ext uri="{FF2B5EF4-FFF2-40B4-BE49-F238E27FC236}">
                <a16:creationId xmlns:a16="http://schemas.microsoft.com/office/drawing/2014/main" id="{2E6B2846-AB7E-5A4E-9E1D-968FE926DF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060BDD-CD2A-204F-BB39-05BD2DBFA878}"/>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2596459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B695A-AC8B-284B-80E3-74313902F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3103C2-A0F3-634F-B478-878D5AB392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B61E4B-0320-3A4A-BADF-AC42D3EFC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92C112-BA1D-B941-B3BB-8799CDF4FF9C}"/>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6" name="Footer Placeholder 5">
            <a:extLst>
              <a:ext uri="{FF2B5EF4-FFF2-40B4-BE49-F238E27FC236}">
                <a16:creationId xmlns:a16="http://schemas.microsoft.com/office/drawing/2014/main" id="{E9A3A9DA-E62D-AB4C-8A11-8DB0302DC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D08E64-DF30-3C42-92EF-4537CCFF1137}"/>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98917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FDAD-6351-E14A-90F2-BF82FF5202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E62E19-8421-1443-A89F-CC9E156DA8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2B4475-E58E-154F-953B-80A501F0D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B57061-9C6A-624C-ADA2-15CC575E8E8E}"/>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6" name="Footer Placeholder 5">
            <a:extLst>
              <a:ext uri="{FF2B5EF4-FFF2-40B4-BE49-F238E27FC236}">
                <a16:creationId xmlns:a16="http://schemas.microsoft.com/office/drawing/2014/main" id="{BB2056C1-CE11-A842-8F3A-458F4EDF4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CCC1F-416E-CB42-8F73-B93C9FA1A25E}"/>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2561872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F1897-1429-2940-B19C-7F80E2E577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96D649-25D3-CA4D-AAB6-770336C3C7B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BF9D3A-4DD0-C345-85D8-5DD872AFF291}"/>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5" name="Footer Placeholder 4">
            <a:extLst>
              <a:ext uri="{FF2B5EF4-FFF2-40B4-BE49-F238E27FC236}">
                <a16:creationId xmlns:a16="http://schemas.microsoft.com/office/drawing/2014/main" id="{35E20CF1-B631-F74C-B716-EB7C3B0E8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3ED52-4E03-1647-9B18-AA9788B3B6D5}"/>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3838870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4E73E-E186-7245-A00B-35E7CCEFCB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E94A51-9167-FE42-A932-E7D7DC3C7DB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1CBAE-52BE-E04C-94E3-DFC07C3B9376}"/>
              </a:ext>
            </a:extLst>
          </p:cNvPr>
          <p:cNvSpPr>
            <a:spLocks noGrp="1"/>
          </p:cNvSpPr>
          <p:nvPr>
            <p:ph type="dt" sz="half" idx="10"/>
          </p:nvPr>
        </p:nvSpPr>
        <p:spPr/>
        <p:txBody>
          <a:bodyPr/>
          <a:lstStyle/>
          <a:p>
            <a:fld id="{630F8F96-A0AC-FA40-A1E6-5325FF9AFD7F}" type="datetimeFigureOut">
              <a:rPr lang="en-US" smtClean="0"/>
              <a:t>4/29/21</a:t>
            </a:fld>
            <a:endParaRPr lang="en-US"/>
          </a:p>
        </p:txBody>
      </p:sp>
      <p:sp>
        <p:nvSpPr>
          <p:cNvPr id="5" name="Footer Placeholder 4">
            <a:extLst>
              <a:ext uri="{FF2B5EF4-FFF2-40B4-BE49-F238E27FC236}">
                <a16:creationId xmlns:a16="http://schemas.microsoft.com/office/drawing/2014/main" id="{F8892F53-118B-1845-9D45-60D5594015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E5371-D811-5A4A-BD23-493F2324B61D}"/>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4236061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AF585-6C0E-2044-B915-C16A5D58E4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A99696-87D6-F14B-8943-ED9105E4BB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86F3D-35AA-E247-BF75-A09555C10E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0F8F96-A0AC-FA40-A1E6-5325FF9AFD7F}" type="datetimeFigureOut">
              <a:rPr lang="en-US" smtClean="0"/>
              <a:t>4/29/21</a:t>
            </a:fld>
            <a:endParaRPr lang="en-US"/>
          </a:p>
        </p:txBody>
      </p:sp>
      <p:sp>
        <p:nvSpPr>
          <p:cNvPr id="5" name="Footer Placeholder 4">
            <a:extLst>
              <a:ext uri="{FF2B5EF4-FFF2-40B4-BE49-F238E27FC236}">
                <a16:creationId xmlns:a16="http://schemas.microsoft.com/office/drawing/2014/main" id="{98389104-0F81-1A46-942C-5C76AADA78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733030-7C7F-4441-A9B5-5BAB3E58D2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A2532-43B4-C944-8D65-991FE1B83988}" type="slidenum">
              <a:rPr lang="en-US" smtClean="0"/>
              <a:t>‹#›</a:t>
            </a:fld>
            <a:endParaRPr lang="en-US"/>
          </a:p>
        </p:txBody>
      </p:sp>
    </p:spTree>
    <p:extLst>
      <p:ext uri="{BB962C8B-B14F-4D97-AF65-F5344CB8AC3E}">
        <p14:creationId xmlns:p14="http://schemas.microsoft.com/office/powerpoint/2010/main" val="219760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emf"/><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7.png"/><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image" Target="../media/image23.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png"/><Relationship Id="rId9" Type="http://schemas.openxmlformats.org/officeDocument/2006/relationships/image" Target="../media/image25.emf"/></Relationships>
</file>

<file path=ppt/slides/_rels/slide1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emf"/><Relationship Id="rId4" Type="http://schemas.openxmlformats.org/officeDocument/2006/relationships/image" Target="../media/image27.emf"/></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2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image" Target="../media/image32.emf"/></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2BC3-DD30-0944-A021-30D7464B4665}"/>
              </a:ext>
            </a:extLst>
          </p:cNvPr>
          <p:cNvSpPr>
            <a:spLocks noGrp="1"/>
          </p:cNvSpPr>
          <p:nvPr>
            <p:ph type="ctrTitle"/>
          </p:nvPr>
        </p:nvSpPr>
        <p:spPr>
          <a:xfrm>
            <a:off x="1367883" y="2014460"/>
            <a:ext cx="9144000" cy="2387600"/>
          </a:xfrm>
        </p:spPr>
        <p:txBody>
          <a:bodyPr>
            <a:normAutofit fontScale="90000"/>
          </a:bodyPr>
          <a:lstStyle/>
          <a:p>
            <a:r>
              <a:rPr lang="en-US" dirty="0"/>
              <a:t>Microbial Biogeography and Community Assembly Mechanisms in the Supraglacial Environment: Influence of activity and abundance</a:t>
            </a:r>
          </a:p>
        </p:txBody>
      </p:sp>
      <p:sp>
        <p:nvSpPr>
          <p:cNvPr id="3" name="Subtitle 2">
            <a:extLst>
              <a:ext uri="{FF2B5EF4-FFF2-40B4-BE49-F238E27FC236}">
                <a16:creationId xmlns:a16="http://schemas.microsoft.com/office/drawing/2014/main" id="{2FDE0BEF-153E-6045-8619-15D9DCF32914}"/>
              </a:ext>
            </a:extLst>
          </p:cNvPr>
          <p:cNvSpPr>
            <a:spLocks noGrp="1"/>
          </p:cNvSpPr>
          <p:nvPr>
            <p:ph type="subTitle" idx="1"/>
          </p:nvPr>
        </p:nvSpPr>
        <p:spPr>
          <a:xfrm>
            <a:off x="1367883" y="4895579"/>
            <a:ext cx="9144000" cy="568519"/>
          </a:xfrm>
        </p:spPr>
        <p:txBody>
          <a:bodyPr>
            <a:normAutofit/>
          </a:bodyPr>
          <a:lstStyle/>
          <a:p>
            <a:r>
              <a:rPr lang="en-US" dirty="0"/>
              <a:t>Amy Solman</a:t>
            </a:r>
          </a:p>
          <a:p>
            <a:endParaRPr lang="en-US" dirty="0"/>
          </a:p>
        </p:txBody>
      </p:sp>
    </p:spTree>
    <p:extLst>
      <p:ext uri="{BB962C8B-B14F-4D97-AF65-F5344CB8AC3E}">
        <p14:creationId xmlns:p14="http://schemas.microsoft.com/office/powerpoint/2010/main" val="301009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C106-A16C-4843-9F85-7D221F98A36E}"/>
              </a:ext>
            </a:extLst>
          </p:cNvPr>
          <p:cNvSpPr>
            <a:spLocks noGrp="1"/>
          </p:cNvSpPr>
          <p:nvPr>
            <p:ph type="title"/>
          </p:nvPr>
        </p:nvSpPr>
        <p:spPr/>
        <p:txBody>
          <a:bodyPr/>
          <a:lstStyle/>
          <a:p>
            <a:r>
              <a:rPr lang="en-US" dirty="0"/>
              <a:t>Hypotheses</a:t>
            </a:r>
          </a:p>
        </p:txBody>
      </p:sp>
      <p:sp>
        <p:nvSpPr>
          <p:cNvPr id="3" name="Content Placeholder 2">
            <a:extLst>
              <a:ext uri="{FF2B5EF4-FFF2-40B4-BE49-F238E27FC236}">
                <a16:creationId xmlns:a16="http://schemas.microsoft.com/office/drawing/2014/main" id="{CB3584D2-37E7-F041-BDE2-7B1BFF03B4C6}"/>
              </a:ext>
            </a:extLst>
          </p:cNvPr>
          <p:cNvSpPr>
            <a:spLocks noGrp="1"/>
          </p:cNvSpPr>
          <p:nvPr>
            <p:ph idx="1"/>
          </p:nvPr>
        </p:nvSpPr>
        <p:spPr/>
        <p:txBody>
          <a:bodyPr>
            <a:normAutofit fontScale="77500" lnSpcReduction="20000"/>
          </a:bodyPr>
          <a:lstStyle/>
          <a:p>
            <a:pPr marL="514350" lvl="0" indent="-514350">
              <a:buFont typeface="+mj-lt"/>
              <a:buAutoNum type="arabicPeriod"/>
            </a:pPr>
            <a:r>
              <a:rPr lang="en-GB" dirty="0"/>
              <a:t>Snow, ice and cryoconite substrates exhibit significantly different active and bulk microbial community structure, inclusive of total, abundant and rare sub-communities.</a:t>
            </a:r>
          </a:p>
          <a:p>
            <a:pPr marL="514350" lvl="0" indent="-514350">
              <a:buFont typeface="+mj-lt"/>
              <a:buAutoNum type="arabicPeriod"/>
            </a:pPr>
            <a:r>
              <a:rPr lang="en-GB" dirty="0"/>
              <a:t>The physio-chemical characteristics of glacial snow, ice and cryoconite are significantly different.</a:t>
            </a:r>
          </a:p>
          <a:p>
            <a:pPr marL="514350" lvl="0" indent="-514350">
              <a:buFont typeface="+mj-lt"/>
              <a:buAutoNum type="arabicPeriod"/>
            </a:pPr>
            <a:r>
              <a:rPr lang="en-GB" dirty="0"/>
              <a:t>Ice active and bulk community structure, biogeographic patterns and community assembly mechanisms exhibit seasonal variation between spring and summer.</a:t>
            </a:r>
          </a:p>
          <a:p>
            <a:pPr marL="514350" lvl="0" indent="-514350">
              <a:buFont typeface="+mj-lt"/>
              <a:buAutoNum type="arabicPeriod"/>
            </a:pPr>
            <a:r>
              <a:rPr lang="en-US" u="sng" dirty="0"/>
              <a:t>Microbial community composition in the supraglacial environment is explained by both deterministic and stochastic assembly processes.</a:t>
            </a:r>
            <a:endParaRPr lang="en-GB" u="sng" dirty="0"/>
          </a:p>
          <a:p>
            <a:pPr marL="514350" lvl="0" indent="-514350">
              <a:buFont typeface="+mj-lt"/>
              <a:buAutoNum type="arabicPeriod"/>
            </a:pPr>
            <a:r>
              <a:rPr lang="en-US" u="sng" dirty="0"/>
              <a:t>Total, abundant and rare prokaryotic and eukaryotic sub-communities exhibit distinct biogeographic patterns, driven by distinct community assembly processes, across all substrates.</a:t>
            </a:r>
            <a:endParaRPr lang="en-GB" u="sng" dirty="0"/>
          </a:p>
          <a:p>
            <a:pPr marL="514350" lvl="0" indent="-514350">
              <a:buFont typeface="+mj-lt"/>
              <a:buAutoNum type="arabicPeriod"/>
            </a:pPr>
            <a:r>
              <a:rPr lang="en-US" dirty="0"/>
              <a:t>Active and bulk prokaryotic and eukaryotic sub-communities exhibit distinct biogeographic patterns, driven by distinct community assembly processes, across all substrates.</a:t>
            </a:r>
            <a:endParaRPr lang="en-GB" dirty="0"/>
          </a:p>
          <a:p>
            <a:pPr marL="514350" indent="-514350">
              <a:buFont typeface="+mj-lt"/>
              <a:buAutoNum type="arabicPeriod"/>
            </a:pPr>
            <a:endParaRPr lang="en-US" dirty="0"/>
          </a:p>
        </p:txBody>
      </p:sp>
    </p:spTree>
    <p:extLst>
      <p:ext uri="{BB962C8B-B14F-4D97-AF65-F5344CB8AC3E}">
        <p14:creationId xmlns:p14="http://schemas.microsoft.com/office/powerpoint/2010/main" val="3966638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66C24-0A16-374D-BF9D-60031E2505CD}"/>
              </a:ext>
            </a:extLst>
          </p:cNvPr>
          <p:cNvSpPr>
            <a:spLocks noGrp="1"/>
          </p:cNvSpPr>
          <p:nvPr>
            <p:ph type="title"/>
          </p:nvPr>
        </p:nvSpPr>
        <p:spPr/>
        <p:txBody>
          <a:bodyPr/>
          <a:lstStyle/>
          <a:p>
            <a:r>
              <a:rPr lang="en-US" dirty="0"/>
              <a:t>Analysis Workflow</a:t>
            </a:r>
          </a:p>
        </p:txBody>
      </p:sp>
      <p:graphicFrame>
        <p:nvGraphicFramePr>
          <p:cNvPr id="4" name="Diagram 3">
            <a:extLst>
              <a:ext uri="{FF2B5EF4-FFF2-40B4-BE49-F238E27FC236}">
                <a16:creationId xmlns:a16="http://schemas.microsoft.com/office/drawing/2014/main" id="{123C19CA-2238-F94E-9EC3-78CEF4AA032F}"/>
              </a:ext>
            </a:extLst>
          </p:cNvPr>
          <p:cNvGraphicFramePr/>
          <p:nvPr>
            <p:extLst>
              <p:ext uri="{D42A27DB-BD31-4B8C-83A1-F6EECF244321}">
                <p14:modId xmlns:p14="http://schemas.microsoft.com/office/powerpoint/2010/main" val="1266654520"/>
              </p:ext>
            </p:extLst>
          </p:nvPr>
        </p:nvGraphicFramePr>
        <p:xfrm>
          <a:off x="605307" y="719666"/>
          <a:ext cx="11114468"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0184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0CD05-747D-1E45-B228-C14538EB7A69}"/>
              </a:ext>
            </a:extLst>
          </p:cNvPr>
          <p:cNvSpPr>
            <a:spLocks noGrp="1"/>
          </p:cNvSpPr>
          <p:nvPr>
            <p:ph type="title"/>
          </p:nvPr>
        </p:nvSpPr>
        <p:spPr/>
        <p:txBody>
          <a:bodyPr>
            <a:normAutofit fontScale="90000"/>
          </a:bodyPr>
          <a:lstStyle/>
          <a:p>
            <a:r>
              <a:rPr lang="en-US" dirty="0"/>
              <a:t>Sommers et al., (2020) ﻿Microbial Species–Area Relationships in Antarctic Cryoconite Holes Depend on Productivity</a:t>
            </a:r>
          </a:p>
        </p:txBody>
      </p:sp>
      <p:sp>
        <p:nvSpPr>
          <p:cNvPr id="3" name="Content Placeholder 2">
            <a:extLst>
              <a:ext uri="{FF2B5EF4-FFF2-40B4-BE49-F238E27FC236}">
                <a16:creationId xmlns:a16="http://schemas.microsoft.com/office/drawing/2014/main" id="{C03C291E-7610-8743-BC71-FD328E619CDA}"/>
              </a:ext>
            </a:extLst>
          </p:cNvPr>
          <p:cNvSpPr>
            <a:spLocks noGrp="1"/>
          </p:cNvSpPr>
          <p:nvPr>
            <p:ph idx="1"/>
          </p:nvPr>
        </p:nvSpPr>
        <p:spPr/>
        <p:txBody>
          <a:bodyPr/>
          <a:lstStyle/>
          <a:p>
            <a:endParaRPr lang="en-US" dirty="0"/>
          </a:p>
          <a:p>
            <a:r>
              <a:rPr lang="en-US" dirty="0"/>
              <a:t>Recently published</a:t>
            </a:r>
          </a:p>
          <a:p>
            <a:r>
              <a:rPr lang="en-US" dirty="0"/>
              <a:t>Cryoconite communities</a:t>
            </a:r>
          </a:p>
          <a:p>
            <a:r>
              <a:rPr lang="en-US" dirty="0"/>
              <a:t>Detailed information on sequence processing</a:t>
            </a:r>
          </a:p>
          <a:p>
            <a:r>
              <a:rPr lang="en-US" dirty="0"/>
              <a:t>ISAR analysis</a:t>
            </a:r>
          </a:p>
          <a:p>
            <a:r>
              <a:rPr lang="en-US" dirty="0"/>
              <a:t>Includes bacterial and eukaryotic sequence data</a:t>
            </a:r>
          </a:p>
          <a:p>
            <a:r>
              <a:rPr lang="en-US" dirty="0"/>
              <a:t>Includes data from two glaciers</a:t>
            </a:r>
          </a:p>
        </p:txBody>
      </p:sp>
    </p:spTree>
    <p:extLst>
      <p:ext uri="{BB962C8B-B14F-4D97-AF65-F5344CB8AC3E}">
        <p14:creationId xmlns:p14="http://schemas.microsoft.com/office/powerpoint/2010/main" val="213364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8AB4-FF76-A94F-B32F-7FF7F1B7CE49}"/>
              </a:ext>
            </a:extLst>
          </p:cNvPr>
          <p:cNvSpPr>
            <a:spLocks noGrp="1"/>
          </p:cNvSpPr>
          <p:nvPr>
            <p:ph type="title"/>
          </p:nvPr>
        </p:nvSpPr>
        <p:spPr/>
        <p:txBody>
          <a:bodyPr/>
          <a:lstStyle/>
          <a:p>
            <a:r>
              <a:rPr lang="en-US" dirty="0"/>
              <a:t>QIIME2 &amp; DADA2</a:t>
            </a:r>
          </a:p>
        </p:txBody>
      </p:sp>
      <p:graphicFrame>
        <p:nvGraphicFramePr>
          <p:cNvPr id="4" name="Diagram 3">
            <a:extLst>
              <a:ext uri="{FF2B5EF4-FFF2-40B4-BE49-F238E27FC236}">
                <a16:creationId xmlns:a16="http://schemas.microsoft.com/office/drawing/2014/main" id="{04E634AB-22E0-304B-B405-6C29D3E8790E}"/>
              </a:ext>
            </a:extLst>
          </p:cNvPr>
          <p:cNvGraphicFramePr/>
          <p:nvPr>
            <p:extLst>
              <p:ext uri="{D42A27DB-BD31-4B8C-83A1-F6EECF244321}">
                <p14:modId xmlns:p14="http://schemas.microsoft.com/office/powerpoint/2010/main" val="1176625177"/>
              </p:ext>
            </p:extLst>
          </p:nvPr>
        </p:nvGraphicFramePr>
        <p:xfrm>
          <a:off x="496700" y="1449387"/>
          <a:ext cx="11404800" cy="5259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5633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147D-246C-1C4E-9483-9D5FCC7642FC}"/>
              </a:ext>
            </a:extLst>
          </p:cNvPr>
          <p:cNvSpPr>
            <a:spLocks noGrp="1"/>
          </p:cNvSpPr>
          <p:nvPr>
            <p:ph type="title"/>
          </p:nvPr>
        </p:nvSpPr>
        <p:spPr/>
        <p:txBody>
          <a:bodyPr/>
          <a:lstStyle/>
          <a:p>
            <a:r>
              <a:rPr lang="en-US" dirty="0"/>
              <a:t>Data Prep</a:t>
            </a:r>
          </a:p>
        </p:txBody>
      </p:sp>
      <p:graphicFrame>
        <p:nvGraphicFramePr>
          <p:cNvPr id="7" name="Diagram 6">
            <a:extLst>
              <a:ext uri="{FF2B5EF4-FFF2-40B4-BE49-F238E27FC236}">
                <a16:creationId xmlns:a16="http://schemas.microsoft.com/office/drawing/2014/main" id="{B086D1E3-AD9E-5542-B8AC-F2FC4B285B6A}"/>
              </a:ext>
            </a:extLst>
          </p:cNvPr>
          <p:cNvGraphicFramePr/>
          <p:nvPr>
            <p:extLst>
              <p:ext uri="{D42A27DB-BD31-4B8C-83A1-F6EECF244321}">
                <p14:modId xmlns:p14="http://schemas.microsoft.com/office/powerpoint/2010/main" val="1814273274"/>
              </p:ext>
            </p:extLst>
          </p:nvPr>
        </p:nvGraphicFramePr>
        <p:xfrm>
          <a:off x="496700" y="1449387"/>
          <a:ext cx="11403106" cy="5259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5383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1066-9CC5-E14D-8897-07704940C8FB}"/>
              </a:ext>
            </a:extLst>
          </p:cNvPr>
          <p:cNvSpPr>
            <a:spLocks noGrp="1"/>
          </p:cNvSpPr>
          <p:nvPr>
            <p:ph type="title"/>
          </p:nvPr>
        </p:nvSpPr>
        <p:spPr/>
        <p:txBody>
          <a:bodyPr/>
          <a:lstStyle/>
          <a:p>
            <a:r>
              <a:rPr lang="en-US" dirty="0"/>
              <a:t>Abundant and rare taxa</a:t>
            </a:r>
          </a:p>
        </p:txBody>
      </p:sp>
      <p:sp>
        <p:nvSpPr>
          <p:cNvPr id="3" name="Content Placeholder 2">
            <a:extLst>
              <a:ext uri="{FF2B5EF4-FFF2-40B4-BE49-F238E27FC236}">
                <a16:creationId xmlns:a16="http://schemas.microsoft.com/office/drawing/2014/main" id="{77E46C54-EBE1-BB4E-BACB-6A3C6120FCEF}"/>
              </a:ext>
            </a:extLst>
          </p:cNvPr>
          <p:cNvSpPr>
            <a:spLocks noGrp="1"/>
          </p:cNvSpPr>
          <p:nvPr>
            <p:ph idx="1"/>
          </p:nvPr>
        </p:nvSpPr>
        <p:spPr>
          <a:xfrm>
            <a:off x="838200" y="1825625"/>
            <a:ext cx="10515600" cy="3973009"/>
          </a:xfrm>
        </p:spPr>
        <p:txBody>
          <a:bodyPr>
            <a:normAutofit/>
          </a:bodyPr>
          <a:lstStyle/>
          <a:p>
            <a:r>
              <a:rPr lang="en-US" dirty="0"/>
              <a:t>Rarefied </a:t>
            </a:r>
            <a:r>
              <a:rPr lang="en-US" dirty="0" err="1"/>
              <a:t>phyloseq</a:t>
            </a:r>
            <a:r>
              <a:rPr lang="en-US" dirty="0"/>
              <a:t> object to even sampling depth</a:t>
            </a:r>
          </a:p>
          <a:p>
            <a:r>
              <a:rPr lang="en-US" dirty="0"/>
              <a:t>Get local (within sample) relative abundances</a:t>
            </a:r>
          </a:p>
          <a:p>
            <a:r>
              <a:rPr lang="en-US" dirty="0"/>
              <a:t>Locally abundant taxa &gt; 1% relative abundance</a:t>
            </a:r>
          </a:p>
          <a:p>
            <a:r>
              <a:rPr lang="en-US" dirty="0"/>
              <a:t>Locally rare taxa &lt; 0.01% relative abundance</a:t>
            </a:r>
          </a:p>
          <a:p>
            <a:r>
              <a:rPr lang="en-US" dirty="0"/>
              <a:t>Find the regional (between sample) relative abundances = mean of local relative abundances </a:t>
            </a:r>
          </a:p>
          <a:p>
            <a:r>
              <a:rPr lang="en-US" dirty="0"/>
              <a:t>Regionally abundant taxa &gt; 0.1% mean relative abundance</a:t>
            </a:r>
          </a:p>
          <a:p>
            <a:r>
              <a:rPr lang="en-US" dirty="0"/>
              <a:t>Regionally rare taxa &lt; 0.01% mean relative abundance</a:t>
            </a:r>
          </a:p>
        </p:txBody>
      </p:sp>
      <p:sp>
        <p:nvSpPr>
          <p:cNvPr id="4" name="TextBox 3">
            <a:extLst>
              <a:ext uri="{FF2B5EF4-FFF2-40B4-BE49-F238E27FC236}">
                <a16:creationId xmlns:a16="http://schemas.microsoft.com/office/drawing/2014/main" id="{35487150-8A79-7B40-A578-3DD8B0E30FDC}"/>
              </a:ext>
            </a:extLst>
          </p:cNvPr>
          <p:cNvSpPr txBox="1"/>
          <p:nvPr/>
        </p:nvSpPr>
        <p:spPr>
          <a:xfrm>
            <a:off x="602166" y="6021659"/>
            <a:ext cx="10751634" cy="923330"/>
          </a:xfrm>
          <a:prstGeom prst="rect">
            <a:avLst/>
          </a:prstGeom>
          <a:noFill/>
        </p:spPr>
        <p:txBody>
          <a:bodyPr wrap="square" rtlCol="0">
            <a:spAutoFit/>
          </a:bodyPr>
          <a:lstStyle/>
          <a:p>
            <a:r>
              <a:rPr lang="en-US" dirty="0"/>
              <a:t>Li et al., (2021) </a:t>
            </a:r>
            <a:r>
              <a:rPr lang="en-GB" dirty="0"/>
              <a:t>Active bacterial and archaeal communities in coastal sediments: Biogeography pattern, assembly process and co-occurrence relationship</a:t>
            </a:r>
          </a:p>
          <a:p>
            <a:endParaRPr lang="en-US" dirty="0"/>
          </a:p>
        </p:txBody>
      </p:sp>
    </p:spTree>
    <p:extLst>
      <p:ext uri="{BB962C8B-B14F-4D97-AF65-F5344CB8AC3E}">
        <p14:creationId xmlns:p14="http://schemas.microsoft.com/office/powerpoint/2010/main" val="901630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CA58D-E097-5841-8D42-79DD96D96DD8}"/>
              </a:ext>
            </a:extLst>
          </p:cNvPr>
          <p:cNvSpPr>
            <a:spLocks noGrp="1"/>
          </p:cNvSpPr>
          <p:nvPr>
            <p:ph type="title"/>
          </p:nvPr>
        </p:nvSpPr>
        <p:spPr/>
        <p:txBody>
          <a:bodyPr/>
          <a:lstStyle/>
          <a:p>
            <a:r>
              <a:rPr lang="en-US" dirty="0"/>
              <a:t>ASV Richness</a:t>
            </a:r>
          </a:p>
        </p:txBody>
      </p:sp>
      <p:sp>
        <p:nvSpPr>
          <p:cNvPr id="6" name="TextBox 5">
            <a:extLst>
              <a:ext uri="{FF2B5EF4-FFF2-40B4-BE49-F238E27FC236}">
                <a16:creationId xmlns:a16="http://schemas.microsoft.com/office/drawing/2014/main" id="{4AB9F72C-AE09-4F49-B874-949F669B1D4D}"/>
              </a:ext>
            </a:extLst>
          </p:cNvPr>
          <p:cNvSpPr txBox="1"/>
          <p:nvPr/>
        </p:nvSpPr>
        <p:spPr>
          <a:xfrm>
            <a:off x="624468" y="1952793"/>
            <a:ext cx="4958576" cy="3970318"/>
          </a:xfrm>
          <a:prstGeom prst="rect">
            <a:avLst/>
          </a:prstGeom>
          <a:noFill/>
        </p:spPr>
        <p:txBody>
          <a:bodyPr wrap="square" rtlCol="0">
            <a:spAutoFit/>
          </a:bodyPr>
          <a:lstStyle/>
          <a:p>
            <a:r>
              <a:rPr lang="en-US" dirty="0"/>
              <a:t>Comparison of ASV richness between Canada and Taylor glaciers</a:t>
            </a:r>
          </a:p>
          <a:p>
            <a:endParaRPr lang="en-US" dirty="0"/>
          </a:p>
          <a:p>
            <a:r>
              <a:rPr lang="en-US" dirty="0"/>
              <a:t>Total community: Parametric assumptions met. Unpaired two-sample t-test showed no significant difference (t=1.97, </a:t>
            </a:r>
            <a:r>
              <a:rPr lang="en-US" dirty="0" err="1"/>
              <a:t>df</a:t>
            </a:r>
            <a:r>
              <a:rPr lang="en-US" dirty="0"/>
              <a:t>=32, p=0.57)</a:t>
            </a:r>
          </a:p>
          <a:p>
            <a:endParaRPr lang="en-US" dirty="0"/>
          </a:p>
          <a:p>
            <a:r>
              <a:rPr lang="en-US" dirty="0"/>
              <a:t>Abundant community: Parametric assumptions not met. Unpaired two samples Wilcoxon test showed no significant difference (W=179.5, p= 0.053)</a:t>
            </a:r>
          </a:p>
          <a:p>
            <a:endParaRPr lang="en-US" dirty="0"/>
          </a:p>
          <a:p>
            <a:r>
              <a:rPr lang="en-US" dirty="0"/>
              <a:t>Rare community: Parametric assumptions met. Unpaired two-sample t-test showed no significant difference (t=1.04, </a:t>
            </a:r>
            <a:r>
              <a:rPr lang="en-US" dirty="0" err="1"/>
              <a:t>df</a:t>
            </a:r>
            <a:r>
              <a:rPr lang="en-US" dirty="0"/>
              <a:t>=32, p=0.31)</a:t>
            </a:r>
          </a:p>
        </p:txBody>
      </p:sp>
      <p:pic>
        <p:nvPicPr>
          <p:cNvPr id="9" name="Picture 8">
            <a:extLst>
              <a:ext uri="{FF2B5EF4-FFF2-40B4-BE49-F238E27FC236}">
                <a16:creationId xmlns:a16="http://schemas.microsoft.com/office/drawing/2014/main" id="{F87AF4B3-4B97-A444-B02D-FC78B4B63752}"/>
              </a:ext>
            </a:extLst>
          </p:cNvPr>
          <p:cNvPicPr>
            <a:picLocks noChangeAspect="1"/>
          </p:cNvPicPr>
          <p:nvPr/>
        </p:nvPicPr>
        <p:blipFill>
          <a:blip r:embed="rId2"/>
          <a:stretch>
            <a:fillRect/>
          </a:stretch>
        </p:blipFill>
        <p:spPr>
          <a:xfrm>
            <a:off x="5583044" y="602166"/>
            <a:ext cx="5885182" cy="5885182"/>
          </a:xfrm>
          <a:prstGeom prst="rect">
            <a:avLst/>
          </a:prstGeom>
        </p:spPr>
      </p:pic>
      <p:pic>
        <p:nvPicPr>
          <p:cNvPr id="11" name="Picture 10">
            <a:extLst>
              <a:ext uri="{FF2B5EF4-FFF2-40B4-BE49-F238E27FC236}">
                <a16:creationId xmlns:a16="http://schemas.microsoft.com/office/drawing/2014/main" id="{8063C75D-FC2C-4340-B1EE-BF4C87B7B4F2}"/>
              </a:ext>
            </a:extLst>
          </p:cNvPr>
          <p:cNvPicPr>
            <a:picLocks noChangeAspect="1"/>
          </p:cNvPicPr>
          <p:nvPr/>
        </p:nvPicPr>
        <p:blipFill>
          <a:blip r:embed="rId3"/>
          <a:stretch>
            <a:fillRect/>
          </a:stretch>
        </p:blipFill>
        <p:spPr>
          <a:xfrm>
            <a:off x="8377216" y="3969835"/>
            <a:ext cx="3429758" cy="1534864"/>
          </a:xfrm>
          <a:prstGeom prst="rect">
            <a:avLst/>
          </a:prstGeom>
        </p:spPr>
      </p:pic>
    </p:spTree>
    <p:extLst>
      <p:ext uri="{BB962C8B-B14F-4D97-AF65-F5344CB8AC3E}">
        <p14:creationId xmlns:p14="http://schemas.microsoft.com/office/powerpoint/2010/main" val="3422781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C9DD-11DF-4E44-985B-21C037761EC9}"/>
              </a:ext>
            </a:extLst>
          </p:cNvPr>
          <p:cNvSpPr>
            <a:spLocks noGrp="1"/>
          </p:cNvSpPr>
          <p:nvPr>
            <p:ph type="title"/>
          </p:nvPr>
        </p:nvSpPr>
        <p:spPr/>
        <p:txBody>
          <a:bodyPr/>
          <a:lstStyle/>
          <a:p>
            <a:r>
              <a:rPr lang="en-US" dirty="0"/>
              <a:t>Shannon Diversity</a:t>
            </a:r>
          </a:p>
        </p:txBody>
      </p:sp>
      <p:sp>
        <p:nvSpPr>
          <p:cNvPr id="4" name="TextBox 3">
            <a:extLst>
              <a:ext uri="{FF2B5EF4-FFF2-40B4-BE49-F238E27FC236}">
                <a16:creationId xmlns:a16="http://schemas.microsoft.com/office/drawing/2014/main" id="{3965FD7F-B96E-6340-AFDE-61B01C5D8419}"/>
              </a:ext>
            </a:extLst>
          </p:cNvPr>
          <p:cNvSpPr txBox="1"/>
          <p:nvPr/>
        </p:nvSpPr>
        <p:spPr>
          <a:xfrm>
            <a:off x="624468" y="1952793"/>
            <a:ext cx="4958576" cy="3970318"/>
          </a:xfrm>
          <a:prstGeom prst="rect">
            <a:avLst/>
          </a:prstGeom>
          <a:noFill/>
        </p:spPr>
        <p:txBody>
          <a:bodyPr wrap="square" rtlCol="0">
            <a:spAutoFit/>
          </a:bodyPr>
          <a:lstStyle/>
          <a:p>
            <a:r>
              <a:rPr lang="en-US" dirty="0"/>
              <a:t>Comparison of Shannon between Canada and Taylor glaciers</a:t>
            </a:r>
          </a:p>
          <a:p>
            <a:endParaRPr lang="en-US" dirty="0"/>
          </a:p>
          <a:p>
            <a:r>
              <a:rPr lang="en-US" dirty="0"/>
              <a:t>Total community: Parametric assumptions not met. Unpaired two samples Wilcoxon test showed no significant difference (W=141, p= 0.61)</a:t>
            </a:r>
          </a:p>
          <a:p>
            <a:endParaRPr lang="en-US" dirty="0"/>
          </a:p>
          <a:p>
            <a:r>
              <a:rPr lang="en-US" dirty="0"/>
              <a:t>Abundant community: Parametric assumptions not met. Unpaired two samples Wilcoxon test showed no significant difference (W=123, p= 0.91)</a:t>
            </a:r>
          </a:p>
          <a:p>
            <a:endParaRPr lang="en-US" dirty="0"/>
          </a:p>
          <a:p>
            <a:r>
              <a:rPr lang="en-US" dirty="0"/>
              <a:t>Rare community: Parametric assumptions met. Unpaired two-sample t-test showed no significant difference (t=0.88, </a:t>
            </a:r>
            <a:r>
              <a:rPr lang="en-US" dirty="0" err="1"/>
              <a:t>df</a:t>
            </a:r>
            <a:r>
              <a:rPr lang="en-US" dirty="0"/>
              <a:t>=32, p=0.39)</a:t>
            </a:r>
          </a:p>
        </p:txBody>
      </p:sp>
      <p:pic>
        <p:nvPicPr>
          <p:cNvPr id="7" name="Picture 6">
            <a:extLst>
              <a:ext uri="{FF2B5EF4-FFF2-40B4-BE49-F238E27FC236}">
                <a16:creationId xmlns:a16="http://schemas.microsoft.com/office/drawing/2014/main" id="{F4D4DB36-92A8-DE48-92A8-AF3420263B6A}"/>
              </a:ext>
            </a:extLst>
          </p:cNvPr>
          <p:cNvPicPr>
            <a:picLocks noChangeAspect="1"/>
          </p:cNvPicPr>
          <p:nvPr/>
        </p:nvPicPr>
        <p:blipFill>
          <a:blip r:embed="rId3"/>
          <a:stretch>
            <a:fillRect/>
          </a:stretch>
        </p:blipFill>
        <p:spPr>
          <a:xfrm>
            <a:off x="5874834" y="752707"/>
            <a:ext cx="5486400" cy="5486400"/>
          </a:xfrm>
          <a:prstGeom prst="rect">
            <a:avLst/>
          </a:prstGeom>
        </p:spPr>
      </p:pic>
      <p:pic>
        <p:nvPicPr>
          <p:cNvPr id="9" name="Picture 8">
            <a:extLst>
              <a:ext uri="{FF2B5EF4-FFF2-40B4-BE49-F238E27FC236}">
                <a16:creationId xmlns:a16="http://schemas.microsoft.com/office/drawing/2014/main" id="{39BEE36E-189C-514C-8954-1457C1DB586C}"/>
              </a:ext>
            </a:extLst>
          </p:cNvPr>
          <p:cNvPicPr>
            <a:picLocks noChangeAspect="1"/>
          </p:cNvPicPr>
          <p:nvPr/>
        </p:nvPicPr>
        <p:blipFill>
          <a:blip r:embed="rId4"/>
          <a:stretch>
            <a:fillRect/>
          </a:stretch>
        </p:blipFill>
        <p:spPr>
          <a:xfrm>
            <a:off x="8519531" y="4064127"/>
            <a:ext cx="3464617" cy="1599809"/>
          </a:xfrm>
          <a:prstGeom prst="rect">
            <a:avLst/>
          </a:prstGeom>
        </p:spPr>
      </p:pic>
    </p:spTree>
    <p:extLst>
      <p:ext uri="{BB962C8B-B14F-4D97-AF65-F5344CB8AC3E}">
        <p14:creationId xmlns:p14="http://schemas.microsoft.com/office/powerpoint/2010/main" val="2000788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714A1-F398-D64E-B313-E3CD1097D943}"/>
              </a:ext>
            </a:extLst>
          </p:cNvPr>
          <p:cNvSpPr>
            <a:spLocks noGrp="1"/>
          </p:cNvSpPr>
          <p:nvPr>
            <p:ph type="title"/>
          </p:nvPr>
        </p:nvSpPr>
        <p:spPr/>
        <p:txBody>
          <a:bodyPr/>
          <a:lstStyle/>
          <a:p>
            <a:r>
              <a:rPr lang="en-US" dirty="0"/>
              <a:t>Beta Diversity &amp; Ordination: Weighted </a:t>
            </a:r>
            <a:r>
              <a:rPr lang="en-US" dirty="0" err="1"/>
              <a:t>UniFrac</a:t>
            </a:r>
            <a:endParaRPr lang="en-US" dirty="0"/>
          </a:p>
        </p:txBody>
      </p:sp>
      <p:sp>
        <p:nvSpPr>
          <p:cNvPr id="10" name="Content Placeholder 2">
            <a:extLst>
              <a:ext uri="{FF2B5EF4-FFF2-40B4-BE49-F238E27FC236}">
                <a16:creationId xmlns:a16="http://schemas.microsoft.com/office/drawing/2014/main" id="{5E8AE19B-585A-B749-A291-A6C8B222F708}"/>
              </a:ext>
            </a:extLst>
          </p:cNvPr>
          <p:cNvSpPr>
            <a:spLocks noGrp="1"/>
          </p:cNvSpPr>
          <p:nvPr>
            <p:ph idx="1"/>
          </p:nvPr>
        </p:nvSpPr>
        <p:spPr>
          <a:xfrm>
            <a:off x="516184" y="4629909"/>
            <a:ext cx="3339790" cy="1806497"/>
          </a:xfrm>
        </p:spPr>
        <p:txBody>
          <a:bodyPr>
            <a:normAutofit/>
          </a:bodyPr>
          <a:lstStyle/>
          <a:p>
            <a:pPr marL="0" indent="0" algn="ctr">
              <a:buNone/>
            </a:pPr>
            <a:r>
              <a:rPr lang="en-US" sz="1400" dirty="0"/>
              <a:t>Figure : Beta diversity of total community, calculated using weighted </a:t>
            </a:r>
            <a:r>
              <a:rPr lang="en-US" sz="1400" dirty="0" err="1"/>
              <a:t>UniFrac</a:t>
            </a:r>
            <a:r>
              <a:rPr lang="en-US" sz="1400" dirty="0"/>
              <a:t> distances, visualized use </a:t>
            </a:r>
            <a:r>
              <a:rPr lang="en-US" sz="1400" dirty="0" err="1"/>
              <a:t>PCoA</a:t>
            </a:r>
            <a:r>
              <a:rPr lang="en-US" sz="1400" dirty="0"/>
              <a:t> (blue is Taylor Glacier and orange is Canada Glacier). This plot shows significant beta diversity variation between glaciers (PERMANOVA: F =8.39 , </a:t>
            </a:r>
            <a:r>
              <a:rPr lang="en-US" sz="1400" dirty="0" err="1"/>
              <a:t>df</a:t>
            </a:r>
            <a:r>
              <a:rPr lang="en-US" sz="1400" dirty="0"/>
              <a:t>=1, P =0.001).</a:t>
            </a:r>
          </a:p>
        </p:txBody>
      </p:sp>
      <p:sp>
        <p:nvSpPr>
          <p:cNvPr id="12" name="Content Placeholder 2">
            <a:extLst>
              <a:ext uri="{FF2B5EF4-FFF2-40B4-BE49-F238E27FC236}">
                <a16:creationId xmlns:a16="http://schemas.microsoft.com/office/drawing/2014/main" id="{03FCFE9F-1F53-C148-BD3D-4FA3DE81D5E8}"/>
              </a:ext>
            </a:extLst>
          </p:cNvPr>
          <p:cNvSpPr txBox="1">
            <a:spLocks/>
          </p:cNvSpPr>
          <p:nvPr/>
        </p:nvSpPr>
        <p:spPr>
          <a:xfrm>
            <a:off x="4591026" y="4649072"/>
            <a:ext cx="3339790" cy="18064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Figure : Beta diversity of abundant community, calculated using weighted </a:t>
            </a:r>
            <a:r>
              <a:rPr lang="en-US" sz="1400" dirty="0" err="1"/>
              <a:t>UniFrac</a:t>
            </a:r>
            <a:r>
              <a:rPr lang="en-US" sz="1400" dirty="0"/>
              <a:t> distances, visualized use </a:t>
            </a:r>
            <a:r>
              <a:rPr lang="en-US" sz="1400" dirty="0" err="1"/>
              <a:t>PCoA</a:t>
            </a:r>
            <a:r>
              <a:rPr lang="en-US" sz="1400" dirty="0"/>
              <a:t> (blue is Taylor Glacier and orange is Canada Glacier). This plot shows significant beta diversity variation between glaciers (PERMANOVA: F = 11.11, </a:t>
            </a:r>
            <a:r>
              <a:rPr lang="en-US" sz="1400" dirty="0" err="1"/>
              <a:t>df</a:t>
            </a:r>
            <a:r>
              <a:rPr lang="en-US" sz="1400" dirty="0"/>
              <a:t>=1, P =0.001).</a:t>
            </a:r>
          </a:p>
        </p:txBody>
      </p:sp>
      <p:sp>
        <p:nvSpPr>
          <p:cNvPr id="13" name="Content Placeholder 2">
            <a:extLst>
              <a:ext uri="{FF2B5EF4-FFF2-40B4-BE49-F238E27FC236}">
                <a16:creationId xmlns:a16="http://schemas.microsoft.com/office/drawing/2014/main" id="{38B5225E-3643-4844-B320-A488B33549E0}"/>
              </a:ext>
            </a:extLst>
          </p:cNvPr>
          <p:cNvSpPr txBox="1">
            <a:spLocks/>
          </p:cNvSpPr>
          <p:nvPr/>
        </p:nvSpPr>
        <p:spPr>
          <a:xfrm>
            <a:off x="8486519" y="4471117"/>
            <a:ext cx="3339790" cy="18064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Figure : Beta diversity of rare community, calculated using weighted </a:t>
            </a:r>
            <a:r>
              <a:rPr lang="en-US" sz="1400" dirty="0" err="1"/>
              <a:t>UniFrac</a:t>
            </a:r>
            <a:r>
              <a:rPr lang="en-US" sz="1400" dirty="0"/>
              <a:t> distances, visualized use </a:t>
            </a:r>
            <a:r>
              <a:rPr lang="en-US" sz="1400" dirty="0" err="1"/>
              <a:t>PCoA</a:t>
            </a:r>
            <a:r>
              <a:rPr lang="en-US" sz="1400" dirty="0"/>
              <a:t> (blue is Taylor Glacier and orange is Canada Glacier). This plot shows significant beta diversity variation between glaciers (PERMANOVA: F = 1.50, </a:t>
            </a:r>
            <a:r>
              <a:rPr lang="en-US" sz="1400" dirty="0" err="1"/>
              <a:t>df</a:t>
            </a:r>
            <a:r>
              <a:rPr lang="en-US" sz="1400" dirty="0"/>
              <a:t>=1, P =0.038).</a:t>
            </a:r>
          </a:p>
        </p:txBody>
      </p:sp>
      <p:pic>
        <p:nvPicPr>
          <p:cNvPr id="16" name="Picture 15">
            <a:extLst>
              <a:ext uri="{FF2B5EF4-FFF2-40B4-BE49-F238E27FC236}">
                <a16:creationId xmlns:a16="http://schemas.microsoft.com/office/drawing/2014/main" id="{E0F3B351-2E49-1B49-B69D-E7CD4BD83F30}"/>
              </a:ext>
            </a:extLst>
          </p:cNvPr>
          <p:cNvPicPr>
            <a:picLocks noChangeAspect="1"/>
          </p:cNvPicPr>
          <p:nvPr/>
        </p:nvPicPr>
        <p:blipFill>
          <a:blip r:embed="rId3"/>
          <a:stretch>
            <a:fillRect/>
          </a:stretch>
        </p:blipFill>
        <p:spPr>
          <a:xfrm>
            <a:off x="4186990" y="2096944"/>
            <a:ext cx="3529262" cy="1764631"/>
          </a:xfrm>
          <a:prstGeom prst="rect">
            <a:avLst/>
          </a:prstGeom>
        </p:spPr>
      </p:pic>
      <p:pic>
        <p:nvPicPr>
          <p:cNvPr id="20" name="Picture 19">
            <a:extLst>
              <a:ext uri="{FF2B5EF4-FFF2-40B4-BE49-F238E27FC236}">
                <a16:creationId xmlns:a16="http://schemas.microsoft.com/office/drawing/2014/main" id="{6A866FF3-4841-4F4D-8C0D-99539BCEEBE5}"/>
              </a:ext>
            </a:extLst>
          </p:cNvPr>
          <p:cNvPicPr>
            <a:picLocks noChangeAspect="1"/>
          </p:cNvPicPr>
          <p:nvPr/>
        </p:nvPicPr>
        <p:blipFill>
          <a:blip r:embed="rId4"/>
          <a:stretch>
            <a:fillRect/>
          </a:stretch>
        </p:blipFill>
        <p:spPr>
          <a:xfrm>
            <a:off x="166094" y="2096944"/>
            <a:ext cx="3544014" cy="1772007"/>
          </a:xfrm>
          <a:prstGeom prst="rect">
            <a:avLst/>
          </a:prstGeom>
        </p:spPr>
      </p:pic>
      <p:pic>
        <p:nvPicPr>
          <p:cNvPr id="21" name="Picture 20">
            <a:extLst>
              <a:ext uri="{FF2B5EF4-FFF2-40B4-BE49-F238E27FC236}">
                <a16:creationId xmlns:a16="http://schemas.microsoft.com/office/drawing/2014/main" id="{920D1DCA-0B96-5145-B166-52798DDA7EEC}"/>
              </a:ext>
            </a:extLst>
          </p:cNvPr>
          <p:cNvPicPr>
            <a:picLocks noChangeAspect="1"/>
          </p:cNvPicPr>
          <p:nvPr/>
        </p:nvPicPr>
        <p:blipFill>
          <a:blip r:embed="rId5"/>
          <a:stretch>
            <a:fillRect/>
          </a:stretch>
        </p:blipFill>
        <p:spPr>
          <a:xfrm>
            <a:off x="8193134" y="2024861"/>
            <a:ext cx="3357182" cy="1678591"/>
          </a:xfrm>
          <a:prstGeom prst="rect">
            <a:avLst/>
          </a:prstGeom>
        </p:spPr>
      </p:pic>
      <p:sp>
        <p:nvSpPr>
          <p:cNvPr id="9" name="TextBox 8">
            <a:extLst>
              <a:ext uri="{FF2B5EF4-FFF2-40B4-BE49-F238E27FC236}">
                <a16:creationId xmlns:a16="http://schemas.microsoft.com/office/drawing/2014/main" id="{CBA8DA89-2BF6-7048-94A4-CCA136DE0B9F}"/>
              </a:ext>
            </a:extLst>
          </p:cNvPr>
          <p:cNvSpPr txBox="1"/>
          <p:nvPr/>
        </p:nvSpPr>
        <p:spPr>
          <a:xfrm>
            <a:off x="1302216" y="4037625"/>
            <a:ext cx="1984917" cy="369332"/>
          </a:xfrm>
          <a:prstGeom prst="rect">
            <a:avLst/>
          </a:prstGeom>
          <a:noFill/>
        </p:spPr>
        <p:txBody>
          <a:bodyPr wrap="square" rtlCol="0">
            <a:spAutoFit/>
          </a:bodyPr>
          <a:lstStyle/>
          <a:p>
            <a:r>
              <a:rPr lang="en-US" dirty="0"/>
              <a:t>Total Community</a:t>
            </a:r>
          </a:p>
        </p:txBody>
      </p:sp>
      <p:sp>
        <p:nvSpPr>
          <p:cNvPr id="11" name="TextBox 10">
            <a:extLst>
              <a:ext uri="{FF2B5EF4-FFF2-40B4-BE49-F238E27FC236}">
                <a16:creationId xmlns:a16="http://schemas.microsoft.com/office/drawing/2014/main" id="{EA356977-BC13-FD44-9A16-7ACC7E82CA3B}"/>
              </a:ext>
            </a:extLst>
          </p:cNvPr>
          <p:cNvSpPr txBox="1"/>
          <p:nvPr/>
        </p:nvSpPr>
        <p:spPr>
          <a:xfrm>
            <a:off x="5220941" y="4009846"/>
            <a:ext cx="2371493" cy="378472"/>
          </a:xfrm>
          <a:prstGeom prst="rect">
            <a:avLst/>
          </a:prstGeom>
          <a:noFill/>
        </p:spPr>
        <p:txBody>
          <a:bodyPr wrap="square" rtlCol="0">
            <a:spAutoFit/>
          </a:bodyPr>
          <a:lstStyle/>
          <a:p>
            <a:r>
              <a:rPr lang="en-US" dirty="0"/>
              <a:t>Abundant Community</a:t>
            </a:r>
          </a:p>
        </p:txBody>
      </p:sp>
      <p:sp>
        <p:nvSpPr>
          <p:cNvPr id="14" name="TextBox 13">
            <a:extLst>
              <a:ext uri="{FF2B5EF4-FFF2-40B4-BE49-F238E27FC236}">
                <a16:creationId xmlns:a16="http://schemas.microsoft.com/office/drawing/2014/main" id="{BEEAE92A-DF0E-EA49-9A89-77069F98C3ED}"/>
              </a:ext>
            </a:extLst>
          </p:cNvPr>
          <p:cNvSpPr txBox="1"/>
          <p:nvPr/>
        </p:nvSpPr>
        <p:spPr>
          <a:xfrm>
            <a:off x="8982307" y="3928934"/>
            <a:ext cx="2371493" cy="378472"/>
          </a:xfrm>
          <a:prstGeom prst="rect">
            <a:avLst/>
          </a:prstGeom>
          <a:noFill/>
        </p:spPr>
        <p:txBody>
          <a:bodyPr wrap="square" rtlCol="0">
            <a:spAutoFit/>
          </a:bodyPr>
          <a:lstStyle/>
          <a:p>
            <a:r>
              <a:rPr lang="en-US" dirty="0"/>
              <a:t>Rare Community</a:t>
            </a:r>
          </a:p>
        </p:txBody>
      </p:sp>
    </p:spTree>
    <p:extLst>
      <p:ext uri="{BB962C8B-B14F-4D97-AF65-F5344CB8AC3E}">
        <p14:creationId xmlns:p14="http://schemas.microsoft.com/office/powerpoint/2010/main" val="1488019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2034-5DB1-4A4E-B7C4-B5D61CA17087}"/>
              </a:ext>
            </a:extLst>
          </p:cNvPr>
          <p:cNvSpPr>
            <a:spLocks noGrp="1"/>
          </p:cNvSpPr>
          <p:nvPr>
            <p:ph type="title"/>
          </p:nvPr>
        </p:nvSpPr>
        <p:spPr/>
        <p:txBody>
          <a:bodyPr/>
          <a:lstStyle/>
          <a:p>
            <a:r>
              <a:rPr lang="en-US" dirty="0"/>
              <a:t>Beta Diversity &amp; Ordination: Unweighted </a:t>
            </a:r>
            <a:r>
              <a:rPr lang="en-US" dirty="0" err="1"/>
              <a:t>UniFrac</a:t>
            </a:r>
            <a:endParaRPr lang="en-US" dirty="0"/>
          </a:p>
        </p:txBody>
      </p:sp>
      <p:pic>
        <p:nvPicPr>
          <p:cNvPr id="5" name="Picture 4">
            <a:extLst>
              <a:ext uri="{FF2B5EF4-FFF2-40B4-BE49-F238E27FC236}">
                <a16:creationId xmlns:a16="http://schemas.microsoft.com/office/drawing/2014/main" id="{A23AD1C1-AC84-3C4D-BFAE-AF698EEC4093}"/>
              </a:ext>
            </a:extLst>
          </p:cNvPr>
          <p:cNvPicPr>
            <a:picLocks noChangeAspect="1"/>
          </p:cNvPicPr>
          <p:nvPr/>
        </p:nvPicPr>
        <p:blipFill>
          <a:blip r:embed="rId3"/>
          <a:stretch>
            <a:fillRect/>
          </a:stretch>
        </p:blipFill>
        <p:spPr>
          <a:xfrm>
            <a:off x="4297674" y="2087562"/>
            <a:ext cx="3593432" cy="1796716"/>
          </a:xfrm>
          <a:prstGeom prst="rect">
            <a:avLst/>
          </a:prstGeom>
        </p:spPr>
      </p:pic>
      <p:pic>
        <p:nvPicPr>
          <p:cNvPr id="7" name="Picture 6">
            <a:extLst>
              <a:ext uri="{FF2B5EF4-FFF2-40B4-BE49-F238E27FC236}">
                <a16:creationId xmlns:a16="http://schemas.microsoft.com/office/drawing/2014/main" id="{77104308-275C-DB4E-B1FC-B84FDB7E042D}"/>
              </a:ext>
            </a:extLst>
          </p:cNvPr>
          <p:cNvPicPr>
            <a:picLocks noChangeAspect="1"/>
          </p:cNvPicPr>
          <p:nvPr/>
        </p:nvPicPr>
        <p:blipFill>
          <a:blip r:embed="rId4"/>
          <a:stretch>
            <a:fillRect/>
          </a:stretch>
        </p:blipFill>
        <p:spPr>
          <a:xfrm>
            <a:off x="8034285" y="2039436"/>
            <a:ext cx="3660820" cy="1830410"/>
          </a:xfrm>
          <a:prstGeom prst="rect">
            <a:avLst/>
          </a:prstGeom>
        </p:spPr>
      </p:pic>
      <p:pic>
        <p:nvPicPr>
          <p:cNvPr id="9" name="Picture 8">
            <a:extLst>
              <a:ext uri="{FF2B5EF4-FFF2-40B4-BE49-F238E27FC236}">
                <a16:creationId xmlns:a16="http://schemas.microsoft.com/office/drawing/2014/main" id="{0F1D5020-C307-5446-99B4-DE345F039D13}"/>
              </a:ext>
            </a:extLst>
          </p:cNvPr>
          <p:cNvPicPr>
            <a:picLocks noChangeAspect="1"/>
          </p:cNvPicPr>
          <p:nvPr/>
        </p:nvPicPr>
        <p:blipFill>
          <a:blip r:embed="rId5"/>
          <a:stretch>
            <a:fillRect/>
          </a:stretch>
        </p:blipFill>
        <p:spPr>
          <a:xfrm>
            <a:off x="368559" y="2039436"/>
            <a:ext cx="3785937" cy="1892969"/>
          </a:xfrm>
          <a:prstGeom prst="rect">
            <a:avLst/>
          </a:prstGeom>
        </p:spPr>
      </p:pic>
      <p:sp>
        <p:nvSpPr>
          <p:cNvPr id="10" name="Content Placeholder 2">
            <a:extLst>
              <a:ext uri="{FF2B5EF4-FFF2-40B4-BE49-F238E27FC236}">
                <a16:creationId xmlns:a16="http://schemas.microsoft.com/office/drawing/2014/main" id="{6D98608E-F633-8B4B-A729-A57C04F42A3D}"/>
              </a:ext>
            </a:extLst>
          </p:cNvPr>
          <p:cNvSpPr>
            <a:spLocks noGrp="1"/>
          </p:cNvSpPr>
          <p:nvPr>
            <p:ph idx="1"/>
          </p:nvPr>
        </p:nvSpPr>
        <p:spPr>
          <a:xfrm>
            <a:off x="384980" y="4687034"/>
            <a:ext cx="3339790" cy="1806497"/>
          </a:xfrm>
        </p:spPr>
        <p:txBody>
          <a:bodyPr>
            <a:normAutofit/>
          </a:bodyPr>
          <a:lstStyle/>
          <a:p>
            <a:pPr marL="0" indent="0" algn="ctr">
              <a:buNone/>
            </a:pPr>
            <a:r>
              <a:rPr lang="en-US" sz="1400" dirty="0"/>
              <a:t>Figure : Beta diversity of total community, calculated using weighted </a:t>
            </a:r>
            <a:r>
              <a:rPr lang="en-US" sz="1400" dirty="0" err="1"/>
              <a:t>UniFrac</a:t>
            </a:r>
            <a:r>
              <a:rPr lang="en-US" sz="1400" dirty="0"/>
              <a:t> distances, visualized use </a:t>
            </a:r>
            <a:r>
              <a:rPr lang="en-US" sz="1400" dirty="0" err="1"/>
              <a:t>PCoA</a:t>
            </a:r>
            <a:r>
              <a:rPr lang="en-US" sz="1400" dirty="0"/>
              <a:t> (blue is Taylor Glacier and orange is Canada Glacier). This plot shows significant beta diversity variation between glaciers (PERMANOVA: F =4.61 , </a:t>
            </a:r>
            <a:r>
              <a:rPr lang="en-US" sz="1400" dirty="0" err="1"/>
              <a:t>df</a:t>
            </a:r>
            <a:r>
              <a:rPr lang="en-US" sz="1400" dirty="0"/>
              <a:t>=1, P =0.001).</a:t>
            </a:r>
          </a:p>
        </p:txBody>
      </p:sp>
      <p:sp>
        <p:nvSpPr>
          <p:cNvPr id="11" name="Content Placeholder 2">
            <a:extLst>
              <a:ext uri="{FF2B5EF4-FFF2-40B4-BE49-F238E27FC236}">
                <a16:creationId xmlns:a16="http://schemas.microsoft.com/office/drawing/2014/main" id="{80CB587A-2658-6F44-A911-A6CFECC2E2D4}"/>
              </a:ext>
            </a:extLst>
          </p:cNvPr>
          <p:cNvSpPr txBox="1">
            <a:spLocks/>
          </p:cNvSpPr>
          <p:nvPr/>
        </p:nvSpPr>
        <p:spPr>
          <a:xfrm>
            <a:off x="4459822" y="4706197"/>
            <a:ext cx="3339790" cy="18064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Figure : Beta diversity of abundant community, calculated using weighted </a:t>
            </a:r>
            <a:r>
              <a:rPr lang="en-US" sz="1400" dirty="0" err="1"/>
              <a:t>UniFrac</a:t>
            </a:r>
            <a:r>
              <a:rPr lang="en-US" sz="1400" dirty="0"/>
              <a:t> distances, visualized use </a:t>
            </a:r>
            <a:r>
              <a:rPr lang="en-US" sz="1400" dirty="0" err="1"/>
              <a:t>PCoA</a:t>
            </a:r>
            <a:r>
              <a:rPr lang="en-US" sz="1400" dirty="0"/>
              <a:t> (blue is Taylor Glacier and orange is Canada Glacier). This plot shows significant beta diversity variation between glaciers (PERMANOVA: F = 8.91, </a:t>
            </a:r>
            <a:r>
              <a:rPr lang="en-US" sz="1400" dirty="0" err="1"/>
              <a:t>df</a:t>
            </a:r>
            <a:r>
              <a:rPr lang="en-US" sz="1400" dirty="0"/>
              <a:t>=1, P =0.001).</a:t>
            </a:r>
          </a:p>
        </p:txBody>
      </p:sp>
      <p:sp>
        <p:nvSpPr>
          <p:cNvPr id="12" name="Content Placeholder 2">
            <a:extLst>
              <a:ext uri="{FF2B5EF4-FFF2-40B4-BE49-F238E27FC236}">
                <a16:creationId xmlns:a16="http://schemas.microsoft.com/office/drawing/2014/main" id="{44B5019E-E334-164B-86F3-D66E123C435C}"/>
              </a:ext>
            </a:extLst>
          </p:cNvPr>
          <p:cNvSpPr txBox="1">
            <a:spLocks/>
          </p:cNvSpPr>
          <p:nvPr/>
        </p:nvSpPr>
        <p:spPr>
          <a:xfrm>
            <a:off x="8355315" y="4528242"/>
            <a:ext cx="3339790" cy="18064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Figure : Beta diversity of rare community, calculated using weighted </a:t>
            </a:r>
            <a:r>
              <a:rPr lang="en-US" sz="1400" dirty="0" err="1"/>
              <a:t>UniFrac</a:t>
            </a:r>
            <a:r>
              <a:rPr lang="en-US" sz="1400" dirty="0"/>
              <a:t> distances, visualized use </a:t>
            </a:r>
            <a:r>
              <a:rPr lang="en-US" sz="1400" dirty="0" err="1"/>
              <a:t>PCoA</a:t>
            </a:r>
            <a:r>
              <a:rPr lang="en-US" sz="1400" dirty="0"/>
              <a:t> (blue is Taylor Glacier and orange is Canada Glacier). This plot shows no significant beta diversity variation between glaciers (PERMANOVA: F = 1.01, </a:t>
            </a:r>
            <a:r>
              <a:rPr lang="en-US" sz="1400" dirty="0" err="1"/>
              <a:t>df</a:t>
            </a:r>
            <a:r>
              <a:rPr lang="en-US" sz="1400" dirty="0"/>
              <a:t>=1, P =0.43).</a:t>
            </a:r>
          </a:p>
        </p:txBody>
      </p:sp>
      <p:sp>
        <p:nvSpPr>
          <p:cNvPr id="13" name="TextBox 12">
            <a:extLst>
              <a:ext uri="{FF2B5EF4-FFF2-40B4-BE49-F238E27FC236}">
                <a16:creationId xmlns:a16="http://schemas.microsoft.com/office/drawing/2014/main" id="{B3B11AAB-B70C-9D45-B720-A93467D392ED}"/>
              </a:ext>
            </a:extLst>
          </p:cNvPr>
          <p:cNvSpPr txBox="1"/>
          <p:nvPr/>
        </p:nvSpPr>
        <p:spPr>
          <a:xfrm>
            <a:off x="1302216" y="4037625"/>
            <a:ext cx="1984917" cy="369332"/>
          </a:xfrm>
          <a:prstGeom prst="rect">
            <a:avLst/>
          </a:prstGeom>
          <a:noFill/>
        </p:spPr>
        <p:txBody>
          <a:bodyPr wrap="square" rtlCol="0">
            <a:spAutoFit/>
          </a:bodyPr>
          <a:lstStyle/>
          <a:p>
            <a:r>
              <a:rPr lang="en-US" dirty="0"/>
              <a:t>Total Community</a:t>
            </a:r>
          </a:p>
        </p:txBody>
      </p:sp>
      <p:sp>
        <p:nvSpPr>
          <p:cNvPr id="14" name="TextBox 13">
            <a:extLst>
              <a:ext uri="{FF2B5EF4-FFF2-40B4-BE49-F238E27FC236}">
                <a16:creationId xmlns:a16="http://schemas.microsoft.com/office/drawing/2014/main" id="{1B1A06EF-F884-5248-9BBA-95BA34F2AD44}"/>
              </a:ext>
            </a:extLst>
          </p:cNvPr>
          <p:cNvSpPr txBox="1"/>
          <p:nvPr/>
        </p:nvSpPr>
        <p:spPr>
          <a:xfrm>
            <a:off x="5220941" y="4009846"/>
            <a:ext cx="2371493" cy="378472"/>
          </a:xfrm>
          <a:prstGeom prst="rect">
            <a:avLst/>
          </a:prstGeom>
          <a:noFill/>
        </p:spPr>
        <p:txBody>
          <a:bodyPr wrap="square" rtlCol="0">
            <a:spAutoFit/>
          </a:bodyPr>
          <a:lstStyle/>
          <a:p>
            <a:r>
              <a:rPr lang="en-US" dirty="0"/>
              <a:t>Abundant Community</a:t>
            </a:r>
          </a:p>
        </p:txBody>
      </p:sp>
      <p:sp>
        <p:nvSpPr>
          <p:cNvPr id="15" name="TextBox 14">
            <a:extLst>
              <a:ext uri="{FF2B5EF4-FFF2-40B4-BE49-F238E27FC236}">
                <a16:creationId xmlns:a16="http://schemas.microsoft.com/office/drawing/2014/main" id="{724CF136-1234-E34C-B4C6-C9E7F2C62D2C}"/>
              </a:ext>
            </a:extLst>
          </p:cNvPr>
          <p:cNvSpPr txBox="1"/>
          <p:nvPr/>
        </p:nvSpPr>
        <p:spPr>
          <a:xfrm>
            <a:off x="8982307" y="3928934"/>
            <a:ext cx="2371493" cy="378472"/>
          </a:xfrm>
          <a:prstGeom prst="rect">
            <a:avLst/>
          </a:prstGeom>
          <a:noFill/>
        </p:spPr>
        <p:txBody>
          <a:bodyPr wrap="square" rtlCol="0">
            <a:spAutoFit/>
          </a:bodyPr>
          <a:lstStyle/>
          <a:p>
            <a:r>
              <a:rPr lang="en-US" dirty="0"/>
              <a:t>Rare Community</a:t>
            </a:r>
          </a:p>
        </p:txBody>
      </p:sp>
    </p:spTree>
    <p:extLst>
      <p:ext uri="{BB962C8B-B14F-4D97-AF65-F5344CB8AC3E}">
        <p14:creationId xmlns:p14="http://schemas.microsoft.com/office/powerpoint/2010/main" val="3658350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1A4F3-04F9-A647-9526-A1086DCA80BD}"/>
              </a:ext>
            </a:extLst>
          </p:cNvPr>
          <p:cNvSpPr>
            <a:spLocks noGrp="1"/>
          </p:cNvSpPr>
          <p:nvPr>
            <p:ph type="title"/>
          </p:nvPr>
        </p:nvSpPr>
        <p:spPr/>
        <p:txBody>
          <a:bodyPr/>
          <a:lstStyle/>
          <a:p>
            <a:r>
              <a:rPr lang="en-US" dirty="0"/>
              <a:t>Beta Diversity &amp; Ordination: Bray-Curtis</a:t>
            </a:r>
          </a:p>
        </p:txBody>
      </p:sp>
      <p:pic>
        <p:nvPicPr>
          <p:cNvPr id="5" name="Picture 4">
            <a:extLst>
              <a:ext uri="{FF2B5EF4-FFF2-40B4-BE49-F238E27FC236}">
                <a16:creationId xmlns:a16="http://schemas.microsoft.com/office/drawing/2014/main" id="{CB250BD8-F6C7-2343-8C1B-9E9AC1B873AA}"/>
              </a:ext>
            </a:extLst>
          </p:cNvPr>
          <p:cNvPicPr>
            <a:picLocks noChangeAspect="1"/>
          </p:cNvPicPr>
          <p:nvPr/>
        </p:nvPicPr>
        <p:blipFill>
          <a:blip r:embed="rId3"/>
          <a:stretch>
            <a:fillRect/>
          </a:stretch>
        </p:blipFill>
        <p:spPr>
          <a:xfrm>
            <a:off x="4027680" y="2437394"/>
            <a:ext cx="3767795" cy="1883898"/>
          </a:xfrm>
          <a:prstGeom prst="rect">
            <a:avLst/>
          </a:prstGeom>
        </p:spPr>
      </p:pic>
      <p:pic>
        <p:nvPicPr>
          <p:cNvPr id="7" name="Picture 6">
            <a:extLst>
              <a:ext uri="{FF2B5EF4-FFF2-40B4-BE49-F238E27FC236}">
                <a16:creationId xmlns:a16="http://schemas.microsoft.com/office/drawing/2014/main" id="{75A2C2FF-D00E-B646-AD8C-7652ADB2B547}"/>
              </a:ext>
            </a:extLst>
          </p:cNvPr>
          <p:cNvPicPr>
            <a:picLocks noChangeAspect="1"/>
          </p:cNvPicPr>
          <p:nvPr/>
        </p:nvPicPr>
        <p:blipFill>
          <a:blip r:embed="rId4"/>
          <a:stretch>
            <a:fillRect/>
          </a:stretch>
        </p:blipFill>
        <p:spPr>
          <a:xfrm>
            <a:off x="7828078" y="2437394"/>
            <a:ext cx="3767796" cy="1883898"/>
          </a:xfrm>
          <a:prstGeom prst="rect">
            <a:avLst/>
          </a:prstGeom>
        </p:spPr>
      </p:pic>
      <p:pic>
        <p:nvPicPr>
          <p:cNvPr id="9" name="Picture 8">
            <a:extLst>
              <a:ext uri="{FF2B5EF4-FFF2-40B4-BE49-F238E27FC236}">
                <a16:creationId xmlns:a16="http://schemas.microsoft.com/office/drawing/2014/main" id="{0E672302-3A29-0847-9986-01BAE41C8A68}"/>
              </a:ext>
            </a:extLst>
          </p:cNvPr>
          <p:cNvPicPr>
            <a:picLocks noChangeAspect="1"/>
          </p:cNvPicPr>
          <p:nvPr/>
        </p:nvPicPr>
        <p:blipFill>
          <a:blip r:embed="rId5"/>
          <a:stretch>
            <a:fillRect/>
          </a:stretch>
        </p:blipFill>
        <p:spPr>
          <a:xfrm>
            <a:off x="227282" y="2421093"/>
            <a:ext cx="3800398" cy="1900199"/>
          </a:xfrm>
          <a:prstGeom prst="rect">
            <a:avLst/>
          </a:prstGeom>
        </p:spPr>
      </p:pic>
      <p:sp>
        <p:nvSpPr>
          <p:cNvPr id="10" name="Content Placeholder 2">
            <a:extLst>
              <a:ext uri="{FF2B5EF4-FFF2-40B4-BE49-F238E27FC236}">
                <a16:creationId xmlns:a16="http://schemas.microsoft.com/office/drawing/2014/main" id="{87F52CE2-C686-2046-BF8B-BB3373855DCA}"/>
              </a:ext>
            </a:extLst>
          </p:cNvPr>
          <p:cNvSpPr>
            <a:spLocks noGrp="1"/>
          </p:cNvSpPr>
          <p:nvPr>
            <p:ph idx="1"/>
          </p:nvPr>
        </p:nvSpPr>
        <p:spPr>
          <a:xfrm>
            <a:off x="413446" y="4496385"/>
            <a:ext cx="3339790" cy="1806497"/>
          </a:xfrm>
        </p:spPr>
        <p:txBody>
          <a:bodyPr>
            <a:normAutofit/>
          </a:bodyPr>
          <a:lstStyle/>
          <a:p>
            <a:pPr marL="0" indent="0" algn="ctr">
              <a:buNone/>
            </a:pPr>
            <a:r>
              <a:rPr lang="en-US" sz="1400" dirty="0"/>
              <a:t>Figure : Beta diversity of total community calculated using Bray-Curtis distances, visualized use NMDS plot (blue is Taylor Glacier and orange is Canada Glacier). This plot shows significant beta diversity variation between glaciers (PERMANOVA: F =8.5 , </a:t>
            </a:r>
            <a:r>
              <a:rPr lang="en-US" sz="1400" dirty="0" err="1"/>
              <a:t>df</a:t>
            </a:r>
            <a:r>
              <a:rPr lang="en-US" sz="1400" dirty="0"/>
              <a:t>=1, P =0.001).</a:t>
            </a:r>
          </a:p>
        </p:txBody>
      </p:sp>
      <p:sp>
        <p:nvSpPr>
          <p:cNvPr id="11" name="Content Placeholder 2">
            <a:extLst>
              <a:ext uri="{FF2B5EF4-FFF2-40B4-BE49-F238E27FC236}">
                <a16:creationId xmlns:a16="http://schemas.microsoft.com/office/drawing/2014/main" id="{F6B9EA0B-A5A7-F84F-A8DC-86AE5130A4A2}"/>
              </a:ext>
            </a:extLst>
          </p:cNvPr>
          <p:cNvSpPr txBox="1">
            <a:spLocks/>
          </p:cNvSpPr>
          <p:nvPr/>
        </p:nvSpPr>
        <p:spPr>
          <a:xfrm>
            <a:off x="4488288" y="4515548"/>
            <a:ext cx="3339790" cy="18064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t>Figure : Beta diversity of abundant community calculated using Bray-Curtis distances, visualized use NMDS plot (blue is Taylor Glacier and orange is Canada Glacier). This plot shows significant beta diversity variation between glaciers (PERMANOVA: F = 10.33, </a:t>
            </a:r>
            <a:r>
              <a:rPr lang="en-US" sz="1400" dirty="0" err="1"/>
              <a:t>df</a:t>
            </a:r>
            <a:r>
              <a:rPr lang="en-US" sz="1400" dirty="0"/>
              <a:t>=1, P =0.001).</a:t>
            </a:r>
          </a:p>
        </p:txBody>
      </p:sp>
      <p:sp>
        <p:nvSpPr>
          <p:cNvPr id="12" name="Content Placeholder 2">
            <a:extLst>
              <a:ext uri="{FF2B5EF4-FFF2-40B4-BE49-F238E27FC236}">
                <a16:creationId xmlns:a16="http://schemas.microsoft.com/office/drawing/2014/main" id="{623BD485-698A-A142-9CEC-0EA0F597F5A5}"/>
              </a:ext>
            </a:extLst>
          </p:cNvPr>
          <p:cNvSpPr txBox="1">
            <a:spLocks/>
          </p:cNvSpPr>
          <p:nvPr/>
        </p:nvSpPr>
        <p:spPr>
          <a:xfrm>
            <a:off x="8383781" y="4337593"/>
            <a:ext cx="3339790" cy="18064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t>Figure : Beta diversity of rare community calculated using Bray-Curtis distances, visualized use NMDS plot (blue is Taylor Glacier and orange is Canada Glacier). This plot shows no significant beta diversity variation between glaciers (PERMANOVA: F = 1.06, </a:t>
            </a:r>
            <a:r>
              <a:rPr lang="en-US" sz="1400" dirty="0" err="1"/>
              <a:t>df</a:t>
            </a:r>
            <a:r>
              <a:rPr lang="en-US" sz="1400" dirty="0"/>
              <a:t>=1, P =0.07).</a:t>
            </a:r>
          </a:p>
        </p:txBody>
      </p:sp>
      <p:pic>
        <p:nvPicPr>
          <p:cNvPr id="14" name="Picture 13">
            <a:extLst>
              <a:ext uri="{FF2B5EF4-FFF2-40B4-BE49-F238E27FC236}">
                <a16:creationId xmlns:a16="http://schemas.microsoft.com/office/drawing/2014/main" id="{5873089F-33F1-C94E-A69D-26A549B57D5C}"/>
              </a:ext>
            </a:extLst>
          </p:cNvPr>
          <p:cNvPicPr>
            <a:picLocks noChangeAspect="1"/>
          </p:cNvPicPr>
          <p:nvPr/>
        </p:nvPicPr>
        <p:blipFill>
          <a:blip r:embed="rId6"/>
          <a:stretch>
            <a:fillRect/>
          </a:stretch>
        </p:blipFill>
        <p:spPr>
          <a:xfrm>
            <a:off x="8383781" y="1782840"/>
            <a:ext cx="2743200" cy="546100"/>
          </a:xfrm>
          <a:prstGeom prst="rect">
            <a:avLst/>
          </a:prstGeom>
        </p:spPr>
      </p:pic>
    </p:spTree>
    <p:extLst>
      <p:ext uri="{BB962C8B-B14F-4D97-AF65-F5344CB8AC3E}">
        <p14:creationId xmlns:p14="http://schemas.microsoft.com/office/powerpoint/2010/main" val="2452826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CFE96-8845-AC46-A94A-E2394A207D04}"/>
              </a:ext>
            </a:extLst>
          </p:cNvPr>
          <p:cNvSpPr>
            <a:spLocks noGrp="1"/>
          </p:cNvSpPr>
          <p:nvPr>
            <p:ph type="title"/>
          </p:nvPr>
        </p:nvSpPr>
        <p:spPr/>
        <p:txBody>
          <a:bodyPr>
            <a:normAutofit fontScale="90000"/>
          </a:bodyPr>
          <a:lstStyle/>
          <a:p>
            <a:r>
              <a:rPr lang="en-US" dirty="0"/>
              <a:t>Linear Regression Analysis: Are their correlations between ASV richness and any environmental variables?</a:t>
            </a:r>
          </a:p>
        </p:txBody>
      </p:sp>
      <p:sp>
        <p:nvSpPr>
          <p:cNvPr id="4" name="TextBox 3">
            <a:extLst>
              <a:ext uri="{FF2B5EF4-FFF2-40B4-BE49-F238E27FC236}">
                <a16:creationId xmlns:a16="http://schemas.microsoft.com/office/drawing/2014/main" id="{E3CA8434-BB46-A946-8F63-49CA3CF91922}"/>
              </a:ext>
            </a:extLst>
          </p:cNvPr>
          <p:cNvSpPr txBox="1"/>
          <p:nvPr/>
        </p:nvSpPr>
        <p:spPr>
          <a:xfrm>
            <a:off x="1051560" y="2125980"/>
            <a:ext cx="9921240" cy="2585323"/>
          </a:xfrm>
          <a:prstGeom prst="rect">
            <a:avLst/>
          </a:prstGeom>
          <a:noFill/>
        </p:spPr>
        <p:txBody>
          <a:bodyPr wrap="square" rtlCol="0">
            <a:spAutoFit/>
          </a:bodyPr>
          <a:lstStyle/>
          <a:p>
            <a:r>
              <a:rPr lang="en-US" dirty="0"/>
              <a:t>Correlation test (</a:t>
            </a:r>
            <a:r>
              <a:rPr lang="en-US" dirty="0" err="1"/>
              <a:t>cor.test</a:t>
            </a:r>
            <a:r>
              <a:rPr lang="en-US" dirty="0"/>
              <a:t>) of log transformed data indicated…</a:t>
            </a:r>
          </a:p>
          <a:p>
            <a:endParaRPr lang="en-US" dirty="0"/>
          </a:p>
          <a:p>
            <a:r>
              <a:rPr lang="en-US" dirty="0"/>
              <a:t>Total community ASV richness: Correlation with cryoconite hole depth, cryoconite hole area, DNA per gram of cryoconite, organic matter content of cryoconite</a:t>
            </a:r>
          </a:p>
          <a:p>
            <a:endParaRPr lang="en-US" dirty="0"/>
          </a:p>
          <a:p>
            <a:r>
              <a:rPr lang="en-US" dirty="0"/>
              <a:t>Abundant community ASV richness: Correlation with cryoconite hole area, DNA per gram of cryoconite, organic matter content of cryoconite</a:t>
            </a:r>
          </a:p>
          <a:p>
            <a:endParaRPr lang="en-US" dirty="0"/>
          </a:p>
          <a:p>
            <a:r>
              <a:rPr lang="en-US" dirty="0"/>
              <a:t>Rare community ASV richness: Correlation with cryoconite hole depth, cryoconite hole area</a:t>
            </a:r>
          </a:p>
        </p:txBody>
      </p:sp>
    </p:spTree>
    <p:extLst>
      <p:ext uri="{BB962C8B-B14F-4D97-AF65-F5344CB8AC3E}">
        <p14:creationId xmlns:p14="http://schemas.microsoft.com/office/powerpoint/2010/main" val="854723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D1BD-B953-3E43-91A1-7634BF23C221}"/>
              </a:ext>
            </a:extLst>
          </p:cNvPr>
          <p:cNvSpPr>
            <a:spLocks noGrp="1"/>
          </p:cNvSpPr>
          <p:nvPr>
            <p:ph type="title"/>
          </p:nvPr>
        </p:nvSpPr>
        <p:spPr/>
        <p:txBody>
          <a:bodyPr/>
          <a:lstStyle/>
          <a:p>
            <a:r>
              <a:rPr lang="en-US" dirty="0"/>
              <a:t>Multiple predictor variable linear models</a:t>
            </a:r>
          </a:p>
        </p:txBody>
      </p:sp>
      <p:sp>
        <p:nvSpPr>
          <p:cNvPr id="3" name="Content Placeholder 2">
            <a:extLst>
              <a:ext uri="{FF2B5EF4-FFF2-40B4-BE49-F238E27FC236}">
                <a16:creationId xmlns:a16="http://schemas.microsoft.com/office/drawing/2014/main" id="{120940C7-46B9-5549-86AF-25F564ECD54A}"/>
              </a:ext>
            </a:extLst>
          </p:cNvPr>
          <p:cNvSpPr>
            <a:spLocks noGrp="1"/>
          </p:cNvSpPr>
          <p:nvPr>
            <p:ph idx="1"/>
          </p:nvPr>
        </p:nvSpPr>
        <p:spPr/>
        <p:txBody>
          <a:bodyPr>
            <a:normAutofit/>
          </a:bodyPr>
          <a:lstStyle/>
          <a:p>
            <a:r>
              <a:rPr lang="en-GB" sz="2000" dirty="0" err="1"/>
              <a:t>lm</a:t>
            </a:r>
            <a:r>
              <a:rPr lang="en-GB" sz="2000" dirty="0"/>
              <a:t>(formula = </a:t>
            </a:r>
            <a:r>
              <a:rPr lang="en-GB" sz="2000" dirty="0" err="1"/>
              <a:t>logRichness</a:t>
            </a:r>
            <a:r>
              <a:rPr lang="en-GB" sz="2000" dirty="0"/>
              <a:t> ~ (</a:t>
            </a:r>
            <a:r>
              <a:rPr lang="en-GB" sz="2000" dirty="0" err="1"/>
              <a:t>logArea</a:t>
            </a:r>
            <a:r>
              <a:rPr lang="en-GB" sz="2000" dirty="0"/>
              <a:t> + </a:t>
            </a:r>
            <a:r>
              <a:rPr lang="en-GB" sz="2000" dirty="0" err="1"/>
              <a:t>logorg_matter</a:t>
            </a:r>
            <a:r>
              <a:rPr lang="en-GB" sz="2000" dirty="0"/>
              <a:t> + </a:t>
            </a:r>
            <a:r>
              <a:rPr lang="en-GB" sz="2000" dirty="0" err="1"/>
              <a:t>logDepth</a:t>
            </a:r>
            <a:r>
              <a:rPr lang="en-GB" sz="2000" dirty="0"/>
              <a:t> + </a:t>
            </a:r>
            <a:r>
              <a:rPr lang="en-GB" sz="2000" dirty="0" err="1"/>
              <a:t>logDNA_per_g</a:t>
            </a:r>
            <a:r>
              <a:rPr lang="en-GB" sz="2000" dirty="0"/>
              <a:t> + </a:t>
            </a:r>
            <a:r>
              <a:rPr lang="en-GB" sz="2000" dirty="0" err="1"/>
              <a:t>logwater_content</a:t>
            </a:r>
            <a:r>
              <a:rPr lang="en-GB" sz="2000" dirty="0"/>
              <a:t> + Glacier)^2, data = data)</a:t>
            </a:r>
          </a:p>
          <a:p>
            <a:endParaRPr lang="en-US" sz="2000" dirty="0"/>
          </a:p>
          <a:p>
            <a:r>
              <a:rPr lang="en-US" sz="2000" dirty="0"/>
              <a:t>Total ASV Richness minimum adequate model = </a:t>
            </a:r>
            <a:r>
              <a:rPr lang="en-US" sz="2000" dirty="0" err="1"/>
              <a:t>logRichness</a:t>
            </a:r>
            <a:r>
              <a:rPr lang="en-US" sz="2000" dirty="0"/>
              <a:t> ~ </a:t>
            </a:r>
            <a:r>
              <a:rPr lang="en-US" sz="2000" dirty="0" err="1"/>
              <a:t>logArea</a:t>
            </a:r>
            <a:r>
              <a:rPr lang="en-US" sz="2000" dirty="0"/>
              <a:t> + </a:t>
            </a:r>
            <a:r>
              <a:rPr lang="en-US" sz="2000" dirty="0" err="1"/>
              <a:t>logorg_matter</a:t>
            </a:r>
            <a:r>
              <a:rPr lang="en-US" sz="2000" dirty="0"/>
              <a:t> + </a:t>
            </a:r>
            <a:r>
              <a:rPr lang="en-US" sz="2000" dirty="0" err="1"/>
              <a:t>logDepth</a:t>
            </a:r>
            <a:r>
              <a:rPr lang="en-US" sz="2000" dirty="0"/>
              <a:t> +  </a:t>
            </a:r>
            <a:r>
              <a:rPr lang="en-US" sz="2000" dirty="0" err="1"/>
              <a:t>logDNA_per_g</a:t>
            </a:r>
            <a:r>
              <a:rPr lang="en-US" sz="2000" dirty="0"/>
              <a:t> + </a:t>
            </a:r>
            <a:r>
              <a:rPr lang="en-US" sz="2000" dirty="0" err="1"/>
              <a:t>logArea:logorg_matter</a:t>
            </a:r>
            <a:r>
              <a:rPr lang="en-US" sz="2000" dirty="0"/>
              <a:t> + </a:t>
            </a:r>
            <a:r>
              <a:rPr lang="en-US" sz="2000" dirty="0" err="1"/>
              <a:t>logArea:logDepth</a:t>
            </a:r>
            <a:r>
              <a:rPr lang="en-US" sz="2000" dirty="0"/>
              <a:t> (F=23.35, </a:t>
            </a:r>
            <a:r>
              <a:rPr lang="en-US" sz="2000" dirty="0" err="1"/>
              <a:t>df</a:t>
            </a:r>
            <a:r>
              <a:rPr lang="en-US" sz="2000" dirty="0"/>
              <a:t>=6,21, p&lt;0.001, adjusted R2 = 0.83)</a:t>
            </a:r>
          </a:p>
          <a:p>
            <a:r>
              <a:rPr lang="en-US" sz="2000" dirty="0"/>
              <a:t>Abundant ASV Richness minimum adequate model =</a:t>
            </a:r>
            <a:r>
              <a:rPr lang="en-GB" sz="2000" dirty="0"/>
              <a:t> </a:t>
            </a:r>
            <a:r>
              <a:rPr lang="en-GB" sz="2000" dirty="0" err="1"/>
              <a:t>logRichness</a:t>
            </a:r>
            <a:r>
              <a:rPr lang="en-GB" sz="2000" dirty="0"/>
              <a:t> ~ </a:t>
            </a:r>
            <a:r>
              <a:rPr lang="en-GB" sz="2000" dirty="0" err="1"/>
              <a:t>logArea</a:t>
            </a:r>
            <a:r>
              <a:rPr lang="en-GB" sz="2000" dirty="0"/>
              <a:t> + </a:t>
            </a:r>
            <a:r>
              <a:rPr lang="en-GB" sz="2000" dirty="0" err="1"/>
              <a:t>logorg_matter</a:t>
            </a:r>
            <a:r>
              <a:rPr lang="en-GB" sz="2000" dirty="0"/>
              <a:t> + </a:t>
            </a:r>
            <a:r>
              <a:rPr lang="en-GB" sz="2000" dirty="0" err="1"/>
              <a:t>logDepth</a:t>
            </a:r>
            <a:r>
              <a:rPr lang="en-GB" sz="2000" dirty="0"/>
              <a:t> + </a:t>
            </a:r>
            <a:r>
              <a:rPr lang="en-GB" sz="2000" dirty="0" err="1"/>
              <a:t>logDNA_per_g</a:t>
            </a:r>
            <a:r>
              <a:rPr lang="en-GB" sz="2000" dirty="0"/>
              <a:t> + </a:t>
            </a:r>
            <a:r>
              <a:rPr lang="en-GB" sz="2000" dirty="0" err="1"/>
              <a:t>logwater_content</a:t>
            </a:r>
            <a:r>
              <a:rPr lang="en-GB" sz="2000" dirty="0"/>
              <a:t> + Glacier + </a:t>
            </a:r>
            <a:r>
              <a:rPr lang="en-GB" sz="2000" dirty="0" err="1"/>
              <a:t>logArea:logorg_matter</a:t>
            </a:r>
            <a:r>
              <a:rPr lang="en-GB" sz="2000" dirty="0"/>
              <a:t> + </a:t>
            </a:r>
            <a:r>
              <a:rPr lang="en-GB" sz="2000" dirty="0" err="1"/>
              <a:t>logArea:logDepth</a:t>
            </a:r>
            <a:r>
              <a:rPr lang="en-GB" sz="2000" dirty="0"/>
              <a:t> + </a:t>
            </a:r>
            <a:r>
              <a:rPr lang="en-GB" sz="2000" dirty="0" err="1"/>
              <a:t>logArea:logwater_content</a:t>
            </a:r>
            <a:r>
              <a:rPr lang="en-GB" sz="2000" dirty="0"/>
              <a:t> + </a:t>
            </a:r>
            <a:r>
              <a:rPr lang="en-GB" sz="2000" dirty="0" err="1"/>
              <a:t>logorg_matter:logwater_content</a:t>
            </a:r>
            <a:r>
              <a:rPr lang="en-GB" sz="2000" dirty="0"/>
              <a:t> + </a:t>
            </a:r>
            <a:r>
              <a:rPr lang="en-GB" sz="2000" dirty="0" err="1"/>
              <a:t>logDepth:logDNA_per_g</a:t>
            </a:r>
            <a:r>
              <a:rPr lang="en-GB" sz="2000" dirty="0"/>
              <a:t> + </a:t>
            </a:r>
            <a:r>
              <a:rPr lang="en-GB" sz="2000" dirty="0" err="1"/>
              <a:t>logDNA_per_g:logwater_content</a:t>
            </a:r>
            <a:r>
              <a:rPr lang="en-GB" sz="2000" dirty="0"/>
              <a:t> + </a:t>
            </a:r>
            <a:r>
              <a:rPr lang="en-GB" sz="2000" dirty="0" err="1"/>
              <a:t>logDNA_per_g:Glacier</a:t>
            </a:r>
            <a:r>
              <a:rPr lang="en-GB" sz="2000" dirty="0"/>
              <a:t> + </a:t>
            </a:r>
            <a:r>
              <a:rPr lang="en-GB" sz="2000" dirty="0" err="1"/>
              <a:t>logwater_content:Glacier</a:t>
            </a:r>
            <a:r>
              <a:rPr lang="en-GB" sz="2000" dirty="0"/>
              <a:t> (F=36.26, </a:t>
            </a:r>
            <a:r>
              <a:rPr lang="en-GB" sz="2000" dirty="0" err="1"/>
              <a:t>df</a:t>
            </a:r>
            <a:r>
              <a:rPr lang="en-GB" sz="2000" dirty="0"/>
              <a:t>=14,13, p &lt; 0.0001, adjusted R2 = 0.95)</a:t>
            </a:r>
            <a:endParaRPr lang="en-US" sz="2000" dirty="0"/>
          </a:p>
          <a:p>
            <a:r>
              <a:rPr lang="en-US" sz="2000" dirty="0"/>
              <a:t>Rare ASV Richness: </a:t>
            </a:r>
            <a:r>
              <a:rPr lang="en-GB" sz="2000" dirty="0"/>
              <a:t>= </a:t>
            </a:r>
            <a:r>
              <a:rPr lang="en-GB" sz="2000" dirty="0" err="1"/>
              <a:t>logRichness</a:t>
            </a:r>
            <a:r>
              <a:rPr lang="en-GB" sz="2000" dirty="0"/>
              <a:t> ~ </a:t>
            </a:r>
            <a:r>
              <a:rPr lang="en-GB" sz="2000" dirty="0" err="1"/>
              <a:t>logArea</a:t>
            </a:r>
            <a:r>
              <a:rPr lang="en-GB" sz="2000" dirty="0"/>
              <a:t> (F=41.74, </a:t>
            </a:r>
            <a:r>
              <a:rPr lang="en-GB" sz="2000" dirty="0" err="1"/>
              <a:t>df</a:t>
            </a:r>
            <a:r>
              <a:rPr lang="en-GB" sz="2000" dirty="0"/>
              <a:t>=1,26, p&lt;0.001, adjusted R2=0.60)</a:t>
            </a:r>
            <a:endParaRPr lang="en-US" sz="2000" dirty="0"/>
          </a:p>
        </p:txBody>
      </p:sp>
    </p:spTree>
    <p:extLst>
      <p:ext uri="{BB962C8B-B14F-4D97-AF65-F5344CB8AC3E}">
        <p14:creationId xmlns:p14="http://schemas.microsoft.com/office/powerpoint/2010/main" val="1982067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F3456-8C1B-B045-BAEA-9DD3940974F4}"/>
              </a:ext>
            </a:extLst>
          </p:cNvPr>
          <p:cNvSpPr>
            <a:spLocks noGrp="1"/>
          </p:cNvSpPr>
          <p:nvPr>
            <p:ph type="title"/>
          </p:nvPr>
        </p:nvSpPr>
        <p:spPr/>
        <p:txBody>
          <a:bodyPr/>
          <a:lstStyle/>
          <a:p>
            <a:r>
              <a:rPr lang="en-US" dirty="0"/>
              <a:t>CAP Ordination</a:t>
            </a:r>
          </a:p>
        </p:txBody>
      </p:sp>
      <p:pic>
        <p:nvPicPr>
          <p:cNvPr id="5" name="Picture 4">
            <a:extLst>
              <a:ext uri="{FF2B5EF4-FFF2-40B4-BE49-F238E27FC236}">
                <a16:creationId xmlns:a16="http://schemas.microsoft.com/office/drawing/2014/main" id="{FC547E9F-8680-7D41-80FF-FB000294B2EB}"/>
              </a:ext>
            </a:extLst>
          </p:cNvPr>
          <p:cNvPicPr>
            <a:picLocks noChangeAspect="1"/>
          </p:cNvPicPr>
          <p:nvPr/>
        </p:nvPicPr>
        <p:blipFill>
          <a:blip r:embed="rId3"/>
          <a:stretch>
            <a:fillRect/>
          </a:stretch>
        </p:blipFill>
        <p:spPr>
          <a:xfrm>
            <a:off x="4824761" y="1926965"/>
            <a:ext cx="3770973" cy="1885487"/>
          </a:xfrm>
          <a:prstGeom prst="rect">
            <a:avLst/>
          </a:prstGeom>
        </p:spPr>
      </p:pic>
      <p:pic>
        <p:nvPicPr>
          <p:cNvPr id="7" name="Picture 6">
            <a:extLst>
              <a:ext uri="{FF2B5EF4-FFF2-40B4-BE49-F238E27FC236}">
                <a16:creationId xmlns:a16="http://schemas.microsoft.com/office/drawing/2014/main" id="{E113C30A-6576-AB4A-8215-1777B2E81B8F}"/>
              </a:ext>
            </a:extLst>
          </p:cNvPr>
          <p:cNvPicPr>
            <a:picLocks noChangeAspect="1"/>
          </p:cNvPicPr>
          <p:nvPr/>
        </p:nvPicPr>
        <p:blipFill>
          <a:blip r:embed="rId4"/>
          <a:stretch>
            <a:fillRect/>
          </a:stretch>
        </p:blipFill>
        <p:spPr>
          <a:xfrm>
            <a:off x="312234" y="1926965"/>
            <a:ext cx="3858322" cy="1929161"/>
          </a:xfrm>
          <a:prstGeom prst="rect">
            <a:avLst/>
          </a:prstGeom>
        </p:spPr>
      </p:pic>
      <p:sp>
        <p:nvSpPr>
          <p:cNvPr id="8" name="TextBox 7">
            <a:extLst>
              <a:ext uri="{FF2B5EF4-FFF2-40B4-BE49-F238E27FC236}">
                <a16:creationId xmlns:a16="http://schemas.microsoft.com/office/drawing/2014/main" id="{10B4CDFE-EEB1-0C44-A5C3-0C63956127BF}"/>
              </a:ext>
            </a:extLst>
          </p:cNvPr>
          <p:cNvSpPr txBox="1"/>
          <p:nvPr/>
        </p:nvSpPr>
        <p:spPr>
          <a:xfrm>
            <a:off x="1605775" y="4011856"/>
            <a:ext cx="1984917" cy="369332"/>
          </a:xfrm>
          <a:prstGeom prst="rect">
            <a:avLst/>
          </a:prstGeom>
          <a:noFill/>
        </p:spPr>
        <p:txBody>
          <a:bodyPr wrap="square" rtlCol="0">
            <a:spAutoFit/>
          </a:bodyPr>
          <a:lstStyle/>
          <a:p>
            <a:r>
              <a:rPr lang="en-US" dirty="0"/>
              <a:t>Total Community</a:t>
            </a:r>
          </a:p>
        </p:txBody>
      </p:sp>
      <p:sp>
        <p:nvSpPr>
          <p:cNvPr id="9" name="TextBox 8">
            <a:extLst>
              <a:ext uri="{FF2B5EF4-FFF2-40B4-BE49-F238E27FC236}">
                <a16:creationId xmlns:a16="http://schemas.microsoft.com/office/drawing/2014/main" id="{469E6565-4300-924D-BD5E-7596D8E1A25A}"/>
              </a:ext>
            </a:extLst>
          </p:cNvPr>
          <p:cNvSpPr txBox="1"/>
          <p:nvPr/>
        </p:nvSpPr>
        <p:spPr>
          <a:xfrm>
            <a:off x="5524500" y="3984077"/>
            <a:ext cx="2371493" cy="378472"/>
          </a:xfrm>
          <a:prstGeom prst="rect">
            <a:avLst/>
          </a:prstGeom>
          <a:noFill/>
        </p:spPr>
        <p:txBody>
          <a:bodyPr wrap="square" rtlCol="0">
            <a:spAutoFit/>
          </a:bodyPr>
          <a:lstStyle/>
          <a:p>
            <a:r>
              <a:rPr lang="en-US" dirty="0"/>
              <a:t>Abundant Community</a:t>
            </a:r>
          </a:p>
        </p:txBody>
      </p:sp>
      <p:pic>
        <p:nvPicPr>
          <p:cNvPr id="11" name="Picture 10">
            <a:extLst>
              <a:ext uri="{FF2B5EF4-FFF2-40B4-BE49-F238E27FC236}">
                <a16:creationId xmlns:a16="http://schemas.microsoft.com/office/drawing/2014/main" id="{5F29AF58-C68E-DC4D-9BA3-2F13D020DD61}"/>
              </a:ext>
            </a:extLst>
          </p:cNvPr>
          <p:cNvPicPr>
            <a:picLocks noChangeAspect="1"/>
          </p:cNvPicPr>
          <p:nvPr/>
        </p:nvPicPr>
        <p:blipFill>
          <a:blip r:embed="rId5"/>
          <a:stretch>
            <a:fillRect/>
          </a:stretch>
        </p:blipFill>
        <p:spPr>
          <a:xfrm>
            <a:off x="4470089" y="305869"/>
            <a:ext cx="5288620" cy="1062030"/>
          </a:xfrm>
          <a:prstGeom prst="rect">
            <a:avLst/>
          </a:prstGeom>
        </p:spPr>
      </p:pic>
      <p:sp>
        <p:nvSpPr>
          <p:cNvPr id="12" name="TextBox 11">
            <a:extLst>
              <a:ext uri="{FF2B5EF4-FFF2-40B4-BE49-F238E27FC236}">
                <a16:creationId xmlns:a16="http://schemas.microsoft.com/office/drawing/2014/main" id="{56DECFFB-CF62-E74A-B342-E855E7F558F3}"/>
              </a:ext>
            </a:extLst>
          </p:cNvPr>
          <p:cNvSpPr txBox="1"/>
          <p:nvPr/>
        </p:nvSpPr>
        <p:spPr>
          <a:xfrm>
            <a:off x="9947120" y="197323"/>
            <a:ext cx="2204225" cy="1200329"/>
          </a:xfrm>
          <a:prstGeom prst="rect">
            <a:avLst/>
          </a:prstGeom>
          <a:noFill/>
        </p:spPr>
        <p:txBody>
          <a:bodyPr wrap="square" rtlCol="0">
            <a:spAutoFit/>
          </a:bodyPr>
          <a:lstStyle/>
          <a:p>
            <a:r>
              <a:rPr lang="en-US" sz="1200" dirty="0"/>
              <a:t>&lt; Code from CAP analysis of rare community, vegan::scores(</a:t>
            </a:r>
            <a:r>
              <a:rPr lang="en-US" sz="1200" dirty="0" err="1"/>
              <a:t>cap_ord</a:t>
            </a:r>
            <a:r>
              <a:rPr lang="en-US" sz="1200" dirty="0"/>
              <a:t>, display=“</a:t>
            </a:r>
            <a:r>
              <a:rPr lang="en-US" sz="1200" dirty="0" err="1"/>
              <a:t>bp</a:t>
            </a:r>
            <a:r>
              <a:rPr lang="en-US" sz="1200" dirty="0"/>
              <a:t>”) returned no values – too many zeros in the relative abundances?</a:t>
            </a:r>
          </a:p>
        </p:txBody>
      </p:sp>
      <p:sp>
        <p:nvSpPr>
          <p:cNvPr id="13" name="TextBox 12">
            <a:extLst>
              <a:ext uri="{FF2B5EF4-FFF2-40B4-BE49-F238E27FC236}">
                <a16:creationId xmlns:a16="http://schemas.microsoft.com/office/drawing/2014/main" id="{782011AF-544D-EE45-878D-6B66D4D609D2}"/>
              </a:ext>
            </a:extLst>
          </p:cNvPr>
          <p:cNvSpPr txBox="1"/>
          <p:nvPr/>
        </p:nvSpPr>
        <p:spPr>
          <a:xfrm>
            <a:off x="312235" y="4432321"/>
            <a:ext cx="4001736" cy="1815882"/>
          </a:xfrm>
          <a:prstGeom prst="rect">
            <a:avLst/>
          </a:prstGeom>
          <a:noFill/>
        </p:spPr>
        <p:txBody>
          <a:bodyPr wrap="square" rtlCol="0">
            <a:spAutoFit/>
          </a:bodyPr>
          <a:lstStyle/>
          <a:p>
            <a:r>
              <a:rPr lang="en-US" sz="1600" dirty="0"/>
              <a:t>Figure : On Taylor glacier cryoconite area explained  29.44% of variation in total community beta diversity (F = 2.92, P=0.02). On Canada glacier, both area and water content explained </a:t>
            </a:r>
            <a:r>
              <a:rPr lang="en-GB" sz="1600" dirty="0"/>
              <a:t>33.25% of the variation</a:t>
            </a:r>
            <a:r>
              <a:rPr lang="en-US" sz="1600" dirty="0"/>
              <a:t> of variation in community composition (F=4.45, P=0.001)</a:t>
            </a:r>
          </a:p>
        </p:txBody>
      </p:sp>
      <p:sp>
        <p:nvSpPr>
          <p:cNvPr id="14" name="TextBox 13">
            <a:extLst>
              <a:ext uri="{FF2B5EF4-FFF2-40B4-BE49-F238E27FC236}">
                <a16:creationId xmlns:a16="http://schemas.microsoft.com/office/drawing/2014/main" id="{9CFE1C67-2B97-B844-BF64-EAB51D494D3C}"/>
              </a:ext>
            </a:extLst>
          </p:cNvPr>
          <p:cNvSpPr txBox="1"/>
          <p:nvPr/>
        </p:nvSpPr>
        <p:spPr>
          <a:xfrm>
            <a:off x="4470089" y="4362549"/>
            <a:ext cx="3625695" cy="1815882"/>
          </a:xfrm>
          <a:prstGeom prst="rect">
            <a:avLst/>
          </a:prstGeom>
          <a:noFill/>
        </p:spPr>
        <p:txBody>
          <a:bodyPr wrap="square" rtlCol="0">
            <a:spAutoFit/>
          </a:bodyPr>
          <a:lstStyle/>
          <a:p>
            <a:r>
              <a:rPr lang="en-US" sz="1600" dirty="0"/>
              <a:t>Figure : On Taylor glacier cryoconite area explained  29.22% of variation in abundant community beta diversity (F = 2.89, P=0.02). On Canada glacier, both area and water content explained 35.41% of variation in community composition (F=4.82, P=0.001)</a:t>
            </a:r>
          </a:p>
        </p:txBody>
      </p:sp>
      <p:pic>
        <p:nvPicPr>
          <p:cNvPr id="16" name="Picture 15">
            <a:extLst>
              <a:ext uri="{FF2B5EF4-FFF2-40B4-BE49-F238E27FC236}">
                <a16:creationId xmlns:a16="http://schemas.microsoft.com/office/drawing/2014/main" id="{05858BAE-8322-784E-BBB1-498F0EA57CEB}"/>
              </a:ext>
            </a:extLst>
          </p:cNvPr>
          <p:cNvPicPr>
            <a:picLocks noChangeAspect="1"/>
          </p:cNvPicPr>
          <p:nvPr/>
        </p:nvPicPr>
        <p:blipFill>
          <a:blip r:embed="rId6"/>
          <a:stretch>
            <a:fillRect/>
          </a:stretch>
        </p:blipFill>
        <p:spPr>
          <a:xfrm>
            <a:off x="8833002" y="2072239"/>
            <a:ext cx="3277222" cy="1638611"/>
          </a:xfrm>
          <a:prstGeom prst="rect">
            <a:avLst/>
          </a:prstGeom>
        </p:spPr>
      </p:pic>
      <p:sp>
        <p:nvSpPr>
          <p:cNvPr id="17" name="TextBox 16">
            <a:extLst>
              <a:ext uri="{FF2B5EF4-FFF2-40B4-BE49-F238E27FC236}">
                <a16:creationId xmlns:a16="http://schemas.microsoft.com/office/drawing/2014/main" id="{AAC5B5DE-0E14-A943-AE5A-821C1686FAB1}"/>
              </a:ext>
            </a:extLst>
          </p:cNvPr>
          <p:cNvSpPr txBox="1"/>
          <p:nvPr/>
        </p:nvSpPr>
        <p:spPr>
          <a:xfrm>
            <a:off x="9285866" y="3903165"/>
            <a:ext cx="2371493" cy="378472"/>
          </a:xfrm>
          <a:prstGeom prst="rect">
            <a:avLst/>
          </a:prstGeom>
          <a:noFill/>
        </p:spPr>
        <p:txBody>
          <a:bodyPr wrap="square" rtlCol="0">
            <a:spAutoFit/>
          </a:bodyPr>
          <a:lstStyle/>
          <a:p>
            <a:r>
              <a:rPr lang="en-US" dirty="0"/>
              <a:t>Rare Community</a:t>
            </a:r>
          </a:p>
        </p:txBody>
      </p:sp>
      <p:sp>
        <p:nvSpPr>
          <p:cNvPr id="18" name="TextBox 17">
            <a:extLst>
              <a:ext uri="{FF2B5EF4-FFF2-40B4-BE49-F238E27FC236}">
                <a16:creationId xmlns:a16="http://schemas.microsoft.com/office/drawing/2014/main" id="{80050B62-6FBD-8D42-86F3-1569A8B28645}"/>
              </a:ext>
            </a:extLst>
          </p:cNvPr>
          <p:cNvSpPr txBox="1"/>
          <p:nvPr/>
        </p:nvSpPr>
        <p:spPr>
          <a:xfrm>
            <a:off x="8251902" y="4381188"/>
            <a:ext cx="3622289" cy="1077218"/>
          </a:xfrm>
          <a:prstGeom prst="rect">
            <a:avLst/>
          </a:prstGeom>
          <a:noFill/>
        </p:spPr>
        <p:txBody>
          <a:bodyPr wrap="square" rtlCol="0">
            <a:spAutoFit/>
          </a:bodyPr>
          <a:lstStyle/>
          <a:p>
            <a:r>
              <a:rPr lang="en-US" sz="1600" dirty="0"/>
              <a:t>Figure : On Taylor glacier chlorophyll content explained  18.5% of variation in rare community beta diversity (F = 1.56, P=0.04). </a:t>
            </a:r>
          </a:p>
        </p:txBody>
      </p:sp>
    </p:spTree>
    <p:extLst>
      <p:ext uri="{BB962C8B-B14F-4D97-AF65-F5344CB8AC3E}">
        <p14:creationId xmlns:p14="http://schemas.microsoft.com/office/powerpoint/2010/main" val="3871028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FD6A-FAA8-A549-8120-096EFDD1635D}"/>
              </a:ext>
            </a:extLst>
          </p:cNvPr>
          <p:cNvSpPr>
            <a:spLocks noGrp="1"/>
          </p:cNvSpPr>
          <p:nvPr>
            <p:ph type="title"/>
          </p:nvPr>
        </p:nvSpPr>
        <p:spPr/>
        <p:txBody>
          <a:bodyPr/>
          <a:lstStyle/>
          <a:p>
            <a:r>
              <a:rPr lang="en-US" dirty="0"/>
              <a:t>Island Species-Area Relationship (ISAR)</a:t>
            </a:r>
          </a:p>
        </p:txBody>
      </p:sp>
      <p:sp>
        <p:nvSpPr>
          <p:cNvPr id="4" name="TextBox 3">
            <a:extLst>
              <a:ext uri="{FF2B5EF4-FFF2-40B4-BE49-F238E27FC236}">
                <a16:creationId xmlns:a16="http://schemas.microsoft.com/office/drawing/2014/main" id="{698F1B3F-6D9C-A745-9515-E6A6AD031EF2}"/>
              </a:ext>
            </a:extLst>
          </p:cNvPr>
          <p:cNvSpPr txBox="1"/>
          <p:nvPr/>
        </p:nvSpPr>
        <p:spPr>
          <a:xfrm>
            <a:off x="0" y="4963996"/>
            <a:ext cx="4951142" cy="2246769"/>
          </a:xfrm>
          <a:prstGeom prst="rect">
            <a:avLst/>
          </a:prstGeom>
          <a:noFill/>
        </p:spPr>
        <p:txBody>
          <a:bodyPr wrap="square" rtlCol="0">
            <a:spAutoFit/>
          </a:bodyPr>
          <a:lstStyle/>
          <a:p>
            <a:r>
              <a:rPr lang="en-US" sz="1400" dirty="0"/>
              <a:t>Figure : Non-linear least squares used to fit area to ASV data for total community. Canada: intercept = 161.5, slope = 0.12; Taylor: intercept = 76.67, slope = 0.19). Linear regression - log Area explains significant variation in total taxa log Richness on Canada Glacier (F=38.23, </a:t>
            </a:r>
            <a:r>
              <a:rPr lang="en-US" sz="1400" dirty="0" err="1"/>
              <a:t>df</a:t>
            </a:r>
            <a:r>
              <a:rPr lang="en-US" sz="1400" dirty="0"/>
              <a:t>=1,19, p &lt; 0.001, adjusted R2 = 0.65) and Taylor Glacier  (F=32.06, </a:t>
            </a:r>
            <a:r>
              <a:rPr lang="en-US" sz="1400" dirty="0" err="1"/>
              <a:t>df</a:t>
            </a:r>
            <a:r>
              <a:rPr lang="en-US" sz="1400" dirty="0"/>
              <a:t>=1,5, p=0.002, adjusted R2 = 0.84) shows that species richness increases with hole area (Canada: intercept=2.15, se=0.17; slope=0.14, se=0.02; Taylor: intercept=1.84, se=0.11; slope=0.21, se=0.04).</a:t>
            </a:r>
          </a:p>
          <a:p>
            <a:endParaRPr lang="en-US" sz="1400" dirty="0"/>
          </a:p>
        </p:txBody>
      </p:sp>
      <p:pic>
        <p:nvPicPr>
          <p:cNvPr id="6" name="Picture 5">
            <a:extLst>
              <a:ext uri="{FF2B5EF4-FFF2-40B4-BE49-F238E27FC236}">
                <a16:creationId xmlns:a16="http://schemas.microsoft.com/office/drawing/2014/main" id="{7F5E6FCA-B4D4-1B4D-B057-B1ED2FD3CED5}"/>
              </a:ext>
            </a:extLst>
          </p:cNvPr>
          <p:cNvPicPr>
            <a:picLocks noChangeAspect="1"/>
          </p:cNvPicPr>
          <p:nvPr/>
        </p:nvPicPr>
        <p:blipFill>
          <a:blip r:embed="rId3"/>
          <a:stretch>
            <a:fillRect/>
          </a:stretch>
        </p:blipFill>
        <p:spPr>
          <a:xfrm>
            <a:off x="2352907" y="3152675"/>
            <a:ext cx="2141034" cy="1712827"/>
          </a:xfrm>
          <a:prstGeom prst="rect">
            <a:avLst/>
          </a:prstGeom>
        </p:spPr>
      </p:pic>
      <p:pic>
        <p:nvPicPr>
          <p:cNvPr id="7" name="Picture 6">
            <a:extLst>
              <a:ext uri="{FF2B5EF4-FFF2-40B4-BE49-F238E27FC236}">
                <a16:creationId xmlns:a16="http://schemas.microsoft.com/office/drawing/2014/main" id="{B729FCA0-2503-FD4C-91A0-A72D4046E5BD}"/>
              </a:ext>
            </a:extLst>
          </p:cNvPr>
          <p:cNvPicPr>
            <a:picLocks noChangeAspect="1"/>
          </p:cNvPicPr>
          <p:nvPr/>
        </p:nvPicPr>
        <p:blipFill>
          <a:blip r:embed="rId4"/>
          <a:stretch>
            <a:fillRect/>
          </a:stretch>
        </p:blipFill>
        <p:spPr>
          <a:xfrm>
            <a:off x="0" y="1268946"/>
            <a:ext cx="4206241" cy="1977636"/>
          </a:xfrm>
          <a:prstGeom prst="rect">
            <a:avLst/>
          </a:prstGeom>
        </p:spPr>
      </p:pic>
      <p:pic>
        <p:nvPicPr>
          <p:cNvPr id="9" name="Picture 8">
            <a:extLst>
              <a:ext uri="{FF2B5EF4-FFF2-40B4-BE49-F238E27FC236}">
                <a16:creationId xmlns:a16="http://schemas.microsoft.com/office/drawing/2014/main" id="{90770B96-182A-7F46-8EBB-0D4C94A4D21B}"/>
              </a:ext>
            </a:extLst>
          </p:cNvPr>
          <p:cNvPicPr>
            <a:picLocks noChangeAspect="1"/>
          </p:cNvPicPr>
          <p:nvPr/>
        </p:nvPicPr>
        <p:blipFill>
          <a:blip r:embed="rId5"/>
          <a:stretch>
            <a:fillRect/>
          </a:stretch>
        </p:blipFill>
        <p:spPr>
          <a:xfrm>
            <a:off x="234127" y="3229628"/>
            <a:ext cx="2256263" cy="1805010"/>
          </a:xfrm>
          <a:prstGeom prst="rect">
            <a:avLst/>
          </a:prstGeom>
        </p:spPr>
      </p:pic>
      <p:sp>
        <p:nvSpPr>
          <p:cNvPr id="10" name="TextBox 9">
            <a:extLst>
              <a:ext uri="{FF2B5EF4-FFF2-40B4-BE49-F238E27FC236}">
                <a16:creationId xmlns:a16="http://schemas.microsoft.com/office/drawing/2014/main" id="{6CDA8F59-54F2-D442-84EC-E6FAC0947D9C}"/>
              </a:ext>
            </a:extLst>
          </p:cNvPr>
          <p:cNvSpPr txBox="1"/>
          <p:nvPr/>
        </p:nvSpPr>
        <p:spPr>
          <a:xfrm>
            <a:off x="4767193" y="4734342"/>
            <a:ext cx="3691055" cy="2308324"/>
          </a:xfrm>
          <a:prstGeom prst="rect">
            <a:avLst/>
          </a:prstGeom>
          <a:noFill/>
        </p:spPr>
        <p:txBody>
          <a:bodyPr wrap="square" rtlCol="0">
            <a:spAutoFit/>
          </a:bodyPr>
          <a:lstStyle/>
          <a:p>
            <a:r>
              <a:rPr lang="en-US" sz="1200" dirty="0"/>
              <a:t>Figure : Non-linear least squares used to fit area to ASV data for abundant community. Canada: intercept = 103.34, slope = 0.04; Taylor: intercept = 51.46, slope = 0.13). Linear regression - log Area explains significant variation in abundant taxa log Richness on Canada Glacier (F=8.7, </a:t>
            </a:r>
            <a:r>
              <a:rPr lang="en-US" sz="1200" dirty="0" err="1"/>
              <a:t>df</a:t>
            </a:r>
            <a:r>
              <a:rPr lang="en-US" sz="1200" dirty="0"/>
              <a:t>=1,19, p = 0.008, adjusted R2 = 0.29) and Taylor Glacier  (F=27.92, </a:t>
            </a:r>
            <a:r>
              <a:rPr lang="en-US" sz="1200" dirty="0" err="1"/>
              <a:t>df</a:t>
            </a:r>
            <a:r>
              <a:rPr lang="en-US" sz="1200" dirty="0"/>
              <a:t>=1,5, p=0.003, adjusted R2 = 0.82) shows that species richness increases with hole area (Canada: intercept=1.99, se=0.15; slope=0.05, se=0.02; Taylor: intercept=1.68, se=0.07; slope=0.14, se=0.03).</a:t>
            </a:r>
          </a:p>
          <a:p>
            <a:endParaRPr lang="en-US" sz="1200" dirty="0"/>
          </a:p>
        </p:txBody>
      </p:sp>
      <p:pic>
        <p:nvPicPr>
          <p:cNvPr id="14" name="Picture 13">
            <a:extLst>
              <a:ext uri="{FF2B5EF4-FFF2-40B4-BE49-F238E27FC236}">
                <a16:creationId xmlns:a16="http://schemas.microsoft.com/office/drawing/2014/main" id="{4603763D-1306-4E41-B6EF-BFD7668EB1FE}"/>
              </a:ext>
            </a:extLst>
          </p:cNvPr>
          <p:cNvPicPr>
            <a:picLocks noChangeAspect="1"/>
          </p:cNvPicPr>
          <p:nvPr/>
        </p:nvPicPr>
        <p:blipFill>
          <a:blip r:embed="rId6"/>
          <a:stretch>
            <a:fillRect/>
          </a:stretch>
        </p:blipFill>
        <p:spPr>
          <a:xfrm>
            <a:off x="5210516" y="1517041"/>
            <a:ext cx="2702312" cy="1544178"/>
          </a:xfrm>
          <a:prstGeom prst="rect">
            <a:avLst/>
          </a:prstGeom>
        </p:spPr>
      </p:pic>
      <p:pic>
        <p:nvPicPr>
          <p:cNvPr id="16" name="Picture 15">
            <a:extLst>
              <a:ext uri="{FF2B5EF4-FFF2-40B4-BE49-F238E27FC236}">
                <a16:creationId xmlns:a16="http://schemas.microsoft.com/office/drawing/2014/main" id="{97AAD515-FC80-1549-88E3-CE8A2B8CCAC2}"/>
              </a:ext>
            </a:extLst>
          </p:cNvPr>
          <p:cNvPicPr>
            <a:picLocks noChangeAspect="1"/>
          </p:cNvPicPr>
          <p:nvPr/>
        </p:nvPicPr>
        <p:blipFill>
          <a:blip r:embed="rId7"/>
          <a:stretch>
            <a:fillRect/>
          </a:stretch>
        </p:blipFill>
        <p:spPr>
          <a:xfrm>
            <a:off x="5243379" y="3061219"/>
            <a:ext cx="2825115" cy="1614352"/>
          </a:xfrm>
          <a:prstGeom prst="rect">
            <a:avLst/>
          </a:prstGeom>
        </p:spPr>
      </p:pic>
      <p:sp>
        <p:nvSpPr>
          <p:cNvPr id="17" name="TextBox 16">
            <a:extLst>
              <a:ext uri="{FF2B5EF4-FFF2-40B4-BE49-F238E27FC236}">
                <a16:creationId xmlns:a16="http://schemas.microsoft.com/office/drawing/2014/main" id="{7CC9E0EE-AB66-6548-9211-C062DF7065F7}"/>
              </a:ext>
            </a:extLst>
          </p:cNvPr>
          <p:cNvSpPr txBox="1"/>
          <p:nvPr/>
        </p:nvSpPr>
        <p:spPr>
          <a:xfrm>
            <a:off x="8458248" y="4734342"/>
            <a:ext cx="3691055" cy="2123658"/>
          </a:xfrm>
          <a:prstGeom prst="rect">
            <a:avLst/>
          </a:prstGeom>
          <a:noFill/>
        </p:spPr>
        <p:txBody>
          <a:bodyPr wrap="square" rtlCol="0">
            <a:spAutoFit/>
          </a:bodyPr>
          <a:lstStyle/>
          <a:p>
            <a:r>
              <a:rPr lang="en-US" sz="1200" dirty="0"/>
              <a:t>Figure : Non-linear least squares used to fit area to ASV data for rare community. Canada: intercept = 2.78, slope = 0.27; Taylor: intercept = 1.02, slope = 0.37). Linear regression - log Area explains significant variation in rare taxa log Richness on Canada Glacier (F=24.57, </a:t>
            </a:r>
            <a:r>
              <a:rPr lang="en-US" sz="1200" dirty="0" err="1"/>
              <a:t>df</a:t>
            </a:r>
            <a:r>
              <a:rPr lang="en-US" sz="1200" dirty="0"/>
              <a:t>=1,19, p &lt;0.0001, adjusted R2 = 0.54) and Taylor Glacier  (F=16.94, </a:t>
            </a:r>
            <a:r>
              <a:rPr lang="en-US" sz="1200" dirty="0" err="1"/>
              <a:t>df</a:t>
            </a:r>
            <a:r>
              <a:rPr lang="en-US" sz="1200" dirty="0"/>
              <a:t>=1,5, p=0.009, adjusted R2 = 0.73) shows that species richness increases with hole area (Canada: intercept=0.03, se=0.24; slope=0.39, se=0.08; Taylor: intercept=-0.19, se=0.31; slope=0.43, se=0.10).</a:t>
            </a:r>
          </a:p>
          <a:p>
            <a:endParaRPr lang="en-US" sz="1200" dirty="0"/>
          </a:p>
        </p:txBody>
      </p:sp>
      <p:pic>
        <p:nvPicPr>
          <p:cNvPr id="21" name="Picture 20">
            <a:extLst>
              <a:ext uri="{FF2B5EF4-FFF2-40B4-BE49-F238E27FC236}">
                <a16:creationId xmlns:a16="http://schemas.microsoft.com/office/drawing/2014/main" id="{DD54C8AA-C193-2148-AB4A-8C2315B9F128}"/>
              </a:ext>
            </a:extLst>
          </p:cNvPr>
          <p:cNvPicPr>
            <a:picLocks noChangeAspect="1"/>
          </p:cNvPicPr>
          <p:nvPr/>
        </p:nvPicPr>
        <p:blipFill>
          <a:blip r:embed="rId8"/>
          <a:stretch>
            <a:fillRect/>
          </a:stretch>
        </p:blipFill>
        <p:spPr>
          <a:xfrm>
            <a:off x="8917104" y="1445086"/>
            <a:ext cx="2773342" cy="1584767"/>
          </a:xfrm>
          <a:prstGeom prst="rect">
            <a:avLst/>
          </a:prstGeom>
        </p:spPr>
      </p:pic>
      <p:pic>
        <p:nvPicPr>
          <p:cNvPr id="23" name="Picture 22">
            <a:extLst>
              <a:ext uri="{FF2B5EF4-FFF2-40B4-BE49-F238E27FC236}">
                <a16:creationId xmlns:a16="http://schemas.microsoft.com/office/drawing/2014/main" id="{A6C07775-1261-1D4E-87D9-5627480B7CFC}"/>
              </a:ext>
            </a:extLst>
          </p:cNvPr>
          <p:cNvPicPr>
            <a:picLocks noChangeAspect="1"/>
          </p:cNvPicPr>
          <p:nvPr/>
        </p:nvPicPr>
        <p:blipFill>
          <a:blip r:embed="rId9"/>
          <a:stretch>
            <a:fillRect/>
          </a:stretch>
        </p:blipFill>
        <p:spPr>
          <a:xfrm>
            <a:off x="8974011" y="3123322"/>
            <a:ext cx="2716435" cy="1552249"/>
          </a:xfrm>
          <a:prstGeom prst="rect">
            <a:avLst/>
          </a:prstGeom>
        </p:spPr>
      </p:pic>
    </p:spTree>
    <p:extLst>
      <p:ext uri="{BB962C8B-B14F-4D97-AF65-F5344CB8AC3E}">
        <p14:creationId xmlns:p14="http://schemas.microsoft.com/office/powerpoint/2010/main" val="875011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B7020-9577-A94A-91A6-2CF66C6BF629}"/>
              </a:ext>
            </a:extLst>
          </p:cNvPr>
          <p:cNvSpPr>
            <a:spLocks noGrp="1"/>
          </p:cNvSpPr>
          <p:nvPr>
            <p:ph type="title"/>
          </p:nvPr>
        </p:nvSpPr>
        <p:spPr>
          <a:solidFill>
            <a:srgbClr val="8EFA00"/>
          </a:solidFill>
        </p:spPr>
        <p:txBody>
          <a:bodyPr/>
          <a:lstStyle/>
          <a:p>
            <a:r>
              <a:rPr lang="en-US" dirty="0">
                <a:solidFill>
                  <a:schemeClr val="bg1"/>
                </a:solidFill>
              </a:rPr>
              <a:t>Sloan’s Neutral Community Model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F90FC4-C7F0-4A4B-94AE-45A87108974C}"/>
                  </a:ext>
                </a:extLst>
              </p:cNvPr>
              <p:cNvSpPr txBox="1"/>
              <p:nvPr/>
            </p:nvSpPr>
            <p:spPr>
              <a:xfrm>
                <a:off x="2367447" y="2811121"/>
                <a:ext cx="7457106" cy="9675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Pr</m:t>
                          </m:r>
                        </m:fName>
                        <m:e>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r>
                                <a:rPr lang="en-GB" sz="2800" b="0" i="1" baseline="-25000" smtClean="0">
                                  <a:latin typeface="Cambria Math" panose="02040503050406030204" pitchFamily="18" charset="0"/>
                                </a:rPr>
                                <m:t>𝑖</m:t>
                              </m:r>
                              <m:r>
                                <a:rPr lang="en-GB" sz="2800" b="0" i="1" smtClean="0">
                                  <a:latin typeface="Cambria Math" panose="02040503050406030204" pitchFamily="18" charset="0"/>
                                </a:rPr>
                                <m:t>&gt;</m:t>
                              </m:r>
                              <m:r>
                                <a:rPr lang="en-GB" sz="2800" b="0" i="1" smtClean="0">
                                  <a:latin typeface="Cambria Math" panose="02040503050406030204" pitchFamily="18" charset="0"/>
                                </a:rPr>
                                <m:t>𝑑</m:t>
                              </m:r>
                            </m:e>
                          </m:d>
                        </m:e>
                      </m:func>
                      <m:r>
                        <a:rPr lang="en-GB" sz="2800" b="0" i="1" smtClean="0">
                          <a:latin typeface="Cambria Math" panose="02040503050406030204" pitchFamily="18" charset="0"/>
                        </a:rPr>
                        <m:t>= </m:t>
                      </m:r>
                      <m:nary>
                        <m:naryPr>
                          <m:ctrlPr>
                            <a:rPr lang="en-GB" sz="2800" b="0" i="1" smtClean="0">
                              <a:latin typeface="Cambria Math" panose="02040503050406030204" pitchFamily="18" charset="0"/>
                            </a:rPr>
                          </m:ctrlPr>
                        </m:naryPr>
                        <m:sub>
                          <m:r>
                            <m:rPr>
                              <m:brk m:alnAt="23"/>
                            </m:rPr>
                            <a:rPr lang="en-GB" sz="2800" b="0" i="1" smtClean="0">
                              <a:latin typeface="Cambria Math" panose="02040503050406030204" pitchFamily="18" charset="0"/>
                            </a:rPr>
                            <m:t>𝑑</m:t>
                          </m:r>
                        </m:sub>
                        <m:sup>
                          <m:r>
                            <a:rPr lang="en-GB" sz="2800" b="0" i="1" smtClean="0">
                              <a:latin typeface="Cambria Math" panose="02040503050406030204" pitchFamily="18" charset="0"/>
                            </a:rPr>
                            <m:t>1</m:t>
                          </m:r>
                        </m:sup>
                        <m:e>
                          <m:r>
                            <a:rPr lang="en-GB" sz="2800" b="0" i="1" smtClean="0">
                              <a:latin typeface="Cambria Math" panose="02040503050406030204" pitchFamily="18" charset="0"/>
                            </a:rPr>
                            <m:t>𝐵𝑒𝑡𝑎</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r>
                                <a:rPr lang="en-GB" sz="2800" b="0" i="1" baseline="-25000" smtClean="0">
                                  <a:latin typeface="Cambria Math" panose="02040503050406030204" pitchFamily="18" charset="0"/>
                                </a:rPr>
                                <m:t>𝑖</m:t>
                              </m:r>
                              <m:r>
                                <a:rPr lang="en-GB" sz="2800" b="0" i="1" smtClean="0">
                                  <a:latin typeface="Cambria Math" panose="02040503050406030204" pitchFamily="18" charset="0"/>
                                </a:rPr>
                                <m:t>:</m:t>
                              </m:r>
                              <m:r>
                                <a:rPr lang="en-GB" sz="2800" b="0" i="1" smtClean="0">
                                  <a:latin typeface="Cambria Math" panose="02040503050406030204" pitchFamily="18" charset="0"/>
                                </a:rPr>
                                <m:t>𝑁𝑚𝑝𝑖</m:t>
                              </m:r>
                              <m:r>
                                <a:rPr lang="en-GB" sz="2800" b="0" i="1" smtClean="0">
                                  <a:latin typeface="Cambria Math" panose="02040503050406030204" pitchFamily="18" charset="0"/>
                                </a:rPr>
                                <m:t>, </m:t>
                              </m:r>
                              <m:r>
                                <a:rPr lang="en-GB" sz="2800" b="0" i="1" smtClean="0">
                                  <a:latin typeface="Cambria Math" panose="02040503050406030204" pitchFamily="18" charset="0"/>
                                </a:rPr>
                                <m:t>𝑁𝑚</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1−</m:t>
                                  </m:r>
                                  <m:r>
                                    <a:rPr lang="en-GB" sz="2800" b="0" i="1" smtClean="0">
                                      <a:latin typeface="Cambria Math" panose="02040503050406030204" pitchFamily="18" charset="0"/>
                                    </a:rPr>
                                    <m:t>𝑝𝑖</m:t>
                                  </m:r>
                                </m:e>
                              </m:d>
                            </m:e>
                          </m:d>
                          <m:r>
                            <a:rPr lang="en-GB" sz="2800" b="0" i="1" smtClean="0">
                              <a:latin typeface="Cambria Math" panose="02040503050406030204" pitchFamily="18" charset="0"/>
                            </a:rPr>
                            <m:t>𝑑𝑥</m:t>
                          </m:r>
                          <m:r>
                            <a:rPr lang="en-GB" sz="2800" b="0" i="1" baseline="-25000" smtClean="0">
                              <a:latin typeface="Cambria Math" panose="02040503050406030204" pitchFamily="18" charset="0"/>
                            </a:rPr>
                            <m:t>𝑖</m:t>
                          </m:r>
                        </m:e>
                      </m:nary>
                    </m:oMath>
                  </m:oMathPara>
                </a14:m>
                <a:endParaRPr lang="en-US" sz="2800" dirty="0"/>
              </a:p>
            </p:txBody>
          </p:sp>
        </mc:Choice>
        <mc:Fallback xmlns="">
          <p:sp>
            <p:nvSpPr>
              <p:cNvPr id="4" name="TextBox 3">
                <a:extLst>
                  <a:ext uri="{FF2B5EF4-FFF2-40B4-BE49-F238E27FC236}">
                    <a16:creationId xmlns:a16="http://schemas.microsoft.com/office/drawing/2014/main" id="{1EF90FC4-C7F0-4A4B-94AE-45A87108974C}"/>
                  </a:ext>
                </a:extLst>
              </p:cNvPr>
              <p:cNvSpPr txBox="1">
                <a:spLocks noRot="1" noChangeAspect="1" noMove="1" noResize="1" noEditPoints="1" noAdjustHandles="1" noChangeArrowheads="1" noChangeShapeType="1" noTextEdit="1"/>
              </p:cNvSpPr>
              <p:nvPr/>
            </p:nvSpPr>
            <p:spPr>
              <a:xfrm>
                <a:off x="2367447" y="2811121"/>
                <a:ext cx="7457106" cy="967509"/>
              </a:xfrm>
              <a:prstGeom prst="rect">
                <a:avLst/>
              </a:prstGeom>
              <a:blipFill>
                <a:blip r:embed="rId3"/>
                <a:stretch>
                  <a:fillRect l="-509" t="-176923" b="-2615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0DBDA71-E44A-BE44-ADBA-F1537544C3EC}"/>
              </a:ext>
            </a:extLst>
          </p:cNvPr>
          <p:cNvSpPr txBox="1"/>
          <p:nvPr/>
        </p:nvSpPr>
        <p:spPr>
          <a:xfrm>
            <a:off x="382385" y="3294875"/>
            <a:ext cx="1236916" cy="369332"/>
          </a:xfrm>
          <a:prstGeom prst="rect">
            <a:avLst/>
          </a:prstGeom>
          <a:noFill/>
        </p:spPr>
        <p:txBody>
          <a:bodyPr wrap="square" rtlCol="0">
            <a:spAutoFit/>
          </a:bodyPr>
          <a:lstStyle/>
          <a:p>
            <a:r>
              <a:rPr lang="en-US" dirty="0"/>
              <a:t>Probability</a:t>
            </a:r>
          </a:p>
        </p:txBody>
      </p:sp>
      <p:sp>
        <p:nvSpPr>
          <p:cNvPr id="7" name="TextBox 6">
            <a:extLst>
              <a:ext uri="{FF2B5EF4-FFF2-40B4-BE49-F238E27FC236}">
                <a16:creationId xmlns:a16="http://schemas.microsoft.com/office/drawing/2014/main" id="{9A4D7EC7-13BD-EB48-A96A-3F6B23FC1DE9}"/>
              </a:ext>
            </a:extLst>
          </p:cNvPr>
          <p:cNvSpPr txBox="1"/>
          <p:nvPr/>
        </p:nvSpPr>
        <p:spPr>
          <a:xfrm>
            <a:off x="1785556" y="2364387"/>
            <a:ext cx="2624051" cy="369332"/>
          </a:xfrm>
          <a:prstGeom prst="rect">
            <a:avLst/>
          </a:prstGeom>
          <a:noFill/>
        </p:spPr>
        <p:txBody>
          <a:bodyPr wrap="square" rtlCol="0">
            <a:spAutoFit/>
          </a:bodyPr>
          <a:lstStyle/>
          <a:p>
            <a:r>
              <a:rPr lang="en-US" dirty="0"/>
              <a:t>Abundance of species </a:t>
            </a:r>
            <a:r>
              <a:rPr lang="en-US" i="1" dirty="0" err="1"/>
              <a:t>i</a:t>
            </a:r>
            <a:endParaRPr lang="en-US" i="1" dirty="0"/>
          </a:p>
        </p:txBody>
      </p:sp>
      <p:sp>
        <p:nvSpPr>
          <p:cNvPr id="8" name="TextBox 7">
            <a:extLst>
              <a:ext uri="{FF2B5EF4-FFF2-40B4-BE49-F238E27FC236}">
                <a16:creationId xmlns:a16="http://schemas.microsoft.com/office/drawing/2014/main" id="{C265703F-FA78-E542-A9DE-F8A258E03984}"/>
              </a:ext>
            </a:extLst>
          </p:cNvPr>
          <p:cNvSpPr txBox="1"/>
          <p:nvPr/>
        </p:nvSpPr>
        <p:spPr>
          <a:xfrm>
            <a:off x="2367447" y="4039986"/>
            <a:ext cx="2042160" cy="369332"/>
          </a:xfrm>
          <a:prstGeom prst="rect">
            <a:avLst/>
          </a:prstGeom>
          <a:noFill/>
        </p:spPr>
        <p:txBody>
          <a:bodyPr wrap="square" rtlCol="0">
            <a:spAutoFit/>
          </a:bodyPr>
          <a:lstStyle/>
          <a:p>
            <a:r>
              <a:rPr lang="en-US" dirty="0"/>
              <a:t>Detection threshold</a:t>
            </a:r>
          </a:p>
        </p:txBody>
      </p:sp>
      <p:cxnSp>
        <p:nvCxnSpPr>
          <p:cNvPr id="10" name="Straight Arrow Connector 9">
            <a:extLst>
              <a:ext uri="{FF2B5EF4-FFF2-40B4-BE49-F238E27FC236}">
                <a16:creationId xmlns:a16="http://schemas.microsoft.com/office/drawing/2014/main" id="{67CF27A2-6F14-3B4C-824A-FA627F8FA684}"/>
              </a:ext>
            </a:extLst>
          </p:cNvPr>
          <p:cNvCxnSpPr/>
          <p:nvPr/>
        </p:nvCxnSpPr>
        <p:spPr>
          <a:xfrm>
            <a:off x="2959331" y="2733719"/>
            <a:ext cx="138250" cy="4251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BE78D59-576C-644A-A91C-CCB46B61FE64}"/>
              </a:ext>
            </a:extLst>
          </p:cNvPr>
          <p:cNvCxnSpPr>
            <a:cxnSpLocks/>
          </p:cNvCxnSpPr>
          <p:nvPr/>
        </p:nvCxnSpPr>
        <p:spPr>
          <a:xfrm flipV="1">
            <a:off x="1602676" y="3294875"/>
            <a:ext cx="764771" cy="184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B2CF13C6-01A7-504E-AA61-B0C231E3869F}"/>
              </a:ext>
            </a:extLst>
          </p:cNvPr>
          <p:cNvCxnSpPr>
            <a:cxnSpLocks/>
          </p:cNvCxnSpPr>
          <p:nvPr/>
        </p:nvCxnSpPr>
        <p:spPr>
          <a:xfrm flipV="1">
            <a:off x="3132218" y="3479541"/>
            <a:ext cx="455520" cy="560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A4688950-3C15-4349-B88C-320C7395CD11}"/>
              </a:ext>
            </a:extLst>
          </p:cNvPr>
          <p:cNvSpPr txBox="1"/>
          <p:nvPr/>
        </p:nvSpPr>
        <p:spPr>
          <a:xfrm>
            <a:off x="5462847" y="4529731"/>
            <a:ext cx="3308466" cy="369332"/>
          </a:xfrm>
          <a:prstGeom prst="rect">
            <a:avLst/>
          </a:prstGeom>
          <a:noFill/>
        </p:spPr>
        <p:txBody>
          <a:bodyPr wrap="square" rtlCol="0">
            <a:spAutoFit/>
          </a:bodyPr>
          <a:lstStyle/>
          <a:p>
            <a:r>
              <a:rPr lang="en-US" dirty="0"/>
              <a:t>Beta probability density function</a:t>
            </a:r>
          </a:p>
        </p:txBody>
      </p:sp>
      <p:sp>
        <p:nvSpPr>
          <p:cNvPr id="22" name="Right Brace 21">
            <a:extLst>
              <a:ext uri="{FF2B5EF4-FFF2-40B4-BE49-F238E27FC236}">
                <a16:creationId xmlns:a16="http://schemas.microsoft.com/office/drawing/2014/main" id="{F592FB26-D4F9-854F-A0A9-BA508A636B6C}"/>
              </a:ext>
            </a:extLst>
          </p:cNvPr>
          <p:cNvSpPr/>
          <p:nvPr/>
        </p:nvSpPr>
        <p:spPr>
          <a:xfrm rot="5400000">
            <a:off x="6826135" y="1437625"/>
            <a:ext cx="581891" cy="541494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D09EC8D1-D5D5-824B-92C4-E5541FB11FBC}"/>
              </a:ext>
            </a:extLst>
          </p:cNvPr>
          <p:cNvSpPr txBox="1"/>
          <p:nvPr/>
        </p:nvSpPr>
        <p:spPr>
          <a:xfrm>
            <a:off x="4942459" y="1827570"/>
            <a:ext cx="1446414" cy="923330"/>
          </a:xfrm>
          <a:prstGeom prst="rect">
            <a:avLst/>
          </a:prstGeom>
          <a:noFill/>
        </p:spPr>
        <p:txBody>
          <a:bodyPr wrap="square" rtlCol="0">
            <a:spAutoFit/>
          </a:bodyPr>
          <a:lstStyle/>
          <a:p>
            <a:r>
              <a:rPr lang="en-US" dirty="0"/>
              <a:t>Average sample read count</a:t>
            </a:r>
          </a:p>
        </p:txBody>
      </p:sp>
      <p:cxnSp>
        <p:nvCxnSpPr>
          <p:cNvPr id="24" name="Straight Arrow Connector 23">
            <a:extLst>
              <a:ext uri="{FF2B5EF4-FFF2-40B4-BE49-F238E27FC236}">
                <a16:creationId xmlns:a16="http://schemas.microsoft.com/office/drawing/2014/main" id="{A3E53A8B-A133-9345-BCC7-302B3A857596}"/>
              </a:ext>
            </a:extLst>
          </p:cNvPr>
          <p:cNvCxnSpPr>
            <a:cxnSpLocks/>
          </p:cNvCxnSpPr>
          <p:nvPr/>
        </p:nvCxnSpPr>
        <p:spPr>
          <a:xfrm>
            <a:off x="5748502" y="2476611"/>
            <a:ext cx="668923" cy="6822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FCA84843-06D9-1846-9D05-C99267C2C02C}"/>
              </a:ext>
            </a:extLst>
          </p:cNvPr>
          <p:cNvSpPr txBox="1"/>
          <p:nvPr/>
        </p:nvSpPr>
        <p:spPr>
          <a:xfrm>
            <a:off x="6308667" y="1631176"/>
            <a:ext cx="2697455" cy="923330"/>
          </a:xfrm>
          <a:prstGeom prst="rect">
            <a:avLst/>
          </a:prstGeom>
          <a:noFill/>
        </p:spPr>
        <p:txBody>
          <a:bodyPr wrap="square" rtlCol="0">
            <a:spAutoFit/>
          </a:bodyPr>
          <a:lstStyle/>
          <a:p>
            <a:r>
              <a:rPr lang="en-US" dirty="0"/>
              <a:t>Probability that a dead individual is replaced by dispersing individual</a:t>
            </a:r>
          </a:p>
        </p:txBody>
      </p:sp>
      <p:cxnSp>
        <p:nvCxnSpPr>
          <p:cNvPr id="30" name="Straight Arrow Connector 29">
            <a:extLst>
              <a:ext uri="{FF2B5EF4-FFF2-40B4-BE49-F238E27FC236}">
                <a16:creationId xmlns:a16="http://schemas.microsoft.com/office/drawing/2014/main" id="{4882A002-6935-344A-8B1A-66D15E06F671}"/>
              </a:ext>
            </a:extLst>
          </p:cNvPr>
          <p:cNvCxnSpPr>
            <a:cxnSpLocks/>
          </p:cNvCxnSpPr>
          <p:nvPr/>
        </p:nvCxnSpPr>
        <p:spPr>
          <a:xfrm>
            <a:off x="6818659" y="2601350"/>
            <a:ext cx="0" cy="557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BCFE50B3-9BF3-954C-944F-82EDC97EB759}"/>
              </a:ext>
            </a:extLst>
          </p:cNvPr>
          <p:cNvSpPr txBox="1"/>
          <p:nvPr/>
        </p:nvSpPr>
        <p:spPr>
          <a:xfrm>
            <a:off x="9149909" y="1827570"/>
            <a:ext cx="1750522" cy="1200329"/>
          </a:xfrm>
          <a:prstGeom prst="rect">
            <a:avLst/>
          </a:prstGeom>
          <a:noFill/>
        </p:spPr>
        <p:txBody>
          <a:bodyPr wrap="square" rtlCol="0">
            <a:spAutoFit/>
          </a:bodyPr>
          <a:lstStyle/>
          <a:p>
            <a:r>
              <a:rPr lang="en-US" dirty="0"/>
              <a:t>Relative abundance of species </a:t>
            </a:r>
            <a:r>
              <a:rPr lang="en-US" i="1" dirty="0" err="1"/>
              <a:t>i</a:t>
            </a:r>
            <a:r>
              <a:rPr lang="en-US" dirty="0"/>
              <a:t> in the metacommunity</a:t>
            </a:r>
          </a:p>
        </p:txBody>
      </p:sp>
      <p:cxnSp>
        <p:nvCxnSpPr>
          <p:cNvPr id="35" name="Straight Arrow Connector 34">
            <a:extLst>
              <a:ext uri="{FF2B5EF4-FFF2-40B4-BE49-F238E27FC236}">
                <a16:creationId xmlns:a16="http://schemas.microsoft.com/office/drawing/2014/main" id="{BA461DE8-5613-484F-87A0-125551D9C0EC}"/>
              </a:ext>
            </a:extLst>
          </p:cNvPr>
          <p:cNvCxnSpPr>
            <a:cxnSpLocks/>
          </p:cNvCxnSpPr>
          <p:nvPr/>
        </p:nvCxnSpPr>
        <p:spPr>
          <a:xfrm flipH="1">
            <a:off x="7117082" y="2695038"/>
            <a:ext cx="1889040" cy="463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Right Brace 37">
            <a:extLst>
              <a:ext uri="{FF2B5EF4-FFF2-40B4-BE49-F238E27FC236}">
                <a16:creationId xmlns:a16="http://schemas.microsoft.com/office/drawing/2014/main" id="{3B831A3D-FB0A-2747-9C97-D4D90A414F85}"/>
              </a:ext>
            </a:extLst>
          </p:cNvPr>
          <p:cNvSpPr/>
          <p:nvPr/>
        </p:nvSpPr>
        <p:spPr>
          <a:xfrm rot="5400000">
            <a:off x="5490807" y="-162213"/>
            <a:ext cx="515389" cy="1035206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EDE13FD-762C-E645-B28E-EFAF1603682A}"/>
                  </a:ext>
                </a:extLst>
              </p:cNvPr>
              <p:cNvSpPr txBox="1"/>
              <p:nvPr/>
            </p:nvSpPr>
            <p:spPr>
              <a:xfrm>
                <a:off x="2160616" y="5498326"/>
                <a:ext cx="8296102" cy="369332"/>
              </a:xfrm>
              <a:prstGeom prst="rect">
                <a:avLst/>
              </a:prstGeom>
              <a:noFill/>
            </p:spPr>
            <p:txBody>
              <a:bodyPr wrap="square" rtlCol="0">
                <a:spAutoFit/>
              </a:bodyPr>
              <a:lstStyle/>
              <a:p>
                <a14:m>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Pr</m:t>
                        </m:r>
                      </m:fName>
                      <m:e>
                        <m:d>
                          <m:dPr>
                            <m:ctrlPr>
                              <a:rPr lang="en-GB" i="1">
                                <a:latin typeface="Cambria Math" panose="02040503050406030204" pitchFamily="18" charset="0"/>
                              </a:rPr>
                            </m:ctrlPr>
                          </m:dPr>
                          <m:e>
                            <m:r>
                              <a:rPr lang="en-GB" i="1">
                                <a:latin typeface="Cambria Math" panose="02040503050406030204" pitchFamily="18" charset="0"/>
                              </a:rPr>
                              <m:t>𝑥</m:t>
                            </m:r>
                            <m:r>
                              <a:rPr lang="en-GB" i="1" baseline="-25000">
                                <a:latin typeface="Cambria Math" panose="02040503050406030204" pitchFamily="18" charset="0"/>
                              </a:rPr>
                              <m:t>𝑖</m:t>
                            </m:r>
                            <m:r>
                              <a:rPr lang="en-GB" i="1">
                                <a:latin typeface="Cambria Math" panose="02040503050406030204" pitchFamily="18" charset="0"/>
                              </a:rPr>
                              <m:t>&gt;</m:t>
                            </m:r>
                            <m:r>
                              <a:rPr lang="en-GB" i="1">
                                <a:latin typeface="Cambria Math" panose="02040503050406030204" pitchFamily="18" charset="0"/>
                              </a:rPr>
                              <m:t>𝑑</m:t>
                            </m:r>
                          </m:e>
                        </m:d>
                      </m:e>
                    </m:func>
                  </m:oMath>
                </a14:m>
                <a:r>
                  <a:rPr lang="en-US" dirty="0"/>
                  <a:t> is equal to the proportion of samples in which species </a:t>
                </a:r>
                <a:r>
                  <a:rPr lang="en-US" i="1" dirty="0" err="1"/>
                  <a:t>i</a:t>
                </a:r>
                <a:r>
                  <a:rPr lang="en-US" dirty="0"/>
                  <a:t> is observed</a:t>
                </a:r>
              </a:p>
            </p:txBody>
          </p:sp>
        </mc:Choice>
        <mc:Fallback xmlns="">
          <p:sp>
            <p:nvSpPr>
              <p:cNvPr id="39" name="TextBox 38">
                <a:extLst>
                  <a:ext uri="{FF2B5EF4-FFF2-40B4-BE49-F238E27FC236}">
                    <a16:creationId xmlns:a16="http://schemas.microsoft.com/office/drawing/2014/main" id="{1EDE13FD-762C-E645-B28E-EFAF1603682A}"/>
                  </a:ext>
                </a:extLst>
              </p:cNvPr>
              <p:cNvSpPr txBox="1">
                <a:spLocks noRot="1" noChangeAspect="1" noMove="1" noResize="1" noEditPoints="1" noAdjustHandles="1" noChangeArrowheads="1" noChangeShapeType="1" noTextEdit="1"/>
              </p:cNvSpPr>
              <p:nvPr/>
            </p:nvSpPr>
            <p:spPr>
              <a:xfrm>
                <a:off x="2160616" y="5498326"/>
                <a:ext cx="8296102" cy="369332"/>
              </a:xfrm>
              <a:prstGeom prst="rect">
                <a:avLst/>
              </a:prstGeom>
              <a:blipFill>
                <a:blip r:embed="rId4"/>
                <a:stretch>
                  <a:fillRect t="-6667" b="-2333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D64287FF-DCC5-4F4E-8947-0EFAF1DAA135}"/>
              </a:ext>
            </a:extLst>
          </p:cNvPr>
          <p:cNvSpPr txBox="1"/>
          <p:nvPr/>
        </p:nvSpPr>
        <p:spPr>
          <a:xfrm>
            <a:off x="838200" y="6239319"/>
            <a:ext cx="10787743" cy="369332"/>
          </a:xfrm>
          <a:prstGeom prst="rect">
            <a:avLst/>
          </a:prstGeom>
          <a:noFill/>
        </p:spPr>
        <p:txBody>
          <a:bodyPr wrap="square" rtlCol="0">
            <a:spAutoFit/>
          </a:bodyPr>
          <a:lstStyle/>
          <a:p>
            <a:r>
              <a:rPr lang="en-US" dirty="0"/>
              <a:t>Sloan et al., (2006) Quantifying the roles of immigration and chance in shaping prokaryote community structure</a:t>
            </a:r>
          </a:p>
        </p:txBody>
      </p:sp>
    </p:spTree>
    <p:extLst>
      <p:ext uri="{BB962C8B-B14F-4D97-AF65-F5344CB8AC3E}">
        <p14:creationId xmlns:p14="http://schemas.microsoft.com/office/powerpoint/2010/main" val="2102182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666F3-51C2-4741-B321-B1E35D0FA677}"/>
              </a:ext>
            </a:extLst>
          </p:cNvPr>
          <p:cNvSpPr>
            <a:spLocks noGrp="1"/>
          </p:cNvSpPr>
          <p:nvPr>
            <p:ph type="title"/>
          </p:nvPr>
        </p:nvSpPr>
        <p:spPr>
          <a:solidFill>
            <a:srgbClr val="8EFA00"/>
          </a:solidFill>
        </p:spPr>
        <p:txBody>
          <a:bodyPr/>
          <a:lstStyle/>
          <a:p>
            <a:r>
              <a:rPr lang="en-US" dirty="0">
                <a:solidFill>
                  <a:schemeClr val="bg1"/>
                </a:solidFill>
              </a:rPr>
              <a:t>Code</a:t>
            </a:r>
          </a:p>
        </p:txBody>
      </p:sp>
      <p:graphicFrame>
        <p:nvGraphicFramePr>
          <p:cNvPr id="4" name="Diagram 3">
            <a:extLst>
              <a:ext uri="{FF2B5EF4-FFF2-40B4-BE49-F238E27FC236}">
                <a16:creationId xmlns:a16="http://schemas.microsoft.com/office/drawing/2014/main" id="{B2B24C83-F06A-6B49-8844-40109AFE847B}"/>
              </a:ext>
            </a:extLst>
          </p:cNvPr>
          <p:cNvGraphicFramePr/>
          <p:nvPr>
            <p:extLst>
              <p:ext uri="{D42A27DB-BD31-4B8C-83A1-F6EECF244321}">
                <p14:modId xmlns:p14="http://schemas.microsoft.com/office/powerpoint/2010/main" val="2289447671"/>
              </p:ext>
            </p:extLst>
          </p:nvPr>
        </p:nvGraphicFramePr>
        <p:xfrm>
          <a:off x="3200400" y="1963737"/>
          <a:ext cx="8458200" cy="40782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2">
            <a:extLst>
              <a:ext uri="{FF2B5EF4-FFF2-40B4-BE49-F238E27FC236}">
                <a16:creationId xmlns:a16="http://schemas.microsoft.com/office/drawing/2014/main" id="{79118AC9-2DCE-9E4F-A300-E8EC5CD657BC}"/>
              </a:ext>
            </a:extLst>
          </p:cNvPr>
          <p:cNvSpPr>
            <a:spLocks noGrp="1"/>
          </p:cNvSpPr>
          <p:nvPr>
            <p:ph idx="1"/>
          </p:nvPr>
        </p:nvSpPr>
        <p:spPr>
          <a:xfrm>
            <a:off x="838200" y="1562101"/>
            <a:ext cx="1804988" cy="4351338"/>
          </a:xfrm>
        </p:spPr>
        <p:txBody>
          <a:bodyPr>
            <a:normAutofit fontScale="92500" lnSpcReduction="10000"/>
          </a:bodyPr>
          <a:lstStyle/>
          <a:p>
            <a:pPr marL="0" indent="0">
              <a:buNone/>
            </a:pPr>
            <a:r>
              <a:rPr lang="en-US" sz="1600" b="1" dirty="0"/>
              <a:t>Packages</a:t>
            </a:r>
          </a:p>
          <a:p>
            <a:pPr marL="0" indent="0">
              <a:buNone/>
            </a:pPr>
            <a:r>
              <a:rPr lang="en-US" sz="1600" dirty="0"/>
              <a:t>library(</a:t>
            </a:r>
            <a:r>
              <a:rPr lang="en-US" sz="1600" dirty="0" err="1"/>
              <a:t>dplyr</a:t>
            </a:r>
            <a:r>
              <a:rPr lang="en-US" sz="1600" dirty="0"/>
              <a:t>)</a:t>
            </a:r>
          </a:p>
          <a:p>
            <a:pPr marL="0" indent="0">
              <a:buNone/>
            </a:pPr>
            <a:r>
              <a:rPr lang="en-US" sz="1600" dirty="0"/>
              <a:t>library(</a:t>
            </a:r>
            <a:r>
              <a:rPr lang="en-US" sz="1600" dirty="0" err="1"/>
              <a:t>tibble</a:t>
            </a:r>
            <a:r>
              <a:rPr lang="en-US" sz="1600" dirty="0"/>
              <a:t>)</a:t>
            </a:r>
          </a:p>
          <a:p>
            <a:pPr marL="0" indent="0">
              <a:buNone/>
            </a:pPr>
            <a:r>
              <a:rPr lang="en-US" sz="1600" dirty="0"/>
              <a:t>library(</a:t>
            </a:r>
            <a:r>
              <a:rPr lang="en-US" sz="1600" dirty="0" err="1"/>
              <a:t>phyloseq</a:t>
            </a:r>
            <a:r>
              <a:rPr lang="en-US" sz="1600" dirty="0"/>
              <a:t>)</a:t>
            </a:r>
          </a:p>
          <a:p>
            <a:pPr marL="0" indent="0">
              <a:buNone/>
            </a:pPr>
            <a:r>
              <a:rPr lang="en-US" sz="1600" dirty="0"/>
              <a:t>library(ape)</a:t>
            </a:r>
          </a:p>
          <a:p>
            <a:pPr marL="0" indent="0">
              <a:buNone/>
            </a:pPr>
            <a:r>
              <a:rPr lang="en-US" sz="1600" dirty="0"/>
              <a:t>library(vegan)</a:t>
            </a:r>
          </a:p>
          <a:p>
            <a:pPr marL="0" indent="0">
              <a:buNone/>
            </a:pPr>
            <a:r>
              <a:rPr lang="en-US" sz="1600" dirty="0"/>
              <a:t>library(FSA)</a:t>
            </a:r>
          </a:p>
          <a:p>
            <a:pPr marL="0" indent="0">
              <a:buNone/>
            </a:pPr>
            <a:r>
              <a:rPr lang="en-US" sz="1600" dirty="0"/>
              <a:t>library(</a:t>
            </a:r>
            <a:r>
              <a:rPr lang="en-US" sz="1600" dirty="0" err="1"/>
              <a:t>eulerr</a:t>
            </a:r>
            <a:r>
              <a:rPr lang="en-US" sz="1600" dirty="0"/>
              <a:t>)</a:t>
            </a:r>
          </a:p>
          <a:p>
            <a:pPr marL="0" indent="0">
              <a:buNone/>
            </a:pPr>
            <a:r>
              <a:rPr lang="en-US" sz="1600" dirty="0"/>
              <a:t>library(</a:t>
            </a:r>
            <a:r>
              <a:rPr lang="en-US" sz="1600" dirty="0" err="1"/>
              <a:t>minpack.lm</a:t>
            </a:r>
            <a:r>
              <a:rPr lang="en-US" sz="1600" dirty="0"/>
              <a:t>)</a:t>
            </a:r>
          </a:p>
          <a:p>
            <a:pPr marL="0" indent="0">
              <a:buNone/>
            </a:pPr>
            <a:r>
              <a:rPr lang="en-US" sz="1600" dirty="0"/>
              <a:t>library(</a:t>
            </a:r>
            <a:r>
              <a:rPr lang="en-US" sz="1600" dirty="0" err="1"/>
              <a:t>Hmisc</a:t>
            </a:r>
            <a:r>
              <a:rPr lang="en-US" sz="1600" dirty="0"/>
              <a:t>)</a:t>
            </a:r>
          </a:p>
          <a:p>
            <a:pPr marL="0" indent="0">
              <a:buNone/>
            </a:pPr>
            <a:r>
              <a:rPr lang="en-US" sz="1600" dirty="0"/>
              <a:t>library(stats4)</a:t>
            </a:r>
          </a:p>
          <a:p>
            <a:pPr marL="0" indent="0">
              <a:buNone/>
            </a:pPr>
            <a:r>
              <a:rPr lang="en-US" sz="1600" dirty="0"/>
              <a:t>library(ggplot2)</a:t>
            </a:r>
          </a:p>
          <a:p>
            <a:pPr marL="0" indent="0">
              <a:buNone/>
            </a:pPr>
            <a:r>
              <a:rPr lang="en-US" sz="1600" dirty="0"/>
              <a:t>library(grid)</a:t>
            </a:r>
          </a:p>
          <a:p>
            <a:pPr marL="0" indent="0">
              <a:buNone/>
            </a:pPr>
            <a:r>
              <a:rPr lang="en-US" sz="1600" dirty="0"/>
              <a:t>library(</a:t>
            </a:r>
            <a:r>
              <a:rPr lang="en-US" sz="1600" dirty="0" err="1"/>
              <a:t>gridExtra</a:t>
            </a:r>
            <a:r>
              <a:rPr lang="en-US" sz="1600" dirty="0"/>
              <a:t>)</a:t>
            </a:r>
          </a:p>
          <a:p>
            <a:endParaRPr lang="en-US" sz="1600" dirty="0"/>
          </a:p>
        </p:txBody>
      </p:sp>
      <p:sp>
        <p:nvSpPr>
          <p:cNvPr id="6" name="TextBox 5">
            <a:extLst>
              <a:ext uri="{FF2B5EF4-FFF2-40B4-BE49-F238E27FC236}">
                <a16:creationId xmlns:a16="http://schemas.microsoft.com/office/drawing/2014/main" id="{FD3270B5-31FF-0647-B915-EE3334BD49A7}"/>
              </a:ext>
            </a:extLst>
          </p:cNvPr>
          <p:cNvSpPr txBox="1"/>
          <p:nvPr/>
        </p:nvSpPr>
        <p:spPr>
          <a:xfrm>
            <a:off x="1181100" y="6186488"/>
            <a:ext cx="9829800" cy="523220"/>
          </a:xfrm>
          <a:prstGeom prst="rect">
            <a:avLst/>
          </a:prstGeom>
          <a:noFill/>
        </p:spPr>
        <p:txBody>
          <a:bodyPr wrap="square" rtlCol="0">
            <a:spAutoFit/>
          </a:bodyPr>
          <a:lstStyle/>
          <a:p>
            <a:r>
              <a:rPr lang="en-US" sz="1400" dirty="0"/>
              <a:t>Code developed from Barnett et al., (2020) Soil characteristics and land-use drive bacterial community assembly patterns (https://</a:t>
            </a:r>
            <a:r>
              <a:rPr lang="en-US" sz="1400" dirty="0" err="1"/>
              <a:t>github.com</a:t>
            </a:r>
            <a:r>
              <a:rPr lang="en-US" sz="1400" dirty="0"/>
              <a:t>/seb369/</a:t>
            </a:r>
            <a:r>
              <a:rPr lang="en-US" sz="1400" dirty="0" err="1"/>
              <a:t>landuse_comm_assembly</a:t>
            </a:r>
            <a:r>
              <a:rPr lang="en-US" sz="1400" dirty="0"/>
              <a:t>)</a:t>
            </a:r>
          </a:p>
        </p:txBody>
      </p:sp>
    </p:spTree>
    <p:extLst>
      <p:ext uri="{BB962C8B-B14F-4D97-AF65-F5344CB8AC3E}">
        <p14:creationId xmlns:p14="http://schemas.microsoft.com/office/powerpoint/2010/main" val="1160375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5212E-8941-0244-B794-F4CF8035F12C}"/>
              </a:ext>
            </a:extLst>
          </p:cNvPr>
          <p:cNvSpPr>
            <a:spLocks noGrp="1"/>
          </p:cNvSpPr>
          <p:nvPr>
            <p:ph type="title"/>
          </p:nvPr>
        </p:nvSpPr>
        <p:spPr/>
        <p:txBody>
          <a:bodyPr/>
          <a:lstStyle/>
          <a:p>
            <a:r>
              <a:rPr lang="en-US" dirty="0"/>
              <a:t>Neutral Model</a:t>
            </a:r>
          </a:p>
        </p:txBody>
      </p:sp>
      <p:pic>
        <p:nvPicPr>
          <p:cNvPr id="6" name="Picture 5">
            <a:extLst>
              <a:ext uri="{FF2B5EF4-FFF2-40B4-BE49-F238E27FC236}">
                <a16:creationId xmlns:a16="http://schemas.microsoft.com/office/drawing/2014/main" id="{EB777F7F-ED18-224C-8755-DED8CF47A971}"/>
              </a:ext>
            </a:extLst>
          </p:cNvPr>
          <p:cNvPicPr>
            <a:picLocks noChangeAspect="1"/>
          </p:cNvPicPr>
          <p:nvPr/>
        </p:nvPicPr>
        <p:blipFill>
          <a:blip r:embed="rId3"/>
          <a:stretch>
            <a:fillRect/>
          </a:stretch>
        </p:blipFill>
        <p:spPr>
          <a:xfrm>
            <a:off x="408878" y="2430965"/>
            <a:ext cx="3671540" cy="2447693"/>
          </a:xfrm>
          <a:prstGeom prst="rect">
            <a:avLst/>
          </a:prstGeom>
        </p:spPr>
      </p:pic>
      <p:pic>
        <p:nvPicPr>
          <p:cNvPr id="8" name="Picture 7">
            <a:extLst>
              <a:ext uri="{FF2B5EF4-FFF2-40B4-BE49-F238E27FC236}">
                <a16:creationId xmlns:a16="http://schemas.microsoft.com/office/drawing/2014/main" id="{25941BDF-DF27-4C41-8E9A-41EFF2139E79}"/>
              </a:ext>
            </a:extLst>
          </p:cNvPr>
          <p:cNvPicPr>
            <a:picLocks noChangeAspect="1"/>
          </p:cNvPicPr>
          <p:nvPr/>
        </p:nvPicPr>
        <p:blipFill>
          <a:blip r:embed="rId4"/>
          <a:stretch>
            <a:fillRect/>
          </a:stretch>
        </p:blipFill>
        <p:spPr>
          <a:xfrm>
            <a:off x="4080418" y="2430965"/>
            <a:ext cx="3655217" cy="2436811"/>
          </a:xfrm>
          <a:prstGeom prst="rect">
            <a:avLst/>
          </a:prstGeom>
        </p:spPr>
      </p:pic>
      <p:pic>
        <p:nvPicPr>
          <p:cNvPr id="11" name="Picture 10">
            <a:extLst>
              <a:ext uri="{FF2B5EF4-FFF2-40B4-BE49-F238E27FC236}">
                <a16:creationId xmlns:a16="http://schemas.microsoft.com/office/drawing/2014/main" id="{3962B6F4-2DD7-F84C-BA83-FE34E3E40834}"/>
              </a:ext>
            </a:extLst>
          </p:cNvPr>
          <p:cNvPicPr>
            <a:picLocks noChangeAspect="1"/>
          </p:cNvPicPr>
          <p:nvPr/>
        </p:nvPicPr>
        <p:blipFill>
          <a:blip r:embed="rId5"/>
          <a:stretch>
            <a:fillRect/>
          </a:stretch>
        </p:blipFill>
        <p:spPr>
          <a:xfrm>
            <a:off x="7735635" y="2420083"/>
            <a:ext cx="3618165" cy="2412110"/>
          </a:xfrm>
          <a:prstGeom prst="rect">
            <a:avLst/>
          </a:prstGeom>
        </p:spPr>
      </p:pic>
      <p:sp>
        <p:nvSpPr>
          <p:cNvPr id="12" name="TextBox 11">
            <a:extLst>
              <a:ext uri="{FF2B5EF4-FFF2-40B4-BE49-F238E27FC236}">
                <a16:creationId xmlns:a16="http://schemas.microsoft.com/office/drawing/2014/main" id="{EA4DB148-442A-7A44-B33B-665C90BC2F8A}"/>
              </a:ext>
            </a:extLst>
          </p:cNvPr>
          <p:cNvSpPr txBox="1"/>
          <p:nvPr/>
        </p:nvSpPr>
        <p:spPr>
          <a:xfrm>
            <a:off x="1051560" y="5009280"/>
            <a:ext cx="10607040" cy="369332"/>
          </a:xfrm>
          <a:prstGeom prst="rect">
            <a:avLst/>
          </a:prstGeom>
          <a:noFill/>
        </p:spPr>
        <p:txBody>
          <a:bodyPr wrap="square" rtlCol="0">
            <a:spAutoFit/>
          </a:bodyPr>
          <a:lstStyle/>
          <a:p>
            <a:r>
              <a:rPr lang="en-US" dirty="0"/>
              <a:t>Total Community			Abundant Community		Rare Community</a:t>
            </a:r>
          </a:p>
        </p:txBody>
      </p:sp>
    </p:spTree>
    <p:extLst>
      <p:ext uri="{BB962C8B-B14F-4D97-AF65-F5344CB8AC3E}">
        <p14:creationId xmlns:p14="http://schemas.microsoft.com/office/powerpoint/2010/main" val="1028861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E3458-3266-244D-BCB1-9A7BADC0BE83}"/>
              </a:ext>
            </a:extLst>
          </p:cNvPr>
          <p:cNvSpPr>
            <a:spLocks noGrp="1"/>
          </p:cNvSpPr>
          <p:nvPr>
            <p:ph type="title"/>
          </p:nvPr>
        </p:nvSpPr>
        <p:spPr>
          <a:solidFill>
            <a:srgbClr val="3CE29B"/>
          </a:solidFill>
        </p:spPr>
        <p:txBody>
          <a:bodyPr/>
          <a:lstStyle/>
          <a:p>
            <a:r>
              <a:rPr lang="en-US" dirty="0" err="1">
                <a:solidFill>
                  <a:schemeClr val="bg1"/>
                </a:solidFill>
              </a:rPr>
              <a:t>Stegen</a:t>
            </a:r>
            <a:r>
              <a:rPr lang="en-US" dirty="0">
                <a:solidFill>
                  <a:schemeClr val="bg1"/>
                </a:solidFill>
              </a:rPr>
              <a:t> </a:t>
            </a:r>
            <a:r>
              <a:rPr lang="en-US" i="1" dirty="0">
                <a:solidFill>
                  <a:schemeClr val="bg1"/>
                </a:solidFill>
              </a:rPr>
              <a:t>et al., </a:t>
            </a:r>
            <a:r>
              <a:rPr lang="en-US" dirty="0">
                <a:solidFill>
                  <a:schemeClr val="bg1"/>
                </a:solidFill>
              </a:rPr>
              <a:t>(2015) Phylogenetic Null Model</a:t>
            </a:r>
          </a:p>
        </p:txBody>
      </p:sp>
      <p:graphicFrame>
        <p:nvGraphicFramePr>
          <p:cNvPr id="8" name="Diagram 7">
            <a:extLst>
              <a:ext uri="{FF2B5EF4-FFF2-40B4-BE49-F238E27FC236}">
                <a16:creationId xmlns:a16="http://schemas.microsoft.com/office/drawing/2014/main" id="{8AE007E0-E98F-624F-A585-6E129FB1664C}"/>
              </a:ext>
            </a:extLst>
          </p:cNvPr>
          <p:cNvGraphicFramePr/>
          <p:nvPr>
            <p:extLst>
              <p:ext uri="{D42A27DB-BD31-4B8C-83A1-F6EECF244321}">
                <p14:modId xmlns:p14="http://schemas.microsoft.com/office/powerpoint/2010/main" val="291247793"/>
              </p:ext>
            </p:extLst>
          </p:nvPr>
        </p:nvGraphicFramePr>
        <p:xfrm>
          <a:off x="2032000" y="1843087"/>
          <a:ext cx="8128000" cy="46238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8868AF34-E172-3B49-8783-B1313C7CCE0A}"/>
              </a:ext>
            </a:extLst>
          </p:cNvPr>
          <p:cNvSpPr txBox="1"/>
          <p:nvPr/>
        </p:nvSpPr>
        <p:spPr>
          <a:xfrm>
            <a:off x="8386354" y="2037806"/>
            <a:ext cx="3187337" cy="1477328"/>
          </a:xfrm>
          <a:prstGeom prst="rect">
            <a:avLst/>
          </a:prstGeom>
          <a:noFill/>
        </p:spPr>
        <p:txBody>
          <a:bodyPr wrap="square" rtlCol="0">
            <a:spAutoFit/>
          </a:bodyPr>
          <a:lstStyle/>
          <a:p>
            <a:r>
              <a:rPr lang="en-US" dirty="0" err="1"/>
              <a:t>Stegen</a:t>
            </a:r>
            <a:r>
              <a:rPr lang="en-US" dirty="0"/>
              <a:t> et al., (2015) </a:t>
            </a:r>
            <a:r>
              <a:rPr lang="en-GB" dirty="0"/>
              <a:t>Estimating and mapping ecological processes influencing microbial community assembly</a:t>
            </a:r>
          </a:p>
          <a:p>
            <a:endParaRPr lang="en-US" dirty="0"/>
          </a:p>
        </p:txBody>
      </p:sp>
    </p:spTree>
    <p:extLst>
      <p:ext uri="{BB962C8B-B14F-4D97-AF65-F5344CB8AC3E}">
        <p14:creationId xmlns:p14="http://schemas.microsoft.com/office/powerpoint/2010/main" val="5693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DD1BCA-F609-E140-AFCA-AB4D5B428C49}"/>
              </a:ext>
            </a:extLst>
          </p:cNvPr>
          <p:cNvSpPr>
            <a:spLocks noGrp="1"/>
          </p:cNvSpPr>
          <p:nvPr>
            <p:ph type="title"/>
          </p:nvPr>
        </p:nvSpPr>
        <p:spPr>
          <a:xfrm>
            <a:off x="838200" y="365125"/>
            <a:ext cx="10515600" cy="1325563"/>
          </a:xfrm>
          <a:solidFill>
            <a:srgbClr val="3CE29B"/>
          </a:solidFill>
        </p:spPr>
        <p:txBody>
          <a:bodyPr/>
          <a:lstStyle/>
          <a:p>
            <a:r>
              <a:rPr lang="en-US" dirty="0">
                <a:solidFill>
                  <a:schemeClr val="bg1"/>
                </a:solidFill>
              </a:rPr>
              <a:t>Phylogenetic Signal</a:t>
            </a:r>
          </a:p>
        </p:txBody>
      </p:sp>
      <p:graphicFrame>
        <p:nvGraphicFramePr>
          <p:cNvPr id="5" name="Diagram 4">
            <a:extLst>
              <a:ext uri="{FF2B5EF4-FFF2-40B4-BE49-F238E27FC236}">
                <a16:creationId xmlns:a16="http://schemas.microsoft.com/office/drawing/2014/main" id="{4109EBBB-D17D-6C4F-A66C-CE43FE6D1EB0}"/>
              </a:ext>
            </a:extLst>
          </p:cNvPr>
          <p:cNvGraphicFramePr/>
          <p:nvPr>
            <p:extLst>
              <p:ext uri="{D42A27DB-BD31-4B8C-83A1-F6EECF244321}">
                <p14:modId xmlns:p14="http://schemas.microsoft.com/office/powerpoint/2010/main" val="313429120"/>
              </p:ext>
            </p:extLst>
          </p:nvPr>
        </p:nvGraphicFramePr>
        <p:xfrm>
          <a:off x="2471737" y="1871663"/>
          <a:ext cx="7248525" cy="4356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7916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A2EA-A30C-6A49-A7B0-8C7FAC1047FE}"/>
              </a:ext>
            </a:extLst>
          </p:cNvPr>
          <p:cNvSpPr>
            <a:spLocks noGrp="1"/>
          </p:cNvSpPr>
          <p:nvPr>
            <p:ph type="title"/>
          </p:nvPr>
        </p:nvSpPr>
        <p:spPr/>
        <p:txBody>
          <a:bodyPr/>
          <a:lstStyle/>
          <a:p>
            <a:r>
              <a:rPr lang="en-US" dirty="0"/>
              <a:t>Phylogenetic Signal</a:t>
            </a:r>
          </a:p>
        </p:txBody>
      </p:sp>
      <p:sp>
        <p:nvSpPr>
          <p:cNvPr id="4" name="TextBox 3">
            <a:extLst>
              <a:ext uri="{FF2B5EF4-FFF2-40B4-BE49-F238E27FC236}">
                <a16:creationId xmlns:a16="http://schemas.microsoft.com/office/drawing/2014/main" id="{23BAE0C4-FA0A-FB43-AB7C-C13DA8AB3586}"/>
              </a:ext>
            </a:extLst>
          </p:cNvPr>
          <p:cNvSpPr txBox="1"/>
          <p:nvPr/>
        </p:nvSpPr>
        <p:spPr>
          <a:xfrm>
            <a:off x="6200078" y="365125"/>
            <a:ext cx="5374888" cy="923330"/>
          </a:xfrm>
          <a:prstGeom prst="rect">
            <a:avLst/>
          </a:prstGeom>
          <a:noFill/>
        </p:spPr>
        <p:txBody>
          <a:bodyPr wrap="square" rtlCol="0">
            <a:spAutoFit/>
          </a:bodyPr>
          <a:lstStyle/>
          <a:p>
            <a:r>
              <a:rPr lang="en-US" dirty="0"/>
              <a:t>Datasets had to be reduced because they were too big and taking a million years to do my mantel correlograms and killing my laptop! </a:t>
            </a:r>
          </a:p>
        </p:txBody>
      </p:sp>
      <p:pic>
        <p:nvPicPr>
          <p:cNvPr id="6" name="Picture 5">
            <a:extLst>
              <a:ext uri="{FF2B5EF4-FFF2-40B4-BE49-F238E27FC236}">
                <a16:creationId xmlns:a16="http://schemas.microsoft.com/office/drawing/2014/main" id="{7626A86D-3484-B544-92D0-C98B316DDB3E}"/>
              </a:ext>
            </a:extLst>
          </p:cNvPr>
          <p:cNvPicPr>
            <a:picLocks noChangeAspect="1"/>
          </p:cNvPicPr>
          <p:nvPr/>
        </p:nvPicPr>
        <p:blipFill>
          <a:blip r:embed="rId3"/>
          <a:stretch>
            <a:fillRect/>
          </a:stretch>
        </p:blipFill>
        <p:spPr>
          <a:xfrm>
            <a:off x="0" y="2577435"/>
            <a:ext cx="4053075" cy="2431845"/>
          </a:xfrm>
          <a:prstGeom prst="rect">
            <a:avLst/>
          </a:prstGeom>
        </p:spPr>
      </p:pic>
      <p:sp>
        <p:nvSpPr>
          <p:cNvPr id="7" name="TextBox 6">
            <a:extLst>
              <a:ext uri="{FF2B5EF4-FFF2-40B4-BE49-F238E27FC236}">
                <a16:creationId xmlns:a16="http://schemas.microsoft.com/office/drawing/2014/main" id="{2E8AB067-C2B0-9840-B949-35075BDFD659}"/>
              </a:ext>
            </a:extLst>
          </p:cNvPr>
          <p:cNvSpPr txBox="1"/>
          <p:nvPr/>
        </p:nvSpPr>
        <p:spPr>
          <a:xfrm>
            <a:off x="1051560" y="5009280"/>
            <a:ext cx="10607040" cy="369332"/>
          </a:xfrm>
          <a:prstGeom prst="rect">
            <a:avLst/>
          </a:prstGeom>
          <a:noFill/>
        </p:spPr>
        <p:txBody>
          <a:bodyPr wrap="square" rtlCol="0">
            <a:spAutoFit/>
          </a:bodyPr>
          <a:lstStyle/>
          <a:p>
            <a:r>
              <a:rPr lang="en-US" dirty="0"/>
              <a:t>Total Community			      Abundant Community		      Rare Community?!?!?!?</a:t>
            </a:r>
          </a:p>
        </p:txBody>
      </p:sp>
      <p:pic>
        <p:nvPicPr>
          <p:cNvPr id="10" name="Picture 9">
            <a:extLst>
              <a:ext uri="{FF2B5EF4-FFF2-40B4-BE49-F238E27FC236}">
                <a16:creationId xmlns:a16="http://schemas.microsoft.com/office/drawing/2014/main" id="{B5C0ED46-D283-5D44-897D-347C13DA1512}"/>
              </a:ext>
            </a:extLst>
          </p:cNvPr>
          <p:cNvPicPr>
            <a:picLocks noChangeAspect="1"/>
          </p:cNvPicPr>
          <p:nvPr/>
        </p:nvPicPr>
        <p:blipFill>
          <a:blip r:embed="rId4"/>
          <a:stretch>
            <a:fillRect/>
          </a:stretch>
        </p:blipFill>
        <p:spPr>
          <a:xfrm>
            <a:off x="4147986" y="2577435"/>
            <a:ext cx="3896027" cy="2337616"/>
          </a:xfrm>
          <a:prstGeom prst="rect">
            <a:avLst/>
          </a:prstGeom>
        </p:spPr>
      </p:pic>
    </p:spTree>
    <p:extLst>
      <p:ext uri="{BB962C8B-B14F-4D97-AF65-F5344CB8AC3E}">
        <p14:creationId xmlns:p14="http://schemas.microsoft.com/office/powerpoint/2010/main" val="381887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2AA71-18D3-214C-8A42-FA7B5AC3B16A}"/>
              </a:ext>
            </a:extLst>
          </p:cNvPr>
          <p:cNvSpPr>
            <a:spLocks noGrp="1"/>
          </p:cNvSpPr>
          <p:nvPr>
            <p:ph type="title"/>
          </p:nvPr>
        </p:nvSpPr>
        <p:spPr/>
        <p:txBody>
          <a:bodyPr/>
          <a:lstStyle/>
          <a:p>
            <a:r>
              <a:rPr lang="en-US" dirty="0"/>
              <a:t>Phylogenetic Null Model</a:t>
            </a:r>
          </a:p>
        </p:txBody>
      </p:sp>
      <p:sp>
        <p:nvSpPr>
          <p:cNvPr id="10" name="TextBox 9">
            <a:extLst>
              <a:ext uri="{FF2B5EF4-FFF2-40B4-BE49-F238E27FC236}">
                <a16:creationId xmlns:a16="http://schemas.microsoft.com/office/drawing/2014/main" id="{FDECFC6B-0A57-B540-9F2F-5A1715EF16D6}"/>
              </a:ext>
            </a:extLst>
          </p:cNvPr>
          <p:cNvSpPr txBox="1"/>
          <p:nvPr/>
        </p:nvSpPr>
        <p:spPr>
          <a:xfrm>
            <a:off x="1280160" y="4420932"/>
            <a:ext cx="10607040" cy="369332"/>
          </a:xfrm>
          <a:prstGeom prst="rect">
            <a:avLst/>
          </a:prstGeom>
          <a:noFill/>
        </p:spPr>
        <p:txBody>
          <a:bodyPr wrap="square" rtlCol="0">
            <a:spAutoFit/>
          </a:bodyPr>
          <a:lstStyle/>
          <a:p>
            <a:r>
              <a:rPr lang="en-US" dirty="0"/>
              <a:t>Total Community			Abundant Community		Rare Community</a:t>
            </a:r>
          </a:p>
        </p:txBody>
      </p:sp>
      <p:pic>
        <p:nvPicPr>
          <p:cNvPr id="14" name="Picture 13">
            <a:extLst>
              <a:ext uri="{FF2B5EF4-FFF2-40B4-BE49-F238E27FC236}">
                <a16:creationId xmlns:a16="http://schemas.microsoft.com/office/drawing/2014/main" id="{F70CA955-F1E9-734F-A417-0E378DB9393F}"/>
              </a:ext>
            </a:extLst>
          </p:cNvPr>
          <p:cNvPicPr>
            <a:picLocks noChangeAspect="1"/>
          </p:cNvPicPr>
          <p:nvPr/>
        </p:nvPicPr>
        <p:blipFill>
          <a:blip r:embed="rId3"/>
          <a:stretch>
            <a:fillRect/>
          </a:stretch>
        </p:blipFill>
        <p:spPr>
          <a:xfrm>
            <a:off x="7715938" y="2328016"/>
            <a:ext cx="3637862" cy="1818931"/>
          </a:xfrm>
          <a:prstGeom prst="rect">
            <a:avLst/>
          </a:prstGeom>
        </p:spPr>
      </p:pic>
      <p:pic>
        <p:nvPicPr>
          <p:cNvPr id="16" name="Picture 15">
            <a:extLst>
              <a:ext uri="{FF2B5EF4-FFF2-40B4-BE49-F238E27FC236}">
                <a16:creationId xmlns:a16="http://schemas.microsoft.com/office/drawing/2014/main" id="{51980A06-BAAE-2B4D-8ADB-1991DB985D60}"/>
              </a:ext>
            </a:extLst>
          </p:cNvPr>
          <p:cNvPicPr>
            <a:picLocks noChangeAspect="1"/>
          </p:cNvPicPr>
          <p:nvPr/>
        </p:nvPicPr>
        <p:blipFill>
          <a:blip r:embed="rId4"/>
          <a:stretch>
            <a:fillRect/>
          </a:stretch>
        </p:blipFill>
        <p:spPr>
          <a:xfrm>
            <a:off x="575403" y="2385054"/>
            <a:ext cx="3523785" cy="1761893"/>
          </a:xfrm>
          <a:prstGeom prst="rect">
            <a:avLst/>
          </a:prstGeom>
        </p:spPr>
      </p:pic>
      <p:pic>
        <p:nvPicPr>
          <p:cNvPr id="17" name="Picture 16">
            <a:extLst>
              <a:ext uri="{FF2B5EF4-FFF2-40B4-BE49-F238E27FC236}">
                <a16:creationId xmlns:a16="http://schemas.microsoft.com/office/drawing/2014/main" id="{91994BD5-184A-BF4E-A0E1-C5F35FD76811}"/>
              </a:ext>
            </a:extLst>
          </p:cNvPr>
          <p:cNvPicPr>
            <a:picLocks noChangeAspect="1"/>
          </p:cNvPicPr>
          <p:nvPr/>
        </p:nvPicPr>
        <p:blipFill>
          <a:blip r:embed="rId5"/>
          <a:stretch>
            <a:fillRect/>
          </a:stretch>
        </p:blipFill>
        <p:spPr>
          <a:xfrm>
            <a:off x="4352749" y="2460074"/>
            <a:ext cx="3109628" cy="1554814"/>
          </a:xfrm>
          <a:prstGeom prst="rect">
            <a:avLst/>
          </a:prstGeom>
        </p:spPr>
      </p:pic>
    </p:spTree>
    <p:extLst>
      <p:ext uri="{BB962C8B-B14F-4D97-AF65-F5344CB8AC3E}">
        <p14:creationId xmlns:p14="http://schemas.microsoft.com/office/powerpoint/2010/main" val="1312382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BC78-4FE8-2C4B-B3E9-180A5A12FE77}"/>
              </a:ext>
            </a:extLst>
          </p:cNvPr>
          <p:cNvSpPr>
            <a:spLocks noGrp="1"/>
          </p:cNvSpPr>
          <p:nvPr>
            <p:ph type="title"/>
          </p:nvPr>
        </p:nvSpPr>
        <p:spPr>
          <a:solidFill>
            <a:srgbClr val="5C9BD5"/>
          </a:solidFill>
        </p:spPr>
        <p:txBody>
          <a:bodyPr/>
          <a:lstStyle/>
          <a:p>
            <a:r>
              <a:rPr lang="en-US" dirty="0">
                <a:solidFill>
                  <a:schemeClr val="bg1"/>
                </a:solidFill>
              </a:rPr>
              <a:t>Co-Occurrence Network Analysis</a:t>
            </a:r>
          </a:p>
        </p:txBody>
      </p:sp>
      <p:pic>
        <p:nvPicPr>
          <p:cNvPr id="6" name="Picture 5">
            <a:extLst>
              <a:ext uri="{FF2B5EF4-FFF2-40B4-BE49-F238E27FC236}">
                <a16:creationId xmlns:a16="http://schemas.microsoft.com/office/drawing/2014/main" id="{D3ECF695-8101-B148-9E3A-CBC46B2DCD81}"/>
              </a:ext>
            </a:extLst>
          </p:cNvPr>
          <p:cNvPicPr>
            <a:picLocks noChangeAspect="1"/>
          </p:cNvPicPr>
          <p:nvPr/>
        </p:nvPicPr>
        <p:blipFill>
          <a:blip r:embed="rId3"/>
          <a:stretch>
            <a:fillRect/>
          </a:stretch>
        </p:blipFill>
        <p:spPr>
          <a:xfrm>
            <a:off x="1788318" y="1858395"/>
            <a:ext cx="8615363" cy="4735774"/>
          </a:xfrm>
          <a:prstGeom prst="rect">
            <a:avLst/>
          </a:prstGeom>
        </p:spPr>
      </p:pic>
    </p:spTree>
    <p:extLst>
      <p:ext uri="{BB962C8B-B14F-4D97-AF65-F5344CB8AC3E}">
        <p14:creationId xmlns:p14="http://schemas.microsoft.com/office/powerpoint/2010/main" val="4153186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7C979-3008-5241-A800-E451A562F139}"/>
              </a:ext>
            </a:extLst>
          </p:cNvPr>
          <p:cNvSpPr>
            <a:spLocks noGrp="1"/>
          </p:cNvSpPr>
          <p:nvPr>
            <p:ph type="title"/>
          </p:nvPr>
        </p:nvSpPr>
        <p:spPr/>
        <p:txBody>
          <a:bodyPr/>
          <a:lstStyle/>
          <a:p>
            <a:r>
              <a:rPr lang="en-US" dirty="0"/>
              <a:t>Summary of Results</a:t>
            </a:r>
          </a:p>
        </p:txBody>
      </p:sp>
      <p:sp>
        <p:nvSpPr>
          <p:cNvPr id="3" name="Content Placeholder 2">
            <a:extLst>
              <a:ext uri="{FF2B5EF4-FFF2-40B4-BE49-F238E27FC236}">
                <a16:creationId xmlns:a16="http://schemas.microsoft.com/office/drawing/2014/main" id="{CE4290E2-CBF4-EA40-B9FE-EC298B6EC290}"/>
              </a:ext>
            </a:extLst>
          </p:cNvPr>
          <p:cNvSpPr>
            <a:spLocks noGrp="1"/>
          </p:cNvSpPr>
          <p:nvPr>
            <p:ph idx="1"/>
          </p:nvPr>
        </p:nvSpPr>
        <p:spPr/>
        <p:txBody>
          <a:bodyPr>
            <a:normAutofit fontScale="92500" lnSpcReduction="20000"/>
          </a:bodyPr>
          <a:lstStyle/>
          <a:p>
            <a:r>
              <a:rPr lang="en-US" dirty="0"/>
              <a:t>Linear regression: Abundant sub-community correlated with a range of environmental variables. Rare sub-community mainly correlated with hole area.</a:t>
            </a:r>
          </a:p>
          <a:p>
            <a:r>
              <a:rPr lang="en-US" dirty="0"/>
              <a:t>Ordination: </a:t>
            </a:r>
            <a:r>
              <a:rPr lang="en-US" dirty="0" err="1"/>
              <a:t>Abudant</a:t>
            </a:r>
            <a:r>
              <a:rPr lang="en-US" dirty="0"/>
              <a:t> communities distinct between glaciers. Rare community not significantly different.</a:t>
            </a:r>
          </a:p>
          <a:p>
            <a:r>
              <a:rPr lang="en-US" dirty="0"/>
              <a:t>ISAR: Rare community more strongly shaped by increasing hole area than abundant community. HIGH SLOPE COEFFICIENT! </a:t>
            </a:r>
          </a:p>
          <a:p>
            <a:r>
              <a:rPr lang="en-US" dirty="0"/>
              <a:t>Neutral model: Seems like neutral model may better explain intermediate/rare communities than abundant communities.</a:t>
            </a:r>
          </a:p>
          <a:p>
            <a:r>
              <a:rPr lang="en-US" dirty="0"/>
              <a:t>Null: Abundant community shaped by dispersal limitation. Rare community shows no dominant process.</a:t>
            </a:r>
          </a:p>
          <a:p>
            <a:r>
              <a:rPr lang="en-US" dirty="0"/>
              <a:t>REMEMBER: THESE ANALYSES NEED TO BE RUN ON HPC FOR TRUE RESULT!</a:t>
            </a:r>
          </a:p>
          <a:p>
            <a:endParaRPr lang="en-US" dirty="0"/>
          </a:p>
        </p:txBody>
      </p:sp>
      <p:sp>
        <p:nvSpPr>
          <p:cNvPr id="4" name="TextBox 3">
            <a:extLst>
              <a:ext uri="{FF2B5EF4-FFF2-40B4-BE49-F238E27FC236}">
                <a16:creationId xmlns:a16="http://schemas.microsoft.com/office/drawing/2014/main" id="{4946D963-0EDD-654A-87E0-778783B532FF}"/>
              </a:ext>
            </a:extLst>
          </p:cNvPr>
          <p:cNvSpPr txBox="1"/>
          <p:nvPr/>
        </p:nvSpPr>
        <p:spPr>
          <a:xfrm>
            <a:off x="6082145" y="365125"/>
            <a:ext cx="5902037" cy="1384995"/>
          </a:xfrm>
          <a:prstGeom prst="rect">
            <a:avLst/>
          </a:prstGeom>
          <a:noFill/>
        </p:spPr>
        <p:txBody>
          <a:bodyPr wrap="square" rtlCol="0">
            <a:spAutoFit/>
          </a:bodyPr>
          <a:lstStyle/>
          <a:p>
            <a:pPr marL="514350" lvl="0" indent="-514350">
              <a:buFont typeface="+mj-lt"/>
              <a:buAutoNum type="arabicPeriod"/>
            </a:pPr>
            <a:r>
              <a:rPr lang="en-US" sz="1400" dirty="0"/>
              <a:t>Microbial community composition in the supraglacial environment is explained by both deterministic and stochastic assembly processes.</a:t>
            </a:r>
            <a:endParaRPr lang="en-GB" sz="1400" dirty="0"/>
          </a:p>
          <a:p>
            <a:pPr marL="514350" lvl="0" indent="-514350">
              <a:buFont typeface="+mj-lt"/>
              <a:buAutoNum type="arabicPeriod"/>
            </a:pPr>
            <a:r>
              <a:rPr lang="en-US" sz="1400" dirty="0"/>
              <a:t>Total, abundant and rare prokaryotic and eukaryotic sub-communities exhibit distinct biogeographic patterns, driven by distinct community assembly processes, across all substrates.</a:t>
            </a:r>
            <a:endParaRPr lang="en-GB" sz="1400" dirty="0"/>
          </a:p>
          <a:p>
            <a:endParaRPr lang="en-US" sz="1400" dirty="0"/>
          </a:p>
        </p:txBody>
      </p:sp>
    </p:spTree>
    <p:extLst>
      <p:ext uri="{BB962C8B-B14F-4D97-AF65-F5344CB8AC3E}">
        <p14:creationId xmlns:p14="http://schemas.microsoft.com/office/powerpoint/2010/main" val="2799404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8852</TotalTime>
  <Words>7416</Words>
  <Application>Microsoft Macintosh PowerPoint</Application>
  <PresentationFormat>Widescreen</PresentationFormat>
  <Paragraphs>482</Paragraphs>
  <Slides>25</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Cambria Math</vt:lpstr>
      <vt:lpstr>Office Theme</vt:lpstr>
      <vt:lpstr>Microbial Biogeography and Community Assembly Mechanisms in the Supraglacial Environment: Influence of activity and abundance</vt:lpstr>
      <vt:lpstr>Hypotheses</vt:lpstr>
      <vt:lpstr>Analysis Workflow</vt:lpstr>
      <vt:lpstr>Sommers et al., (2020) ﻿Microbial Species–Area Relationships in Antarctic Cryoconite Holes Depend on Productivity</vt:lpstr>
      <vt:lpstr>QIIME2 &amp; DADA2</vt:lpstr>
      <vt:lpstr>Data Prep</vt:lpstr>
      <vt:lpstr>Abundant and rare taxa</vt:lpstr>
      <vt:lpstr>ASV Richness</vt:lpstr>
      <vt:lpstr>Shannon Diversity</vt:lpstr>
      <vt:lpstr>Beta Diversity &amp; Ordination: Weighted UniFrac</vt:lpstr>
      <vt:lpstr>Beta Diversity &amp; Ordination: Unweighted UniFrac</vt:lpstr>
      <vt:lpstr>Beta Diversity &amp; Ordination: Bray-Curtis</vt:lpstr>
      <vt:lpstr>Linear Regression Analysis: Are their correlations between ASV richness and any environmental variables?</vt:lpstr>
      <vt:lpstr>Multiple predictor variable linear models</vt:lpstr>
      <vt:lpstr>CAP Ordination</vt:lpstr>
      <vt:lpstr>Island Species-Area Relationship (ISAR)</vt:lpstr>
      <vt:lpstr>Sloan’s Neutral Community Model</vt:lpstr>
      <vt:lpstr>Code</vt:lpstr>
      <vt:lpstr>Neutral Model</vt:lpstr>
      <vt:lpstr>Stegen et al., (2015) Phylogenetic Null Model</vt:lpstr>
      <vt:lpstr>Phylogenetic Signal</vt:lpstr>
      <vt:lpstr>Phylogenetic Signal</vt:lpstr>
      <vt:lpstr>Phylogenetic Null Model</vt:lpstr>
      <vt:lpstr>Co-Occurrence Network Analysis</vt:lpstr>
      <vt:lpstr>Summary of Results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Microbial Biogeography and Community Assembly Mechanisms</dc:title>
  <dc:creator>Amy Bo Tinky Solman</dc:creator>
  <cp:lastModifiedBy>Amy Bo Tinky Solman</cp:lastModifiedBy>
  <cp:revision>214</cp:revision>
  <dcterms:created xsi:type="dcterms:W3CDTF">2021-04-15T08:49:25Z</dcterms:created>
  <dcterms:modified xsi:type="dcterms:W3CDTF">2021-04-29T10:18:28Z</dcterms:modified>
</cp:coreProperties>
</file>