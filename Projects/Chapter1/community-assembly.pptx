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79" r:id="rId3"/>
    <p:sldId id="264" r:id="rId4"/>
    <p:sldId id="268" r:id="rId5"/>
    <p:sldId id="269" r:id="rId6"/>
    <p:sldId id="270" r:id="rId7"/>
    <p:sldId id="280" r:id="rId8"/>
    <p:sldId id="281" r:id="rId9"/>
    <p:sldId id="283" r:id="rId10"/>
    <p:sldId id="282" r:id="rId11"/>
    <p:sldId id="267" r:id="rId12"/>
    <p:sldId id="284" r:id="rId13"/>
    <p:sldId id="274" r:id="rId14"/>
    <p:sldId id="273" r:id="rId15"/>
    <p:sldId id="285" r:id="rId16"/>
    <p:sldId id="286" r:id="rId17"/>
    <p:sldId id="263" r:id="rId18"/>
    <p:sldId id="258" r:id="rId19"/>
    <p:sldId id="259" r:id="rId20"/>
    <p:sldId id="265" r:id="rId21"/>
    <p:sldId id="266" r:id="rId22"/>
    <p:sldId id="260" r:id="rId23"/>
    <p:sldId id="271" r:id="rId24"/>
    <p:sldId id="272" r:id="rId25"/>
    <p:sldId id="261" r:id="rId26"/>
    <p:sldId id="277" r:id="rId27"/>
    <p:sldId id="278"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E5"/>
    <a:srgbClr val="FF008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963"/>
    <p:restoredTop sz="83266"/>
  </p:normalViewPr>
  <p:slideViewPr>
    <p:cSldViewPr snapToGrid="0" snapToObjects="1">
      <p:cViewPr>
        <p:scale>
          <a:sx n="90" d="100"/>
          <a:sy n="90" d="100"/>
        </p:scale>
        <p:origin x="536" y="5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F4A8053-4923-A24E-AEC5-81BF6014CBC8}" type="doc">
      <dgm:prSet loTypeId="urn:microsoft.com/office/officeart/2005/8/layout/venn1" loCatId="" qsTypeId="urn:microsoft.com/office/officeart/2005/8/quickstyle/simple1" qsCatId="simple" csTypeId="urn:microsoft.com/office/officeart/2005/8/colors/colorful4" csCatId="colorful" phldr="1"/>
      <dgm:spPr/>
    </dgm:pt>
    <dgm:pt modelId="{7F8359A3-B9CF-6D4B-8037-57FE1863EDF2}">
      <dgm:prSet phldrT="[Text]"/>
      <dgm:spPr/>
      <dgm:t>
        <a:bodyPr/>
        <a:lstStyle/>
        <a:p>
          <a:r>
            <a:rPr lang="en-US" dirty="0"/>
            <a:t>Selection</a:t>
          </a:r>
        </a:p>
      </dgm:t>
    </dgm:pt>
    <dgm:pt modelId="{B0B7F09A-A873-7049-9697-5CF8A7964645}" type="parTrans" cxnId="{22E0002F-3AB5-A944-A9A5-20F9CD6BC590}">
      <dgm:prSet/>
      <dgm:spPr/>
      <dgm:t>
        <a:bodyPr/>
        <a:lstStyle/>
        <a:p>
          <a:endParaRPr lang="en-US"/>
        </a:p>
      </dgm:t>
    </dgm:pt>
    <dgm:pt modelId="{B699ECE7-0CE4-8B41-A16C-D2DA25295E5A}" type="sibTrans" cxnId="{22E0002F-3AB5-A944-A9A5-20F9CD6BC590}">
      <dgm:prSet/>
      <dgm:spPr/>
      <dgm:t>
        <a:bodyPr/>
        <a:lstStyle/>
        <a:p>
          <a:endParaRPr lang="en-US"/>
        </a:p>
      </dgm:t>
    </dgm:pt>
    <dgm:pt modelId="{0475E55C-BC76-CC49-A6EA-4425DC97CB71}">
      <dgm:prSet phldrT="[Text]"/>
      <dgm:spPr/>
      <dgm:t>
        <a:bodyPr/>
        <a:lstStyle/>
        <a:p>
          <a:r>
            <a:rPr lang="en-US" dirty="0"/>
            <a:t>Dispersal</a:t>
          </a:r>
        </a:p>
      </dgm:t>
    </dgm:pt>
    <dgm:pt modelId="{CAC93909-FC75-1A4A-AC6C-8A176D84B327}" type="parTrans" cxnId="{6C7751D4-1294-EB42-9CAD-B69CD70ABD32}">
      <dgm:prSet/>
      <dgm:spPr/>
      <dgm:t>
        <a:bodyPr/>
        <a:lstStyle/>
        <a:p>
          <a:endParaRPr lang="en-US"/>
        </a:p>
      </dgm:t>
    </dgm:pt>
    <dgm:pt modelId="{6589743F-27BF-6740-9E4C-996261639427}" type="sibTrans" cxnId="{6C7751D4-1294-EB42-9CAD-B69CD70ABD32}">
      <dgm:prSet/>
      <dgm:spPr/>
      <dgm:t>
        <a:bodyPr/>
        <a:lstStyle/>
        <a:p>
          <a:endParaRPr lang="en-US"/>
        </a:p>
      </dgm:t>
    </dgm:pt>
    <dgm:pt modelId="{C77A4A92-8829-554D-A202-9E33F357FC68}">
      <dgm:prSet phldrT="[Text]"/>
      <dgm:spPr/>
      <dgm:t>
        <a:bodyPr/>
        <a:lstStyle/>
        <a:p>
          <a:r>
            <a:rPr lang="en-US" dirty="0"/>
            <a:t>Ecological Drift</a:t>
          </a:r>
        </a:p>
      </dgm:t>
    </dgm:pt>
    <dgm:pt modelId="{CD6B9D5D-8787-D348-92EC-DD8D371AAF2D}" type="parTrans" cxnId="{E16A4536-2D03-6141-932B-DB32ABF87EDF}">
      <dgm:prSet/>
      <dgm:spPr/>
      <dgm:t>
        <a:bodyPr/>
        <a:lstStyle/>
        <a:p>
          <a:endParaRPr lang="en-US"/>
        </a:p>
      </dgm:t>
    </dgm:pt>
    <dgm:pt modelId="{DE11C94D-1CAD-B04E-8F8C-6BD6380124BA}" type="sibTrans" cxnId="{E16A4536-2D03-6141-932B-DB32ABF87EDF}">
      <dgm:prSet/>
      <dgm:spPr/>
      <dgm:t>
        <a:bodyPr/>
        <a:lstStyle/>
        <a:p>
          <a:endParaRPr lang="en-US"/>
        </a:p>
      </dgm:t>
    </dgm:pt>
    <dgm:pt modelId="{99849F71-D68B-6349-82AD-85F23C18C551}" type="pres">
      <dgm:prSet presAssocID="{8F4A8053-4923-A24E-AEC5-81BF6014CBC8}" presName="compositeShape" presStyleCnt="0">
        <dgm:presLayoutVars>
          <dgm:chMax val="7"/>
          <dgm:dir/>
          <dgm:resizeHandles val="exact"/>
        </dgm:presLayoutVars>
      </dgm:prSet>
      <dgm:spPr/>
    </dgm:pt>
    <dgm:pt modelId="{25E2C31A-9C32-8244-A94C-1A921F1582B3}" type="pres">
      <dgm:prSet presAssocID="{7F8359A3-B9CF-6D4B-8037-57FE1863EDF2}" presName="circ1" presStyleLbl="vennNode1" presStyleIdx="0" presStyleCnt="3"/>
      <dgm:spPr/>
    </dgm:pt>
    <dgm:pt modelId="{12CDB55E-5DD0-DE4F-96C4-703F4165CACE}" type="pres">
      <dgm:prSet presAssocID="{7F8359A3-B9CF-6D4B-8037-57FE1863EDF2}" presName="circ1Tx" presStyleLbl="revTx" presStyleIdx="0" presStyleCnt="0">
        <dgm:presLayoutVars>
          <dgm:chMax val="0"/>
          <dgm:chPref val="0"/>
          <dgm:bulletEnabled val="1"/>
        </dgm:presLayoutVars>
      </dgm:prSet>
      <dgm:spPr/>
    </dgm:pt>
    <dgm:pt modelId="{7DAC2FF7-8C69-8544-B207-8AD8ED8CC18E}" type="pres">
      <dgm:prSet presAssocID="{0475E55C-BC76-CC49-A6EA-4425DC97CB71}" presName="circ2" presStyleLbl="vennNode1" presStyleIdx="1" presStyleCnt="3"/>
      <dgm:spPr/>
    </dgm:pt>
    <dgm:pt modelId="{76DE5FBD-4E39-D141-A1C7-AC8C1D7BAF55}" type="pres">
      <dgm:prSet presAssocID="{0475E55C-BC76-CC49-A6EA-4425DC97CB71}" presName="circ2Tx" presStyleLbl="revTx" presStyleIdx="0" presStyleCnt="0">
        <dgm:presLayoutVars>
          <dgm:chMax val="0"/>
          <dgm:chPref val="0"/>
          <dgm:bulletEnabled val="1"/>
        </dgm:presLayoutVars>
      </dgm:prSet>
      <dgm:spPr/>
    </dgm:pt>
    <dgm:pt modelId="{C13988BE-4667-2C42-B802-C07898FB496F}" type="pres">
      <dgm:prSet presAssocID="{C77A4A92-8829-554D-A202-9E33F357FC68}" presName="circ3" presStyleLbl="vennNode1" presStyleIdx="2" presStyleCnt="3"/>
      <dgm:spPr/>
    </dgm:pt>
    <dgm:pt modelId="{63B1BA92-5CBD-5D43-B807-32F00F93F4C2}" type="pres">
      <dgm:prSet presAssocID="{C77A4A92-8829-554D-A202-9E33F357FC68}" presName="circ3Tx" presStyleLbl="revTx" presStyleIdx="0" presStyleCnt="0">
        <dgm:presLayoutVars>
          <dgm:chMax val="0"/>
          <dgm:chPref val="0"/>
          <dgm:bulletEnabled val="1"/>
        </dgm:presLayoutVars>
      </dgm:prSet>
      <dgm:spPr/>
    </dgm:pt>
  </dgm:ptLst>
  <dgm:cxnLst>
    <dgm:cxn modelId="{22E0002F-3AB5-A944-A9A5-20F9CD6BC590}" srcId="{8F4A8053-4923-A24E-AEC5-81BF6014CBC8}" destId="{7F8359A3-B9CF-6D4B-8037-57FE1863EDF2}" srcOrd="0" destOrd="0" parTransId="{B0B7F09A-A873-7049-9697-5CF8A7964645}" sibTransId="{B699ECE7-0CE4-8B41-A16C-D2DA25295E5A}"/>
    <dgm:cxn modelId="{E16A4536-2D03-6141-932B-DB32ABF87EDF}" srcId="{8F4A8053-4923-A24E-AEC5-81BF6014CBC8}" destId="{C77A4A92-8829-554D-A202-9E33F357FC68}" srcOrd="2" destOrd="0" parTransId="{CD6B9D5D-8787-D348-92EC-DD8D371AAF2D}" sibTransId="{DE11C94D-1CAD-B04E-8F8C-6BD6380124BA}"/>
    <dgm:cxn modelId="{30926E4F-908A-2648-A053-9920F727B0EC}" type="presOf" srcId="{0475E55C-BC76-CC49-A6EA-4425DC97CB71}" destId="{76DE5FBD-4E39-D141-A1C7-AC8C1D7BAF55}" srcOrd="1" destOrd="0" presId="urn:microsoft.com/office/officeart/2005/8/layout/venn1"/>
    <dgm:cxn modelId="{1CE78F51-CC2E-DD49-9AB8-215DB2E3873F}" type="presOf" srcId="{7F8359A3-B9CF-6D4B-8037-57FE1863EDF2}" destId="{25E2C31A-9C32-8244-A94C-1A921F1582B3}" srcOrd="0" destOrd="0" presId="urn:microsoft.com/office/officeart/2005/8/layout/venn1"/>
    <dgm:cxn modelId="{77AD5456-ADF9-5144-901C-53774063F956}" type="presOf" srcId="{7F8359A3-B9CF-6D4B-8037-57FE1863EDF2}" destId="{12CDB55E-5DD0-DE4F-96C4-703F4165CACE}" srcOrd="1" destOrd="0" presId="urn:microsoft.com/office/officeart/2005/8/layout/venn1"/>
    <dgm:cxn modelId="{43CD5461-142A-BC4E-90AB-21C84DA1623D}" type="presOf" srcId="{C77A4A92-8829-554D-A202-9E33F357FC68}" destId="{63B1BA92-5CBD-5D43-B807-32F00F93F4C2}" srcOrd="1" destOrd="0" presId="urn:microsoft.com/office/officeart/2005/8/layout/venn1"/>
    <dgm:cxn modelId="{903EFF63-DF67-514E-8054-8C572B8FB92F}" type="presOf" srcId="{C77A4A92-8829-554D-A202-9E33F357FC68}" destId="{C13988BE-4667-2C42-B802-C07898FB496F}" srcOrd="0" destOrd="0" presId="urn:microsoft.com/office/officeart/2005/8/layout/venn1"/>
    <dgm:cxn modelId="{01B8258E-F57E-024C-9034-8CCCDFC3C0BF}" type="presOf" srcId="{0475E55C-BC76-CC49-A6EA-4425DC97CB71}" destId="{7DAC2FF7-8C69-8544-B207-8AD8ED8CC18E}" srcOrd="0" destOrd="0" presId="urn:microsoft.com/office/officeart/2005/8/layout/venn1"/>
    <dgm:cxn modelId="{E502D9AF-D72C-8E4E-B145-ADD72D368CFD}" type="presOf" srcId="{8F4A8053-4923-A24E-AEC5-81BF6014CBC8}" destId="{99849F71-D68B-6349-82AD-85F23C18C551}" srcOrd="0" destOrd="0" presId="urn:microsoft.com/office/officeart/2005/8/layout/venn1"/>
    <dgm:cxn modelId="{6C7751D4-1294-EB42-9CAD-B69CD70ABD32}" srcId="{8F4A8053-4923-A24E-AEC5-81BF6014CBC8}" destId="{0475E55C-BC76-CC49-A6EA-4425DC97CB71}" srcOrd="1" destOrd="0" parTransId="{CAC93909-FC75-1A4A-AC6C-8A176D84B327}" sibTransId="{6589743F-27BF-6740-9E4C-996261639427}"/>
    <dgm:cxn modelId="{D16D97F3-DFAD-144F-84C9-FD14C1B6A643}" type="presParOf" srcId="{99849F71-D68B-6349-82AD-85F23C18C551}" destId="{25E2C31A-9C32-8244-A94C-1A921F1582B3}" srcOrd="0" destOrd="0" presId="urn:microsoft.com/office/officeart/2005/8/layout/venn1"/>
    <dgm:cxn modelId="{68F31C22-3EB3-7546-80D3-71255CEF552E}" type="presParOf" srcId="{99849F71-D68B-6349-82AD-85F23C18C551}" destId="{12CDB55E-5DD0-DE4F-96C4-703F4165CACE}" srcOrd="1" destOrd="0" presId="urn:microsoft.com/office/officeart/2005/8/layout/venn1"/>
    <dgm:cxn modelId="{ED19B7B3-6FAE-BD49-9E19-A1C4E1D85B26}" type="presParOf" srcId="{99849F71-D68B-6349-82AD-85F23C18C551}" destId="{7DAC2FF7-8C69-8544-B207-8AD8ED8CC18E}" srcOrd="2" destOrd="0" presId="urn:microsoft.com/office/officeart/2005/8/layout/venn1"/>
    <dgm:cxn modelId="{B964DD3B-9CC4-174F-A633-FBFB58832294}" type="presParOf" srcId="{99849F71-D68B-6349-82AD-85F23C18C551}" destId="{76DE5FBD-4E39-D141-A1C7-AC8C1D7BAF55}" srcOrd="3" destOrd="0" presId="urn:microsoft.com/office/officeart/2005/8/layout/venn1"/>
    <dgm:cxn modelId="{720B36BF-859B-B64D-8DC5-26567BAA7DE8}" type="presParOf" srcId="{99849F71-D68B-6349-82AD-85F23C18C551}" destId="{C13988BE-4667-2C42-B802-C07898FB496F}" srcOrd="4" destOrd="0" presId="urn:microsoft.com/office/officeart/2005/8/layout/venn1"/>
    <dgm:cxn modelId="{43A3809A-FA93-8346-91EF-D786EBA2C43D}" type="presParOf" srcId="{99849F71-D68B-6349-82AD-85F23C18C551}" destId="{63B1BA92-5CBD-5D43-B807-32F00F93F4C2}"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1" csCatId="colorful" phldr="1"/>
      <dgm:spPr/>
    </dgm:pt>
    <dgm:pt modelId="{81059F07-ED21-AA47-AB0D-5BEE89B5068C}">
      <dgm:prSet phldrT="[Text]"/>
      <dgm:spPr/>
      <dgm:t>
        <a:bodyPr/>
        <a:lstStyle/>
        <a:p>
          <a:r>
            <a:rPr lang="en-US" dirty="0"/>
            <a:t>Ordination</a:t>
          </a:r>
        </a:p>
      </dgm:t>
    </dgm:pt>
    <dgm:pt modelId="{36E43CD0-1865-9346-901F-F36932656131}" type="parTrans" cxnId="{0BB271FE-870A-4B41-B4A9-7DE214699986}">
      <dgm:prSet/>
      <dgm:spPr/>
      <dgm:t>
        <a:bodyPr/>
        <a:lstStyle/>
        <a:p>
          <a:endParaRPr lang="en-US"/>
        </a:p>
      </dgm:t>
    </dgm:pt>
    <dgm:pt modelId="{21CC0604-8A2A-0641-9324-D2E295FD1E2E}" type="sibTrans" cxnId="{0BB271FE-870A-4B41-B4A9-7DE214699986}">
      <dgm:prSet/>
      <dgm:spPr/>
      <dgm:t>
        <a:bodyPr/>
        <a:lstStyle/>
        <a:p>
          <a:endParaRPr lang="en-US"/>
        </a:p>
      </dgm:t>
    </dgm:pt>
    <dgm:pt modelId="{5B1A15B2-217B-F843-BAD5-02509D01FDE0}">
      <dgm:prSet phldrT="[Text]"/>
      <dgm:spPr/>
      <dgm:t>
        <a:bodyPr/>
        <a:lstStyle/>
        <a:p>
          <a:r>
            <a:rPr lang="en-US" dirty="0"/>
            <a:t>Alpha &amp; Beta Diversity</a:t>
          </a:r>
        </a:p>
      </dgm:t>
    </dgm:pt>
    <dgm:pt modelId="{DE692154-94C9-8B41-81A5-F0969108E383}" type="parTrans" cxnId="{08365C8F-757E-5642-99F4-E10C80C22E71}">
      <dgm:prSet/>
      <dgm:spPr/>
      <dgm:t>
        <a:bodyPr/>
        <a:lstStyle/>
        <a:p>
          <a:endParaRPr lang="en-US"/>
        </a:p>
      </dgm:t>
    </dgm:pt>
    <dgm:pt modelId="{0B1B7B91-B802-3649-88F1-A8230F670046}" type="sibTrans" cxnId="{08365C8F-757E-5642-99F4-E10C80C22E71}">
      <dgm:prSet/>
      <dgm:spPr/>
      <dgm:t>
        <a:bodyPr/>
        <a:lstStyle/>
        <a:p>
          <a:endParaRPr lang="en-US"/>
        </a:p>
      </dgm:t>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9BCF2EEF-5E85-B142-82D6-B17993D6963B}">
      <dgm:prSet/>
      <dgm:spPr/>
      <dgm:t>
        <a:bodyPr/>
        <a:lstStyle/>
        <a:p>
          <a:r>
            <a:rPr lang="en-US" dirty="0"/>
            <a:t>ISAR</a:t>
          </a:r>
        </a:p>
      </dgm:t>
    </dgm:pt>
    <dgm:pt modelId="{455E607D-8E75-CA4D-8E23-8A44967138CF}" type="parTrans" cxnId="{50D96C2A-39C9-FD47-9692-830A7BEE6283}">
      <dgm:prSet/>
      <dgm:spPr/>
      <dgm:t>
        <a:bodyPr/>
        <a:lstStyle/>
        <a:p>
          <a:endParaRPr lang="en-US"/>
        </a:p>
      </dgm:t>
    </dgm:pt>
    <dgm:pt modelId="{947F372B-7BE9-944C-82CC-39C018EF4796}" type="sibTrans" cxnId="{50D96C2A-39C9-FD47-9692-830A7BEE6283}">
      <dgm:prSet/>
      <dgm:spPr/>
      <dgm:t>
        <a:bodyPr/>
        <a:lstStyle/>
        <a:p>
          <a:endParaRPr lang="en-US"/>
        </a:p>
      </dgm:t>
    </dgm:pt>
    <dgm:pt modelId="{E5F40A9B-14F3-BE43-98EA-03072977F5D3}">
      <dgm:prSet/>
      <dgm:spPr/>
      <dgm:t>
        <a:bodyPr/>
        <a:lstStyle/>
        <a:p>
          <a:r>
            <a:rPr lang="en-US" dirty="0"/>
            <a:t>DDR</a:t>
          </a:r>
        </a:p>
      </dgm:t>
    </dgm:pt>
    <dgm:pt modelId="{806E8659-C86D-B147-A99C-EC9EA8CC0DCE}" type="parTrans" cxnId="{6D319D42-E854-974F-9E9C-61AFEEF44B61}">
      <dgm:prSet/>
      <dgm:spPr/>
      <dgm:t>
        <a:bodyPr/>
        <a:lstStyle/>
        <a:p>
          <a:endParaRPr lang="en-US"/>
        </a:p>
      </dgm:t>
    </dgm:pt>
    <dgm:pt modelId="{DF34E27C-B5ED-B649-9553-DE5187E1C733}" type="sibTrans" cxnId="{6D319D42-E854-974F-9E9C-61AFEEF44B61}">
      <dgm:prSet/>
      <dgm:spPr/>
      <dgm:t>
        <a:bodyPr/>
        <a:lstStyle/>
        <a:p>
          <a:endParaRPr lang="en-US"/>
        </a:p>
      </dgm:t>
    </dgm:pt>
    <dgm:pt modelId="{B5958D73-7CAF-0C4E-93E6-55A6971A912F}">
      <dgm:prSet/>
      <dgm:spPr/>
      <dgm:t>
        <a:bodyPr/>
        <a:lstStyle/>
        <a:p>
          <a:r>
            <a:rPr lang="en-US" dirty="0"/>
            <a:t>Null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Neutral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0A381FD2-93AC-0945-B718-5304447B0F9B}" type="pres">
      <dgm:prSet presAssocID="{81059F07-ED21-AA47-AB0D-5BEE89B5068C}" presName="parTxOnly" presStyleLbl="node1" presStyleIdx="0" presStyleCnt="8">
        <dgm:presLayoutVars>
          <dgm:chMax val="0"/>
          <dgm:chPref val="0"/>
          <dgm:bulletEnabled val="1"/>
        </dgm:presLayoutVars>
      </dgm:prSet>
      <dgm:spPr/>
    </dgm:pt>
    <dgm:pt modelId="{49C2674D-9430-2B42-AC68-C708A019A20E}" type="pres">
      <dgm:prSet presAssocID="{21CC0604-8A2A-0641-9324-D2E295FD1E2E}" presName="parTxOnlySpace" presStyleCnt="0"/>
      <dgm:spPr/>
    </dgm:pt>
    <dgm:pt modelId="{90AFCD07-267C-9C44-9A89-5A50796587E3}" type="pres">
      <dgm:prSet presAssocID="{5B1A15B2-217B-F843-BAD5-02509D01FDE0}" presName="parTxOnly" presStyleLbl="node1" presStyleIdx="1" presStyleCnt="8">
        <dgm:presLayoutVars>
          <dgm:chMax val="0"/>
          <dgm:chPref val="0"/>
          <dgm:bulletEnabled val="1"/>
        </dgm:presLayoutVars>
      </dgm:prSet>
      <dgm:spPr/>
    </dgm:pt>
    <dgm:pt modelId="{477ACFB6-271E-C843-8125-8DCCDC017C46}" type="pres">
      <dgm:prSet presAssocID="{0B1B7B91-B802-3649-88F1-A8230F670046}" presName="parTxOnlySpace" presStyleCnt="0"/>
      <dgm:spPr/>
    </dgm:pt>
    <dgm:pt modelId="{DBC67D4B-288C-C941-9948-4D7CB11DC5C5}" type="pres">
      <dgm:prSet presAssocID="{85A8E8F9-220E-2E4B-BD17-17B84BAFCEE3}" presName="parTxOnly" presStyleLbl="node1" presStyleIdx="2" presStyleCnt="8">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9485580D-E302-344E-A0CF-702C7A847712}" type="pres">
      <dgm:prSet presAssocID="{9BCF2EEF-5E85-B142-82D6-B17993D6963B}" presName="parTxOnly" presStyleLbl="node1" presStyleIdx="3" presStyleCnt="8">
        <dgm:presLayoutVars>
          <dgm:chMax val="0"/>
          <dgm:chPref val="0"/>
          <dgm:bulletEnabled val="1"/>
        </dgm:presLayoutVars>
      </dgm:prSet>
      <dgm:spPr/>
    </dgm:pt>
    <dgm:pt modelId="{5F4E692B-3C7A-E14C-9711-4E1C9F228A78}" type="pres">
      <dgm:prSet presAssocID="{947F372B-7BE9-944C-82CC-39C018EF4796}" presName="parTxOnlySpace" presStyleCnt="0"/>
      <dgm:spPr/>
    </dgm:pt>
    <dgm:pt modelId="{949A562F-7030-DF4E-9D49-68255A9DEE1D}" type="pres">
      <dgm:prSet presAssocID="{E5F40A9B-14F3-BE43-98EA-03072977F5D3}" presName="parTxOnly" presStyleLbl="node1" presStyleIdx="4" presStyleCnt="8">
        <dgm:presLayoutVars>
          <dgm:chMax val="0"/>
          <dgm:chPref val="0"/>
          <dgm:bulletEnabled val="1"/>
        </dgm:presLayoutVars>
      </dgm:prSet>
      <dgm:spPr/>
    </dgm:pt>
    <dgm:pt modelId="{21532501-8F2F-A041-B482-CEFEAF37FD8B}" type="pres">
      <dgm:prSet presAssocID="{DF34E27C-B5ED-B649-9553-DE5187E1C733}" presName="parTxOnlySpace" presStyleCnt="0"/>
      <dgm:spPr/>
    </dgm:pt>
    <dgm:pt modelId="{27C5A505-81DC-A445-992D-1BC4566AB6F2}" type="pres">
      <dgm:prSet presAssocID="{B5958D73-7CAF-0C4E-93E6-55A6971A912F}" presName="parTxOnly" presStyleLbl="node1" presStyleIdx="5" presStyleCnt="8">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6" presStyleCnt="8">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7" presStyleCnt="8">
        <dgm:presLayoutVars>
          <dgm:chMax val="0"/>
          <dgm:chPref val="0"/>
          <dgm:bulletEnabled val="1"/>
        </dgm:presLayoutVars>
      </dgm:prSet>
      <dgm:spPr/>
    </dgm:pt>
  </dgm:ptLst>
  <dgm:cxnLst>
    <dgm:cxn modelId="{746AA517-BC71-A543-8FC9-8ADF2FF643B1}" type="presOf" srcId="{9BCF2EEF-5E85-B142-82D6-B17993D6963B}" destId="{9485580D-E302-344E-A0CF-702C7A847712}" srcOrd="0" destOrd="0" presId="urn:microsoft.com/office/officeart/2005/8/layout/chevron1"/>
    <dgm:cxn modelId="{50D96C2A-39C9-FD47-9692-830A7BEE6283}" srcId="{633B4054-FB37-8840-90AB-98D7FF6893B3}" destId="{9BCF2EEF-5E85-B142-82D6-B17993D6963B}" srcOrd="3" destOrd="0" parTransId="{455E607D-8E75-CA4D-8E23-8A44967138CF}" sibTransId="{947F372B-7BE9-944C-82CC-39C018EF4796}"/>
    <dgm:cxn modelId="{6D319D42-E854-974F-9E9C-61AFEEF44B61}" srcId="{633B4054-FB37-8840-90AB-98D7FF6893B3}" destId="{E5F40A9B-14F3-BE43-98EA-03072977F5D3}" srcOrd="4" destOrd="0" parTransId="{806E8659-C86D-B147-A99C-EC9EA8CC0DCE}" sibTransId="{DF34E27C-B5ED-B649-9553-DE5187E1C733}"/>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7ED80F55-377A-FC4A-91C3-7B8A08E0A7D2}" type="presOf" srcId="{81059F07-ED21-AA47-AB0D-5BEE89B5068C}" destId="{0A381FD2-93AC-0945-B718-5304447B0F9B}"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6" destOrd="0" parTransId="{B1290F56-1B2F-A84E-A54F-60F5DA1B7882}" sibTransId="{C2B5D443-1AEA-284F-B1EB-11FBB145377B}"/>
    <dgm:cxn modelId="{08365C8F-757E-5642-99F4-E10C80C22E71}" srcId="{633B4054-FB37-8840-90AB-98D7FF6893B3}" destId="{5B1A15B2-217B-F843-BAD5-02509D01FDE0}" srcOrd="1" destOrd="0" parTransId="{DE692154-94C9-8B41-81A5-F0969108E383}" sibTransId="{0B1B7B91-B802-3649-88F1-A8230F670046}"/>
    <dgm:cxn modelId="{3502BEA6-6CBA-2447-A2DA-5FA519569872}" srcId="{633B4054-FB37-8840-90AB-98D7FF6893B3}" destId="{7EFDD187-55F0-6147-A8DE-A95F6FE37D83}" srcOrd="7" destOrd="0" parTransId="{9A7ECF4C-1FDC-4241-AD73-239FB1D43CF9}" sibTransId="{16FE4422-765B-2144-99EA-F3FECE73A4D8}"/>
    <dgm:cxn modelId="{E8DD57A7-B97F-874A-8699-C40C40F53EC4}" type="presOf" srcId="{5B1A15B2-217B-F843-BAD5-02509D01FDE0}" destId="{90AFCD07-267C-9C44-9A89-5A50796587E3}" srcOrd="0" destOrd="0" presId="urn:microsoft.com/office/officeart/2005/8/layout/chevron1"/>
    <dgm:cxn modelId="{F6E6DCDC-089A-6B43-B024-03C361F43633}" srcId="{633B4054-FB37-8840-90AB-98D7FF6893B3}" destId="{B5958D73-7CAF-0C4E-93E6-55A6971A912F}" srcOrd="5" destOrd="0" parTransId="{9B3B1D5C-9D31-F94E-BD16-E7D062719ED5}" sibTransId="{84D8F0DF-497A-B248-B6BD-53C772326452}"/>
    <dgm:cxn modelId="{3B2C89EA-8598-A44E-8425-4DFD9B15F114}" srcId="{633B4054-FB37-8840-90AB-98D7FF6893B3}" destId="{85A8E8F9-220E-2E4B-BD17-17B84BAFCEE3}" srcOrd="2" destOrd="0" parTransId="{2F98D148-B91A-6C4F-955D-7EF70029142A}" sibTransId="{774C9424-02F2-6340-9585-68BEEC283337}"/>
    <dgm:cxn modelId="{C4962EF0-94B4-8641-8295-FC3236C122CA}" type="presOf" srcId="{E5F40A9B-14F3-BE43-98EA-03072977F5D3}" destId="{949A562F-7030-DF4E-9D49-68255A9DEE1D}" srcOrd="0" destOrd="0" presId="urn:microsoft.com/office/officeart/2005/8/layout/chevron1"/>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BB271FE-870A-4B41-B4A9-7DE214699986}" srcId="{633B4054-FB37-8840-90AB-98D7FF6893B3}" destId="{81059F07-ED21-AA47-AB0D-5BEE89B5068C}" srcOrd="0" destOrd="0" parTransId="{36E43CD0-1865-9346-901F-F36932656131}" sibTransId="{21CC0604-8A2A-0641-9324-D2E295FD1E2E}"/>
    <dgm:cxn modelId="{C52178D0-AFD4-0143-86C0-EA8D7255FB99}" type="presParOf" srcId="{8B93FFDE-05A5-1545-8E2F-A0B473160679}" destId="{0A381FD2-93AC-0945-B718-5304447B0F9B}" srcOrd="0" destOrd="0" presId="urn:microsoft.com/office/officeart/2005/8/layout/chevron1"/>
    <dgm:cxn modelId="{F821F39D-C5AE-9240-8323-DBD5BF1415FB}" type="presParOf" srcId="{8B93FFDE-05A5-1545-8E2F-A0B473160679}" destId="{49C2674D-9430-2B42-AC68-C708A019A20E}" srcOrd="1" destOrd="0" presId="urn:microsoft.com/office/officeart/2005/8/layout/chevron1"/>
    <dgm:cxn modelId="{158862F8-E7CC-FF4B-97AC-A1A114246528}" type="presParOf" srcId="{8B93FFDE-05A5-1545-8E2F-A0B473160679}" destId="{90AFCD07-267C-9C44-9A89-5A50796587E3}" srcOrd="2" destOrd="0" presId="urn:microsoft.com/office/officeart/2005/8/layout/chevron1"/>
    <dgm:cxn modelId="{B7852304-C4D3-4043-89E3-6E04FE73360D}" type="presParOf" srcId="{8B93FFDE-05A5-1545-8E2F-A0B473160679}" destId="{477ACFB6-271E-C843-8125-8DCCDC017C46}" srcOrd="3" destOrd="0" presId="urn:microsoft.com/office/officeart/2005/8/layout/chevron1"/>
    <dgm:cxn modelId="{050D51D1-30B7-6E48-8815-41564E7AB669}" type="presParOf" srcId="{8B93FFDE-05A5-1545-8E2F-A0B473160679}" destId="{DBC67D4B-288C-C941-9948-4D7CB11DC5C5}" srcOrd="4" destOrd="0" presId="urn:microsoft.com/office/officeart/2005/8/layout/chevron1"/>
    <dgm:cxn modelId="{11F89015-2AF5-3544-B5F4-9D2993813F3A}" type="presParOf" srcId="{8B93FFDE-05A5-1545-8E2F-A0B473160679}" destId="{D10A12CF-7369-5641-88E3-F51093964655}" srcOrd="5" destOrd="0" presId="urn:microsoft.com/office/officeart/2005/8/layout/chevron1"/>
    <dgm:cxn modelId="{55023399-5B81-334B-A7D7-53F4794BD51E}" type="presParOf" srcId="{8B93FFDE-05A5-1545-8E2F-A0B473160679}" destId="{9485580D-E302-344E-A0CF-702C7A847712}" srcOrd="6" destOrd="0" presId="urn:microsoft.com/office/officeart/2005/8/layout/chevron1"/>
    <dgm:cxn modelId="{0A4DCE60-0755-224C-8CE6-7B1F95EB92F3}" type="presParOf" srcId="{8B93FFDE-05A5-1545-8E2F-A0B473160679}" destId="{5F4E692B-3C7A-E14C-9711-4E1C9F228A78}" srcOrd="7" destOrd="0" presId="urn:microsoft.com/office/officeart/2005/8/layout/chevron1"/>
    <dgm:cxn modelId="{E3AE5BD5-E905-774B-9CC0-42898E6D18D5}" type="presParOf" srcId="{8B93FFDE-05A5-1545-8E2F-A0B473160679}" destId="{949A562F-7030-DF4E-9D49-68255A9DEE1D}" srcOrd="8" destOrd="0" presId="urn:microsoft.com/office/officeart/2005/8/layout/chevron1"/>
    <dgm:cxn modelId="{46CD7022-A943-6F45-A4EB-11F4F298FBB4}" type="presParOf" srcId="{8B93FFDE-05A5-1545-8E2F-A0B473160679}" destId="{21532501-8F2F-A041-B482-CEFEAF37FD8B}" srcOrd="9" destOrd="0" presId="urn:microsoft.com/office/officeart/2005/8/layout/chevron1"/>
    <dgm:cxn modelId="{EFAF16B3-B0A3-2841-86AD-17CF0028B934}" type="presParOf" srcId="{8B93FFDE-05A5-1545-8E2F-A0B473160679}" destId="{27C5A505-81DC-A445-992D-1BC4566AB6F2}" srcOrd="10" destOrd="0" presId="urn:microsoft.com/office/officeart/2005/8/layout/chevron1"/>
    <dgm:cxn modelId="{42DF9720-F235-6748-8AF6-FB220F535113}" type="presParOf" srcId="{8B93FFDE-05A5-1545-8E2F-A0B473160679}" destId="{7864293B-1409-F449-B4CF-BF9CB218EB2D}" srcOrd="11" destOrd="0" presId="urn:microsoft.com/office/officeart/2005/8/layout/chevron1"/>
    <dgm:cxn modelId="{FB251CEA-D66E-F940-A69E-6683039EB759}" type="presParOf" srcId="{8B93FFDE-05A5-1545-8E2F-A0B473160679}" destId="{CF60189A-F0BD-1B41-89D2-307F1DA955E7}" srcOrd="12" destOrd="0" presId="urn:microsoft.com/office/officeart/2005/8/layout/chevron1"/>
    <dgm:cxn modelId="{D3FAC9EE-20AF-1C46-A3B9-E26F2ECCCDDF}" type="presParOf" srcId="{8B93FFDE-05A5-1545-8E2F-A0B473160679}" destId="{EEAAC419-0981-234A-943A-98901572F4FF}" srcOrd="13" destOrd="0" presId="urn:microsoft.com/office/officeart/2005/8/layout/chevron1"/>
    <dgm:cxn modelId="{179A5595-00EA-3144-B2DC-EA82F593D236}" type="presParOf" srcId="{8B93FFDE-05A5-1545-8E2F-A0B473160679}" destId="{4C6D95A5-AC6D-914C-B774-93CD0C61E4A3}" srcOrd="14"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E2C31A-9C32-8244-A94C-1A921F1582B3}">
      <dsp:nvSpPr>
        <dsp:cNvPr id="0" name=""/>
        <dsp:cNvSpPr/>
      </dsp:nvSpPr>
      <dsp:spPr>
        <a:xfrm>
          <a:off x="2163603" y="60100"/>
          <a:ext cx="2884805" cy="2884805"/>
        </a:xfrm>
        <a:prstGeom prst="ellipse">
          <a:avLst/>
        </a:prstGeom>
        <a:solidFill>
          <a:schemeClr val="accent4">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Selection</a:t>
          </a:r>
        </a:p>
      </dsp:txBody>
      <dsp:txXfrm>
        <a:off x="2548244" y="564941"/>
        <a:ext cx="2115523" cy="1298162"/>
      </dsp:txXfrm>
    </dsp:sp>
    <dsp:sp modelId="{7DAC2FF7-8C69-8544-B207-8AD8ED8CC18E}">
      <dsp:nvSpPr>
        <dsp:cNvPr id="0" name=""/>
        <dsp:cNvSpPr/>
      </dsp:nvSpPr>
      <dsp:spPr>
        <a:xfrm>
          <a:off x="3204537" y="1863103"/>
          <a:ext cx="2884805" cy="2884805"/>
        </a:xfrm>
        <a:prstGeom prst="ellipse">
          <a:avLst/>
        </a:prstGeom>
        <a:solidFill>
          <a:schemeClr val="accent4">
            <a:alpha val="50000"/>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Dispersal</a:t>
          </a:r>
        </a:p>
      </dsp:txBody>
      <dsp:txXfrm>
        <a:off x="4086807" y="2608344"/>
        <a:ext cx="1730883" cy="1586642"/>
      </dsp:txXfrm>
    </dsp:sp>
    <dsp:sp modelId="{C13988BE-4667-2C42-B802-C07898FB496F}">
      <dsp:nvSpPr>
        <dsp:cNvPr id="0" name=""/>
        <dsp:cNvSpPr/>
      </dsp:nvSpPr>
      <dsp:spPr>
        <a:xfrm>
          <a:off x="1122669" y="1863103"/>
          <a:ext cx="2884805" cy="2884805"/>
        </a:xfrm>
        <a:prstGeom prst="ellipse">
          <a:avLst/>
        </a:prstGeom>
        <a:solidFill>
          <a:schemeClr val="accent4">
            <a:alpha val="50000"/>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511300">
            <a:lnSpc>
              <a:spcPct val="90000"/>
            </a:lnSpc>
            <a:spcBef>
              <a:spcPct val="0"/>
            </a:spcBef>
            <a:spcAft>
              <a:spcPct val="35000"/>
            </a:spcAft>
            <a:buNone/>
          </a:pPr>
          <a:r>
            <a:rPr lang="en-US" sz="3400" kern="1200" dirty="0"/>
            <a:t>Ecological Drift</a:t>
          </a:r>
        </a:p>
      </dsp:txBody>
      <dsp:txXfrm>
        <a:off x="1394322" y="2608344"/>
        <a:ext cx="1730883" cy="1586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A381FD2-93AC-0945-B718-5304447B0F9B}">
      <dsp:nvSpPr>
        <dsp:cNvPr id="0" name=""/>
        <dsp:cNvSpPr/>
      </dsp:nvSpPr>
      <dsp:spPr>
        <a:xfrm>
          <a:off x="949" y="2404879"/>
          <a:ext cx="1522269" cy="608907"/>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Ordination</a:t>
          </a:r>
        </a:p>
      </dsp:txBody>
      <dsp:txXfrm>
        <a:off x="305403" y="2404879"/>
        <a:ext cx="913362" cy="608907"/>
      </dsp:txXfrm>
    </dsp:sp>
    <dsp:sp modelId="{90AFCD07-267C-9C44-9A89-5A50796587E3}">
      <dsp:nvSpPr>
        <dsp:cNvPr id="0" name=""/>
        <dsp:cNvSpPr/>
      </dsp:nvSpPr>
      <dsp:spPr>
        <a:xfrm>
          <a:off x="1370992" y="2404879"/>
          <a:ext cx="1522269" cy="608907"/>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Alpha &amp; Beta Diversity</a:t>
          </a:r>
        </a:p>
      </dsp:txBody>
      <dsp:txXfrm>
        <a:off x="1675446" y="2404879"/>
        <a:ext cx="913362" cy="608907"/>
      </dsp:txXfrm>
    </dsp:sp>
    <dsp:sp modelId="{DBC67D4B-288C-C941-9948-4D7CB11DC5C5}">
      <dsp:nvSpPr>
        <dsp:cNvPr id="0" name=""/>
        <dsp:cNvSpPr/>
      </dsp:nvSpPr>
      <dsp:spPr>
        <a:xfrm>
          <a:off x="2741035" y="2404879"/>
          <a:ext cx="1522269" cy="608907"/>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Multivariate Analysis</a:t>
          </a:r>
        </a:p>
      </dsp:txBody>
      <dsp:txXfrm>
        <a:off x="3045489" y="2404879"/>
        <a:ext cx="913362" cy="608907"/>
      </dsp:txXfrm>
    </dsp:sp>
    <dsp:sp modelId="{9485580D-E302-344E-A0CF-702C7A847712}">
      <dsp:nvSpPr>
        <dsp:cNvPr id="0" name=""/>
        <dsp:cNvSpPr/>
      </dsp:nvSpPr>
      <dsp:spPr>
        <a:xfrm>
          <a:off x="4111077" y="2404879"/>
          <a:ext cx="1522269" cy="608907"/>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ISAR</a:t>
          </a:r>
        </a:p>
      </dsp:txBody>
      <dsp:txXfrm>
        <a:off x="4415531" y="2404879"/>
        <a:ext cx="913362" cy="608907"/>
      </dsp:txXfrm>
    </dsp:sp>
    <dsp:sp modelId="{949A562F-7030-DF4E-9D49-68255A9DEE1D}">
      <dsp:nvSpPr>
        <dsp:cNvPr id="0" name=""/>
        <dsp:cNvSpPr/>
      </dsp:nvSpPr>
      <dsp:spPr>
        <a:xfrm>
          <a:off x="5481120" y="2404879"/>
          <a:ext cx="1522269" cy="608907"/>
        </a:xfrm>
        <a:prstGeom prst="chevron">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DDR</a:t>
          </a:r>
        </a:p>
      </dsp:txBody>
      <dsp:txXfrm>
        <a:off x="5785574" y="2404879"/>
        <a:ext cx="913362" cy="608907"/>
      </dsp:txXfrm>
    </dsp:sp>
    <dsp:sp modelId="{27C5A505-81DC-A445-992D-1BC4566AB6F2}">
      <dsp:nvSpPr>
        <dsp:cNvPr id="0" name=""/>
        <dsp:cNvSpPr/>
      </dsp:nvSpPr>
      <dsp:spPr>
        <a:xfrm>
          <a:off x="6851163" y="2404879"/>
          <a:ext cx="1522269" cy="608907"/>
        </a:xfrm>
        <a:prstGeom prst="chevron">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Null Model</a:t>
          </a:r>
        </a:p>
      </dsp:txBody>
      <dsp:txXfrm>
        <a:off x="7155617" y="2404879"/>
        <a:ext cx="913362" cy="608907"/>
      </dsp:txXfrm>
    </dsp:sp>
    <dsp:sp modelId="{CF60189A-F0BD-1B41-89D2-307F1DA955E7}">
      <dsp:nvSpPr>
        <dsp:cNvPr id="0" name=""/>
        <dsp:cNvSpPr/>
      </dsp:nvSpPr>
      <dsp:spPr>
        <a:xfrm>
          <a:off x="8221205" y="2404879"/>
          <a:ext cx="1522269" cy="608907"/>
        </a:xfrm>
        <a:prstGeom prst="chevron">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Neutral Model</a:t>
          </a:r>
        </a:p>
      </dsp:txBody>
      <dsp:txXfrm>
        <a:off x="8525659" y="2404879"/>
        <a:ext cx="913362" cy="608907"/>
      </dsp:txXfrm>
    </dsp:sp>
    <dsp:sp modelId="{4C6D95A5-AC6D-914C-B774-93CD0C61E4A3}">
      <dsp:nvSpPr>
        <dsp:cNvPr id="0" name=""/>
        <dsp:cNvSpPr/>
      </dsp:nvSpPr>
      <dsp:spPr>
        <a:xfrm>
          <a:off x="9591248" y="2404879"/>
          <a:ext cx="1522269" cy="608907"/>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2007" tIns="17336" rIns="17336" bIns="17336" numCol="1" spcCol="1270" anchor="ctr" anchorCtr="0">
          <a:noAutofit/>
        </a:bodyPr>
        <a:lstStyle/>
        <a:p>
          <a:pPr marL="0" lvl="0" indent="0" algn="ctr" defTabSz="577850">
            <a:lnSpc>
              <a:spcPct val="90000"/>
            </a:lnSpc>
            <a:spcBef>
              <a:spcPct val="0"/>
            </a:spcBef>
            <a:spcAft>
              <a:spcPct val="35000"/>
            </a:spcAft>
            <a:buNone/>
          </a:pPr>
          <a:r>
            <a:rPr lang="en-US" sz="1300" kern="1200" dirty="0"/>
            <a:t>Network Analysis</a:t>
          </a:r>
        </a:p>
      </dsp:txBody>
      <dsp:txXfrm>
        <a:off x="9895702" y="2404879"/>
        <a:ext cx="913362" cy="60890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Spatial turnover in community composition (that is, the difference in abundance and diversity of biological communities between locations) is shaped by ecological drift, selection and dispersal</a:t>
            </a:r>
          </a:p>
          <a:p>
            <a:endParaRPr lang="en-US" dirty="0"/>
          </a:p>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8</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9</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arenR"/>
            </a:pPr>
            <a:r>
              <a:rPr lang="en-US" dirty="0"/>
              <a:t>Load data/</a:t>
            </a:r>
            <a:r>
              <a:rPr lang="en-US" dirty="0" err="1"/>
              <a:t>phyloseq</a:t>
            </a:r>
            <a:r>
              <a:rPr lang="en-US" dirty="0"/>
              <a:t> object</a:t>
            </a:r>
          </a:p>
          <a:p>
            <a:pPr marL="228600" indent="-228600">
              <a:buAutoNum type="arabicParenR"/>
            </a:pPr>
            <a:r>
              <a:rPr lang="en-US" dirty="0"/>
              <a:t>Figure 1: Construct bar chart of agglomerated taxa from Hellinger transformed (relative abundance) ASV count data</a:t>
            </a:r>
          </a:p>
          <a:p>
            <a:pPr marL="228600" indent="-228600">
              <a:buAutoNum type="arabicParenR"/>
            </a:pPr>
            <a:r>
              <a:rPr lang="en-US" dirty="0"/>
              <a:t>Calculate bray-Curtis dissimilarity matrix </a:t>
            </a:r>
          </a:p>
          <a:p>
            <a:pPr marL="228600" indent="-228600">
              <a:buAutoNum type="arabicParenR"/>
            </a:pPr>
            <a:r>
              <a:rPr lang="en-US" dirty="0"/>
              <a:t>Figure 2: Bray-Curtis </a:t>
            </a:r>
            <a:r>
              <a:rPr lang="en-US" dirty="0" err="1"/>
              <a:t>PCoA</a:t>
            </a:r>
            <a:r>
              <a:rPr lang="en-US" dirty="0"/>
              <a:t> Analysis, scaled by eigenvalues </a:t>
            </a:r>
          </a:p>
          <a:p>
            <a:pPr marL="228600" indent="-228600">
              <a:buAutoNum type="arabicParenR"/>
            </a:pPr>
            <a:r>
              <a:rPr lang="en-US" dirty="0"/>
              <a:t>Figure 3: </a:t>
            </a:r>
            <a:r>
              <a:rPr lang="en-US" sz="1200" dirty="0"/>
              <a:t> Unweighted </a:t>
            </a:r>
            <a:r>
              <a:rPr lang="en-US" sz="1200" dirty="0" err="1"/>
              <a:t>UniFrac</a:t>
            </a:r>
            <a:r>
              <a:rPr lang="en-US" sz="1200" dirty="0"/>
              <a:t> </a:t>
            </a:r>
            <a:r>
              <a:rPr lang="en-US" sz="1200" dirty="0" err="1"/>
              <a:t>PCoA</a:t>
            </a:r>
            <a:r>
              <a:rPr lang="en-US" sz="1200" dirty="0"/>
              <a:t>, scaled by eigenvalues</a:t>
            </a:r>
            <a:endParaRPr lang="en-US" dirty="0"/>
          </a:p>
          <a:p>
            <a:pPr marL="228600" indent="-228600">
              <a:buAutoNum type="arabicParenR"/>
            </a:pPr>
            <a:r>
              <a:rPr lang="en-US" dirty="0"/>
              <a:t>Figure 4: </a:t>
            </a:r>
            <a:r>
              <a:rPr lang="en-US" sz="1200" dirty="0"/>
              <a:t> Weighted </a:t>
            </a:r>
            <a:r>
              <a:rPr lang="en-US" sz="1200" dirty="0" err="1"/>
              <a:t>UniFrac</a:t>
            </a:r>
            <a:r>
              <a:rPr lang="en-US" sz="1200" dirty="0"/>
              <a:t> </a:t>
            </a:r>
            <a:r>
              <a:rPr lang="en-US" sz="1200" dirty="0" err="1"/>
              <a:t>PCoA</a:t>
            </a:r>
            <a:r>
              <a:rPr lang="en-US" sz="1200" dirty="0"/>
              <a:t>, scaled by eigenvalues</a:t>
            </a:r>
          </a:p>
          <a:p>
            <a:pPr marL="228600" marR="0" lvl="0" indent="-228600" algn="l" defTabSz="914400" rtl="0" eaLnBrk="1" fontAlgn="auto" latinLnBrk="0" hangingPunct="1">
              <a:lnSpc>
                <a:spcPct val="100000"/>
              </a:lnSpc>
              <a:spcBef>
                <a:spcPts val="0"/>
              </a:spcBef>
              <a:spcAft>
                <a:spcPts val="0"/>
              </a:spcAft>
              <a:buClrTx/>
              <a:buSzTx/>
              <a:buFontTx/>
              <a:buAutoNum type="arabicParenR"/>
              <a:tabLst/>
              <a:defRPr/>
            </a:pPr>
            <a:r>
              <a:rPr lang="en-US" sz="1200" dirty="0"/>
              <a:t>Figure 5. Bray-Curtis NMDS plot</a:t>
            </a:r>
          </a:p>
        </p:txBody>
      </p:sp>
      <p:sp>
        <p:nvSpPr>
          <p:cNvPr id="4" name="Slide Number Placeholder 3"/>
          <p:cNvSpPr>
            <a:spLocks noGrp="1"/>
          </p:cNvSpPr>
          <p:nvPr>
            <p:ph type="sldNum" sz="quarter" idx="5"/>
          </p:nvPr>
        </p:nvSpPr>
        <p:spPr/>
        <p:txBody>
          <a:bodyPr/>
          <a:lstStyle/>
          <a:p>
            <a:fld id="{91AE2140-D502-214A-B76B-E0784B2C949B}" type="slidenum">
              <a:rPr lang="en-US" smtClean="0"/>
              <a:t>11</a:t>
            </a:fld>
            <a:endParaRPr lang="en-US"/>
          </a:p>
        </p:txBody>
      </p:sp>
    </p:spTree>
    <p:extLst>
      <p:ext uri="{BB962C8B-B14F-4D97-AF65-F5344CB8AC3E}">
        <p14:creationId xmlns:p14="http://schemas.microsoft.com/office/powerpoint/2010/main" val="24910246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Looked for evidence of compositionality. By multiplying ASV table by itself we can look for evidence of covariance.</a:t>
            </a:r>
          </a:p>
          <a:p>
            <a:r>
              <a:rPr lang="en-US" dirty="0"/>
              <a:t>#We then find the determinant of the covariance matrix and if the answer is 0 we have evidence of compositionality in the data – the result was 0 so the data is compositional.</a:t>
            </a:r>
          </a:p>
          <a:p>
            <a:endParaRPr lang="en-US" dirty="0"/>
          </a:p>
          <a:p>
            <a:r>
              <a:rPr lang="en-US" dirty="0"/>
              <a:t>2) Because out data are compositional we then need to transform them for downstream analysis</a:t>
            </a:r>
          </a:p>
          <a:p>
            <a:r>
              <a:rPr lang="en-US" dirty="0"/>
              <a:t>#Step Four: Perform a Log-Ratio </a:t>
            </a:r>
            <a:r>
              <a:rPr lang="en-US" dirty="0" err="1"/>
              <a:t>trasnformation</a:t>
            </a:r>
            <a:endParaRPr lang="en-US" dirty="0"/>
          </a:p>
          <a:p>
            <a:r>
              <a:rPr lang="en-US" dirty="0"/>
              <a:t>#This will </a:t>
            </a:r>
            <a:r>
              <a:rPr lang="en-US" dirty="0" err="1"/>
              <a:t>normalise</a:t>
            </a:r>
            <a:r>
              <a:rPr lang="en-US" dirty="0"/>
              <a:t> the ASV data within each sample</a:t>
            </a:r>
          </a:p>
          <a:p>
            <a:endParaRPr lang="en-US" dirty="0"/>
          </a:p>
          <a:p>
            <a:r>
              <a:rPr lang="en-US" dirty="0"/>
              <a:t>3) Look at the difference the log-ratio transformation has made to the covariance of the data</a:t>
            </a:r>
          </a:p>
          <a:p>
            <a:endParaRPr lang="en-US" dirty="0"/>
          </a:p>
          <a:p>
            <a:r>
              <a:rPr lang="en-US" dirty="0"/>
              <a:t>4) Figure 6: Perform Principal Component Analysis on Log-Ratio Transformed Data, Create visual representation of PCA and plot</a:t>
            </a:r>
          </a:p>
          <a:p>
            <a:endParaRPr lang="en-US" dirty="0"/>
          </a:p>
          <a:p>
            <a:r>
              <a:rPr lang="en-US" dirty="0"/>
              <a:t>5) Figure 7: </a:t>
            </a:r>
            <a:r>
              <a:rPr lang="en-US" dirty="0" err="1"/>
              <a:t>Visualise</a:t>
            </a:r>
            <a:r>
              <a:rPr lang="en-US" dirty="0"/>
              <a:t> and plot the </a:t>
            </a:r>
            <a:r>
              <a:rPr lang="en-US" dirty="0" err="1"/>
              <a:t>pca</a:t>
            </a:r>
            <a:r>
              <a:rPr lang="en-US" dirty="0"/>
              <a:t> </a:t>
            </a:r>
          </a:p>
          <a:p>
            <a:endParaRPr lang="en-US" dirty="0"/>
          </a:p>
          <a:p>
            <a:r>
              <a:rPr lang="en-US" dirty="0"/>
              <a:t>6) Computed the </a:t>
            </a:r>
            <a:r>
              <a:rPr lang="en-US" dirty="0" err="1"/>
              <a:t>jaccard</a:t>
            </a:r>
            <a:r>
              <a:rPr lang="en-US" dirty="0"/>
              <a:t> distance metric</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1719508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Used ‘vegan’ package to get Shannon, Simpsons, Inverted Simpsons Diversity Indexes of count data in each sample. Also </a:t>
            </a:r>
            <a:r>
              <a:rPr lang="en-US" dirty="0" err="1"/>
              <a:t>Pilou</a:t>
            </a:r>
            <a:r>
              <a:rPr lang="en-US" dirty="0"/>
              <a:t> evenness and Faith’s phylogenetic 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3006070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performed linear regressions between the explanatory variables (glaciers) and response variables (richness, depth, area, chlorophyll, </a:t>
            </a:r>
            <a:r>
              <a:rPr lang="en-US" dirty="0" err="1"/>
              <a:t>dna</a:t>
            </a:r>
            <a:r>
              <a:rPr lang="en-US" dirty="0"/>
              <a:t> per gram, diversity indices).</a:t>
            </a:r>
          </a:p>
          <a:p>
            <a:endParaRPr lang="en-US" dirty="0"/>
          </a:p>
          <a:p>
            <a:r>
              <a:rPr lang="en-US" dirty="0"/>
              <a:t>I then constructed ANOVA tables of the linear regression models to gauge their statistical significance. </a:t>
            </a:r>
          </a:p>
          <a:p>
            <a:endParaRPr lang="en-US" dirty="0"/>
          </a:p>
          <a:p>
            <a:r>
              <a:rPr lang="en-US" dirty="0"/>
              <a:t>#Analysis of Variance (ANOVA), a linear model analysis. We want to ask: is the ASV richness/chlorophyll/hole size/hole depth/DNA per gram between glaciers significantly different? Plot the data divided into glacier groups</a:t>
            </a:r>
          </a:p>
          <a:p>
            <a:r>
              <a:rPr lang="en-US" dirty="0"/>
              <a:t>#ANOVA quantifies the signal to noise ratio. How different are our groups in ratio to how spread out the data are? ANOVA will tell us how confident we can be that we are not being fooled by a type I error (a false positive difference between the groups)</a:t>
            </a:r>
          </a:p>
          <a:p>
            <a:r>
              <a:rPr lang="en-US" dirty="0"/>
              <a:t>#ANOVA will: 1) quantify the overall variability of the dataset. 2) Divide that variability into the variability between and within groups. More signal = more </a:t>
            </a:r>
            <a:r>
              <a:rPr lang="en-US" dirty="0" err="1"/>
              <a:t>condifent</a:t>
            </a:r>
            <a:r>
              <a:rPr lang="en-US" dirty="0"/>
              <a:t>. More noise = less confident.</a:t>
            </a:r>
          </a:p>
          <a:p>
            <a:endParaRPr lang="en-US" dirty="0"/>
          </a:p>
          <a:p>
            <a:r>
              <a:rPr lang="en-US" dirty="0"/>
              <a:t>The ANOVA tables showed there was significant difference between the glaciers in terms of ASV richness, cryoconite hole depth, the </a:t>
            </a:r>
            <a:r>
              <a:rPr lang="en-US" dirty="0" err="1"/>
              <a:t>dna</a:t>
            </a:r>
            <a:r>
              <a:rPr lang="en-US" dirty="0"/>
              <a:t> per gram of cryoconite and faith’s pd.</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15</a:t>
            </a:fld>
            <a:endParaRPr lang="en-US"/>
          </a:p>
        </p:txBody>
      </p:sp>
    </p:spTree>
    <p:extLst>
      <p:ext uri="{BB962C8B-B14F-4D97-AF65-F5344CB8AC3E}">
        <p14:creationId xmlns:p14="http://schemas.microsoft.com/office/powerpoint/2010/main" val="34193417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Linear Regression Analysis</a:t>
            </a:r>
          </a:p>
          <a:p>
            <a:r>
              <a:rPr lang="en-US" dirty="0"/>
              <a:t>#We use linear regression analysis if our explanatory variable is continuous </a:t>
            </a:r>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2976129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divergence (adaptation to the environment) + genetic drift (random genetic mutations) = evolutionary diversification (evolutionary branching of species through time).</a:t>
            </a:r>
          </a:p>
          <a:p>
            <a:r>
              <a:rPr lang="en-US" dirty="0"/>
              <a:t>Large spatial and temporal scales.</a:t>
            </a:r>
          </a:p>
          <a:p>
            <a:r>
              <a:rPr lang="en-US" dirty="0"/>
              <a:t>Evolution impacts diversity, function and fitness of communities.</a:t>
            </a:r>
          </a:p>
          <a:p>
            <a:r>
              <a:rPr lang="en-US" dirty="0"/>
              <a:t>Evolution contributes to community assembly by contributing new species to the species pool. </a:t>
            </a:r>
          </a:p>
          <a:p>
            <a:r>
              <a:rPr lang="en-US" dirty="0"/>
              <a:t>This is often excluded from study due to the long time scales over which evolution occurs, even for microbial communities. </a:t>
            </a:r>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26808267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phylogenetic null model approach is dependent on phylogenetic signal </a:t>
            </a:r>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16695857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4/20/21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emf"/><Relationship Id="rId7" Type="http://schemas.openxmlformats.org/officeDocument/2006/relationships/image" Target="../media/image5.emf"/><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emf"/><Relationship Id="rId5" Type="http://schemas.openxmlformats.org/officeDocument/2006/relationships/image" Target="../media/image3.emf"/><Relationship Id="rId4" Type="http://schemas.openxmlformats.org/officeDocument/2006/relationships/image" Target="../media/image2.emf"/></Relationships>
</file>

<file path=ppt/slides/_rels/slide12.xml.rels><?xml version="1.0" encoding="UTF-8" standalone="yes"?>
<Relationships xmlns="http://schemas.openxmlformats.org/package/2006/relationships"><Relationship Id="rId8" Type="http://schemas.openxmlformats.org/officeDocument/2006/relationships/image" Target="../media/image11.emf"/><Relationship Id="rId3" Type="http://schemas.openxmlformats.org/officeDocument/2006/relationships/image" Target="../media/image6.emf"/><Relationship Id="rId7" Type="http://schemas.openxmlformats.org/officeDocument/2006/relationships/image" Target="../media/image10.e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emf"/><Relationship Id="rId5" Type="http://schemas.openxmlformats.org/officeDocument/2006/relationships/image" Target="../media/image8.emf"/><Relationship Id="rId4" Type="http://schemas.openxmlformats.org/officeDocument/2006/relationships/image" Target="../media/image7.emf"/></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7.emf"/><Relationship Id="rId3" Type="http://schemas.openxmlformats.org/officeDocument/2006/relationships/image" Target="../media/image12.emf"/><Relationship Id="rId7" Type="http://schemas.openxmlformats.org/officeDocument/2006/relationships/image" Target="../media/image16.emf"/><Relationship Id="rId12" Type="http://schemas.openxmlformats.org/officeDocument/2006/relationships/image" Target="../media/image21.emf"/><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5.emf"/><Relationship Id="rId11" Type="http://schemas.openxmlformats.org/officeDocument/2006/relationships/image" Target="../media/image20.emf"/><Relationship Id="rId5" Type="http://schemas.openxmlformats.org/officeDocument/2006/relationships/image" Target="../media/image14.emf"/><Relationship Id="rId10" Type="http://schemas.openxmlformats.org/officeDocument/2006/relationships/image" Target="../media/image19.emf"/><Relationship Id="rId4" Type="http://schemas.openxmlformats.org/officeDocument/2006/relationships/image" Target="../media/image13.emf"/><Relationship Id="rId9" Type="http://schemas.openxmlformats.org/officeDocument/2006/relationships/image" Target="../media/image18.e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A31DA-B431-C54A-874F-C1236B9B36B8}"/>
              </a:ext>
            </a:extLst>
          </p:cNvPr>
          <p:cNvSpPr>
            <a:spLocks noGrp="1"/>
          </p:cNvSpPr>
          <p:nvPr>
            <p:ph type="title"/>
          </p:nvPr>
        </p:nvSpPr>
        <p:spPr/>
        <p:txBody>
          <a:bodyPr/>
          <a:lstStyle/>
          <a:p>
            <a:r>
              <a:rPr lang="en-US" dirty="0"/>
              <a:t>Why are they different? Why should we care?</a:t>
            </a:r>
          </a:p>
        </p:txBody>
      </p:sp>
      <p:sp>
        <p:nvSpPr>
          <p:cNvPr id="4" name="Oval 3">
            <a:extLst>
              <a:ext uri="{FF2B5EF4-FFF2-40B4-BE49-F238E27FC236}">
                <a16:creationId xmlns:a16="http://schemas.microsoft.com/office/drawing/2014/main" id="{4075A81A-7D11-9448-BF36-6D732E7F151C}"/>
              </a:ext>
            </a:extLst>
          </p:cNvPr>
          <p:cNvSpPr/>
          <p:nvPr/>
        </p:nvSpPr>
        <p:spPr>
          <a:xfrm>
            <a:off x="2600326" y="3014662"/>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E4516562-A1F7-4A44-B228-68531F4F81E8}"/>
              </a:ext>
            </a:extLst>
          </p:cNvPr>
          <p:cNvSpPr/>
          <p:nvPr/>
        </p:nvSpPr>
        <p:spPr>
          <a:xfrm>
            <a:off x="3467101" y="37528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BEA4FE-AD89-454B-989F-A777676B2DAB}"/>
              </a:ext>
            </a:extLst>
          </p:cNvPr>
          <p:cNvSpPr/>
          <p:nvPr/>
        </p:nvSpPr>
        <p:spPr>
          <a:xfrm>
            <a:off x="2586038" y="4410075"/>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4E83A67A-C00A-B342-BE75-24729CD2D02F}"/>
              </a:ext>
            </a:extLst>
          </p:cNvPr>
          <p:cNvSpPr/>
          <p:nvPr/>
        </p:nvSpPr>
        <p:spPr>
          <a:xfrm>
            <a:off x="4724401" y="4567237"/>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F55F405-3566-B348-BF65-58C69A1A867A}"/>
              </a:ext>
            </a:extLst>
          </p:cNvPr>
          <p:cNvSpPr/>
          <p:nvPr/>
        </p:nvSpPr>
        <p:spPr>
          <a:xfrm>
            <a:off x="3467101" y="5186360"/>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D5ABE0-00B9-DD40-8C3A-A0CB5719BCBA}"/>
              </a:ext>
            </a:extLst>
          </p:cNvPr>
          <p:cNvSpPr/>
          <p:nvPr/>
        </p:nvSpPr>
        <p:spPr>
          <a:xfrm>
            <a:off x="4410075" y="2800349"/>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26DB84F-E78D-2A48-A3F2-63B628D47B3F}"/>
              </a:ext>
            </a:extLst>
          </p:cNvPr>
          <p:cNvSpPr/>
          <p:nvPr/>
        </p:nvSpPr>
        <p:spPr>
          <a:xfrm>
            <a:off x="3467100" y="3050382"/>
            <a:ext cx="314325" cy="314325"/>
          </a:xfrm>
          <a:prstGeom prst="ellipse">
            <a:avLst/>
          </a:prstGeom>
          <a:solidFill>
            <a:srgbClr val="92D050"/>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DC502950-677E-3049-990E-AEC7AF21DD01}"/>
              </a:ext>
            </a:extLst>
          </p:cNvPr>
          <p:cNvSpPr/>
          <p:nvPr/>
        </p:nvSpPr>
        <p:spPr>
          <a:xfrm>
            <a:off x="3967164" y="4410074"/>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45A94771-F505-D14F-B441-07C73CD0D66B}"/>
              </a:ext>
            </a:extLst>
          </p:cNvPr>
          <p:cNvSpPr/>
          <p:nvPr/>
        </p:nvSpPr>
        <p:spPr>
          <a:xfrm>
            <a:off x="4567238" y="3752848"/>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A3A575E6-7D11-6844-B659-F1F931279368}"/>
              </a:ext>
            </a:extLst>
          </p:cNvPr>
          <p:cNvSpPr/>
          <p:nvPr/>
        </p:nvSpPr>
        <p:spPr>
          <a:xfrm>
            <a:off x="3119438" y="4710111"/>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D5E120C-A984-764E-B4EF-AA70BC53CD10}"/>
              </a:ext>
            </a:extLst>
          </p:cNvPr>
          <p:cNvSpPr/>
          <p:nvPr/>
        </p:nvSpPr>
        <p:spPr>
          <a:xfrm>
            <a:off x="2728912" y="3867149"/>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F4679495-EAA4-F64B-8588-1E9DEA49D4C8}"/>
              </a:ext>
            </a:extLst>
          </p:cNvPr>
          <p:cNvSpPr/>
          <p:nvPr/>
        </p:nvSpPr>
        <p:spPr>
          <a:xfrm>
            <a:off x="3967163" y="3378993"/>
            <a:ext cx="314325" cy="31432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BF75227F-3BDA-534D-AC82-AA532C3B808A}"/>
              </a:ext>
            </a:extLst>
          </p:cNvPr>
          <p:cNvSpPr/>
          <p:nvPr/>
        </p:nvSpPr>
        <p:spPr>
          <a:xfrm>
            <a:off x="6524626" y="3014662"/>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C9855B0-6DB2-1749-A1D4-4B1B81587D5F}"/>
              </a:ext>
            </a:extLst>
          </p:cNvPr>
          <p:cNvSpPr/>
          <p:nvPr/>
        </p:nvSpPr>
        <p:spPr>
          <a:xfrm>
            <a:off x="7391401" y="3752849"/>
            <a:ext cx="314325" cy="314325"/>
          </a:xfrm>
          <a:prstGeom prst="ellipse">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9F5CB4E-153D-EF40-9DD1-4986310BA056}"/>
              </a:ext>
            </a:extLst>
          </p:cNvPr>
          <p:cNvSpPr/>
          <p:nvPr/>
        </p:nvSpPr>
        <p:spPr>
          <a:xfrm>
            <a:off x="6510338" y="4410075"/>
            <a:ext cx="314325" cy="314325"/>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04877B3-DB5A-2E40-9762-5B3784FF014E}"/>
              </a:ext>
            </a:extLst>
          </p:cNvPr>
          <p:cNvSpPr/>
          <p:nvPr/>
        </p:nvSpPr>
        <p:spPr>
          <a:xfrm>
            <a:off x="8648701" y="4567237"/>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53C1F00-2970-264E-8F3C-13F5A89C374D}"/>
              </a:ext>
            </a:extLst>
          </p:cNvPr>
          <p:cNvSpPr/>
          <p:nvPr/>
        </p:nvSpPr>
        <p:spPr>
          <a:xfrm>
            <a:off x="7391401" y="5186360"/>
            <a:ext cx="314325" cy="314325"/>
          </a:xfrm>
          <a:prstGeom prst="ellipse">
            <a:avLst/>
          </a:prstGeom>
          <a:solidFill>
            <a:srgbClr val="FF00E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BE665D8-BD16-C443-A7DB-33C745F5F4C3}"/>
              </a:ext>
            </a:extLst>
          </p:cNvPr>
          <p:cNvSpPr/>
          <p:nvPr/>
        </p:nvSpPr>
        <p:spPr>
          <a:xfrm>
            <a:off x="8334375" y="2800349"/>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8716A6E8-5194-1843-8740-7CFE1E71AC8C}"/>
              </a:ext>
            </a:extLst>
          </p:cNvPr>
          <p:cNvSpPr/>
          <p:nvPr/>
        </p:nvSpPr>
        <p:spPr>
          <a:xfrm>
            <a:off x="7391400" y="3050382"/>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AC7232C0-D3C4-874D-B786-BB148BFF7049}"/>
              </a:ext>
            </a:extLst>
          </p:cNvPr>
          <p:cNvSpPr/>
          <p:nvPr/>
        </p:nvSpPr>
        <p:spPr>
          <a:xfrm>
            <a:off x="7891464" y="4410074"/>
            <a:ext cx="314325" cy="314325"/>
          </a:xfrm>
          <a:prstGeom prst="ellipse">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CFB75B72-7751-E244-927A-357FEE2AD292}"/>
              </a:ext>
            </a:extLst>
          </p:cNvPr>
          <p:cNvSpPr/>
          <p:nvPr/>
        </p:nvSpPr>
        <p:spPr>
          <a:xfrm>
            <a:off x="8491538" y="3752848"/>
            <a:ext cx="314325" cy="314325"/>
          </a:xfrm>
          <a:prstGeom prst="ellipse">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A90B763-4A6C-AE44-B10A-CAC54BEA55F6}"/>
              </a:ext>
            </a:extLst>
          </p:cNvPr>
          <p:cNvSpPr/>
          <p:nvPr/>
        </p:nvSpPr>
        <p:spPr>
          <a:xfrm>
            <a:off x="7043738" y="4710111"/>
            <a:ext cx="314325" cy="314325"/>
          </a:xfrm>
          <a:prstGeom prst="ellipse">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E608D13B-D12C-924F-8139-3E7E8F9E180F}"/>
              </a:ext>
            </a:extLst>
          </p:cNvPr>
          <p:cNvSpPr/>
          <p:nvPr/>
        </p:nvSpPr>
        <p:spPr>
          <a:xfrm>
            <a:off x="6653212" y="3867149"/>
            <a:ext cx="314325" cy="314325"/>
          </a:xfrm>
          <a:prstGeom prst="ellipse">
            <a:avLst/>
          </a:prstGeom>
          <a:solidFill>
            <a:srgbClr val="92D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6549C0F0-8986-694D-A0BD-8647118E99FE}"/>
              </a:ext>
            </a:extLst>
          </p:cNvPr>
          <p:cNvSpPr/>
          <p:nvPr/>
        </p:nvSpPr>
        <p:spPr>
          <a:xfrm>
            <a:off x="7891463" y="3378993"/>
            <a:ext cx="314325" cy="314325"/>
          </a:xfrm>
          <a:prstGeom prst="ellipse">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EA335B55-8B52-5644-A550-2710A16DB226}"/>
              </a:ext>
            </a:extLst>
          </p:cNvPr>
          <p:cNvSpPr txBox="1"/>
          <p:nvPr/>
        </p:nvSpPr>
        <p:spPr>
          <a:xfrm>
            <a:off x="2717006" y="1991378"/>
            <a:ext cx="2164558" cy="523220"/>
          </a:xfrm>
          <a:prstGeom prst="rect">
            <a:avLst/>
          </a:prstGeom>
          <a:noFill/>
        </p:spPr>
        <p:txBody>
          <a:bodyPr wrap="square" rtlCol="0">
            <a:spAutoFit/>
          </a:bodyPr>
          <a:lstStyle/>
          <a:p>
            <a:r>
              <a:rPr lang="en-US" sz="2800" dirty="0"/>
              <a:t>Community 1</a:t>
            </a:r>
          </a:p>
        </p:txBody>
      </p:sp>
      <p:sp>
        <p:nvSpPr>
          <p:cNvPr id="29" name="TextBox 28">
            <a:extLst>
              <a:ext uri="{FF2B5EF4-FFF2-40B4-BE49-F238E27FC236}">
                <a16:creationId xmlns:a16="http://schemas.microsoft.com/office/drawing/2014/main" id="{BC52BB93-C1D8-A04D-98AA-48CAD4AC9990}"/>
              </a:ext>
            </a:extLst>
          </p:cNvPr>
          <p:cNvSpPr txBox="1"/>
          <p:nvPr/>
        </p:nvSpPr>
        <p:spPr>
          <a:xfrm>
            <a:off x="6667500" y="2015520"/>
            <a:ext cx="2164558" cy="523220"/>
          </a:xfrm>
          <a:prstGeom prst="rect">
            <a:avLst/>
          </a:prstGeom>
          <a:noFill/>
        </p:spPr>
        <p:txBody>
          <a:bodyPr wrap="square" rtlCol="0">
            <a:spAutoFit/>
          </a:bodyPr>
          <a:lstStyle/>
          <a:p>
            <a:r>
              <a:rPr lang="en-US" sz="2800" dirty="0"/>
              <a:t>Community 2</a:t>
            </a:r>
          </a:p>
        </p:txBody>
      </p:sp>
    </p:spTree>
    <p:extLst>
      <p:ext uri="{BB962C8B-B14F-4D97-AF65-F5344CB8AC3E}">
        <p14:creationId xmlns:p14="http://schemas.microsoft.com/office/powerpoint/2010/main" val="3055002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graphicFrame>
        <p:nvGraphicFramePr>
          <p:cNvPr id="12" name="Diagram 11">
            <a:extLst>
              <a:ext uri="{FF2B5EF4-FFF2-40B4-BE49-F238E27FC236}">
                <a16:creationId xmlns:a16="http://schemas.microsoft.com/office/drawing/2014/main" id="{8B3002D7-459F-0B49-B4AD-4140562B12BC}"/>
              </a:ext>
            </a:extLst>
          </p:cNvPr>
          <p:cNvGraphicFramePr/>
          <p:nvPr>
            <p:extLst>
              <p:ext uri="{D42A27DB-BD31-4B8C-83A1-F6EECF244321}">
                <p14:modId xmlns:p14="http://schemas.microsoft.com/office/powerpoint/2010/main" val="662949717"/>
              </p:ext>
            </p:extLst>
          </p:nvPr>
        </p:nvGraphicFramePr>
        <p:xfrm>
          <a:off x="2489993" y="1690688"/>
          <a:ext cx="7212013" cy="48080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3026516631"/>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10184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2036473356"/>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B236FC47-056D-8F42-8FB5-02001186B775}"/>
              </a:ext>
            </a:extLst>
          </p:cNvPr>
          <p:cNvPicPr>
            <a:picLocks noChangeAspect="1"/>
          </p:cNvPicPr>
          <p:nvPr/>
        </p:nvPicPr>
        <p:blipFill>
          <a:blip r:embed="rId3"/>
          <a:stretch>
            <a:fillRect/>
          </a:stretch>
        </p:blipFill>
        <p:spPr>
          <a:xfrm>
            <a:off x="5403849" y="3361532"/>
            <a:ext cx="3595686" cy="3595686"/>
          </a:xfrm>
          <a:prstGeom prst="rect">
            <a:avLst/>
          </a:prstGeom>
        </p:spPr>
      </p:pic>
      <p:sp>
        <p:nvSpPr>
          <p:cNvPr id="2" name="Title 1">
            <a:extLst>
              <a:ext uri="{FF2B5EF4-FFF2-40B4-BE49-F238E27FC236}">
                <a16:creationId xmlns:a16="http://schemas.microsoft.com/office/drawing/2014/main" id="{7E77219C-A256-3B41-862B-643328BC5119}"/>
              </a:ext>
            </a:extLst>
          </p:cNvPr>
          <p:cNvSpPr>
            <a:spLocks noGrp="1"/>
          </p:cNvSpPr>
          <p:nvPr>
            <p:ph type="title"/>
          </p:nvPr>
        </p:nvSpPr>
        <p:spPr/>
        <p:txBody>
          <a:bodyPr/>
          <a:lstStyle/>
          <a:p>
            <a:r>
              <a:rPr lang="en-US" dirty="0"/>
              <a:t>Ordination </a:t>
            </a:r>
          </a:p>
        </p:txBody>
      </p:sp>
      <p:pic>
        <p:nvPicPr>
          <p:cNvPr id="5" name="Picture 4">
            <a:extLst>
              <a:ext uri="{FF2B5EF4-FFF2-40B4-BE49-F238E27FC236}">
                <a16:creationId xmlns:a16="http://schemas.microsoft.com/office/drawing/2014/main" id="{B9DAD4B0-E9CE-D444-960D-1DC64E0DC26D}"/>
              </a:ext>
            </a:extLst>
          </p:cNvPr>
          <p:cNvPicPr>
            <a:picLocks noChangeAspect="1"/>
          </p:cNvPicPr>
          <p:nvPr/>
        </p:nvPicPr>
        <p:blipFill>
          <a:blip r:embed="rId4"/>
          <a:stretch>
            <a:fillRect/>
          </a:stretch>
        </p:blipFill>
        <p:spPr>
          <a:xfrm>
            <a:off x="214721" y="1513532"/>
            <a:ext cx="2628728" cy="2628728"/>
          </a:xfrm>
          <a:prstGeom prst="rect">
            <a:avLst/>
          </a:prstGeom>
        </p:spPr>
      </p:pic>
      <p:sp>
        <p:nvSpPr>
          <p:cNvPr id="6" name="TextBox 5">
            <a:extLst>
              <a:ext uri="{FF2B5EF4-FFF2-40B4-BE49-F238E27FC236}">
                <a16:creationId xmlns:a16="http://schemas.microsoft.com/office/drawing/2014/main" id="{6F063E1D-5AC7-DC41-846B-FA1A6161BDB0}"/>
              </a:ext>
            </a:extLst>
          </p:cNvPr>
          <p:cNvSpPr txBox="1"/>
          <p:nvPr/>
        </p:nvSpPr>
        <p:spPr>
          <a:xfrm>
            <a:off x="3057245" y="1934472"/>
            <a:ext cx="1935166" cy="830997"/>
          </a:xfrm>
          <a:prstGeom prst="rect">
            <a:avLst/>
          </a:prstGeom>
          <a:noFill/>
        </p:spPr>
        <p:txBody>
          <a:bodyPr wrap="square" rtlCol="0">
            <a:spAutoFit/>
          </a:bodyPr>
          <a:lstStyle/>
          <a:p>
            <a:r>
              <a:rPr lang="en-US" sz="1200" dirty="0"/>
              <a:t>Figure 1. Bar chart of Hellinger transformed ASV data with agglomerated Phyla </a:t>
            </a:r>
          </a:p>
        </p:txBody>
      </p:sp>
      <p:pic>
        <p:nvPicPr>
          <p:cNvPr id="8" name="Picture 7">
            <a:extLst>
              <a:ext uri="{FF2B5EF4-FFF2-40B4-BE49-F238E27FC236}">
                <a16:creationId xmlns:a16="http://schemas.microsoft.com/office/drawing/2014/main" id="{40F59D41-24AB-1C42-B376-0A8B7284AAE0}"/>
              </a:ext>
            </a:extLst>
          </p:cNvPr>
          <p:cNvPicPr>
            <a:picLocks noChangeAspect="1"/>
          </p:cNvPicPr>
          <p:nvPr/>
        </p:nvPicPr>
        <p:blipFill rotWithShape="1">
          <a:blip r:embed="rId5"/>
          <a:srcRect l="-1707" t="21631" r="1707" b="24114"/>
          <a:stretch/>
        </p:blipFill>
        <p:spPr>
          <a:xfrm>
            <a:off x="5403849" y="270347"/>
            <a:ext cx="3581400" cy="1943100"/>
          </a:xfrm>
          <a:prstGeom prst="rect">
            <a:avLst/>
          </a:prstGeom>
        </p:spPr>
      </p:pic>
      <p:sp>
        <p:nvSpPr>
          <p:cNvPr id="9" name="TextBox 8">
            <a:extLst>
              <a:ext uri="{FF2B5EF4-FFF2-40B4-BE49-F238E27FC236}">
                <a16:creationId xmlns:a16="http://schemas.microsoft.com/office/drawing/2014/main" id="{D42B2D0E-9D2E-D549-8629-AA9ED4EDA863}"/>
              </a:ext>
            </a:extLst>
          </p:cNvPr>
          <p:cNvSpPr txBox="1"/>
          <p:nvPr/>
        </p:nvSpPr>
        <p:spPr>
          <a:xfrm>
            <a:off x="5601492" y="2119139"/>
            <a:ext cx="3186113" cy="461665"/>
          </a:xfrm>
          <a:prstGeom prst="rect">
            <a:avLst/>
          </a:prstGeom>
          <a:noFill/>
        </p:spPr>
        <p:txBody>
          <a:bodyPr wrap="square" rtlCol="0">
            <a:spAutoFit/>
          </a:bodyPr>
          <a:lstStyle/>
          <a:p>
            <a:r>
              <a:rPr lang="en-US" sz="1200" dirty="0"/>
              <a:t>Figure 2. Bray-Curtis </a:t>
            </a:r>
            <a:r>
              <a:rPr lang="en-US" sz="1200" dirty="0" err="1"/>
              <a:t>PCoA</a:t>
            </a:r>
            <a:r>
              <a:rPr lang="en-US" sz="1200" dirty="0"/>
              <a:t>, scaled by eigenvalues</a:t>
            </a:r>
          </a:p>
        </p:txBody>
      </p:sp>
      <p:pic>
        <p:nvPicPr>
          <p:cNvPr id="11" name="Picture 10">
            <a:extLst>
              <a:ext uri="{FF2B5EF4-FFF2-40B4-BE49-F238E27FC236}">
                <a16:creationId xmlns:a16="http://schemas.microsoft.com/office/drawing/2014/main" id="{D53BA01B-C6C8-F84B-A5B0-ED061449F88B}"/>
              </a:ext>
            </a:extLst>
          </p:cNvPr>
          <p:cNvPicPr>
            <a:picLocks noChangeAspect="1"/>
          </p:cNvPicPr>
          <p:nvPr/>
        </p:nvPicPr>
        <p:blipFill rotWithShape="1">
          <a:blip r:embed="rId6"/>
          <a:srcRect t="29431" b="27144"/>
          <a:stretch/>
        </p:blipFill>
        <p:spPr>
          <a:xfrm>
            <a:off x="5403849" y="2580804"/>
            <a:ext cx="3595686" cy="1561456"/>
          </a:xfrm>
          <a:prstGeom prst="rect">
            <a:avLst/>
          </a:prstGeom>
        </p:spPr>
      </p:pic>
      <p:sp>
        <p:nvSpPr>
          <p:cNvPr id="12" name="TextBox 11">
            <a:extLst>
              <a:ext uri="{FF2B5EF4-FFF2-40B4-BE49-F238E27FC236}">
                <a16:creationId xmlns:a16="http://schemas.microsoft.com/office/drawing/2014/main" id="{EC2F6E76-C21B-6D41-B486-2F5A5733ECC2}"/>
              </a:ext>
            </a:extLst>
          </p:cNvPr>
          <p:cNvSpPr txBox="1"/>
          <p:nvPr/>
        </p:nvSpPr>
        <p:spPr>
          <a:xfrm>
            <a:off x="5601491" y="3991743"/>
            <a:ext cx="3186113" cy="461665"/>
          </a:xfrm>
          <a:prstGeom prst="rect">
            <a:avLst/>
          </a:prstGeom>
          <a:noFill/>
        </p:spPr>
        <p:txBody>
          <a:bodyPr wrap="square" rtlCol="0">
            <a:spAutoFit/>
          </a:bodyPr>
          <a:lstStyle/>
          <a:p>
            <a:r>
              <a:rPr lang="en-US" sz="1200" dirty="0"/>
              <a:t>Figure 3. Unweighted </a:t>
            </a:r>
            <a:r>
              <a:rPr lang="en-US" sz="1200" dirty="0" err="1"/>
              <a:t>UniFrac</a:t>
            </a:r>
            <a:r>
              <a:rPr lang="en-US" sz="1200" dirty="0"/>
              <a:t> </a:t>
            </a:r>
            <a:r>
              <a:rPr lang="en-US" sz="1200" dirty="0" err="1"/>
              <a:t>PCoA</a:t>
            </a:r>
            <a:r>
              <a:rPr lang="en-US" sz="1200" dirty="0"/>
              <a:t>, scaled by eigenvalues</a:t>
            </a:r>
          </a:p>
        </p:txBody>
      </p:sp>
      <p:sp>
        <p:nvSpPr>
          <p:cNvPr id="15" name="TextBox 14">
            <a:extLst>
              <a:ext uri="{FF2B5EF4-FFF2-40B4-BE49-F238E27FC236}">
                <a16:creationId xmlns:a16="http://schemas.microsoft.com/office/drawing/2014/main" id="{EE7DA3E0-9D14-5346-9700-A4F5A9752CDE}"/>
              </a:ext>
            </a:extLst>
          </p:cNvPr>
          <p:cNvSpPr txBox="1"/>
          <p:nvPr/>
        </p:nvSpPr>
        <p:spPr>
          <a:xfrm>
            <a:off x="5608635" y="5887218"/>
            <a:ext cx="3186113" cy="461665"/>
          </a:xfrm>
          <a:prstGeom prst="rect">
            <a:avLst/>
          </a:prstGeom>
          <a:noFill/>
        </p:spPr>
        <p:txBody>
          <a:bodyPr wrap="square" rtlCol="0">
            <a:spAutoFit/>
          </a:bodyPr>
          <a:lstStyle/>
          <a:p>
            <a:r>
              <a:rPr lang="en-US" sz="1200" dirty="0"/>
              <a:t>Figure 4. Weighted </a:t>
            </a:r>
            <a:r>
              <a:rPr lang="en-US" sz="1200" dirty="0" err="1"/>
              <a:t>UniFrac</a:t>
            </a:r>
            <a:r>
              <a:rPr lang="en-US" sz="1200" dirty="0"/>
              <a:t> </a:t>
            </a:r>
            <a:r>
              <a:rPr lang="en-US" sz="1200" dirty="0" err="1"/>
              <a:t>PCoA</a:t>
            </a:r>
            <a:r>
              <a:rPr lang="en-US" sz="1200" dirty="0"/>
              <a:t>, scaled by eigenvalues</a:t>
            </a:r>
          </a:p>
        </p:txBody>
      </p:sp>
      <p:pic>
        <p:nvPicPr>
          <p:cNvPr id="17" name="Picture 16">
            <a:extLst>
              <a:ext uri="{FF2B5EF4-FFF2-40B4-BE49-F238E27FC236}">
                <a16:creationId xmlns:a16="http://schemas.microsoft.com/office/drawing/2014/main" id="{77FEC430-17C9-E043-9A01-EE6414D35B23}"/>
              </a:ext>
            </a:extLst>
          </p:cNvPr>
          <p:cNvPicPr>
            <a:picLocks noChangeAspect="1"/>
          </p:cNvPicPr>
          <p:nvPr/>
        </p:nvPicPr>
        <p:blipFill>
          <a:blip r:embed="rId7"/>
          <a:stretch>
            <a:fillRect/>
          </a:stretch>
        </p:blipFill>
        <p:spPr>
          <a:xfrm>
            <a:off x="276546" y="4142260"/>
            <a:ext cx="2505077" cy="2505077"/>
          </a:xfrm>
          <a:prstGeom prst="rect">
            <a:avLst/>
          </a:prstGeom>
        </p:spPr>
      </p:pic>
      <p:sp>
        <p:nvSpPr>
          <p:cNvPr id="18" name="TextBox 17">
            <a:extLst>
              <a:ext uri="{FF2B5EF4-FFF2-40B4-BE49-F238E27FC236}">
                <a16:creationId xmlns:a16="http://schemas.microsoft.com/office/drawing/2014/main" id="{8D8C8CC9-C5AA-614B-94F8-5FB9AF3917AA}"/>
              </a:ext>
            </a:extLst>
          </p:cNvPr>
          <p:cNvSpPr txBox="1"/>
          <p:nvPr/>
        </p:nvSpPr>
        <p:spPr>
          <a:xfrm>
            <a:off x="3057245" y="4743876"/>
            <a:ext cx="1935166" cy="461665"/>
          </a:xfrm>
          <a:prstGeom prst="rect">
            <a:avLst/>
          </a:prstGeom>
          <a:noFill/>
        </p:spPr>
        <p:txBody>
          <a:bodyPr wrap="square" rtlCol="0">
            <a:spAutoFit/>
          </a:bodyPr>
          <a:lstStyle/>
          <a:p>
            <a:r>
              <a:rPr lang="en-US" sz="1200" dirty="0"/>
              <a:t>Figure 5. Bray-Curtis NMDS plot</a:t>
            </a:r>
          </a:p>
        </p:txBody>
      </p:sp>
    </p:spTree>
    <p:extLst>
      <p:ext uri="{BB962C8B-B14F-4D97-AF65-F5344CB8AC3E}">
        <p14:creationId xmlns:p14="http://schemas.microsoft.com/office/powerpoint/2010/main" val="2695905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9B615-6302-3749-9C9D-450854A7B4FC}"/>
              </a:ext>
            </a:extLst>
          </p:cNvPr>
          <p:cNvSpPr>
            <a:spLocks noGrp="1"/>
          </p:cNvSpPr>
          <p:nvPr>
            <p:ph type="title"/>
          </p:nvPr>
        </p:nvSpPr>
        <p:spPr/>
        <p:txBody>
          <a:bodyPr/>
          <a:lstStyle/>
          <a:p>
            <a:r>
              <a:rPr lang="en-US" dirty="0"/>
              <a:t>Ordination</a:t>
            </a:r>
          </a:p>
        </p:txBody>
      </p:sp>
      <p:pic>
        <p:nvPicPr>
          <p:cNvPr id="5" name="Picture 4">
            <a:extLst>
              <a:ext uri="{FF2B5EF4-FFF2-40B4-BE49-F238E27FC236}">
                <a16:creationId xmlns:a16="http://schemas.microsoft.com/office/drawing/2014/main" id="{A581D335-DFFC-1143-BF29-2688477FDA3F}"/>
              </a:ext>
            </a:extLst>
          </p:cNvPr>
          <p:cNvPicPr>
            <a:picLocks noChangeAspect="1"/>
          </p:cNvPicPr>
          <p:nvPr/>
        </p:nvPicPr>
        <p:blipFill>
          <a:blip r:embed="rId3"/>
          <a:stretch>
            <a:fillRect/>
          </a:stretch>
        </p:blipFill>
        <p:spPr>
          <a:xfrm>
            <a:off x="404808" y="1278734"/>
            <a:ext cx="1800222" cy="1800222"/>
          </a:xfrm>
          <a:prstGeom prst="rect">
            <a:avLst/>
          </a:prstGeom>
        </p:spPr>
      </p:pic>
      <p:sp>
        <p:nvSpPr>
          <p:cNvPr id="6" name="TextBox 5">
            <a:extLst>
              <a:ext uri="{FF2B5EF4-FFF2-40B4-BE49-F238E27FC236}">
                <a16:creationId xmlns:a16="http://schemas.microsoft.com/office/drawing/2014/main" id="{268B9DD7-F3E0-2244-8A36-B5372EF07E88}"/>
              </a:ext>
            </a:extLst>
          </p:cNvPr>
          <p:cNvSpPr txBox="1"/>
          <p:nvPr/>
        </p:nvSpPr>
        <p:spPr>
          <a:xfrm>
            <a:off x="2228846" y="1502300"/>
            <a:ext cx="1414467" cy="1200329"/>
          </a:xfrm>
          <a:prstGeom prst="rect">
            <a:avLst/>
          </a:prstGeom>
          <a:noFill/>
        </p:spPr>
        <p:txBody>
          <a:bodyPr wrap="square" rtlCol="0">
            <a:spAutoFit/>
          </a:bodyPr>
          <a:lstStyle/>
          <a:p>
            <a:r>
              <a:rPr lang="en-US" sz="1200" dirty="0"/>
              <a:t>Figure 6. Bar plot of Principal Component Analysis on Log-Ratio Transformed Data</a:t>
            </a:r>
          </a:p>
        </p:txBody>
      </p:sp>
      <p:pic>
        <p:nvPicPr>
          <p:cNvPr id="8" name="Picture 7">
            <a:extLst>
              <a:ext uri="{FF2B5EF4-FFF2-40B4-BE49-F238E27FC236}">
                <a16:creationId xmlns:a16="http://schemas.microsoft.com/office/drawing/2014/main" id="{964FDF21-A5BE-9341-8006-35983884743F}"/>
              </a:ext>
            </a:extLst>
          </p:cNvPr>
          <p:cNvPicPr>
            <a:picLocks noChangeAspect="1"/>
          </p:cNvPicPr>
          <p:nvPr/>
        </p:nvPicPr>
        <p:blipFill>
          <a:blip r:embed="rId4"/>
          <a:stretch>
            <a:fillRect/>
          </a:stretch>
        </p:blipFill>
        <p:spPr>
          <a:xfrm>
            <a:off x="404808" y="2987677"/>
            <a:ext cx="2009776" cy="2009776"/>
          </a:xfrm>
          <a:prstGeom prst="rect">
            <a:avLst/>
          </a:prstGeom>
        </p:spPr>
      </p:pic>
      <p:sp>
        <p:nvSpPr>
          <p:cNvPr id="9" name="TextBox 8">
            <a:extLst>
              <a:ext uri="{FF2B5EF4-FFF2-40B4-BE49-F238E27FC236}">
                <a16:creationId xmlns:a16="http://schemas.microsoft.com/office/drawing/2014/main" id="{D4162294-5278-9A49-89DF-B3EB29407B06}"/>
              </a:ext>
            </a:extLst>
          </p:cNvPr>
          <p:cNvSpPr txBox="1"/>
          <p:nvPr/>
        </p:nvSpPr>
        <p:spPr>
          <a:xfrm>
            <a:off x="2333626" y="3399631"/>
            <a:ext cx="1309687" cy="830997"/>
          </a:xfrm>
          <a:prstGeom prst="rect">
            <a:avLst/>
          </a:prstGeom>
          <a:noFill/>
        </p:spPr>
        <p:txBody>
          <a:bodyPr wrap="square" rtlCol="0">
            <a:spAutoFit/>
          </a:bodyPr>
          <a:lstStyle/>
          <a:p>
            <a:r>
              <a:rPr lang="en-US" sz="1200" dirty="0"/>
              <a:t>Figure 7. Log-Ratio PCA ordination of 16S sequence data</a:t>
            </a:r>
          </a:p>
        </p:txBody>
      </p:sp>
      <p:pic>
        <p:nvPicPr>
          <p:cNvPr id="11" name="Picture 10">
            <a:extLst>
              <a:ext uri="{FF2B5EF4-FFF2-40B4-BE49-F238E27FC236}">
                <a16:creationId xmlns:a16="http://schemas.microsoft.com/office/drawing/2014/main" id="{4605CCF0-0A32-B349-AEBC-DB7EDA4D7984}"/>
              </a:ext>
            </a:extLst>
          </p:cNvPr>
          <p:cNvPicPr>
            <a:picLocks noChangeAspect="1"/>
          </p:cNvPicPr>
          <p:nvPr/>
        </p:nvPicPr>
        <p:blipFill>
          <a:blip r:embed="rId5"/>
          <a:stretch>
            <a:fillRect/>
          </a:stretch>
        </p:blipFill>
        <p:spPr>
          <a:xfrm>
            <a:off x="3943350" y="434131"/>
            <a:ext cx="1614488" cy="1614488"/>
          </a:xfrm>
          <a:prstGeom prst="rect">
            <a:avLst/>
          </a:prstGeom>
        </p:spPr>
      </p:pic>
      <p:sp>
        <p:nvSpPr>
          <p:cNvPr id="12" name="TextBox 11">
            <a:extLst>
              <a:ext uri="{FF2B5EF4-FFF2-40B4-BE49-F238E27FC236}">
                <a16:creationId xmlns:a16="http://schemas.microsoft.com/office/drawing/2014/main" id="{BA970433-457A-2646-90DA-835914F430E1}"/>
              </a:ext>
            </a:extLst>
          </p:cNvPr>
          <p:cNvSpPr txBox="1"/>
          <p:nvPr/>
        </p:nvSpPr>
        <p:spPr>
          <a:xfrm>
            <a:off x="5876933" y="792209"/>
            <a:ext cx="1281105" cy="830997"/>
          </a:xfrm>
          <a:prstGeom prst="rect">
            <a:avLst/>
          </a:prstGeom>
          <a:noFill/>
        </p:spPr>
        <p:txBody>
          <a:bodyPr wrap="square" rtlCol="0">
            <a:spAutoFit/>
          </a:bodyPr>
          <a:lstStyle/>
          <a:p>
            <a:r>
              <a:rPr lang="en-US" sz="1200" dirty="0"/>
              <a:t>Figure 8. Log-Ratio </a:t>
            </a:r>
            <a:r>
              <a:rPr lang="en-US" sz="1200" dirty="0" err="1"/>
              <a:t>PCoA</a:t>
            </a:r>
            <a:r>
              <a:rPr lang="en-US" sz="1200" dirty="0"/>
              <a:t> </a:t>
            </a:r>
            <a:r>
              <a:rPr lang="en-US" sz="1200" dirty="0" err="1"/>
              <a:t>screenplot</a:t>
            </a:r>
            <a:r>
              <a:rPr lang="en-US" sz="1200" dirty="0"/>
              <a:t> using Jaccard variances</a:t>
            </a:r>
          </a:p>
        </p:txBody>
      </p:sp>
      <p:pic>
        <p:nvPicPr>
          <p:cNvPr id="14" name="Picture 13">
            <a:extLst>
              <a:ext uri="{FF2B5EF4-FFF2-40B4-BE49-F238E27FC236}">
                <a16:creationId xmlns:a16="http://schemas.microsoft.com/office/drawing/2014/main" id="{9FD4A4FA-ABC9-114E-9C37-FAFEEB008796}"/>
              </a:ext>
            </a:extLst>
          </p:cNvPr>
          <p:cNvPicPr>
            <a:picLocks noChangeAspect="1"/>
          </p:cNvPicPr>
          <p:nvPr/>
        </p:nvPicPr>
        <p:blipFill>
          <a:blip r:embed="rId6"/>
          <a:stretch>
            <a:fillRect/>
          </a:stretch>
        </p:blipFill>
        <p:spPr>
          <a:xfrm>
            <a:off x="3943351" y="2178846"/>
            <a:ext cx="1614488" cy="1614488"/>
          </a:xfrm>
          <a:prstGeom prst="rect">
            <a:avLst/>
          </a:prstGeom>
        </p:spPr>
      </p:pic>
      <p:sp>
        <p:nvSpPr>
          <p:cNvPr id="15" name="TextBox 14">
            <a:extLst>
              <a:ext uri="{FF2B5EF4-FFF2-40B4-BE49-F238E27FC236}">
                <a16:creationId xmlns:a16="http://schemas.microsoft.com/office/drawing/2014/main" id="{0ABFC3FC-2783-5547-B4E1-1560B5AAA389}"/>
              </a:ext>
            </a:extLst>
          </p:cNvPr>
          <p:cNvSpPr txBox="1"/>
          <p:nvPr/>
        </p:nvSpPr>
        <p:spPr>
          <a:xfrm>
            <a:off x="5876935" y="2702629"/>
            <a:ext cx="1419225" cy="830997"/>
          </a:xfrm>
          <a:prstGeom prst="rect">
            <a:avLst/>
          </a:prstGeom>
          <a:noFill/>
        </p:spPr>
        <p:txBody>
          <a:bodyPr wrap="square" rtlCol="0">
            <a:spAutoFit/>
          </a:bodyPr>
          <a:lstStyle/>
          <a:p>
            <a:r>
              <a:rPr lang="en-US" sz="1200" dirty="0"/>
              <a:t>Figure 9. Log-Ratio </a:t>
            </a:r>
            <a:r>
              <a:rPr lang="en-US" sz="1200" dirty="0" err="1"/>
              <a:t>PCoA</a:t>
            </a:r>
            <a:r>
              <a:rPr lang="en-US" sz="1200" dirty="0"/>
              <a:t> </a:t>
            </a:r>
            <a:r>
              <a:rPr lang="en-US" sz="1200" dirty="0" err="1"/>
              <a:t>screenplot</a:t>
            </a:r>
            <a:r>
              <a:rPr lang="en-US" sz="1200" dirty="0"/>
              <a:t> using Euclidean variances</a:t>
            </a:r>
          </a:p>
        </p:txBody>
      </p:sp>
      <p:pic>
        <p:nvPicPr>
          <p:cNvPr id="17" name="Picture 16">
            <a:extLst>
              <a:ext uri="{FF2B5EF4-FFF2-40B4-BE49-F238E27FC236}">
                <a16:creationId xmlns:a16="http://schemas.microsoft.com/office/drawing/2014/main" id="{4D9C7E1B-89CB-B545-9585-D367C09BEF54}"/>
              </a:ext>
            </a:extLst>
          </p:cNvPr>
          <p:cNvPicPr>
            <a:picLocks noChangeAspect="1"/>
          </p:cNvPicPr>
          <p:nvPr/>
        </p:nvPicPr>
        <p:blipFill>
          <a:blip r:embed="rId7"/>
          <a:stretch>
            <a:fillRect/>
          </a:stretch>
        </p:blipFill>
        <p:spPr>
          <a:xfrm>
            <a:off x="3943350" y="3992565"/>
            <a:ext cx="1690688" cy="1690688"/>
          </a:xfrm>
          <a:prstGeom prst="rect">
            <a:avLst/>
          </a:prstGeom>
        </p:spPr>
      </p:pic>
      <p:sp>
        <p:nvSpPr>
          <p:cNvPr id="18" name="TextBox 17">
            <a:extLst>
              <a:ext uri="{FF2B5EF4-FFF2-40B4-BE49-F238E27FC236}">
                <a16:creationId xmlns:a16="http://schemas.microsoft.com/office/drawing/2014/main" id="{FD559CBB-9EEF-9E43-8A4C-650168FCAA36}"/>
              </a:ext>
            </a:extLst>
          </p:cNvPr>
          <p:cNvSpPr txBox="1"/>
          <p:nvPr/>
        </p:nvSpPr>
        <p:spPr>
          <a:xfrm>
            <a:off x="3529023" y="5794379"/>
            <a:ext cx="2600315" cy="276999"/>
          </a:xfrm>
          <a:prstGeom prst="rect">
            <a:avLst/>
          </a:prstGeom>
          <a:noFill/>
        </p:spPr>
        <p:txBody>
          <a:bodyPr wrap="square" rtlCol="0">
            <a:spAutoFit/>
          </a:bodyPr>
          <a:lstStyle/>
          <a:p>
            <a:r>
              <a:rPr lang="en-US" sz="1200" dirty="0"/>
              <a:t>Figure 10. Euclidean NMDS plot</a:t>
            </a:r>
          </a:p>
        </p:txBody>
      </p:sp>
      <p:pic>
        <p:nvPicPr>
          <p:cNvPr id="20" name="Picture 19">
            <a:extLst>
              <a:ext uri="{FF2B5EF4-FFF2-40B4-BE49-F238E27FC236}">
                <a16:creationId xmlns:a16="http://schemas.microsoft.com/office/drawing/2014/main" id="{2E61C60F-7113-D34B-94CE-7E15E097A968}"/>
              </a:ext>
            </a:extLst>
          </p:cNvPr>
          <p:cNvPicPr>
            <a:picLocks noChangeAspect="1"/>
          </p:cNvPicPr>
          <p:nvPr/>
        </p:nvPicPr>
        <p:blipFill>
          <a:blip r:embed="rId8"/>
          <a:stretch>
            <a:fillRect/>
          </a:stretch>
        </p:blipFill>
        <p:spPr>
          <a:xfrm>
            <a:off x="6273408" y="3913994"/>
            <a:ext cx="1769259" cy="1769259"/>
          </a:xfrm>
          <a:prstGeom prst="rect">
            <a:avLst/>
          </a:prstGeom>
        </p:spPr>
      </p:pic>
      <p:sp>
        <p:nvSpPr>
          <p:cNvPr id="21" name="TextBox 20">
            <a:extLst>
              <a:ext uri="{FF2B5EF4-FFF2-40B4-BE49-F238E27FC236}">
                <a16:creationId xmlns:a16="http://schemas.microsoft.com/office/drawing/2014/main" id="{0E50DB5E-F8A6-D141-8857-79EDA9C03512}"/>
              </a:ext>
            </a:extLst>
          </p:cNvPr>
          <p:cNvSpPr txBox="1"/>
          <p:nvPr/>
        </p:nvSpPr>
        <p:spPr>
          <a:xfrm>
            <a:off x="5881696" y="5786622"/>
            <a:ext cx="2600315" cy="276999"/>
          </a:xfrm>
          <a:prstGeom prst="rect">
            <a:avLst/>
          </a:prstGeom>
          <a:noFill/>
        </p:spPr>
        <p:txBody>
          <a:bodyPr wrap="square" rtlCol="0">
            <a:spAutoFit/>
          </a:bodyPr>
          <a:lstStyle/>
          <a:p>
            <a:r>
              <a:rPr lang="en-US" sz="1200" dirty="0"/>
              <a:t>Figure 11. Jaccard NMDS plot</a:t>
            </a:r>
          </a:p>
        </p:txBody>
      </p:sp>
    </p:spTree>
    <p:extLst>
      <p:ext uri="{BB962C8B-B14F-4D97-AF65-F5344CB8AC3E}">
        <p14:creationId xmlns:p14="http://schemas.microsoft.com/office/powerpoint/2010/main" val="13142413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p:txBody>
          <a:bodyPr/>
          <a:lstStyle/>
          <a:p>
            <a:r>
              <a:rPr lang="en-US" dirty="0"/>
              <a:t>Alpha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a:p>
            <a:r>
              <a:rPr lang="en-US" dirty="0"/>
              <a:t>Simpsons Diversity</a:t>
            </a:r>
          </a:p>
          <a:p>
            <a:r>
              <a:rPr lang="en-US" dirty="0"/>
              <a:t>Inverted Simpsons Diversity</a:t>
            </a:r>
          </a:p>
          <a:p>
            <a:r>
              <a:rPr lang="en-US" dirty="0" err="1"/>
              <a:t>Pilou</a:t>
            </a:r>
            <a:r>
              <a:rPr lang="en-US" dirty="0"/>
              <a:t> Evenness</a:t>
            </a:r>
          </a:p>
          <a:p>
            <a:r>
              <a:rPr lang="en-US" dirty="0"/>
              <a:t>Faith’s PD</a:t>
            </a:r>
          </a:p>
        </p:txBody>
      </p:sp>
    </p:spTree>
    <p:extLst>
      <p:ext uri="{BB962C8B-B14F-4D97-AF65-F5344CB8AC3E}">
        <p14:creationId xmlns:p14="http://schemas.microsoft.com/office/powerpoint/2010/main" val="3987674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959AC-EC01-BB40-9AF0-DCE9E14A298A}"/>
              </a:ext>
            </a:extLst>
          </p:cNvPr>
          <p:cNvSpPr>
            <a:spLocks noGrp="1"/>
          </p:cNvSpPr>
          <p:nvPr>
            <p:ph type="title"/>
          </p:nvPr>
        </p:nvSpPr>
        <p:spPr/>
        <p:txBody>
          <a:bodyPr/>
          <a:lstStyle/>
          <a:p>
            <a:r>
              <a:rPr lang="en-US" dirty="0"/>
              <a:t>Beta Diversity </a:t>
            </a:r>
          </a:p>
        </p:txBody>
      </p:sp>
      <p:sp>
        <p:nvSpPr>
          <p:cNvPr id="3" name="Content Placeholder 2">
            <a:extLst>
              <a:ext uri="{FF2B5EF4-FFF2-40B4-BE49-F238E27FC236}">
                <a16:creationId xmlns:a16="http://schemas.microsoft.com/office/drawing/2014/main" id="{B4135107-2C54-4541-9E57-EB148207FCF7}"/>
              </a:ext>
            </a:extLst>
          </p:cNvPr>
          <p:cNvSpPr>
            <a:spLocks noGrp="1"/>
          </p:cNvSpPr>
          <p:nvPr>
            <p:ph idx="1"/>
          </p:nvPr>
        </p:nvSpPr>
        <p:spPr/>
        <p:txBody>
          <a:bodyPr/>
          <a:lstStyle/>
          <a:p>
            <a:r>
              <a:rPr lang="en-US" dirty="0"/>
              <a:t>Weighted </a:t>
            </a:r>
            <a:r>
              <a:rPr lang="en-US" dirty="0" err="1"/>
              <a:t>UniFrac</a:t>
            </a:r>
            <a:r>
              <a:rPr lang="en-US" dirty="0"/>
              <a:t> Distance</a:t>
            </a:r>
          </a:p>
        </p:txBody>
      </p:sp>
    </p:spTree>
    <p:extLst>
      <p:ext uri="{BB962C8B-B14F-4D97-AF65-F5344CB8AC3E}">
        <p14:creationId xmlns:p14="http://schemas.microsoft.com/office/powerpoint/2010/main" val="6337245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15C2-352D-7244-8523-A17BAA6CB11A}"/>
              </a:ext>
            </a:extLst>
          </p:cNvPr>
          <p:cNvSpPr>
            <a:spLocks noGrp="1"/>
          </p:cNvSpPr>
          <p:nvPr>
            <p:ph type="title"/>
          </p:nvPr>
        </p:nvSpPr>
        <p:spPr/>
        <p:txBody>
          <a:bodyPr/>
          <a:lstStyle/>
          <a:p>
            <a:r>
              <a:rPr lang="en-US" dirty="0"/>
              <a:t>General Statistics: ANOVA of linear models</a:t>
            </a:r>
          </a:p>
        </p:txBody>
      </p:sp>
      <p:pic>
        <p:nvPicPr>
          <p:cNvPr id="7" name="Picture 6">
            <a:extLst>
              <a:ext uri="{FF2B5EF4-FFF2-40B4-BE49-F238E27FC236}">
                <a16:creationId xmlns:a16="http://schemas.microsoft.com/office/drawing/2014/main" id="{C390D8F2-FE6B-9D47-9E22-2349F978CFF2}"/>
              </a:ext>
            </a:extLst>
          </p:cNvPr>
          <p:cNvPicPr>
            <a:picLocks noChangeAspect="1"/>
          </p:cNvPicPr>
          <p:nvPr/>
        </p:nvPicPr>
        <p:blipFill>
          <a:blip r:embed="rId3"/>
          <a:stretch>
            <a:fillRect/>
          </a:stretch>
        </p:blipFill>
        <p:spPr>
          <a:xfrm>
            <a:off x="9553800" y="1743519"/>
            <a:ext cx="1800000" cy="1800000"/>
          </a:xfrm>
          <a:prstGeom prst="rect">
            <a:avLst/>
          </a:prstGeom>
        </p:spPr>
      </p:pic>
      <p:pic>
        <p:nvPicPr>
          <p:cNvPr id="9" name="Picture 8">
            <a:extLst>
              <a:ext uri="{FF2B5EF4-FFF2-40B4-BE49-F238E27FC236}">
                <a16:creationId xmlns:a16="http://schemas.microsoft.com/office/drawing/2014/main" id="{4FF54945-6BCE-4E47-BF8A-AF25A8E40D90}"/>
              </a:ext>
            </a:extLst>
          </p:cNvPr>
          <p:cNvPicPr>
            <a:picLocks noChangeAspect="1"/>
          </p:cNvPicPr>
          <p:nvPr/>
        </p:nvPicPr>
        <p:blipFill>
          <a:blip r:embed="rId4"/>
          <a:stretch>
            <a:fillRect/>
          </a:stretch>
        </p:blipFill>
        <p:spPr>
          <a:xfrm>
            <a:off x="7403583" y="1774451"/>
            <a:ext cx="1800000" cy="1800000"/>
          </a:xfrm>
          <a:prstGeom prst="rect">
            <a:avLst/>
          </a:prstGeom>
        </p:spPr>
      </p:pic>
      <p:pic>
        <p:nvPicPr>
          <p:cNvPr id="11" name="Picture 10">
            <a:extLst>
              <a:ext uri="{FF2B5EF4-FFF2-40B4-BE49-F238E27FC236}">
                <a16:creationId xmlns:a16="http://schemas.microsoft.com/office/drawing/2014/main" id="{6527A7FD-FEEC-2D42-8379-AF823768FF64}"/>
              </a:ext>
            </a:extLst>
          </p:cNvPr>
          <p:cNvPicPr>
            <a:picLocks noChangeAspect="1"/>
          </p:cNvPicPr>
          <p:nvPr/>
        </p:nvPicPr>
        <p:blipFill>
          <a:blip r:embed="rId5"/>
          <a:stretch>
            <a:fillRect/>
          </a:stretch>
        </p:blipFill>
        <p:spPr>
          <a:xfrm>
            <a:off x="3007238" y="1796761"/>
            <a:ext cx="1800000" cy="1800000"/>
          </a:xfrm>
          <a:prstGeom prst="rect">
            <a:avLst/>
          </a:prstGeom>
        </p:spPr>
      </p:pic>
      <p:pic>
        <p:nvPicPr>
          <p:cNvPr id="13" name="Picture 12">
            <a:extLst>
              <a:ext uri="{FF2B5EF4-FFF2-40B4-BE49-F238E27FC236}">
                <a16:creationId xmlns:a16="http://schemas.microsoft.com/office/drawing/2014/main" id="{756C24B0-18AF-804C-9C45-0B501074A7DC}"/>
              </a:ext>
            </a:extLst>
          </p:cNvPr>
          <p:cNvPicPr>
            <a:picLocks noChangeAspect="1"/>
          </p:cNvPicPr>
          <p:nvPr/>
        </p:nvPicPr>
        <p:blipFill>
          <a:blip r:embed="rId6"/>
          <a:stretch>
            <a:fillRect/>
          </a:stretch>
        </p:blipFill>
        <p:spPr>
          <a:xfrm>
            <a:off x="5196000" y="1761726"/>
            <a:ext cx="1800000" cy="1800000"/>
          </a:xfrm>
          <a:prstGeom prst="rect">
            <a:avLst/>
          </a:prstGeom>
        </p:spPr>
      </p:pic>
      <p:pic>
        <p:nvPicPr>
          <p:cNvPr id="15" name="Picture 14">
            <a:extLst>
              <a:ext uri="{FF2B5EF4-FFF2-40B4-BE49-F238E27FC236}">
                <a16:creationId xmlns:a16="http://schemas.microsoft.com/office/drawing/2014/main" id="{77B286B0-164B-BB4E-9DF8-4A9DDFBDF723}"/>
              </a:ext>
            </a:extLst>
          </p:cNvPr>
          <p:cNvPicPr>
            <a:picLocks noChangeAspect="1"/>
          </p:cNvPicPr>
          <p:nvPr/>
        </p:nvPicPr>
        <p:blipFill>
          <a:blip r:embed="rId7"/>
          <a:stretch>
            <a:fillRect/>
          </a:stretch>
        </p:blipFill>
        <p:spPr>
          <a:xfrm>
            <a:off x="838200" y="1796761"/>
            <a:ext cx="1800000" cy="1800000"/>
          </a:xfrm>
          <a:prstGeom prst="rect">
            <a:avLst/>
          </a:prstGeom>
        </p:spPr>
      </p:pic>
      <p:pic>
        <p:nvPicPr>
          <p:cNvPr id="17" name="Picture 16">
            <a:extLst>
              <a:ext uri="{FF2B5EF4-FFF2-40B4-BE49-F238E27FC236}">
                <a16:creationId xmlns:a16="http://schemas.microsoft.com/office/drawing/2014/main" id="{38C7DD22-EC25-1044-853A-C17F7F38BD4E}"/>
              </a:ext>
            </a:extLst>
          </p:cNvPr>
          <p:cNvPicPr>
            <a:picLocks noChangeAspect="1"/>
          </p:cNvPicPr>
          <p:nvPr/>
        </p:nvPicPr>
        <p:blipFill>
          <a:blip r:embed="rId8"/>
          <a:stretch>
            <a:fillRect/>
          </a:stretch>
        </p:blipFill>
        <p:spPr>
          <a:xfrm>
            <a:off x="9553800" y="4330044"/>
            <a:ext cx="1800000" cy="1800000"/>
          </a:xfrm>
          <a:prstGeom prst="rect">
            <a:avLst/>
          </a:prstGeom>
        </p:spPr>
      </p:pic>
      <p:pic>
        <p:nvPicPr>
          <p:cNvPr id="21" name="Picture 20">
            <a:extLst>
              <a:ext uri="{FF2B5EF4-FFF2-40B4-BE49-F238E27FC236}">
                <a16:creationId xmlns:a16="http://schemas.microsoft.com/office/drawing/2014/main" id="{C39A86B3-C4B8-B64A-B7D9-5030E34D4D4A}"/>
              </a:ext>
            </a:extLst>
          </p:cNvPr>
          <p:cNvPicPr>
            <a:picLocks noChangeAspect="1"/>
          </p:cNvPicPr>
          <p:nvPr/>
        </p:nvPicPr>
        <p:blipFill>
          <a:blip r:embed="rId9"/>
          <a:stretch>
            <a:fillRect/>
          </a:stretch>
        </p:blipFill>
        <p:spPr>
          <a:xfrm>
            <a:off x="5196000" y="4330044"/>
            <a:ext cx="1800000" cy="1800000"/>
          </a:xfrm>
          <a:prstGeom prst="rect">
            <a:avLst/>
          </a:prstGeom>
        </p:spPr>
      </p:pic>
      <p:pic>
        <p:nvPicPr>
          <p:cNvPr id="25" name="Picture 24">
            <a:extLst>
              <a:ext uri="{FF2B5EF4-FFF2-40B4-BE49-F238E27FC236}">
                <a16:creationId xmlns:a16="http://schemas.microsoft.com/office/drawing/2014/main" id="{0BFB303C-02A5-B544-B34B-A6F36B3801DF}"/>
              </a:ext>
            </a:extLst>
          </p:cNvPr>
          <p:cNvPicPr>
            <a:picLocks noChangeAspect="1"/>
          </p:cNvPicPr>
          <p:nvPr/>
        </p:nvPicPr>
        <p:blipFill>
          <a:blip r:embed="rId10"/>
          <a:stretch>
            <a:fillRect/>
          </a:stretch>
        </p:blipFill>
        <p:spPr>
          <a:xfrm>
            <a:off x="7238274" y="4330044"/>
            <a:ext cx="1800000" cy="1800000"/>
          </a:xfrm>
          <a:prstGeom prst="rect">
            <a:avLst/>
          </a:prstGeom>
        </p:spPr>
      </p:pic>
      <p:pic>
        <p:nvPicPr>
          <p:cNvPr id="29" name="Picture 28">
            <a:extLst>
              <a:ext uri="{FF2B5EF4-FFF2-40B4-BE49-F238E27FC236}">
                <a16:creationId xmlns:a16="http://schemas.microsoft.com/office/drawing/2014/main" id="{8AC5CD21-BF3C-D64F-AE15-E1717AD46B46}"/>
              </a:ext>
            </a:extLst>
          </p:cNvPr>
          <p:cNvPicPr>
            <a:picLocks noChangeAspect="1"/>
          </p:cNvPicPr>
          <p:nvPr/>
        </p:nvPicPr>
        <p:blipFill>
          <a:blip r:embed="rId11"/>
          <a:stretch>
            <a:fillRect/>
          </a:stretch>
        </p:blipFill>
        <p:spPr>
          <a:xfrm>
            <a:off x="761111" y="4330044"/>
            <a:ext cx="1800000" cy="1800000"/>
          </a:xfrm>
          <a:prstGeom prst="rect">
            <a:avLst/>
          </a:prstGeom>
        </p:spPr>
      </p:pic>
      <p:pic>
        <p:nvPicPr>
          <p:cNvPr id="33" name="Picture 32">
            <a:extLst>
              <a:ext uri="{FF2B5EF4-FFF2-40B4-BE49-F238E27FC236}">
                <a16:creationId xmlns:a16="http://schemas.microsoft.com/office/drawing/2014/main" id="{2AAC71C9-1DDD-D346-9BC4-A459C98EE3EA}"/>
              </a:ext>
            </a:extLst>
          </p:cNvPr>
          <p:cNvPicPr>
            <a:picLocks noChangeAspect="1"/>
          </p:cNvPicPr>
          <p:nvPr/>
        </p:nvPicPr>
        <p:blipFill>
          <a:blip r:embed="rId12"/>
          <a:stretch>
            <a:fillRect/>
          </a:stretch>
        </p:blipFill>
        <p:spPr>
          <a:xfrm>
            <a:off x="2961739" y="4330044"/>
            <a:ext cx="1800000" cy="1800000"/>
          </a:xfrm>
          <a:prstGeom prst="rect">
            <a:avLst/>
          </a:prstGeom>
        </p:spPr>
      </p:pic>
      <p:sp>
        <p:nvSpPr>
          <p:cNvPr id="34" name="TextBox 33">
            <a:extLst>
              <a:ext uri="{FF2B5EF4-FFF2-40B4-BE49-F238E27FC236}">
                <a16:creationId xmlns:a16="http://schemas.microsoft.com/office/drawing/2014/main" id="{EFB48590-676E-D24C-9954-B8281B91DEAF}"/>
              </a:ext>
            </a:extLst>
          </p:cNvPr>
          <p:cNvSpPr txBox="1"/>
          <p:nvPr/>
        </p:nvSpPr>
        <p:spPr>
          <a:xfrm>
            <a:off x="761111" y="3605383"/>
            <a:ext cx="10592689" cy="646331"/>
          </a:xfrm>
          <a:prstGeom prst="rect">
            <a:avLst/>
          </a:prstGeom>
          <a:noFill/>
        </p:spPr>
        <p:txBody>
          <a:bodyPr wrap="square" rtlCol="0">
            <a:spAutoFit/>
          </a:bodyPr>
          <a:lstStyle/>
          <a:p>
            <a:r>
              <a:rPr lang="en-US" dirty="0"/>
              <a:t>Figures 12-16: Boxplots showing medians, 25</a:t>
            </a:r>
            <a:r>
              <a:rPr lang="en-US" baseline="30000" dirty="0"/>
              <a:t>th</a:t>
            </a:r>
            <a:r>
              <a:rPr lang="en-US" dirty="0"/>
              <a:t>, 75th percentiles and outlying data points for ASV richness, hole area, hole depth, chlorophyll and DNA content, between the two glaciers</a:t>
            </a:r>
          </a:p>
        </p:txBody>
      </p:sp>
      <p:sp>
        <p:nvSpPr>
          <p:cNvPr id="35" name="TextBox 34">
            <a:extLst>
              <a:ext uri="{FF2B5EF4-FFF2-40B4-BE49-F238E27FC236}">
                <a16:creationId xmlns:a16="http://schemas.microsoft.com/office/drawing/2014/main" id="{AC8322CB-50FC-D04E-80D9-08868385A3B5}"/>
              </a:ext>
            </a:extLst>
          </p:cNvPr>
          <p:cNvSpPr txBox="1"/>
          <p:nvPr/>
        </p:nvSpPr>
        <p:spPr>
          <a:xfrm>
            <a:off x="799655" y="6155450"/>
            <a:ext cx="10592689" cy="646331"/>
          </a:xfrm>
          <a:prstGeom prst="rect">
            <a:avLst/>
          </a:prstGeom>
          <a:noFill/>
        </p:spPr>
        <p:txBody>
          <a:bodyPr wrap="square" rtlCol="0">
            <a:spAutoFit/>
          </a:bodyPr>
          <a:lstStyle/>
          <a:p>
            <a:r>
              <a:rPr lang="en-US" dirty="0"/>
              <a:t>Figures 17-21: Boxplots showing medians, 25</a:t>
            </a:r>
            <a:r>
              <a:rPr lang="en-US" baseline="30000" dirty="0"/>
              <a:t>th</a:t>
            </a:r>
            <a:r>
              <a:rPr lang="en-US" dirty="0"/>
              <a:t>, 75th percentiles and outlying data points for Shannon, Simpson, Inverse Simpson Diversity, </a:t>
            </a:r>
            <a:r>
              <a:rPr lang="en-US" dirty="0" err="1"/>
              <a:t>Pilou</a:t>
            </a:r>
            <a:r>
              <a:rPr lang="en-US" dirty="0"/>
              <a:t> Evenness and Faith’s PD, between the two glaciers</a:t>
            </a:r>
          </a:p>
        </p:txBody>
      </p:sp>
    </p:spTree>
    <p:extLst>
      <p:ext uri="{BB962C8B-B14F-4D97-AF65-F5344CB8AC3E}">
        <p14:creationId xmlns:p14="http://schemas.microsoft.com/office/powerpoint/2010/main" val="8479132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D80F-EB70-6C4E-8A1D-52448A861CC4}"/>
              </a:ext>
            </a:extLst>
          </p:cNvPr>
          <p:cNvSpPr>
            <a:spLocks noGrp="1"/>
          </p:cNvSpPr>
          <p:nvPr>
            <p:ph type="title"/>
          </p:nvPr>
        </p:nvSpPr>
        <p:spPr/>
        <p:txBody>
          <a:bodyPr/>
          <a:lstStyle/>
          <a:p>
            <a:r>
              <a:rPr lang="en-US" dirty="0"/>
              <a:t>General Statistics: Linear Regression Analysis</a:t>
            </a:r>
          </a:p>
        </p:txBody>
      </p:sp>
      <p:sp>
        <p:nvSpPr>
          <p:cNvPr id="3" name="Content Placeholder 2">
            <a:extLst>
              <a:ext uri="{FF2B5EF4-FFF2-40B4-BE49-F238E27FC236}">
                <a16:creationId xmlns:a16="http://schemas.microsoft.com/office/drawing/2014/main" id="{734B7B04-01BB-5A49-B86B-6A4F674D3E63}"/>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6542806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p:txBody>
          <a:bodyPr/>
          <a:lstStyle/>
          <a:p>
            <a:r>
              <a:rPr lang="en-US" dirty="0"/>
              <a:t>Island Species-Area Relationship (ISAR)</a:t>
            </a:r>
          </a:p>
        </p:txBody>
      </p:sp>
      <p:sp>
        <p:nvSpPr>
          <p:cNvPr id="3" name="Content Placeholder 2">
            <a:extLst>
              <a:ext uri="{FF2B5EF4-FFF2-40B4-BE49-F238E27FC236}">
                <a16:creationId xmlns:a16="http://schemas.microsoft.com/office/drawing/2014/main" id="{8164F5FD-2E5F-5C41-AD49-D588DDF751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25178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p:txBody>
          <a:bodyPr/>
          <a:lstStyle/>
          <a:p>
            <a:r>
              <a:rPr lang="en-US" dirty="0"/>
              <a:t>Distance-Decay Relationship (DDR)</a:t>
            </a:r>
          </a:p>
        </p:txBody>
      </p:sp>
      <p:sp>
        <p:nvSpPr>
          <p:cNvPr id="3" name="Content Placeholder 2">
            <a:extLst>
              <a:ext uri="{FF2B5EF4-FFF2-40B4-BE49-F238E27FC236}">
                <a16:creationId xmlns:a16="http://schemas.microsoft.com/office/drawing/2014/main" id="{8C99AD61-FFDB-C541-AC73-40B69F35175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031241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F90D7D02-C8D3-3346-98EA-A1F2BC2048E4}"/>
              </a:ext>
            </a:extLst>
          </p:cNvPr>
          <p:cNvSpPr>
            <a:spLocks noGrp="1"/>
          </p:cNvSpPr>
          <p:nvPr>
            <p:ph idx="1"/>
          </p:nvPr>
        </p:nvSpPr>
        <p:spPr/>
        <p:txBody>
          <a:bodyPr/>
          <a:lstStyle/>
          <a:p>
            <a:r>
              <a:rPr lang="en-US" dirty="0"/>
              <a:t>Variable selection</a:t>
            </a:r>
          </a:p>
          <a:p>
            <a:r>
              <a:rPr lang="en-US" dirty="0"/>
              <a:t>Homogenizing selection</a:t>
            </a:r>
          </a:p>
          <a:p>
            <a:r>
              <a:rPr lang="en-US" dirty="0"/>
              <a:t>Dispersal limitation</a:t>
            </a:r>
          </a:p>
          <a:p>
            <a:r>
              <a:rPr lang="en-US" dirty="0"/>
              <a:t>Homogenizing dispersal</a:t>
            </a:r>
          </a:p>
          <a:p>
            <a:r>
              <a:rPr lang="en-US" dirty="0"/>
              <a:t>Ecological drift</a:t>
            </a:r>
          </a:p>
        </p:txBody>
      </p:sp>
    </p:spTree>
    <p:extLst>
      <p:ext uri="{BB962C8B-B14F-4D97-AF65-F5344CB8AC3E}">
        <p14:creationId xmlns:p14="http://schemas.microsoft.com/office/powerpoint/2010/main" val="5693683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6D42-074B-1E4B-A777-A7DC340A8715}"/>
              </a:ext>
            </a:extLst>
          </p:cNvPr>
          <p:cNvSpPr>
            <a:spLocks noGrp="1"/>
          </p:cNvSpPr>
          <p:nvPr>
            <p:ph type="title"/>
          </p:nvPr>
        </p:nvSpPr>
        <p:spPr/>
        <p:txBody>
          <a:bodyPr/>
          <a:lstStyle/>
          <a:p>
            <a:r>
              <a:rPr lang="en-US" dirty="0"/>
              <a:t>Evolutionary Diversification</a:t>
            </a:r>
          </a:p>
        </p:txBody>
      </p:sp>
      <p:sp>
        <p:nvSpPr>
          <p:cNvPr id="3" name="Content Placeholder 2">
            <a:extLst>
              <a:ext uri="{FF2B5EF4-FFF2-40B4-BE49-F238E27FC236}">
                <a16:creationId xmlns:a16="http://schemas.microsoft.com/office/drawing/2014/main" id="{1CA944D9-62DB-F04F-A3DA-3DD8B531DB2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9820181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p:txBody>
          <a:bodyPr/>
          <a:lstStyle/>
          <a:p>
            <a:r>
              <a:rPr lang="en-US" dirty="0"/>
              <a:t>Phylogenetic Null Model</a:t>
            </a:r>
          </a:p>
        </p:txBody>
      </p:sp>
      <p:sp>
        <p:nvSpPr>
          <p:cNvPr id="3" name="Content Placeholder 2">
            <a:extLst>
              <a:ext uri="{FF2B5EF4-FFF2-40B4-BE49-F238E27FC236}">
                <a16:creationId xmlns:a16="http://schemas.microsoft.com/office/drawing/2014/main" id="{5BADFAAF-DC9F-AC4F-9CCF-4761A7AC07D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38930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p:txBody>
          <a:bodyPr/>
          <a:lstStyle/>
          <a:p>
            <a:r>
              <a:rPr lang="en-US" dirty="0"/>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64B50-1133-7740-B87C-5F128B15AF84}"/>
              </a:ext>
            </a:extLst>
          </p:cNvPr>
          <p:cNvSpPr>
            <a:spLocks noGrp="1"/>
          </p:cNvSpPr>
          <p:nvPr>
            <p:ph type="title"/>
          </p:nvPr>
        </p:nvSpPr>
        <p:spPr/>
        <p:txBody>
          <a:bodyPr/>
          <a:lstStyle/>
          <a:p>
            <a:r>
              <a:rPr lang="el-GR" dirty="0"/>
              <a:t>β</a:t>
            </a:r>
            <a:r>
              <a:rPr lang="en-US" dirty="0"/>
              <a:t>-Nearest Taxon Index</a:t>
            </a:r>
          </a:p>
        </p:txBody>
      </p:sp>
      <p:sp>
        <p:nvSpPr>
          <p:cNvPr id="3" name="Content Placeholder 2">
            <a:extLst>
              <a:ext uri="{FF2B5EF4-FFF2-40B4-BE49-F238E27FC236}">
                <a16:creationId xmlns:a16="http://schemas.microsoft.com/office/drawing/2014/main" id="{A128397E-478A-7C43-B224-54FEC2B5BD9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150273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p:txBody>
          <a:bodyPr/>
          <a:lstStyle/>
          <a:p>
            <a:r>
              <a:rPr lang="en-US" dirty="0"/>
              <a:t>Sloan’s Neutral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p:txBody>
          <a:bodyPr/>
          <a:lstStyle/>
          <a:p>
            <a:r>
              <a:rPr lang="en-US" dirty="0"/>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059778" y="1027906"/>
            <a:ext cx="8327233" cy="555148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p:txBody>
          <a:bodyPr/>
          <a:lstStyle/>
          <a:p>
            <a:r>
              <a:rPr lang="en-US" dirty="0"/>
              <a:t>Results</a:t>
            </a:r>
          </a:p>
        </p:txBody>
      </p:sp>
    </p:spTree>
    <p:extLst>
      <p:ext uri="{BB962C8B-B14F-4D97-AF65-F5344CB8AC3E}">
        <p14:creationId xmlns:p14="http://schemas.microsoft.com/office/powerpoint/2010/main" val="9662271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p:txBody>
          <a:bodyPr/>
          <a:lstStyle/>
          <a:p>
            <a:r>
              <a:rPr lang="en-US" dirty="0"/>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5778</TotalTime>
  <Words>3189</Words>
  <Application>Microsoft Macintosh PowerPoint</Application>
  <PresentationFormat>Widescreen</PresentationFormat>
  <Paragraphs>285</Paragraphs>
  <Slides>28</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Why are they different? Why should we care?</vt:lpstr>
      <vt:lpstr>Community Assembly Processes</vt:lpstr>
      <vt:lpstr>Supraglacial deterministic processes</vt:lpstr>
      <vt:lpstr>Supraglacial stochastic processes</vt:lpstr>
      <vt:lpstr>Hypotheses</vt:lpstr>
      <vt:lpstr>Analysis Workflow</vt:lpstr>
      <vt:lpstr>Sommers et al., (2020) ﻿Microbial Species–Area Relationships in Antarctic Cryoconite Holes Depend on Productivity</vt:lpstr>
      <vt:lpstr>QIIME2 &amp; DADA2</vt:lpstr>
      <vt:lpstr>Data Prep</vt:lpstr>
      <vt:lpstr>Ordination </vt:lpstr>
      <vt:lpstr>Ordination</vt:lpstr>
      <vt:lpstr>Alpha Diversity</vt:lpstr>
      <vt:lpstr>Beta Diversity </vt:lpstr>
      <vt:lpstr>General Statistics: ANOVA of linear models</vt:lpstr>
      <vt:lpstr>General Statistics: Linear Regression Analysis</vt:lpstr>
      <vt:lpstr>Multivariate Analysis</vt:lpstr>
      <vt:lpstr>Island Species-Area Relationship (ISAR)</vt:lpstr>
      <vt:lpstr>Distance-Decay Relationship (DDR)</vt:lpstr>
      <vt:lpstr>Community Assembly Processes</vt:lpstr>
      <vt:lpstr>Evolutionary Diversification</vt:lpstr>
      <vt:lpstr>Phylogenetic Null Model</vt:lpstr>
      <vt:lpstr>Phylogenetic Signal</vt:lpstr>
      <vt:lpstr>β-Nearest Taxon Index</vt:lpstr>
      <vt:lpstr>Sloan’s Neutral Model</vt:lpstr>
      <vt:lpstr>Code</vt:lpstr>
      <vt:lpstr>Results</vt:lpstr>
      <vt:lpstr>Co-Occurrence Network Analysis</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67</cp:revision>
  <dcterms:created xsi:type="dcterms:W3CDTF">2021-04-15T08:49:25Z</dcterms:created>
  <dcterms:modified xsi:type="dcterms:W3CDTF">2021-04-20T08:58:00Z</dcterms:modified>
</cp:coreProperties>
</file>