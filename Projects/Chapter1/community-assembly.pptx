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79" r:id="rId3"/>
    <p:sldId id="264" r:id="rId4"/>
    <p:sldId id="268" r:id="rId5"/>
    <p:sldId id="269" r:id="rId6"/>
    <p:sldId id="270" r:id="rId7"/>
    <p:sldId id="280" r:id="rId8"/>
    <p:sldId id="281" r:id="rId9"/>
    <p:sldId id="283" r:id="rId10"/>
    <p:sldId id="282" r:id="rId11"/>
    <p:sldId id="287" r:id="rId12"/>
    <p:sldId id="299" r:id="rId13"/>
    <p:sldId id="274" r:id="rId14"/>
    <p:sldId id="288" r:id="rId15"/>
    <p:sldId id="289" r:id="rId16"/>
    <p:sldId id="290" r:id="rId17"/>
    <p:sldId id="291" r:id="rId18"/>
    <p:sldId id="292" r:id="rId19"/>
    <p:sldId id="284" r:id="rId20"/>
    <p:sldId id="285" r:id="rId21"/>
    <p:sldId id="286" r:id="rId22"/>
    <p:sldId id="263" r:id="rId23"/>
    <p:sldId id="258" r:id="rId24"/>
    <p:sldId id="259" r:id="rId25"/>
    <p:sldId id="261" r:id="rId26"/>
    <p:sldId id="277" r:id="rId27"/>
    <p:sldId id="278" r:id="rId28"/>
    <p:sldId id="293" r:id="rId29"/>
    <p:sldId id="271" r:id="rId30"/>
    <p:sldId id="265" r:id="rId31"/>
    <p:sldId id="260" r:id="rId32"/>
    <p:sldId id="262" r:id="rId33"/>
    <p:sldId id="294" r:id="rId34"/>
    <p:sldId id="298" r:id="rId35"/>
    <p:sldId id="295" r:id="rId36"/>
    <p:sldId id="296" r:id="rId37"/>
    <p:sldId id="29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44"/>
    <p:restoredTop sz="83266"/>
  </p:normalViewPr>
  <p:slideViewPr>
    <p:cSldViewPr snapToGrid="0" snapToObjects="1">
      <p:cViewPr>
        <p:scale>
          <a:sx n="90" d="100"/>
          <a:sy n="90" d="100"/>
        </p:scale>
        <p:origin x="1744"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Used ‘vegan’ package to get Shannon, Simpsons, Inverted Simpsons Diversity Indexes of count data in each sample. Also </a:t>
            </a:r>
            <a:r>
              <a:rPr lang="en-US" dirty="0" err="1"/>
              <a:t>Pilou</a:t>
            </a:r>
            <a:r>
              <a:rPr lang="en-US" dirty="0"/>
              <a:t> evenness and Faith’s phylogenetic diversity. </a:t>
            </a:r>
          </a:p>
          <a:p>
            <a:pPr marL="228600" indent="-228600">
              <a:buAutoNum type="arabicParenR"/>
            </a:pPr>
            <a:endParaRPr lang="en-US" dirty="0"/>
          </a:p>
          <a:p>
            <a:pPr marL="228600" indent="-228600">
              <a:buAutoNum type="arabicParenR"/>
            </a:pPr>
            <a:r>
              <a:rPr lang="en-US" dirty="0"/>
              <a:t>Alternatively use alpha() function from microbiome package to calculate all indices at one!</a:t>
            </a:r>
          </a:p>
          <a:p>
            <a:pPr marL="228600" indent="-228600">
              <a:buAutoNum type="arabicParenR"/>
            </a:pPr>
            <a:endParaRPr lang="en-US" dirty="0"/>
          </a:p>
          <a:p>
            <a:pPr marL="228600" indent="-228600">
              <a:buAutoNum type="arabicParenR"/>
            </a:pPr>
            <a:r>
              <a:rPr lang="en-US" dirty="0"/>
              <a:t>Here we have boxplots comparing the diversity indices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phylogenetic diversities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40339710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abundance plots, agglomerated by Class</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761170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#Unweighted </a:t>
            </a:r>
            <a:r>
              <a:rPr lang="en-US" dirty="0" err="1"/>
              <a:t>unifrac</a:t>
            </a:r>
            <a:r>
              <a:rPr lang="en-US" dirty="0"/>
              <a:t> is based on presence/absence not abundance - but it is sensitive to sequencing depth. So if a sample is of greater depth than other reads it may have more low abundance taxa and therefore effect the </a:t>
            </a:r>
            <a:r>
              <a:rPr lang="en-US" dirty="0" err="1"/>
              <a:t>unifrac</a:t>
            </a:r>
            <a:r>
              <a:rPr lang="en-US" dirty="0"/>
              <a:t> metric</a:t>
            </a:r>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1274742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32</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33</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34</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35</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36</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emf"/></Relationships>
</file>

<file path=ppt/slides/_rels/slide1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emf"/><Relationship Id="rId1" Type="http://schemas.openxmlformats.org/officeDocument/2006/relationships/slideLayout" Target="../slideLayouts/slideLayout2.xml"/><Relationship Id="rId4" Type="http://schemas.openxmlformats.org/officeDocument/2006/relationships/image" Target="../media/image7.emf"/></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18.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14.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19.xml.rels><?xml version="1.0" encoding="UTF-8" standalone="yes"?>
<Relationships xmlns="http://schemas.openxmlformats.org/package/2006/relationships"><Relationship Id="rId8" Type="http://schemas.openxmlformats.org/officeDocument/2006/relationships/image" Target="../media/image22.emf"/><Relationship Id="rId3" Type="http://schemas.openxmlformats.org/officeDocument/2006/relationships/image" Target="../media/image17.emf"/><Relationship Id="rId7" Type="http://schemas.openxmlformats.org/officeDocument/2006/relationships/image" Target="../media/image21.emf"/><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emf"/><Relationship Id="rId5" Type="http://schemas.openxmlformats.org/officeDocument/2006/relationships/image" Target="../media/image19.emf"/><Relationship Id="rId4" Type="http://schemas.openxmlformats.org/officeDocument/2006/relationships/image" Target="../media/image18.emf"/></Relationships>
</file>

<file path=ppt/slides/_rels/slide20.xml.rels><?xml version="1.0" encoding="UTF-8" standalone="yes"?>
<Relationships xmlns="http://schemas.openxmlformats.org/package/2006/relationships"><Relationship Id="rId8" Type="http://schemas.openxmlformats.org/officeDocument/2006/relationships/image" Target="../media/image28.emf"/><Relationship Id="rId3" Type="http://schemas.openxmlformats.org/officeDocument/2006/relationships/image" Target="../media/image23.emf"/><Relationship Id="rId7" Type="http://schemas.openxmlformats.org/officeDocument/2006/relationships/image" Target="../media/image27.emf"/><Relationship Id="rId12"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emf"/><Relationship Id="rId11" Type="http://schemas.openxmlformats.org/officeDocument/2006/relationships/image" Target="../media/image31.emf"/><Relationship Id="rId5" Type="http://schemas.openxmlformats.org/officeDocument/2006/relationships/image" Target="../media/image25.emf"/><Relationship Id="rId10" Type="http://schemas.openxmlformats.org/officeDocument/2006/relationships/image" Target="../media/image30.emf"/><Relationship Id="rId4" Type="http://schemas.openxmlformats.org/officeDocument/2006/relationships/image" Target="../media/image24.emf"/><Relationship Id="rId9" Type="http://schemas.openxmlformats.org/officeDocument/2006/relationships/image" Target="../media/image29.emf"/></Relationships>
</file>

<file path=ppt/slides/_rels/slide21.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emf"/><Relationship Id="rId1" Type="http://schemas.openxmlformats.org/officeDocument/2006/relationships/slideLayout" Target="../slideLayouts/slideLayout2.xml"/><Relationship Id="rId4" Type="http://schemas.openxmlformats.org/officeDocument/2006/relationships/image" Target="../media/image36.emf"/></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9.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&amp; Abundance </a:t>
            </a:r>
            <a:r>
              <a:rPr lang="en-US" sz="4000" dirty="0" err="1"/>
              <a:t>Barplots</a:t>
            </a:r>
            <a:endParaRPr lang="en-US" sz="4000" dirty="0"/>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a:bodyPr>
          <a:lstStyle/>
          <a:p>
            <a:pPr marL="0" indent="0" algn="ctr">
              <a:buNone/>
            </a:pPr>
            <a:r>
              <a:rPr lang="en-US" sz="2400" dirty="0"/>
              <a:t>Figure : </a:t>
            </a:r>
            <a:r>
              <a:rPr lang="en-GB" sz="2400" dirty="0"/>
              <a:t>Plots of ASV richness (A) and Shannon Diversity Index (B) for each glacier</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a:solidFill>
            <a:srgbClr val="FFC000"/>
          </a:solidFill>
        </p:spPr>
        <p:txBody>
          <a:bodyPr/>
          <a:lstStyle/>
          <a:p>
            <a:r>
              <a:rPr lang="en-US" dirty="0">
                <a:solidFill>
                  <a:schemeClr val="bg1"/>
                </a:solidFill>
              </a:rPr>
              <a:t>Alpha Non-Phylogenetic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p:txBody>
      </p:sp>
      <p:pic>
        <p:nvPicPr>
          <p:cNvPr id="7" name="Picture 6">
            <a:extLst>
              <a:ext uri="{FF2B5EF4-FFF2-40B4-BE49-F238E27FC236}">
                <a16:creationId xmlns:a16="http://schemas.microsoft.com/office/drawing/2014/main" id="{532DAA6A-1BA6-784C-8346-66D74B337D63}"/>
              </a:ext>
            </a:extLst>
          </p:cNvPr>
          <p:cNvPicPr>
            <a:picLocks noChangeAspect="1"/>
          </p:cNvPicPr>
          <p:nvPr/>
        </p:nvPicPr>
        <p:blipFill>
          <a:blip r:embed="rId3"/>
          <a:stretch>
            <a:fillRect/>
          </a:stretch>
        </p:blipFill>
        <p:spPr>
          <a:xfrm>
            <a:off x="7543801" y="1825625"/>
            <a:ext cx="4014788" cy="2626636"/>
          </a:xfrm>
          <a:prstGeom prst="rect">
            <a:avLst/>
          </a:prstGeom>
        </p:spPr>
      </p:pic>
      <p:pic>
        <p:nvPicPr>
          <p:cNvPr id="9" name="Picture 8">
            <a:extLst>
              <a:ext uri="{FF2B5EF4-FFF2-40B4-BE49-F238E27FC236}">
                <a16:creationId xmlns:a16="http://schemas.microsoft.com/office/drawing/2014/main" id="{5B9B9A0C-CA89-F44A-BC6E-FEC9B7A6955E}"/>
              </a:ext>
            </a:extLst>
          </p:cNvPr>
          <p:cNvPicPr>
            <a:picLocks noChangeAspect="1"/>
          </p:cNvPicPr>
          <p:nvPr/>
        </p:nvPicPr>
        <p:blipFill>
          <a:blip r:embed="rId4"/>
          <a:stretch>
            <a:fillRect/>
          </a:stretch>
        </p:blipFill>
        <p:spPr>
          <a:xfrm>
            <a:off x="3595688" y="3961130"/>
            <a:ext cx="5876925" cy="2350770"/>
          </a:xfrm>
          <a:prstGeom prst="rect">
            <a:avLst/>
          </a:prstGeom>
        </p:spPr>
      </p:pic>
    </p:spTree>
    <p:extLst>
      <p:ext uri="{BB962C8B-B14F-4D97-AF65-F5344CB8AC3E}">
        <p14:creationId xmlns:p14="http://schemas.microsoft.com/office/powerpoint/2010/main" val="3987674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AF8D7-3E78-9144-9420-0CF314CC8A5D}"/>
              </a:ext>
            </a:extLst>
          </p:cNvPr>
          <p:cNvSpPr>
            <a:spLocks noGrp="1"/>
          </p:cNvSpPr>
          <p:nvPr>
            <p:ph type="title"/>
          </p:nvPr>
        </p:nvSpPr>
        <p:spPr>
          <a:solidFill>
            <a:srgbClr val="FFC003"/>
          </a:solidFill>
        </p:spPr>
        <p:txBody>
          <a:bodyPr/>
          <a:lstStyle/>
          <a:p>
            <a:r>
              <a:rPr lang="en-US" dirty="0">
                <a:solidFill>
                  <a:schemeClr val="bg1"/>
                </a:solidFill>
              </a:rPr>
              <a:t>Alpha Phylogenetic Diversity</a:t>
            </a:r>
          </a:p>
        </p:txBody>
      </p:sp>
      <p:pic>
        <p:nvPicPr>
          <p:cNvPr id="5" name="Picture 4">
            <a:extLst>
              <a:ext uri="{FF2B5EF4-FFF2-40B4-BE49-F238E27FC236}">
                <a16:creationId xmlns:a16="http://schemas.microsoft.com/office/drawing/2014/main" id="{216F0C48-ECD9-7D4B-B913-7CD1FABCCE0B}"/>
              </a:ext>
            </a:extLst>
          </p:cNvPr>
          <p:cNvPicPr>
            <a:picLocks noChangeAspect="1"/>
          </p:cNvPicPr>
          <p:nvPr/>
        </p:nvPicPr>
        <p:blipFill>
          <a:blip r:embed="rId3"/>
          <a:stretch>
            <a:fillRect/>
          </a:stretch>
        </p:blipFill>
        <p:spPr>
          <a:xfrm>
            <a:off x="1524000" y="2243138"/>
            <a:ext cx="9144000" cy="3657600"/>
          </a:xfrm>
          <a:prstGeom prst="rect">
            <a:avLst/>
          </a:prstGeom>
        </p:spPr>
      </p:pic>
    </p:spTree>
    <p:extLst>
      <p:ext uri="{BB962C8B-B14F-4D97-AF65-F5344CB8AC3E}">
        <p14:creationId xmlns:p14="http://schemas.microsoft.com/office/powerpoint/2010/main" val="3541101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646AA-6E34-1841-AD06-37F9BCAFCAB3}"/>
              </a:ext>
            </a:extLst>
          </p:cNvPr>
          <p:cNvSpPr>
            <a:spLocks noGrp="1"/>
          </p:cNvSpPr>
          <p:nvPr>
            <p:ph type="title"/>
          </p:nvPr>
        </p:nvSpPr>
        <p:spPr>
          <a:solidFill>
            <a:srgbClr val="FFC003"/>
          </a:solidFill>
        </p:spPr>
        <p:txBody>
          <a:bodyPr/>
          <a:lstStyle/>
          <a:p>
            <a:r>
              <a:rPr lang="en-US" dirty="0">
                <a:solidFill>
                  <a:schemeClr val="bg1"/>
                </a:solidFill>
              </a:rPr>
              <a:t>Absolute Abundance Bar Plots</a:t>
            </a:r>
          </a:p>
        </p:txBody>
      </p:sp>
      <p:pic>
        <p:nvPicPr>
          <p:cNvPr id="4" name="Picture 3">
            <a:extLst>
              <a:ext uri="{FF2B5EF4-FFF2-40B4-BE49-F238E27FC236}">
                <a16:creationId xmlns:a16="http://schemas.microsoft.com/office/drawing/2014/main" id="{EDDA40F0-EFC7-4446-8619-F219D607915D}"/>
              </a:ext>
            </a:extLst>
          </p:cNvPr>
          <p:cNvPicPr>
            <a:picLocks noChangeAspect="1"/>
          </p:cNvPicPr>
          <p:nvPr/>
        </p:nvPicPr>
        <p:blipFill>
          <a:blip r:embed="rId2"/>
          <a:stretch>
            <a:fillRect/>
          </a:stretch>
        </p:blipFill>
        <p:spPr>
          <a:xfrm>
            <a:off x="396499" y="1900237"/>
            <a:ext cx="3478199" cy="3478199"/>
          </a:xfrm>
          <a:prstGeom prst="rect">
            <a:avLst/>
          </a:prstGeom>
        </p:spPr>
      </p:pic>
      <p:sp>
        <p:nvSpPr>
          <p:cNvPr id="5" name="TextBox 4">
            <a:extLst>
              <a:ext uri="{FF2B5EF4-FFF2-40B4-BE49-F238E27FC236}">
                <a16:creationId xmlns:a16="http://schemas.microsoft.com/office/drawing/2014/main" id="{022071C3-C747-9349-B947-6E8B3F5B8DA7}"/>
              </a:ext>
            </a:extLst>
          </p:cNvPr>
          <p:cNvSpPr txBox="1"/>
          <p:nvPr/>
        </p:nvSpPr>
        <p:spPr>
          <a:xfrm>
            <a:off x="396499" y="5587985"/>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7" name="Picture 6">
            <a:extLst>
              <a:ext uri="{FF2B5EF4-FFF2-40B4-BE49-F238E27FC236}">
                <a16:creationId xmlns:a16="http://schemas.microsoft.com/office/drawing/2014/main" id="{5E6D3764-8808-7C4C-8644-1B9812C4F4C8}"/>
              </a:ext>
            </a:extLst>
          </p:cNvPr>
          <p:cNvPicPr>
            <a:picLocks noChangeAspect="1"/>
          </p:cNvPicPr>
          <p:nvPr/>
        </p:nvPicPr>
        <p:blipFill>
          <a:blip r:embed="rId3"/>
          <a:stretch>
            <a:fillRect/>
          </a:stretch>
        </p:blipFill>
        <p:spPr>
          <a:xfrm>
            <a:off x="5574103" y="1729558"/>
            <a:ext cx="4541448" cy="2270724"/>
          </a:xfrm>
          <a:prstGeom prst="rect">
            <a:avLst/>
          </a:prstGeom>
        </p:spPr>
      </p:pic>
      <p:pic>
        <p:nvPicPr>
          <p:cNvPr id="9" name="Picture 8">
            <a:extLst>
              <a:ext uri="{FF2B5EF4-FFF2-40B4-BE49-F238E27FC236}">
                <a16:creationId xmlns:a16="http://schemas.microsoft.com/office/drawing/2014/main" id="{D900526A-1EB2-154A-9ED5-0666585227DE}"/>
              </a:ext>
            </a:extLst>
          </p:cNvPr>
          <p:cNvPicPr>
            <a:picLocks noChangeAspect="1"/>
          </p:cNvPicPr>
          <p:nvPr/>
        </p:nvPicPr>
        <p:blipFill>
          <a:blip r:embed="rId4"/>
          <a:stretch>
            <a:fillRect/>
          </a:stretch>
        </p:blipFill>
        <p:spPr>
          <a:xfrm>
            <a:off x="5574103" y="4277249"/>
            <a:ext cx="4283465" cy="2141733"/>
          </a:xfrm>
          <a:prstGeom prst="rect">
            <a:avLst/>
          </a:prstGeom>
        </p:spPr>
      </p:pic>
    </p:spTree>
    <p:extLst>
      <p:ext uri="{BB962C8B-B14F-4D97-AF65-F5344CB8AC3E}">
        <p14:creationId xmlns:p14="http://schemas.microsoft.com/office/powerpoint/2010/main" val="13562468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91A7E-3582-1F45-81B4-40F9D6A0731D}"/>
              </a:ext>
            </a:extLst>
          </p:cNvPr>
          <p:cNvSpPr>
            <a:spLocks noGrp="1"/>
          </p:cNvSpPr>
          <p:nvPr>
            <p:ph type="title"/>
          </p:nvPr>
        </p:nvSpPr>
        <p:spPr>
          <a:solidFill>
            <a:srgbClr val="FFC003"/>
          </a:solidFill>
        </p:spPr>
        <p:txBody>
          <a:bodyPr/>
          <a:lstStyle/>
          <a:p>
            <a:r>
              <a:rPr lang="en-US" dirty="0">
                <a:solidFill>
                  <a:schemeClr val="bg1"/>
                </a:solidFill>
              </a:rPr>
              <a:t>Relative Abundance Bar Plots</a:t>
            </a:r>
          </a:p>
        </p:txBody>
      </p:sp>
      <p:pic>
        <p:nvPicPr>
          <p:cNvPr id="13" name="Picture 12">
            <a:extLst>
              <a:ext uri="{FF2B5EF4-FFF2-40B4-BE49-F238E27FC236}">
                <a16:creationId xmlns:a16="http://schemas.microsoft.com/office/drawing/2014/main" id="{625ED448-45D4-B046-86B2-8A8A85125618}"/>
              </a:ext>
            </a:extLst>
          </p:cNvPr>
          <p:cNvPicPr>
            <a:picLocks noChangeAspect="1"/>
          </p:cNvPicPr>
          <p:nvPr/>
        </p:nvPicPr>
        <p:blipFill>
          <a:blip r:embed="rId3"/>
          <a:stretch>
            <a:fillRect/>
          </a:stretch>
        </p:blipFill>
        <p:spPr>
          <a:xfrm>
            <a:off x="2338387" y="1768474"/>
            <a:ext cx="7077076" cy="4718051"/>
          </a:xfrm>
          <a:prstGeom prst="rect">
            <a:avLst/>
          </a:prstGeom>
        </p:spPr>
      </p:pic>
    </p:spTree>
    <p:extLst>
      <p:ext uri="{BB962C8B-B14F-4D97-AF65-F5344CB8AC3E}">
        <p14:creationId xmlns:p14="http://schemas.microsoft.com/office/powerpoint/2010/main" val="35743118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94F5-10D0-884B-B137-A4BBC10A30F4}"/>
              </a:ext>
            </a:extLst>
          </p:cNvPr>
          <p:cNvSpPr>
            <a:spLocks noGrp="1"/>
          </p:cNvSpPr>
          <p:nvPr>
            <p:ph type="title"/>
          </p:nvPr>
        </p:nvSpPr>
        <p:spPr>
          <a:solidFill>
            <a:srgbClr val="FFC003"/>
          </a:solidFill>
        </p:spPr>
        <p:txBody>
          <a:bodyPr/>
          <a:lstStyle/>
          <a:p>
            <a:r>
              <a:rPr lang="en-US" dirty="0">
                <a:solidFill>
                  <a:schemeClr val="bg1"/>
                </a:solidFill>
              </a:rPr>
              <a:t>Beta Phylogenetic Diversity &amp; Ordination</a:t>
            </a:r>
          </a:p>
        </p:txBody>
      </p:sp>
      <p:pic>
        <p:nvPicPr>
          <p:cNvPr id="4" name="Picture 3">
            <a:extLst>
              <a:ext uri="{FF2B5EF4-FFF2-40B4-BE49-F238E27FC236}">
                <a16:creationId xmlns:a16="http://schemas.microsoft.com/office/drawing/2014/main" id="{B754F5CF-C190-8442-A426-157B3C2BEA92}"/>
              </a:ext>
            </a:extLst>
          </p:cNvPr>
          <p:cNvPicPr>
            <a:picLocks noChangeAspect="1"/>
          </p:cNvPicPr>
          <p:nvPr/>
        </p:nvPicPr>
        <p:blipFill>
          <a:blip r:embed="rId3"/>
          <a:stretch>
            <a:fillRect/>
          </a:stretch>
        </p:blipFill>
        <p:spPr>
          <a:xfrm>
            <a:off x="7270355" y="902699"/>
            <a:ext cx="3595686" cy="3595686"/>
          </a:xfrm>
          <a:prstGeom prst="rect">
            <a:avLst/>
          </a:prstGeom>
        </p:spPr>
      </p:pic>
      <p:pic>
        <p:nvPicPr>
          <p:cNvPr id="5" name="Picture 4">
            <a:extLst>
              <a:ext uri="{FF2B5EF4-FFF2-40B4-BE49-F238E27FC236}">
                <a16:creationId xmlns:a16="http://schemas.microsoft.com/office/drawing/2014/main" id="{AEEDACE5-D8FE-974B-A660-558C61ABB317}"/>
              </a:ext>
            </a:extLst>
          </p:cNvPr>
          <p:cNvPicPr>
            <a:picLocks noChangeAspect="1"/>
          </p:cNvPicPr>
          <p:nvPr/>
        </p:nvPicPr>
        <p:blipFill rotWithShape="1">
          <a:blip r:embed="rId4"/>
          <a:srcRect t="29431" b="27144"/>
          <a:stretch/>
        </p:blipFill>
        <p:spPr>
          <a:xfrm>
            <a:off x="2167335" y="1919814"/>
            <a:ext cx="3595686" cy="1561456"/>
          </a:xfrm>
          <a:prstGeom prst="rect">
            <a:avLst/>
          </a:prstGeom>
        </p:spPr>
      </p:pic>
      <p:sp>
        <p:nvSpPr>
          <p:cNvPr id="6" name="TextBox 5">
            <a:extLst>
              <a:ext uri="{FF2B5EF4-FFF2-40B4-BE49-F238E27FC236}">
                <a16:creationId xmlns:a16="http://schemas.microsoft.com/office/drawing/2014/main" id="{2DD247B3-370D-CD40-85B1-0BF00CC925FF}"/>
              </a:ext>
            </a:extLst>
          </p:cNvPr>
          <p:cNvSpPr txBox="1"/>
          <p:nvPr/>
        </p:nvSpPr>
        <p:spPr>
          <a:xfrm>
            <a:off x="588170" y="3461725"/>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7" name="TextBox 6">
            <a:extLst>
              <a:ext uri="{FF2B5EF4-FFF2-40B4-BE49-F238E27FC236}">
                <a16:creationId xmlns:a16="http://schemas.microsoft.com/office/drawing/2014/main" id="{86C25D41-2396-E34E-8ED9-757C5826FCD5}"/>
              </a:ext>
            </a:extLst>
          </p:cNvPr>
          <p:cNvSpPr txBox="1"/>
          <p:nvPr/>
        </p:nvSpPr>
        <p:spPr>
          <a:xfrm>
            <a:off x="7475141" y="3413021"/>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9" name="Picture 8">
            <a:extLst>
              <a:ext uri="{FF2B5EF4-FFF2-40B4-BE49-F238E27FC236}">
                <a16:creationId xmlns:a16="http://schemas.microsoft.com/office/drawing/2014/main" id="{64DCED99-8D7A-4141-97F5-B78AC9679478}"/>
              </a:ext>
            </a:extLst>
          </p:cNvPr>
          <p:cNvPicPr>
            <a:picLocks noChangeAspect="1"/>
          </p:cNvPicPr>
          <p:nvPr/>
        </p:nvPicPr>
        <p:blipFill>
          <a:blip r:embed="rId5"/>
          <a:stretch>
            <a:fillRect/>
          </a:stretch>
        </p:blipFill>
        <p:spPr>
          <a:xfrm>
            <a:off x="838200" y="4034249"/>
            <a:ext cx="2410619" cy="1607080"/>
          </a:xfrm>
          <a:prstGeom prst="rect">
            <a:avLst/>
          </a:prstGeom>
        </p:spPr>
      </p:pic>
      <p:pic>
        <p:nvPicPr>
          <p:cNvPr id="11" name="Picture 10">
            <a:extLst>
              <a:ext uri="{FF2B5EF4-FFF2-40B4-BE49-F238E27FC236}">
                <a16:creationId xmlns:a16="http://schemas.microsoft.com/office/drawing/2014/main" id="{70B7CFF2-FC1E-DD48-9DA2-0FAC7296E2EF}"/>
              </a:ext>
            </a:extLst>
          </p:cNvPr>
          <p:cNvPicPr>
            <a:picLocks noChangeAspect="1"/>
          </p:cNvPicPr>
          <p:nvPr/>
        </p:nvPicPr>
        <p:blipFill>
          <a:blip r:embed="rId6"/>
          <a:stretch>
            <a:fillRect/>
          </a:stretch>
        </p:blipFill>
        <p:spPr>
          <a:xfrm>
            <a:off x="3774283" y="4034249"/>
            <a:ext cx="2588021" cy="1725347"/>
          </a:xfrm>
          <a:prstGeom prst="rect">
            <a:avLst/>
          </a:prstGeom>
        </p:spPr>
      </p:pic>
      <p:sp>
        <p:nvSpPr>
          <p:cNvPr id="12" name="Rectangle 11">
            <a:extLst>
              <a:ext uri="{FF2B5EF4-FFF2-40B4-BE49-F238E27FC236}">
                <a16:creationId xmlns:a16="http://schemas.microsoft.com/office/drawing/2014/main" id="{876F1C34-901F-4944-8493-4E1AA38A143E}"/>
              </a:ext>
            </a:extLst>
          </p:cNvPr>
          <p:cNvSpPr/>
          <p:nvPr/>
        </p:nvSpPr>
        <p:spPr>
          <a:xfrm>
            <a:off x="418660" y="5870455"/>
            <a:ext cx="2830160"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filtered data, not scaled by eigenvalues (using microbiome package)</a:t>
            </a:r>
          </a:p>
        </p:txBody>
      </p:sp>
      <p:sp>
        <p:nvSpPr>
          <p:cNvPr id="13" name="Rectangle 12">
            <a:extLst>
              <a:ext uri="{FF2B5EF4-FFF2-40B4-BE49-F238E27FC236}">
                <a16:creationId xmlns:a16="http://schemas.microsoft.com/office/drawing/2014/main" id="{EAB90C3D-87DD-C944-802E-05EE5EDAB09C}"/>
              </a:ext>
            </a:extLst>
          </p:cNvPr>
          <p:cNvSpPr/>
          <p:nvPr/>
        </p:nvSpPr>
        <p:spPr>
          <a:xfrm>
            <a:off x="3645872" y="5897619"/>
            <a:ext cx="2844842"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unfiltered data, not scaled by eigenvalues (using microbiome package)</a:t>
            </a:r>
          </a:p>
        </p:txBody>
      </p:sp>
      <p:pic>
        <p:nvPicPr>
          <p:cNvPr id="15" name="Picture 14">
            <a:extLst>
              <a:ext uri="{FF2B5EF4-FFF2-40B4-BE49-F238E27FC236}">
                <a16:creationId xmlns:a16="http://schemas.microsoft.com/office/drawing/2014/main" id="{60FB934E-516A-4F4E-8467-25B70C57D2DA}"/>
              </a:ext>
            </a:extLst>
          </p:cNvPr>
          <p:cNvPicPr>
            <a:picLocks noChangeAspect="1"/>
          </p:cNvPicPr>
          <p:nvPr/>
        </p:nvPicPr>
        <p:blipFill>
          <a:blip r:embed="rId7"/>
          <a:stretch>
            <a:fillRect/>
          </a:stretch>
        </p:blipFill>
        <p:spPr>
          <a:xfrm>
            <a:off x="7217216" y="4034249"/>
            <a:ext cx="3893126" cy="1946563"/>
          </a:xfrm>
          <a:prstGeom prst="rect">
            <a:avLst/>
          </a:prstGeom>
        </p:spPr>
      </p:pic>
      <p:sp>
        <p:nvSpPr>
          <p:cNvPr id="16" name="Rectangle 15">
            <a:extLst>
              <a:ext uri="{FF2B5EF4-FFF2-40B4-BE49-F238E27FC236}">
                <a16:creationId xmlns:a16="http://schemas.microsoft.com/office/drawing/2014/main" id="{59515EFA-54BA-3941-BE80-896D8B95BA4A}"/>
              </a:ext>
            </a:extLst>
          </p:cNvPr>
          <p:cNvSpPr/>
          <p:nvPr/>
        </p:nvSpPr>
        <p:spPr>
          <a:xfrm>
            <a:off x="7228508" y="6018024"/>
            <a:ext cx="3881834" cy="461665"/>
          </a:xfrm>
          <a:prstGeom prst="rect">
            <a:avLst/>
          </a:prstGeom>
        </p:spPr>
        <p:txBody>
          <a:bodyPr wrap="square">
            <a:spAutoFit/>
          </a:bodyPr>
          <a:lstStyle/>
          <a:p>
            <a:r>
              <a:rPr lang="en-US" sz="1200" dirty="0"/>
              <a:t>Figure. Weighted </a:t>
            </a:r>
            <a:r>
              <a:rPr lang="en-US" sz="1200" dirty="0" err="1"/>
              <a:t>UniFrac</a:t>
            </a:r>
            <a:r>
              <a:rPr lang="en-US" sz="1200" dirty="0"/>
              <a:t> </a:t>
            </a:r>
            <a:r>
              <a:rPr lang="en-US" sz="1200" dirty="0" err="1"/>
              <a:t>PCoA</a:t>
            </a:r>
            <a:r>
              <a:rPr lang="en-US" sz="1200" dirty="0"/>
              <a:t> with unfiltered data, not scaled by eigenvalues (using microbiome package)</a:t>
            </a:r>
          </a:p>
        </p:txBody>
      </p:sp>
    </p:spTree>
    <p:extLst>
      <p:ext uri="{BB962C8B-B14F-4D97-AF65-F5344CB8AC3E}">
        <p14:creationId xmlns:p14="http://schemas.microsoft.com/office/powerpoint/2010/main" val="26176756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2339-2F8F-5348-A13F-AA14DB8160AF}"/>
              </a:ext>
            </a:extLst>
          </p:cNvPr>
          <p:cNvSpPr>
            <a:spLocks noGrp="1"/>
          </p:cNvSpPr>
          <p:nvPr>
            <p:ph type="title"/>
          </p:nvPr>
        </p:nvSpPr>
        <p:spPr>
          <a:solidFill>
            <a:srgbClr val="FFC003"/>
          </a:solidFill>
        </p:spPr>
        <p:txBody>
          <a:bodyPr/>
          <a:lstStyle/>
          <a:p>
            <a:r>
              <a:rPr lang="en-US" dirty="0">
                <a:solidFill>
                  <a:schemeClr val="bg1"/>
                </a:solidFill>
              </a:rPr>
              <a:t>Beta Non-Phylogenetic Diversity &amp; Ordination</a:t>
            </a:r>
          </a:p>
        </p:txBody>
      </p:sp>
      <p:pic>
        <p:nvPicPr>
          <p:cNvPr id="4" name="Picture 3">
            <a:extLst>
              <a:ext uri="{FF2B5EF4-FFF2-40B4-BE49-F238E27FC236}">
                <a16:creationId xmlns:a16="http://schemas.microsoft.com/office/drawing/2014/main" id="{69FAD212-9692-394C-9F0C-4A139B22BE75}"/>
              </a:ext>
            </a:extLst>
          </p:cNvPr>
          <p:cNvPicPr>
            <a:picLocks noChangeAspect="1"/>
          </p:cNvPicPr>
          <p:nvPr/>
        </p:nvPicPr>
        <p:blipFill rotWithShape="1">
          <a:blip r:embed="rId2"/>
          <a:srcRect l="-1707" t="21631" r="1707" b="24114"/>
          <a:stretch/>
        </p:blipFill>
        <p:spPr>
          <a:xfrm>
            <a:off x="3289298" y="1829507"/>
            <a:ext cx="3581400" cy="1943100"/>
          </a:xfrm>
          <a:prstGeom prst="rect">
            <a:avLst/>
          </a:prstGeom>
        </p:spPr>
      </p:pic>
      <p:sp>
        <p:nvSpPr>
          <p:cNvPr id="5" name="TextBox 4">
            <a:extLst>
              <a:ext uri="{FF2B5EF4-FFF2-40B4-BE49-F238E27FC236}">
                <a16:creationId xmlns:a16="http://schemas.microsoft.com/office/drawing/2014/main" id="{4F980DB2-EFCB-A640-A6E4-4B79C3B2FB9D}"/>
              </a:ext>
            </a:extLst>
          </p:cNvPr>
          <p:cNvSpPr txBox="1"/>
          <p:nvPr/>
        </p:nvSpPr>
        <p:spPr>
          <a:xfrm>
            <a:off x="3486941" y="3911427"/>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6" name="Picture 5">
            <a:extLst>
              <a:ext uri="{FF2B5EF4-FFF2-40B4-BE49-F238E27FC236}">
                <a16:creationId xmlns:a16="http://schemas.microsoft.com/office/drawing/2014/main" id="{5E0CB574-F731-4E49-8A73-FF63430261E6}"/>
              </a:ext>
            </a:extLst>
          </p:cNvPr>
          <p:cNvPicPr>
            <a:picLocks noChangeAspect="1"/>
          </p:cNvPicPr>
          <p:nvPr/>
        </p:nvPicPr>
        <p:blipFill>
          <a:blip r:embed="rId3"/>
          <a:stretch>
            <a:fillRect/>
          </a:stretch>
        </p:blipFill>
        <p:spPr>
          <a:xfrm>
            <a:off x="552167" y="1868015"/>
            <a:ext cx="2505077" cy="2505077"/>
          </a:xfrm>
          <a:prstGeom prst="rect">
            <a:avLst/>
          </a:prstGeom>
        </p:spPr>
      </p:pic>
      <p:sp>
        <p:nvSpPr>
          <p:cNvPr id="7" name="TextBox 6">
            <a:extLst>
              <a:ext uri="{FF2B5EF4-FFF2-40B4-BE49-F238E27FC236}">
                <a16:creationId xmlns:a16="http://schemas.microsoft.com/office/drawing/2014/main" id="{EBF882E9-9AE8-7949-A919-FED329D5812E}"/>
              </a:ext>
            </a:extLst>
          </p:cNvPr>
          <p:cNvSpPr txBox="1"/>
          <p:nvPr/>
        </p:nvSpPr>
        <p:spPr>
          <a:xfrm>
            <a:off x="552167" y="4550419"/>
            <a:ext cx="1935166" cy="461665"/>
          </a:xfrm>
          <a:prstGeom prst="rect">
            <a:avLst/>
          </a:prstGeom>
          <a:noFill/>
        </p:spPr>
        <p:txBody>
          <a:bodyPr wrap="square" rtlCol="0">
            <a:spAutoFit/>
          </a:bodyPr>
          <a:lstStyle/>
          <a:p>
            <a:r>
              <a:rPr lang="en-US" sz="1200" dirty="0"/>
              <a:t>Figure 5. Bray-Curtis NMDS plot</a:t>
            </a:r>
          </a:p>
        </p:txBody>
      </p:sp>
      <p:pic>
        <p:nvPicPr>
          <p:cNvPr id="9" name="Picture 8">
            <a:extLst>
              <a:ext uri="{FF2B5EF4-FFF2-40B4-BE49-F238E27FC236}">
                <a16:creationId xmlns:a16="http://schemas.microsoft.com/office/drawing/2014/main" id="{B60432EE-ED05-334F-B135-159C1DB31D98}"/>
              </a:ext>
            </a:extLst>
          </p:cNvPr>
          <p:cNvPicPr>
            <a:picLocks noChangeAspect="1"/>
          </p:cNvPicPr>
          <p:nvPr/>
        </p:nvPicPr>
        <p:blipFill>
          <a:blip r:embed="rId4"/>
          <a:stretch>
            <a:fillRect/>
          </a:stretch>
        </p:blipFill>
        <p:spPr>
          <a:xfrm>
            <a:off x="6673054" y="3911426"/>
            <a:ext cx="5091113" cy="2545557"/>
          </a:xfrm>
          <a:prstGeom prst="rect">
            <a:avLst/>
          </a:prstGeom>
        </p:spPr>
      </p:pic>
      <p:sp>
        <p:nvSpPr>
          <p:cNvPr id="10" name="TextBox 9">
            <a:extLst>
              <a:ext uri="{FF2B5EF4-FFF2-40B4-BE49-F238E27FC236}">
                <a16:creationId xmlns:a16="http://schemas.microsoft.com/office/drawing/2014/main" id="{F8863A8B-C075-824C-B97E-B938DBFCE3CA}"/>
              </a:ext>
            </a:extLst>
          </p:cNvPr>
          <p:cNvSpPr txBox="1"/>
          <p:nvPr/>
        </p:nvSpPr>
        <p:spPr>
          <a:xfrm>
            <a:off x="8551342" y="3541774"/>
            <a:ext cx="1935166" cy="461665"/>
          </a:xfrm>
          <a:prstGeom prst="rect">
            <a:avLst/>
          </a:prstGeom>
          <a:noFill/>
        </p:spPr>
        <p:txBody>
          <a:bodyPr wrap="square" rtlCol="0">
            <a:spAutoFit/>
          </a:bodyPr>
          <a:lstStyle/>
          <a:p>
            <a:r>
              <a:rPr lang="en-US" sz="1200" dirty="0"/>
              <a:t>Figure. Bray-Curtis NMDS plot</a:t>
            </a:r>
          </a:p>
        </p:txBody>
      </p:sp>
    </p:spTree>
    <p:extLst>
      <p:ext uri="{BB962C8B-B14F-4D97-AF65-F5344CB8AC3E}">
        <p14:creationId xmlns:p14="http://schemas.microsoft.com/office/powerpoint/2010/main" val="1244753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a:solidFill>
            <a:srgbClr val="FFC000"/>
          </a:solidFill>
        </p:spPr>
        <p:txBody>
          <a:bodyPr/>
          <a:lstStyle/>
          <a:p>
            <a:r>
              <a:rPr lang="en-US" dirty="0">
                <a:solidFill>
                  <a:schemeClr val="bg1"/>
                </a:solidFill>
              </a:rPr>
              <a:t>Beta Non-Phylogenetic Diversity &amp; 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16723" y="197648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40761" y="220005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16723" y="368542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45541" y="409738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94544" y="2969462"/>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928127" y="3327540"/>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94545" y="4714177"/>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562604" y="5055910"/>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7829550" y="4464053"/>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7415223" y="6265867"/>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10159608" y="4385482"/>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9767896" y="6258110"/>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a:solidFill>
            <a:srgbClr val="FFC000"/>
          </a:solidFill>
        </p:spPr>
        <p:txBody>
          <a:bodyPr/>
          <a:lstStyle/>
          <a:p>
            <a:r>
              <a:rPr lang="en-US" dirty="0">
                <a:solidFill>
                  <a:schemeClr val="bg1"/>
                </a:solidFill>
              </a:rPr>
              <a:t>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a:solidFill>
            <a:srgbClr val="FFC000"/>
          </a:solidFill>
        </p:spPr>
        <p:txBody>
          <a:bodyPr/>
          <a:lstStyle/>
          <a:p>
            <a:r>
              <a:rPr lang="en-US" dirty="0">
                <a:solidFill>
                  <a:schemeClr val="bg1"/>
                </a:solidFill>
              </a:rPr>
              <a:t>General Statistics: Linear Regression Analysis</a:t>
            </a:r>
          </a:p>
        </p:txBody>
      </p:sp>
      <p:pic>
        <p:nvPicPr>
          <p:cNvPr id="5" name="Picture 4">
            <a:extLst>
              <a:ext uri="{FF2B5EF4-FFF2-40B4-BE49-F238E27FC236}">
                <a16:creationId xmlns:a16="http://schemas.microsoft.com/office/drawing/2014/main" id="{F33065BA-F614-7C4B-B087-6683F2BAF588}"/>
              </a:ext>
            </a:extLst>
          </p:cNvPr>
          <p:cNvPicPr>
            <a:picLocks noChangeAspect="1"/>
          </p:cNvPicPr>
          <p:nvPr/>
        </p:nvPicPr>
        <p:blipFill>
          <a:blip r:embed="rId3"/>
          <a:stretch>
            <a:fillRect/>
          </a:stretch>
        </p:blipFill>
        <p:spPr>
          <a:xfrm>
            <a:off x="838200" y="1690688"/>
            <a:ext cx="4981575" cy="3074343"/>
          </a:xfrm>
          <a:prstGeom prst="rect">
            <a:avLst/>
          </a:prstGeom>
        </p:spPr>
      </p:pic>
      <p:sp>
        <p:nvSpPr>
          <p:cNvPr id="14" name="TextBox 13">
            <a:extLst>
              <a:ext uri="{FF2B5EF4-FFF2-40B4-BE49-F238E27FC236}">
                <a16:creationId xmlns:a16="http://schemas.microsoft.com/office/drawing/2014/main" id="{2D6A8C39-986A-1242-93B9-01CC36029E62}"/>
              </a:ext>
            </a:extLst>
          </p:cNvPr>
          <p:cNvSpPr txBox="1"/>
          <p:nvPr/>
        </p:nvSpPr>
        <p:spPr>
          <a:xfrm>
            <a:off x="1042988" y="5014913"/>
            <a:ext cx="4672012" cy="646331"/>
          </a:xfrm>
          <a:prstGeom prst="rect">
            <a:avLst/>
          </a:prstGeom>
          <a:noFill/>
        </p:spPr>
        <p:txBody>
          <a:bodyPr wrap="square" rtlCol="0">
            <a:spAutoFit/>
          </a:bodyPr>
          <a:lstStyle/>
          <a:p>
            <a:r>
              <a:rPr lang="en-US" dirty="0"/>
              <a:t>Figure 22: Linear regression plot of ASV richness against cryoconite hole area</a:t>
            </a:r>
          </a:p>
        </p:txBody>
      </p:sp>
    </p:spTree>
    <p:extLst>
      <p:ext uri="{BB962C8B-B14F-4D97-AF65-F5344CB8AC3E}">
        <p14:creationId xmlns:p14="http://schemas.microsoft.com/office/powerpoint/2010/main" val="36542806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a:solidFill>
            <a:srgbClr val="FFC000"/>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2"/>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3"/>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4"/>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(2013)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6936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2"/>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err="1">
                <a:solidFill>
                  <a:schemeClr val="bg1"/>
                </a:solidFill>
              </a:rPr>
              <a:t>Gephi</a:t>
            </a:r>
            <a:endParaRPr lang="en-US" dirty="0">
              <a:solidFill>
                <a:schemeClr val="bg1"/>
              </a:solidFill>
            </a:endParaRP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7523</TotalTime>
  <Words>4028</Words>
  <Application>Microsoft Macintosh PowerPoint</Application>
  <PresentationFormat>Widescreen</PresentationFormat>
  <Paragraphs>358</Paragraphs>
  <Slides>37</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Diversity</vt:lpstr>
      <vt:lpstr>Alpha Non-Phylogenetic Diversity</vt:lpstr>
      <vt:lpstr>Alpha Phylogenetic Diversity</vt:lpstr>
      <vt:lpstr>Absolute Abundance Bar Plots</vt:lpstr>
      <vt:lpstr>Relative Abundance Bar Plots</vt:lpstr>
      <vt:lpstr>Beta Phylogenetic Diversity &amp; Ordination</vt:lpstr>
      <vt:lpstr>Beta Non-Phylogenetic Diversity &amp; Ordination</vt:lpstr>
      <vt:lpstr>Beta Non-Phylogenetic Diversity &amp; Ordination</vt:lpstr>
      <vt:lpstr>Linear Models</vt:lpstr>
      <vt:lpstr>General Statistics: Linear Regression Analysis</vt:lpstr>
      <vt:lpstr>Multivariate Analysis</vt:lpstr>
      <vt:lpstr>Island Species-Area Relationship (ISAR)</vt:lpstr>
      <vt:lpstr>Distance-Decay Relationship (DDR)</vt:lpstr>
      <vt:lpstr>Sloan’s Neutral Model</vt:lpstr>
      <vt:lpstr>Code</vt:lpstr>
      <vt:lpstr>Results</vt:lpstr>
      <vt:lpstr>Phylogenetic Signal</vt:lpstr>
      <vt:lpstr>Phylogenetic Signal</vt:lpstr>
      <vt:lpstr>Stegen et al., (2013) Phylogenetic Null Model</vt:lpstr>
      <vt:lpstr>Phylogenetic Null Model</vt:lpstr>
      <vt:lpstr>Co-Occurrence Network Analysis</vt:lpstr>
      <vt:lpstr>Centrality and Clustering</vt:lpstr>
      <vt:lpstr>Results</vt:lpstr>
      <vt:lpstr>Gephi</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101</cp:revision>
  <dcterms:created xsi:type="dcterms:W3CDTF">2021-04-15T08:49:25Z</dcterms:created>
  <dcterms:modified xsi:type="dcterms:W3CDTF">2021-04-21T14:03:09Z</dcterms:modified>
</cp:coreProperties>
</file>