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64" r:id="rId4"/>
    <p:sldId id="268" r:id="rId5"/>
    <p:sldId id="269" r:id="rId6"/>
    <p:sldId id="270" r:id="rId7"/>
    <p:sldId id="267" r:id="rId8"/>
    <p:sldId id="274" r:id="rId9"/>
    <p:sldId id="273" r:id="rId10"/>
    <p:sldId id="263" r:id="rId11"/>
    <p:sldId id="258" r:id="rId12"/>
    <p:sldId id="259" r:id="rId13"/>
    <p:sldId id="265" r:id="rId14"/>
    <p:sldId id="266" r:id="rId15"/>
    <p:sldId id="260" r:id="rId16"/>
    <p:sldId id="271" r:id="rId17"/>
    <p:sldId id="272" r:id="rId18"/>
    <p:sldId id="261" r:id="rId19"/>
    <p:sldId id="277" r:id="rId20"/>
    <p:sldId id="278" r:id="rId21"/>
    <p:sldId id="262"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858"/>
    <p:restoredTop sz="78523"/>
  </p:normalViewPr>
  <p:slideViewPr>
    <p:cSldViewPr snapToGrid="0" snapToObjects="1">
      <p:cViewPr>
        <p:scale>
          <a:sx n="90" d="100"/>
          <a:sy n="90" d="100"/>
        </p:scale>
        <p:origin x="792" y="3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the size of the metacommunity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00015" y="661"/>
          <a:ext cx="8258168" cy="773906"/>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Extract ASV table from </a:t>
          </a:r>
          <a:r>
            <a:rPr lang="en-US" sz="1600" kern="1200" dirty="0" err="1"/>
            <a:t>phyloseq</a:t>
          </a:r>
          <a:r>
            <a:rPr lang="en-US" sz="1600" kern="1200" dirty="0"/>
            <a:t> object</a:t>
          </a:r>
        </a:p>
      </dsp:txBody>
      <dsp:txXfrm>
        <a:off x="122682" y="23328"/>
        <a:ext cx="8212834" cy="728572"/>
      </dsp:txXfrm>
    </dsp:sp>
    <dsp:sp modelId="{91DA19BA-A0AB-564A-8A9E-322DF18B64CF}">
      <dsp:nvSpPr>
        <dsp:cNvPr id="0" name=""/>
        <dsp:cNvSpPr/>
      </dsp:nvSpPr>
      <dsp:spPr>
        <a:xfrm rot="5400000">
          <a:off x="4083992" y="793915"/>
          <a:ext cx="290214" cy="3482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822936"/>
        <a:ext cx="208955" cy="203150"/>
      </dsp:txXfrm>
    </dsp:sp>
    <dsp:sp modelId="{43D2067A-91F6-8745-98BA-D6A10B24950A}">
      <dsp:nvSpPr>
        <dsp:cNvPr id="0" name=""/>
        <dsp:cNvSpPr/>
      </dsp:nvSpPr>
      <dsp:spPr>
        <a:xfrm>
          <a:off x="128588" y="1161520"/>
          <a:ext cx="8201023" cy="773906"/>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size of the metacommunity (</a:t>
          </a:r>
          <a:r>
            <a:rPr lang="en-US" sz="1600" i="1" kern="1200" dirty="0"/>
            <a:t>N</a:t>
          </a:r>
          <a:r>
            <a:rPr lang="en-US" sz="1600" kern="1200" dirty="0"/>
            <a:t>) by finding the mean number of reads per sample. We also find the limit of detection (</a:t>
          </a:r>
          <a:r>
            <a:rPr lang="en-US" sz="1600" i="1" kern="1200" dirty="0"/>
            <a:t>d</a:t>
          </a:r>
          <a:r>
            <a:rPr lang="en-US" sz="1600" kern="1200" dirty="0"/>
            <a:t>) = </a:t>
          </a:r>
          <a:r>
            <a:rPr lang="en-US" sz="1600" i="1" kern="1200" dirty="0"/>
            <a:t>1/N</a:t>
          </a:r>
        </a:p>
      </dsp:txBody>
      <dsp:txXfrm>
        <a:off x="151255" y="1184187"/>
        <a:ext cx="8155689" cy="728572"/>
      </dsp:txXfrm>
    </dsp:sp>
    <dsp:sp modelId="{D067C965-9057-9C4A-A1D2-4912C14C50F7}">
      <dsp:nvSpPr>
        <dsp:cNvPr id="0" name=""/>
        <dsp:cNvSpPr/>
      </dsp:nvSpPr>
      <dsp:spPr>
        <a:xfrm rot="5400000">
          <a:off x="4083992" y="1954774"/>
          <a:ext cx="290214" cy="3482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1983795"/>
        <a:ext cx="208955" cy="203150"/>
      </dsp:txXfrm>
    </dsp:sp>
    <dsp:sp modelId="{80C05A4E-2A0A-294C-8DDC-052E97D834DA}">
      <dsp:nvSpPr>
        <dsp:cNvPr id="0" name=""/>
        <dsp:cNvSpPr/>
      </dsp:nvSpPr>
      <dsp:spPr>
        <a:xfrm>
          <a:off x="157161" y="2322380"/>
          <a:ext cx="8143877" cy="773906"/>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the mean observed relative abundance and occurrence frequency of each ASV</a:t>
          </a:r>
        </a:p>
      </dsp:txBody>
      <dsp:txXfrm>
        <a:off x="179828" y="2345047"/>
        <a:ext cx="8098543" cy="728572"/>
      </dsp:txXfrm>
    </dsp:sp>
    <dsp:sp modelId="{B3C2DB7A-EC33-6544-A09D-B1205728770A}">
      <dsp:nvSpPr>
        <dsp:cNvPr id="0" name=""/>
        <dsp:cNvSpPr/>
      </dsp:nvSpPr>
      <dsp:spPr>
        <a:xfrm rot="5400000">
          <a:off x="4083992" y="3115634"/>
          <a:ext cx="290214" cy="3482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3144655"/>
        <a:ext cx="208955" cy="203150"/>
      </dsp:txXfrm>
    </dsp:sp>
    <dsp:sp modelId="{6F6C8E07-FBAD-3F4D-A906-27ECCF26E70E}">
      <dsp:nvSpPr>
        <dsp:cNvPr id="0" name=""/>
        <dsp:cNvSpPr/>
      </dsp:nvSpPr>
      <dsp:spPr>
        <a:xfrm>
          <a:off x="171447" y="3483239"/>
          <a:ext cx="8115305" cy="773906"/>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non-linear least squares fitting we fit the neutral model to our data to find, finding the probability of dispersal (</a:t>
          </a:r>
          <a:r>
            <a:rPr lang="en-US" sz="1600" i="1" kern="1200" dirty="0"/>
            <a:t>m</a:t>
          </a:r>
          <a:r>
            <a:rPr lang="en-US" sz="1600" kern="1200" dirty="0"/>
            <a:t>)</a:t>
          </a:r>
        </a:p>
      </dsp:txBody>
      <dsp:txXfrm>
        <a:off x="194114" y="3505906"/>
        <a:ext cx="8069971" cy="728572"/>
      </dsp:txXfrm>
    </dsp:sp>
    <dsp:sp modelId="{48489AC1-89DA-0F48-B940-23505B5798FF}">
      <dsp:nvSpPr>
        <dsp:cNvPr id="0" name=""/>
        <dsp:cNvSpPr/>
      </dsp:nvSpPr>
      <dsp:spPr>
        <a:xfrm rot="5400000">
          <a:off x="4083992" y="4276493"/>
          <a:ext cx="290214" cy="3482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4124622" y="4305514"/>
        <a:ext cx="208955" cy="203150"/>
      </dsp:txXfrm>
    </dsp:sp>
    <dsp:sp modelId="{80377AF5-BC76-FB40-840E-12C9D1BDB641}">
      <dsp:nvSpPr>
        <dsp:cNvPr id="0" name=""/>
        <dsp:cNvSpPr/>
      </dsp:nvSpPr>
      <dsp:spPr>
        <a:xfrm>
          <a:off x="157161" y="4644099"/>
          <a:ext cx="8143877" cy="773906"/>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Using the estimated value of </a:t>
          </a:r>
          <a:r>
            <a:rPr lang="en-US" sz="1600" i="1" kern="1200" dirty="0"/>
            <a:t>m</a:t>
          </a:r>
          <a:r>
            <a:rPr lang="en-US" sz="1600" kern="1200" dirty="0"/>
            <a:t> we calculate predicted occurrence frequencies and plot predictions from the neutral model against observed frequencies</a:t>
          </a:r>
        </a:p>
      </dsp:txBody>
      <dsp:txXfrm>
        <a:off x="179828" y="4666766"/>
        <a:ext cx="8098543" cy="728572"/>
      </dsp:txXfrm>
    </dsp:sp>
  </dsp:spTree>
</dsp:drawing>
</file>

<file path=ppt/diagrams/layout1.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4/15/21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Community assembly processes can be stochastic or deterministic.</a:t>
            </a:r>
          </a:p>
          <a:p>
            <a:r>
              <a:rPr lang="en-US" dirty="0"/>
              <a:t>Stochastic processes are random birth, death and dispersal events .</a:t>
            </a:r>
          </a:p>
          <a:p>
            <a:r>
              <a:rPr lang="en-US" dirty="0"/>
              <a:t>Deterministic processes arise from fitness differences between species, that drive their habitat preferences.</a:t>
            </a:r>
          </a:p>
          <a:p>
            <a:r>
              <a:rPr lang="en-US" dirty="0"/>
              <a:t>Adaptive traits (e.g. tolerance to low temperatures) define fitness differences (e.g. the greater reproductive success of one species in a cold habitat as compared to another, less reproductively successful species) and may be phylogenetically conserved (e.g. present in species with closer evolutionarily relationships – two species that have a more recent common ancestor may share tolerance to low temperatures that gives both greater reproductive success as compared to a third organism that has a more distance evolutionary relationship).</a:t>
            </a:r>
          </a:p>
          <a:p>
            <a:r>
              <a:rPr lang="en-US" dirty="0"/>
              <a:t>Closely evolutionarily related species will share adaptive traits that define their fitness differences and drive habitat preferences. So, the environmental constraints of habitat A may facilitate species with close evolutionary histories, while the community of habitat B may share close evolutionary histories with each other while the beta diversity (the change in community composition between habitat A and B) is driven deterministically by those environmental constrains. </a:t>
            </a:r>
          </a:p>
          <a:p>
            <a:r>
              <a:rPr lang="en-US" dirty="0"/>
              <a:t>Both stochastic (birth, death) and deterministic (fitness difference) processes are influenced by dispersal rates.</a:t>
            </a:r>
          </a:p>
          <a:p>
            <a:r>
              <a:rPr lang="en-US" dirty="0"/>
              <a:t>Dispersal = the replacement of a dead individual in the local community with a random individual from the regional species pool.</a:t>
            </a:r>
          </a:p>
          <a:p>
            <a:r>
              <a:rPr lang="en-US" dirty="0"/>
              <a:t>We don’t know much about the ecological factors influencing bacterial dispersal rates.</a:t>
            </a:r>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p:txBody>
      </p:sp>
      <p:sp>
        <p:nvSpPr>
          <p:cNvPr id="4" name="Slide Number Placeholder 3"/>
          <p:cNvSpPr>
            <a:spLocks noGrp="1"/>
          </p:cNvSpPr>
          <p:nvPr>
            <p:ph type="sldNum" sz="quarter" idx="5"/>
          </p:nvPr>
        </p:nvSpPr>
        <p:spPr/>
        <p:txBody>
          <a:bodyPr/>
          <a:lstStyle/>
          <a:p>
            <a:fld id="{91AE2140-D502-214A-B76B-E0784B2C949B}" type="slidenum">
              <a:rPr lang="en-US" smtClean="0"/>
              <a:t>3</a:t>
            </a:fld>
            <a:endParaRPr lang="en-US"/>
          </a:p>
        </p:txBody>
      </p:sp>
    </p:spTree>
    <p:extLst>
      <p:ext uri="{BB962C8B-B14F-4D97-AF65-F5344CB8AC3E}">
        <p14:creationId xmlns:p14="http://schemas.microsoft.com/office/powerpoint/2010/main" val="39901780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Multivariate analysis can allow us to look at the relationship between community composition and environmental characteristics – these are deterministic, non-random processes. </a:t>
            </a:r>
            <a:r>
              <a:rPr lang="en-US" dirty="0" err="1"/>
              <a:t>Investiagation</a:t>
            </a:r>
            <a:r>
              <a:rPr lang="en-US" dirty="0"/>
              <a:t> into deterministic processes of community assembly (e.g. relationship between community composition and environmental characteristics) dominate most studies of microbial community assembly, </a:t>
            </a:r>
            <a:r>
              <a:rPr lang="en-US" dirty="0" err="1"/>
              <a:t>howeber</a:t>
            </a:r>
            <a:r>
              <a:rPr lang="en-US" dirty="0"/>
              <a:t>, it is likely both deterministic and stochastic processes contribute to community assembly. This is why I combine multivariate and network analysis (deterministic) with phylogenetic null modelling (deterministic and stochastic) and neutral modelling (stochastic). </a:t>
            </a:r>
          </a:p>
          <a:p>
            <a:endParaRPr lang="en-US" dirty="0"/>
          </a:p>
          <a:p>
            <a:r>
              <a:rPr lang="en-US" dirty="0"/>
              <a:t>It has been suggested that initial community assembly is driven by stochastic processes, and deterministic processes shape the community through time. </a:t>
            </a:r>
          </a:p>
          <a:p>
            <a:endParaRPr lang="en-US" dirty="0"/>
          </a:p>
          <a:p>
            <a:r>
              <a:rPr lang="en-US" dirty="0"/>
              <a:t>What do we already know about deterministic processes on glaciers?</a:t>
            </a:r>
          </a:p>
          <a:p>
            <a:endParaRPr lang="en-US" dirty="0"/>
          </a:p>
          <a:p>
            <a:r>
              <a:rPr lang="en-US" dirty="0"/>
              <a:t>What do we already know about stochastic processes on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10</a:t>
            </a:fld>
            <a:endParaRPr lang="en-US"/>
          </a:p>
        </p:txBody>
      </p:sp>
    </p:spTree>
    <p:extLst>
      <p:ext uri="{BB962C8B-B14F-4D97-AF65-F5344CB8AC3E}">
        <p14:creationId xmlns:p14="http://schemas.microsoft.com/office/powerpoint/2010/main" val="282732790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Adaptive divergence (adaptation to the environment) + genetic drift (random genetic mutations) = evolutionary diversification (evolutionary branching of species through time).</a:t>
            </a:r>
          </a:p>
          <a:p>
            <a:r>
              <a:rPr lang="en-US" dirty="0"/>
              <a:t>Large spatial and temporal scales.</a:t>
            </a:r>
          </a:p>
          <a:p>
            <a:r>
              <a:rPr lang="en-US" dirty="0"/>
              <a:t>Evolution impacts diversity, function and fitness of communities.</a:t>
            </a:r>
          </a:p>
          <a:p>
            <a:r>
              <a:rPr lang="en-US" dirty="0"/>
              <a:t>Evolution contributes to community assembly by contributing new species to the species pool. </a:t>
            </a:r>
          </a:p>
          <a:p>
            <a:r>
              <a:rPr lang="en-US" dirty="0"/>
              <a:t>This is often excluded from study due to the long time scales over which evolution occurs, even for microbial communities. </a:t>
            </a:r>
          </a:p>
        </p:txBody>
      </p:sp>
      <p:sp>
        <p:nvSpPr>
          <p:cNvPr id="4" name="Slide Number Placeholder 3"/>
          <p:cNvSpPr>
            <a:spLocks noGrp="1"/>
          </p:cNvSpPr>
          <p:nvPr>
            <p:ph type="sldNum" sz="quarter" idx="5"/>
          </p:nvPr>
        </p:nvSpPr>
        <p:spPr/>
        <p:txBody>
          <a:bodyPr/>
          <a:lstStyle/>
          <a:p>
            <a:fld id="{91AE2140-D502-214A-B76B-E0784B2C949B}" type="slidenum">
              <a:rPr lang="en-US" smtClean="0"/>
              <a:t>14</a:t>
            </a:fld>
            <a:endParaRPr lang="en-US"/>
          </a:p>
        </p:txBody>
      </p:sp>
    </p:spTree>
    <p:extLst>
      <p:ext uri="{BB962C8B-B14F-4D97-AF65-F5344CB8AC3E}">
        <p14:creationId xmlns:p14="http://schemas.microsoft.com/office/powerpoint/2010/main" val="26808267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r>
              <a:rPr lang="en-US" dirty="0"/>
              <a:t>X axis = log mean relative abundances of each ASV</a:t>
            </a:r>
          </a:p>
          <a:p>
            <a:r>
              <a:rPr lang="en-US" dirty="0"/>
              <a:t>Y axis = mean occurrence frequency of each ASV </a:t>
            </a:r>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16695857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4/15/21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0AE8A7-46CF-6A41-9356-95AD74775928}"/>
              </a:ext>
            </a:extLst>
          </p:cNvPr>
          <p:cNvSpPr>
            <a:spLocks noGrp="1"/>
          </p:cNvSpPr>
          <p:nvPr>
            <p:ph type="title"/>
          </p:nvPr>
        </p:nvSpPr>
        <p:spPr/>
        <p:txBody>
          <a:bodyPr/>
          <a:lstStyle/>
          <a:p>
            <a:r>
              <a:rPr lang="en-US" dirty="0"/>
              <a:t>Analysis</a:t>
            </a:r>
          </a:p>
        </p:txBody>
      </p:sp>
      <p:sp>
        <p:nvSpPr>
          <p:cNvPr id="3" name="Content Placeholder 2">
            <a:extLst>
              <a:ext uri="{FF2B5EF4-FFF2-40B4-BE49-F238E27FC236}">
                <a16:creationId xmlns:a16="http://schemas.microsoft.com/office/drawing/2014/main" id="{3F3B803F-4C3A-CD47-9287-492C0BABB02D}"/>
              </a:ext>
            </a:extLst>
          </p:cNvPr>
          <p:cNvSpPr>
            <a:spLocks noGrp="1"/>
          </p:cNvSpPr>
          <p:nvPr>
            <p:ph idx="1"/>
          </p:nvPr>
        </p:nvSpPr>
        <p:spPr/>
        <p:txBody>
          <a:bodyPr/>
          <a:lstStyle/>
          <a:p>
            <a:r>
              <a:rPr lang="en-US" dirty="0"/>
              <a:t>ISAR and DDR</a:t>
            </a:r>
          </a:p>
          <a:p>
            <a:r>
              <a:rPr lang="en-US" dirty="0"/>
              <a:t>Multivariate Analysis</a:t>
            </a:r>
          </a:p>
          <a:p>
            <a:r>
              <a:rPr lang="en-US" dirty="0"/>
              <a:t>Null Model</a:t>
            </a:r>
          </a:p>
          <a:p>
            <a:r>
              <a:rPr lang="en-US" dirty="0"/>
              <a:t>Neutral Model</a:t>
            </a:r>
          </a:p>
          <a:p>
            <a:r>
              <a:rPr lang="en-US" dirty="0"/>
              <a:t>Network Analysis</a:t>
            </a:r>
          </a:p>
          <a:p>
            <a:endParaRPr lang="en-US" dirty="0"/>
          </a:p>
        </p:txBody>
      </p:sp>
    </p:spTree>
    <p:extLst>
      <p:ext uri="{BB962C8B-B14F-4D97-AF65-F5344CB8AC3E}">
        <p14:creationId xmlns:p14="http://schemas.microsoft.com/office/powerpoint/2010/main" val="40794150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FB9FC6-0620-0A48-9F8C-295D1BC9A634}"/>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653EEF6E-04AB-1745-84FB-768D011D176C}"/>
              </a:ext>
            </a:extLst>
          </p:cNvPr>
          <p:cNvSpPr>
            <a:spLocks noGrp="1"/>
          </p:cNvSpPr>
          <p:nvPr>
            <p:ph idx="1"/>
          </p:nvPr>
        </p:nvSpPr>
        <p:spPr/>
        <p:txBody>
          <a:bodyPr/>
          <a:lstStyle/>
          <a:p>
            <a:r>
              <a:rPr lang="en-US" dirty="0"/>
              <a:t>Stochastic (ecological drift – random birth and death events in the absence of selection) </a:t>
            </a:r>
          </a:p>
          <a:p>
            <a:r>
              <a:rPr lang="en-US" dirty="0"/>
              <a:t>Deterministic</a:t>
            </a:r>
          </a:p>
          <a:p>
            <a:endParaRPr lang="en-US" dirty="0"/>
          </a:p>
        </p:txBody>
      </p:sp>
    </p:spTree>
    <p:extLst>
      <p:ext uri="{BB962C8B-B14F-4D97-AF65-F5344CB8AC3E}">
        <p14:creationId xmlns:p14="http://schemas.microsoft.com/office/powerpoint/2010/main" val="11855726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1CDC92-0661-1246-80A9-19D7E41E1F07}"/>
              </a:ext>
            </a:extLst>
          </p:cNvPr>
          <p:cNvSpPr>
            <a:spLocks noGrp="1"/>
          </p:cNvSpPr>
          <p:nvPr>
            <p:ph type="title"/>
          </p:nvPr>
        </p:nvSpPr>
        <p:spPr/>
        <p:txBody>
          <a:bodyPr/>
          <a:lstStyle/>
          <a:p>
            <a:r>
              <a:rPr lang="en-US" dirty="0"/>
              <a:t>Supraglacial deterministic processes</a:t>
            </a:r>
          </a:p>
        </p:txBody>
      </p:sp>
      <p:sp>
        <p:nvSpPr>
          <p:cNvPr id="3" name="Content Placeholder 2">
            <a:extLst>
              <a:ext uri="{FF2B5EF4-FFF2-40B4-BE49-F238E27FC236}">
                <a16:creationId xmlns:a16="http://schemas.microsoft.com/office/drawing/2014/main" id="{A3E183A2-E290-3C4B-A147-40B6288AB72F}"/>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522302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9B114-DB6E-AD4D-BFC4-FDB8D03A7251}"/>
              </a:ext>
            </a:extLst>
          </p:cNvPr>
          <p:cNvSpPr>
            <a:spLocks noGrp="1"/>
          </p:cNvSpPr>
          <p:nvPr>
            <p:ph type="title"/>
          </p:nvPr>
        </p:nvSpPr>
        <p:spPr/>
        <p:txBody>
          <a:bodyPr/>
          <a:lstStyle/>
          <a:p>
            <a:r>
              <a:rPr lang="en-US" dirty="0"/>
              <a:t>Supraglacial stochastic processes</a:t>
            </a:r>
          </a:p>
        </p:txBody>
      </p:sp>
      <p:sp>
        <p:nvSpPr>
          <p:cNvPr id="3" name="Content Placeholder 2">
            <a:extLst>
              <a:ext uri="{FF2B5EF4-FFF2-40B4-BE49-F238E27FC236}">
                <a16:creationId xmlns:a16="http://schemas.microsoft.com/office/drawing/2014/main" id="{6A23DFD4-9C55-9849-993C-859830355257}"/>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7820395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20000"/>
          </a:bodyPr>
          <a:lstStyle/>
          <a:p>
            <a:r>
              <a:rPr lang="en-US" dirty="0"/>
              <a:t>Microbial community composition in the supraglacial environment is explained by both deterministic and stochastic processes.</a:t>
            </a:r>
          </a:p>
          <a:p>
            <a:r>
              <a:rPr lang="en-US" dirty="0"/>
              <a:t>Community assembly processes will differ between abundant and rare taxa. </a:t>
            </a:r>
          </a:p>
          <a:p>
            <a:r>
              <a:rPr lang="en-US" dirty="0"/>
              <a:t>Biogeographic patterns (ISAR, DDR) will differ between abundant and rare taxa.</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77219C-A256-3B41-862B-643328BC5119}"/>
              </a:ext>
            </a:extLst>
          </p:cNvPr>
          <p:cNvSpPr>
            <a:spLocks noGrp="1"/>
          </p:cNvSpPr>
          <p:nvPr>
            <p:ph type="title"/>
          </p:nvPr>
        </p:nvSpPr>
        <p:spPr/>
        <p:txBody>
          <a:bodyPr/>
          <a:lstStyle/>
          <a:p>
            <a:r>
              <a:rPr lang="en-US" dirty="0"/>
              <a:t>Ordination </a:t>
            </a:r>
          </a:p>
        </p:txBody>
      </p:sp>
      <p:sp>
        <p:nvSpPr>
          <p:cNvPr id="3" name="Content Placeholder 2">
            <a:extLst>
              <a:ext uri="{FF2B5EF4-FFF2-40B4-BE49-F238E27FC236}">
                <a16:creationId xmlns:a16="http://schemas.microsoft.com/office/drawing/2014/main" id="{28B86DE3-8EDB-3A49-8E50-7FD4218F36FD}"/>
              </a:ext>
            </a:extLst>
          </p:cNvPr>
          <p:cNvSpPr>
            <a:spLocks noGrp="1"/>
          </p:cNvSpPr>
          <p:nvPr>
            <p:ph idx="1"/>
          </p:nvPr>
        </p:nvSpPr>
        <p:spPr/>
        <p:txBody>
          <a:bodyPr/>
          <a:lstStyle/>
          <a:p>
            <a:r>
              <a:rPr lang="en-US" dirty="0"/>
              <a:t>Data taken from: Sommers et al., (2020) </a:t>
            </a:r>
            <a:r>
              <a:rPr lang="en-GB" dirty="0"/>
              <a:t>Microbial Species – Area Relationships in Antarctic Cryoconite Holes Depend on Productivity</a:t>
            </a:r>
          </a:p>
          <a:p>
            <a:r>
              <a:rPr lang="en-GB" dirty="0"/>
              <a:t>Principal Coordinate Analysis to explore variation in community composition between the glaciers</a:t>
            </a:r>
            <a:endParaRPr lang="en-US" dirty="0"/>
          </a:p>
          <a:p>
            <a:endParaRPr lang="en-US" dirty="0"/>
          </a:p>
        </p:txBody>
      </p:sp>
    </p:spTree>
    <p:extLst>
      <p:ext uri="{BB962C8B-B14F-4D97-AF65-F5344CB8AC3E}">
        <p14:creationId xmlns:p14="http://schemas.microsoft.com/office/powerpoint/2010/main" val="26959058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545D3B-A455-EF48-91C3-A3250798EA64}"/>
              </a:ext>
            </a:extLst>
          </p:cNvPr>
          <p:cNvSpPr>
            <a:spLocks noGrp="1"/>
          </p:cNvSpPr>
          <p:nvPr>
            <p:ph type="title"/>
          </p:nvPr>
        </p:nvSpPr>
        <p:spPr/>
        <p:txBody>
          <a:bodyPr/>
          <a:lstStyle/>
          <a:p>
            <a:r>
              <a:rPr lang="en-US" dirty="0"/>
              <a:t>Alpha Diversity</a:t>
            </a:r>
          </a:p>
        </p:txBody>
      </p:sp>
      <p:sp>
        <p:nvSpPr>
          <p:cNvPr id="3" name="Content Placeholder 2">
            <a:extLst>
              <a:ext uri="{FF2B5EF4-FFF2-40B4-BE49-F238E27FC236}">
                <a16:creationId xmlns:a16="http://schemas.microsoft.com/office/drawing/2014/main" id="{2049920E-B358-7147-8331-3683EC758770}"/>
              </a:ext>
            </a:extLst>
          </p:cNvPr>
          <p:cNvSpPr>
            <a:spLocks noGrp="1"/>
          </p:cNvSpPr>
          <p:nvPr>
            <p:ph idx="1"/>
          </p:nvPr>
        </p:nvSpPr>
        <p:spPr/>
        <p:txBody>
          <a:bodyPr/>
          <a:lstStyle/>
          <a:p>
            <a:r>
              <a:rPr lang="en-US" dirty="0"/>
              <a:t>ASV richness</a:t>
            </a:r>
          </a:p>
          <a:p>
            <a:r>
              <a:rPr lang="en-US" dirty="0"/>
              <a:t>Shannon Diversity</a:t>
            </a:r>
          </a:p>
        </p:txBody>
      </p:sp>
    </p:spTree>
    <p:extLst>
      <p:ext uri="{BB962C8B-B14F-4D97-AF65-F5344CB8AC3E}">
        <p14:creationId xmlns:p14="http://schemas.microsoft.com/office/powerpoint/2010/main" val="39876749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959AC-EC01-BB40-9AF0-DCE9E14A298A}"/>
              </a:ext>
            </a:extLst>
          </p:cNvPr>
          <p:cNvSpPr>
            <a:spLocks noGrp="1"/>
          </p:cNvSpPr>
          <p:nvPr>
            <p:ph type="title"/>
          </p:nvPr>
        </p:nvSpPr>
        <p:spPr/>
        <p:txBody>
          <a:bodyPr/>
          <a:lstStyle/>
          <a:p>
            <a:r>
              <a:rPr lang="en-US" dirty="0"/>
              <a:t>Beta Diversity </a:t>
            </a:r>
          </a:p>
        </p:txBody>
      </p:sp>
      <p:sp>
        <p:nvSpPr>
          <p:cNvPr id="3" name="Content Placeholder 2">
            <a:extLst>
              <a:ext uri="{FF2B5EF4-FFF2-40B4-BE49-F238E27FC236}">
                <a16:creationId xmlns:a16="http://schemas.microsoft.com/office/drawing/2014/main" id="{B4135107-2C54-4541-9E57-EB148207FCF7}"/>
              </a:ext>
            </a:extLst>
          </p:cNvPr>
          <p:cNvSpPr>
            <a:spLocks noGrp="1"/>
          </p:cNvSpPr>
          <p:nvPr>
            <p:ph idx="1"/>
          </p:nvPr>
        </p:nvSpPr>
        <p:spPr/>
        <p:txBody>
          <a:bodyPr/>
          <a:lstStyle/>
          <a:p>
            <a:r>
              <a:rPr lang="en-US" dirty="0"/>
              <a:t>Weighted </a:t>
            </a:r>
            <a:r>
              <a:rPr lang="en-US" dirty="0" err="1"/>
              <a:t>UniFrac</a:t>
            </a:r>
            <a:r>
              <a:rPr lang="en-US" dirty="0"/>
              <a:t> Distance</a:t>
            </a:r>
          </a:p>
        </p:txBody>
      </p:sp>
    </p:spTree>
    <p:extLst>
      <p:ext uri="{BB962C8B-B14F-4D97-AF65-F5344CB8AC3E}">
        <p14:creationId xmlns:p14="http://schemas.microsoft.com/office/powerpoint/2010/main" val="6337245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E3173D-92A9-A142-88D2-12113C65FC43}"/>
              </a:ext>
            </a:extLst>
          </p:cNvPr>
          <p:cNvSpPr>
            <a:spLocks noGrp="1"/>
          </p:cNvSpPr>
          <p:nvPr>
            <p:ph type="title"/>
          </p:nvPr>
        </p:nvSpPr>
        <p:spPr/>
        <p:txBody>
          <a:bodyPr/>
          <a:lstStyle/>
          <a:p>
            <a:r>
              <a:rPr lang="en-US" dirty="0"/>
              <a:t>Multivariate Analysis</a:t>
            </a:r>
          </a:p>
        </p:txBody>
      </p:sp>
      <p:sp>
        <p:nvSpPr>
          <p:cNvPr id="3" name="Content Placeholder 2">
            <a:extLst>
              <a:ext uri="{FF2B5EF4-FFF2-40B4-BE49-F238E27FC236}">
                <a16:creationId xmlns:a16="http://schemas.microsoft.com/office/drawing/2014/main" id="{F9E2B9F6-D3F8-6F45-9AB8-A0B941544B0C}"/>
              </a:ext>
            </a:extLst>
          </p:cNvPr>
          <p:cNvSpPr>
            <a:spLocks noGrp="1"/>
          </p:cNvSpPr>
          <p:nvPr>
            <p:ph idx="1"/>
          </p:nvPr>
        </p:nvSpPr>
        <p:spPr/>
        <p:txBody>
          <a:bodyPr/>
          <a:lstStyle/>
          <a:p>
            <a:r>
              <a:rPr lang="en-US" dirty="0"/>
              <a:t>Kruskal-Wallis to compare alpha diversity between glaciers</a:t>
            </a:r>
          </a:p>
          <a:p>
            <a:r>
              <a:rPr lang="en-US" dirty="0"/>
              <a:t>Permutation Multivariate Analysis of Variance (PERMANOVA) to identify if community composition varied between glaciers</a:t>
            </a:r>
          </a:p>
          <a:p>
            <a:r>
              <a:rPr lang="en-US" dirty="0"/>
              <a:t>Canonical Analysis of Principal Coordinates (CAP) used to identify the variation in community composition explained by pH, cryoconite hole area, cryoconite hole depth, water content and chlorophyll</a:t>
            </a:r>
          </a:p>
          <a:p>
            <a:endParaRPr lang="en-US" dirty="0"/>
          </a:p>
        </p:txBody>
      </p:sp>
    </p:spTree>
    <p:extLst>
      <p:ext uri="{BB962C8B-B14F-4D97-AF65-F5344CB8AC3E}">
        <p14:creationId xmlns:p14="http://schemas.microsoft.com/office/powerpoint/2010/main" val="416800023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p:txBody>
          <a:bodyPr/>
          <a:lstStyle/>
          <a:p>
            <a:r>
              <a:rPr lang="en-US" dirty="0"/>
              <a:t>Island Species-Area Relationship (ISAR)</a:t>
            </a:r>
          </a:p>
        </p:txBody>
      </p:sp>
      <p:sp>
        <p:nvSpPr>
          <p:cNvPr id="3" name="Content Placeholder 2">
            <a:extLst>
              <a:ext uri="{FF2B5EF4-FFF2-40B4-BE49-F238E27FC236}">
                <a16:creationId xmlns:a16="http://schemas.microsoft.com/office/drawing/2014/main" id="{8164F5FD-2E5F-5C41-AD49-D588DDF75135}"/>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9251788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p:txBody>
          <a:bodyPr/>
          <a:lstStyle/>
          <a:p>
            <a:r>
              <a:rPr lang="en-US" dirty="0"/>
              <a:t>Distance-Decay Relationship (DDR)</a:t>
            </a:r>
          </a:p>
        </p:txBody>
      </p:sp>
      <p:sp>
        <p:nvSpPr>
          <p:cNvPr id="3" name="Content Placeholder 2">
            <a:extLst>
              <a:ext uri="{FF2B5EF4-FFF2-40B4-BE49-F238E27FC236}">
                <a16:creationId xmlns:a16="http://schemas.microsoft.com/office/drawing/2014/main" id="{8C99AD61-FFDB-C541-AC73-40B69F35175B}"/>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1031241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p:txBody>
          <a:bodyPr/>
          <a:lstStyle/>
          <a:p>
            <a:r>
              <a:rPr lang="en-US" dirty="0"/>
              <a:t>Community Assembly Processes</a:t>
            </a:r>
          </a:p>
        </p:txBody>
      </p:sp>
      <p:sp>
        <p:nvSpPr>
          <p:cNvPr id="3" name="Content Placeholder 2">
            <a:extLst>
              <a:ext uri="{FF2B5EF4-FFF2-40B4-BE49-F238E27FC236}">
                <a16:creationId xmlns:a16="http://schemas.microsoft.com/office/drawing/2014/main" id="{F90D7D02-C8D3-3346-98EA-A1F2BC2048E4}"/>
              </a:ext>
            </a:extLst>
          </p:cNvPr>
          <p:cNvSpPr>
            <a:spLocks noGrp="1"/>
          </p:cNvSpPr>
          <p:nvPr>
            <p:ph idx="1"/>
          </p:nvPr>
        </p:nvSpPr>
        <p:spPr/>
        <p:txBody>
          <a:bodyPr/>
          <a:lstStyle/>
          <a:p>
            <a:r>
              <a:rPr lang="en-US" dirty="0"/>
              <a:t>Variable selection</a:t>
            </a:r>
          </a:p>
          <a:p>
            <a:r>
              <a:rPr lang="en-US" dirty="0"/>
              <a:t>Homogenizing selection</a:t>
            </a:r>
          </a:p>
          <a:p>
            <a:r>
              <a:rPr lang="en-US" dirty="0"/>
              <a:t>Dispersal limitation</a:t>
            </a:r>
          </a:p>
          <a:p>
            <a:r>
              <a:rPr lang="en-US" dirty="0"/>
              <a:t>Homogenizing dispersal</a:t>
            </a:r>
          </a:p>
          <a:p>
            <a:r>
              <a:rPr lang="en-US" dirty="0"/>
              <a:t>Ecological drift</a:t>
            </a:r>
          </a:p>
        </p:txBody>
      </p:sp>
    </p:spTree>
    <p:extLst>
      <p:ext uri="{BB962C8B-B14F-4D97-AF65-F5344CB8AC3E}">
        <p14:creationId xmlns:p14="http://schemas.microsoft.com/office/powerpoint/2010/main" val="5693683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6D42-074B-1E4B-A777-A7DC340A8715}"/>
              </a:ext>
            </a:extLst>
          </p:cNvPr>
          <p:cNvSpPr>
            <a:spLocks noGrp="1"/>
          </p:cNvSpPr>
          <p:nvPr>
            <p:ph type="title"/>
          </p:nvPr>
        </p:nvSpPr>
        <p:spPr/>
        <p:txBody>
          <a:bodyPr/>
          <a:lstStyle/>
          <a:p>
            <a:r>
              <a:rPr lang="en-US" dirty="0"/>
              <a:t>Evolutionary Diversification</a:t>
            </a:r>
          </a:p>
        </p:txBody>
      </p:sp>
      <p:sp>
        <p:nvSpPr>
          <p:cNvPr id="3" name="Content Placeholder 2">
            <a:extLst>
              <a:ext uri="{FF2B5EF4-FFF2-40B4-BE49-F238E27FC236}">
                <a16:creationId xmlns:a16="http://schemas.microsoft.com/office/drawing/2014/main" id="{1CA944D9-62DB-F04F-A3DA-3DD8B531DB20}"/>
              </a:ext>
            </a:extLst>
          </p:cNvPr>
          <p:cNvSpPr>
            <a:spLocks noGrp="1"/>
          </p:cNvSpPr>
          <p:nvPr>
            <p:ph idx="1"/>
          </p:nvPr>
        </p:nvSpPr>
        <p:spPr/>
        <p:txBody>
          <a:bodyPr/>
          <a:lstStyle/>
          <a:p>
            <a:endParaRPr lang="en-US" dirty="0"/>
          </a:p>
        </p:txBody>
      </p:sp>
    </p:spTree>
    <p:extLst>
      <p:ext uri="{BB962C8B-B14F-4D97-AF65-F5344CB8AC3E}">
        <p14:creationId xmlns:p14="http://schemas.microsoft.com/office/powerpoint/2010/main" val="398201810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p:txBody>
          <a:bodyPr/>
          <a:lstStyle/>
          <a:p>
            <a:r>
              <a:rPr lang="en-US" dirty="0"/>
              <a:t>Phylogenetic Null Model</a:t>
            </a:r>
          </a:p>
        </p:txBody>
      </p:sp>
      <p:sp>
        <p:nvSpPr>
          <p:cNvPr id="3" name="Content Placeholder 2">
            <a:extLst>
              <a:ext uri="{FF2B5EF4-FFF2-40B4-BE49-F238E27FC236}">
                <a16:creationId xmlns:a16="http://schemas.microsoft.com/office/drawing/2014/main" id="{5BADFAAF-DC9F-AC4F-9CCF-4761A7AC07DE}"/>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838930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p:txBody>
          <a:bodyPr/>
          <a:lstStyle/>
          <a:p>
            <a:r>
              <a:rPr lang="en-US" dirty="0"/>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2"/>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964B50-1133-7740-B87C-5F128B15AF84}"/>
              </a:ext>
            </a:extLst>
          </p:cNvPr>
          <p:cNvSpPr>
            <a:spLocks noGrp="1"/>
          </p:cNvSpPr>
          <p:nvPr>
            <p:ph type="title"/>
          </p:nvPr>
        </p:nvSpPr>
        <p:spPr/>
        <p:txBody>
          <a:bodyPr/>
          <a:lstStyle/>
          <a:p>
            <a:r>
              <a:rPr lang="el-GR" dirty="0"/>
              <a:t>β</a:t>
            </a:r>
            <a:r>
              <a:rPr lang="en-US" dirty="0"/>
              <a:t>-Nearest Taxon Index</a:t>
            </a:r>
          </a:p>
        </p:txBody>
      </p:sp>
      <p:sp>
        <p:nvSpPr>
          <p:cNvPr id="3" name="Content Placeholder 2">
            <a:extLst>
              <a:ext uri="{FF2B5EF4-FFF2-40B4-BE49-F238E27FC236}">
                <a16:creationId xmlns:a16="http://schemas.microsoft.com/office/drawing/2014/main" id="{A128397E-478A-7C43-B224-54FEC2B5BD9C}"/>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51502735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p:txBody>
          <a:bodyPr/>
          <a:lstStyle/>
          <a:p>
            <a:r>
              <a:rPr lang="en-US" dirty="0"/>
              <a:t>Sloan’s Neutral Model</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847024"/>
            <a:ext cx="1616826" cy="1754326"/>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7610397" y="1348724"/>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1" y="2601350"/>
            <a:ext cx="844635"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500231" y="12476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mc:Choice xmlns:a14="http://schemas.microsoft.com/office/drawing/2010/main" Requires="a14">
          <p:sp>
            <p:nvSpPr>
              <p:cNvPr id="39" name="TextBox 38">
                <a:extLst>
                  <a:ext uri="{FF2B5EF4-FFF2-40B4-BE49-F238E27FC236}">
                    <a16:creationId xmlns:a16="http://schemas.microsoft.com/office/drawing/2014/main" id="{1EDE13FD-762C-E645-B28E-EFAF1603682A}"/>
                  </a:ext>
                </a:extLst>
              </p:cNvPr>
              <p:cNvSpPr txBox="1"/>
              <p:nvPr/>
            </p:nvSpPr>
            <p:spPr>
              <a:xfrm>
                <a:off x="2078182" y="5785658"/>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078182" y="5785658"/>
                <a:ext cx="8296102" cy="369332"/>
              </a:xfrm>
              <a:prstGeom prst="rect">
                <a:avLst/>
              </a:prstGeom>
              <a:blipFill>
                <a:blip r:embed="rId4"/>
                <a:stretch>
                  <a:fillRect t="-10345" b="-24138"/>
                </a:stretch>
              </a:blipFill>
            </p:spPr>
            <p:txBody>
              <a:bodyPr/>
              <a:lstStyle/>
              <a:p>
                <a:r>
                  <a:rPr lang="en-US">
                    <a:noFill/>
                  </a:rPr>
                  <a:t> </a:t>
                </a:r>
              </a:p>
            </p:txBody>
          </p:sp>
        </mc:Fallback>
      </mc:AlternateContent>
    </p:spTree>
    <p:extLst>
      <p:ext uri="{BB962C8B-B14F-4D97-AF65-F5344CB8AC3E}">
        <p14:creationId xmlns:p14="http://schemas.microsoft.com/office/powerpoint/2010/main" val="21021822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p:txBody>
          <a:bodyPr/>
          <a:lstStyle/>
          <a:p>
            <a:r>
              <a:rPr lang="en-US" dirty="0"/>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755050813"/>
              </p:ext>
            </p:extLst>
          </p:nvPr>
        </p:nvGraphicFramePr>
        <p:xfrm>
          <a:off x="3200400" y="623359"/>
          <a:ext cx="8458200"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059778" y="1027906"/>
            <a:ext cx="8327233" cy="555148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p:txBody>
          <a:bodyPr/>
          <a:lstStyle/>
          <a:p>
            <a:r>
              <a:rPr lang="en-US" dirty="0"/>
              <a:t>Results</a:t>
            </a:r>
          </a:p>
        </p:txBody>
      </p:sp>
    </p:spTree>
    <p:extLst>
      <p:ext uri="{BB962C8B-B14F-4D97-AF65-F5344CB8AC3E}">
        <p14:creationId xmlns:p14="http://schemas.microsoft.com/office/powerpoint/2010/main" val="9662271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p:txBody>
          <a:bodyPr/>
          <a:lstStyle/>
          <a:p>
            <a:r>
              <a:rPr lang="en-US" dirty="0"/>
              <a:t>Co-Occurrence Network Analysis</a:t>
            </a:r>
          </a:p>
        </p:txBody>
      </p:sp>
      <p:sp>
        <p:nvSpPr>
          <p:cNvPr id="3" name="Content Placeholder 2">
            <a:extLst>
              <a:ext uri="{FF2B5EF4-FFF2-40B4-BE49-F238E27FC236}">
                <a16:creationId xmlns:a16="http://schemas.microsoft.com/office/drawing/2014/main" id="{958C73FE-1CD3-9D4C-8447-A79ED529B7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8046988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1686</TotalTime>
  <Words>1739</Words>
  <Application>Microsoft Macintosh PowerPoint</Application>
  <PresentationFormat>Widescreen</PresentationFormat>
  <Paragraphs>147</Paragraphs>
  <Slides>21</Slides>
  <Notes>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Analysis</vt:lpstr>
      <vt:lpstr>Community Assembly Processes</vt:lpstr>
      <vt:lpstr>Supraglacial deterministic processes</vt:lpstr>
      <vt:lpstr>Supraglacial stochastic processes</vt:lpstr>
      <vt:lpstr>Hypotheses</vt:lpstr>
      <vt:lpstr>Ordination </vt:lpstr>
      <vt:lpstr>Alpha Diversity</vt:lpstr>
      <vt:lpstr>Beta Diversity </vt:lpstr>
      <vt:lpstr>Multivariate Analysis</vt:lpstr>
      <vt:lpstr>Island Species-Area Relationship (ISAR)</vt:lpstr>
      <vt:lpstr>Distance-Decay Relationship (DDR)</vt:lpstr>
      <vt:lpstr>Community Assembly Processes</vt:lpstr>
      <vt:lpstr>Evolutionary Diversification</vt:lpstr>
      <vt:lpstr>Phylogenetic Null Model</vt:lpstr>
      <vt:lpstr>Phylogenetic Signal</vt:lpstr>
      <vt:lpstr>β-Nearest Taxon Index</vt:lpstr>
      <vt:lpstr>Sloan’s Neutral Model</vt:lpstr>
      <vt:lpstr>Code</vt:lpstr>
      <vt:lpstr>Results</vt:lpstr>
      <vt:lpstr>Co-Occurrence Network Analysis</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Microsoft Office User</cp:lastModifiedBy>
  <cp:revision>43</cp:revision>
  <dcterms:created xsi:type="dcterms:W3CDTF">2021-04-15T08:49:25Z</dcterms:created>
  <dcterms:modified xsi:type="dcterms:W3CDTF">2021-04-16T13:00:59Z</dcterms:modified>
</cp:coreProperties>
</file>