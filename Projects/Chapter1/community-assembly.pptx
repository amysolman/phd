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79" r:id="rId3"/>
    <p:sldId id="264" r:id="rId4"/>
    <p:sldId id="268" r:id="rId5"/>
    <p:sldId id="269" r:id="rId6"/>
    <p:sldId id="270" r:id="rId7"/>
    <p:sldId id="280" r:id="rId8"/>
    <p:sldId id="281" r:id="rId9"/>
    <p:sldId id="283" r:id="rId10"/>
    <p:sldId id="282" r:id="rId11"/>
    <p:sldId id="287" r:id="rId12"/>
    <p:sldId id="274" r:id="rId13"/>
    <p:sldId id="288" r:id="rId14"/>
    <p:sldId id="289" r:id="rId15"/>
    <p:sldId id="290" r:id="rId16"/>
    <p:sldId id="291" r:id="rId17"/>
    <p:sldId id="292" r:id="rId18"/>
    <p:sldId id="284" r:id="rId19"/>
    <p:sldId id="285" r:id="rId20"/>
    <p:sldId id="286" r:id="rId21"/>
    <p:sldId id="263" r:id="rId22"/>
    <p:sldId id="258" r:id="rId23"/>
    <p:sldId id="259" r:id="rId24"/>
    <p:sldId id="261" r:id="rId25"/>
    <p:sldId id="277" r:id="rId26"/>
    <p:sldId id="278" r:id="rId27"/>
    <p:sldId id="293" r:id="rId28"/>
    <p:sldId id="271" r:id="rId29"/>
    <p:sldId id="265" r:id="rId30"/>
    <p:sldId id="260" r:id="rId31"/>
    <p:sldId id="262" r:id="rId32"/>
    <p:sldId id="294" r:id="rId33"/>
    <p:sldId id="29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C9BD5"/>
    <a:srgbClr val="FFC003"/>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44"/>
    <p:restoredTop sz="83266"/>
  </p:normalViewPr>
  <p:slideViewPr>
    <p:cSldViewPr snapToGrid="0" snapToObjects="1">
      <p:cViewPr>
        <p:scale>
          <a:sx n="90" d="100"/>
          <a:sy n="90" d="100"/>
        </p:scale>
        <p:origin x="1744"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4A8053-4923-A24E-AEC5-81BF6014CBC8}" type="doc">
      <dgm:prSet loTypeId="urn:microsoft.com/office/officeart/2005/8/layout/venn1" loCatId="" qsTypeId="urn:microsoft.com/office/officeart/2005/8/quickstyle/simple1" qsCatId="simple" csTypeId="urn:microsoft.com/office/officeart/2005/8/colors/colorful4" csCatId="colorful" phldr="1"/>
      <dgm:spPr/>
    </dgm:pt>
    <dgm:pt modelId="{7F8359A3-B9CF-6D4B-8037-57FE1863EDF2}">
      <dgm:prSet phldrT="[Text]"/>
      <dgm:spPr/>
      <dgm:t>
        <a:bodyPr/>
        <a:lstStyle/>
        <a:p>
          <a:r>
            <a:rPr lang="en-US" dirty="0"/>
            <a:t>Selection</a:t>
          </a:r>
        </a:p>
      </dgm:t>
    </dgm:pt>
    <dgm:pt modelId="{B0B7F09A-A873-7049-9697-5CF8A7964645}" type="parTrans" cxnId="{22E0002F-3AB5-A944-A9A5-20F9CD6BC590}">
      <dgm:prSet/>
      <dgm:spPr/>
      <dgm:t>
        <a:bodyPr/>
        <a:lstStyle/>
        <a:p>
          <a:endParaRPr lang="en-US"/>
        </a:p>
      </dgm:t>
    </dgm:pt>
    <dgm:pt modelId="{B699ECE7-0CE4-8B41-A16C-D2DA25295E5A}" type="sibTrans" cxnId="{22E0002F-3AB5-A944-A9A5-20F9CD6BC590}">
      <dgm:prSet/>
      <dgm:spPr/>
      <dgm:t>
        <a:bodyPr/>
        <a:lstStyle/>
        <a:p>
          <a:endParaRPr lang="en-US"/>
        </a:p>
      </dgm:t>
    </dgm:pt>
    <dgm:pt modelId="{0475E55C-BC76-CC49-A6EA-4425DC97CB71}">
      <dgm:prSet phldrT="[Text]"/>
      <dgm:spPr/>
      <dgm:t>
        <a:bodyPr/>
        <a:lstStyle/>
        <a:p>
          <a:r>
            <a:rPr lang="en-US" dirty="0"/>
            <a:t>Dispersal</a:t>
          </a:r>
        </a:p>
      </dgm:t>
    </dgm:pt>
    <dgm:pt modelId="{CAC93909-FC75-1A4A-AC6C-8A176D84B327}" type="parTrans" cxnId="{6C7751D4-1294-EB42-9CAD-B69CD70ABD32}">
      <dgm:prSet/>
      <dgm:spPr/>
      <dgm:t>
        <a:bodyPr/>
        <a:lstStyle/>
        <a:p>
          <a:endParaRPr lang="en-US"/>
        </a:p>
      </dgm:t>
    </dgm:pt>
    <dgm:pt modelId="{6589743F-27BF-6740-9E4C-996261639427}" type="sibTrans" cxnId="{6C7751D4-1294-EB42-9CAD-B69CD70ABD32}">
      <dgm:prSet/>
      <dgm:spPr/>
      <dgm:t>
        <a:bodyPr/>
        <a:lstStyle/>
        <a:p>
          <a:endParaRPr lang="en-US"/>
        </a:p>
      </dgm:t>
    </dgm:pt>
    <dgm:pt modelId="{C77A4A92-8829-554D-A202-9E33F357FC68}">
      <dgm:prSet phldrT="[Text]"/>
      <dgm:spPr/>
      <dgm:t>
        <a:bodyPr/>
        <a:lstStyle/>
        <a:p>
          <a:r>
            <a:rPr lang="en-US" dirty="0"/>
            <a:t>Ecological Drift</a:t>
          </a:r>
        </a:p>
      </dgm:t>
    </dgm:pt>
    <dgm:pt modelId="{CD6B9D5D-8787-D348-92EC-DD8D371AAF2D}" type="parTrans" cxnId="{E16A4536-2D03-6141-932B-DB32ABF87EDF}">
      <dgm:prSet/>
      <dgm:spPr/>
      <dgm:t>
        <a:bodyPr/>
        <a:lstStyle/>
        <a:p>
          <a:endParaRPr lang="en-US"/>
        </a:p>
      </dgm:t>
    </dgm:pt>
    <dgm:pt modelId="{DE11C94D-1CAD-B04E-8F8C-6BD6380124BA}" type="sibTrans" cxnId="{E16A4536-2D03-6141-932B-DB32ABF87EDF}">
      <dgm:prSet/>
      <dgm:spPr/>
      <dgm:t>
        <a:bodyPr/>
        <a:lstStyle/>
        <a:p>
          <a:endParaRPr lang="en-US"/>
        </a:p>
      </dgm:t>
    </dgm:pt>
    <dgm:pt modelId="{99849F71-D68B-6349-82AD-85F23C18C551}" type="pres">
      <dgm:prSet presAssocID="{8F4A8053-4923-A24E-AEC5-81BF6014CBC8}" presName="compositeShape" presStyleCnt="0">
        <dgm:presLayoutVars>
          <dgm:chMax val="7"/>
          <dgm:dir/>
          <dgm:resizeHandles val="exact"/>
        </dgm:presLayoutVars>
      </dgm:prSet>
      <dgm:spPr/>
    </dgm:pt>
    <dgm:pt modelId="{25E2C31A-9C32-8244-A94C-1A921F1582B3}" type="pres">
      <dgm:prSet presAssocID="{7F8359A3-B9CF-6D4B-8037-57FE1863EDF2}" presName="circ1" presStyleLbl="vennNode1" presStyleIdx="0" presStyleCnt="3"/>
      <dgm:spPr/>
    </dgm:pt>
    <dgm:pt modelId="{12CDB55E-5DD0-DE4F-96C4-703F4165CACE}" type="pres">
      <dgm:prSet presAssocID="{7F8359A3-B9CF-6D4B-8037-57FE1863EDF2}" presName="circ1Tx" presStyleLbl="revTx" presStyleIdx="0" presStyleCnt="0">
        <dgm:presLayoutVars>
          <dgm:chMax val="0"/>
          <dgm:chPref val="0"/>
          <dgm:bulletEnabled val="1"/>
        </dgm:presLayoutVars>
      </dgm:prSet>
      <dgm:spPr/>
    </dgm:pt>
    <dgm:pt modelId="{7DAC2FF7-8C69-8544-B207-8AD8ED8CC18E}" type="pres">
      <dgm:prSet presAssocID="{0475E55C-BC76-CC49-A6EA-4425DC97CB71}" presName="circ2" presStyleLbl="vennNode1" presStyleIdx="1" presStyleCnt="3"/>
      <dgm:spPr/>
    </dgm:pt>
    <dgm:pt modelId="{76DE5FBD-4E39-D141-A1C7-AC8C1D7BAF55}" type="pres">
      <dgm:prSet presAssocID="{0475E55C-BC76-CC49-A6EA-4425DC97CB71}" presName="circ2Tx" presStyleLbl="revTx" presStyleIdx="0" presStyleCnt="0">
        <dgm:presLayoutVars>
          <dgm:chMax val="0"/>
          <dgm:chPref val="0"/>
          <dgm:bulletEnabled val="1"/>
        </dgm:presLayoutVars>
      </dgm:prSet>
      <dgm:spPr/>
    </dgm:pt>
    <dgm:pt modelId="{C13988BE-4667-2C42-B802-C07898FB496F}" type="pres">
      <dgm:prSet presAssocID="{C77A4A92-8829-554D-A202-9E33F357FC68}" presName="circ3" presStyleLbl="vennNode1" presStyleIdx="2" presStyleCnt="3"/>
      <dgm:spPr/>
    </dgm:pt>
    <dgm:pt modelId="{63B1BA92-5CBD-5D43-B807-32F00F93F4C2}" type="pres">
      <dgm:prSet presAssocID="{C77A4A92-8829-554D-A202-9E33F357FC68}" presName="circ3Tx" presStyleLbl="revTx" presStyleIdx="0" presStyleCnt="0">
        <dgm:presLayoutVars>
          <dgm:chMax val="0"/>
          <dgm:chPref val="0"/>
          <dgm:bulletEnabled val="1"/>
        </dgm:presLayoutVars>
      </dgm:prSet>
      <dgm:spPr/>
    </dgm:pt>
  </dgm:ptLst>
  <dgm:cxnLst>
    <dgm:cxn modelId="{22E0002F-3AB5-A944-A9A5-20F9CD6BC590}" srcId="{8F4A8053-4923-A24E-AEC5-81BF6014CBC8}" destId="{7F8359A3-B9CF-6D4B-8037-57FE1863EDF2}" srcOrd="0" destOrd="0" parTransId="{B0B7F09A-A873-7049-9697-5CF8A7964645}" sibTransId="{B699ECE7-0CE4-8B41-A16C-D2DA25295E5A}"/>
    <dgm:cxn modelId="{E16A4536-2D03-6141-932B-DB32ABF87EDF}" srcId="{8F4A8053-4923-A24E-AEC5-81BF6014CBC8}" destId="{C77A4A92-8829-554D-A202-9E33F357FC68}" srcOrd="2" destOrd="0" parTransId="{CD6B9D5D-8787-D348-92EC-DD8D371AAF2D}" sibTransId="{DE11C94D-1CAD-B04E-8F8C-6BD6380124BA}"/>
    <dgm:cxn modelId="{30926E4F-908A-2648-A053-9920F727B0EC}" type="presOf" srcId="{0475E55C-BC76-CC49-A6EA-4425DC97CB71}" destId="{76DE5FBD-4E39-D141-A1C7-AC8C1D7BAF55}" srcOrd="1" destOrd="0" presId="urn:microsoft.com/office/officeart/2005/8/layout/venn1"/>
    <dgm:cxn modelId="{1CE78F51-CC2E-DD49-9AB8-215DB2E3873F}" type="presOf" srcId="{7F8359A3-B9CF-6D4B-8037-57FE1863EDF2}" destId="{25E2C31A-9C32-8244-A94C-1A921F1582B3}" srcOrd="0" destOrd="0" presId="urn:microsoft.com/office/officeart/2005/8/layout/venn1"/>
    <dgm:cxn modelId="{77AD5456-ADF9-5144-901C-53774063F956}" type="presOf" srcId="{7F8359A3-B9CF-6D4B-8037-57FE1863EDF2}" destId="{12CDB55E-5DD0-DE4F-96C4-703F4165CACE}" srcOrd="1" destOrd="0" presId="urn:microsoft.com/office/officeart/2005/8/layout/venn1"/>
    <dgm:cxn modelId="{43CD5461-142A-BC4E-90AB-21C84DA1623D}" type="presOf" srcId="{C77A4A92-8829-554D-A202-9E33F357FC68}" destId="{63B1BA92-5CBD-5D43-B807-32F00F93F4C2}" srcOrd="1" destOrd="0" presId="urn:microsoft.com/office/officeart/2005/8/layout/venn1"/>
    <dgm:cxn modelId="{903EFF63-DF67-514E-8054-8C572B8FB92F}" type="presOf" srcId="{C77A4A92-8829-554D-A202-9E33F357FC68}" destId="{C13988BE-4667-2C42-B802-C07898FB496F}" srcOrd="0" destOrd="0" presId="urn:microsoft.com/office/officeart/2005/8/layout/venn1"/>
    <dgm:cxn modelId="{01B8258E-F57E-024C-9034-8CCCDFC3C0BF}" type="presOf" srcId="{0475E55C-BC76-CC49-A6EA-4425DC97CB71}" destId="{7DAC2FF7-8C69-8544-B207-8AD8ED8CC18E}" srcOrd="0" destOrd="0" presId="urn:microsoft.com/office/officeart/2005/8/layout/venn1"/>
    <dgm:cxn modelId="{E502D9AF-D72C-8E4E-B145-ADD72D368CFD}" type="presOf" srcId="{8F4A8053-4923-A24E-AEC5-81BF6014CBC8}" destId="{99849F71-D68B-6349-82AD-85F23C18C551}" srcOrd="0" destOrd="0" presId="urn:microsoft.com/office/officeart/2005/8/layout/venn1"/>
    <dgm:cxn modelId="{6C7751D4-1294-EB42-9CAD-B69CD70ABD32}" srcId="{8F4A8053-4923-A24E-AEC5-81BF6014CBC8}" destId="{0475E55C-BC76-CC49-A6EA-4425DC97CB71}" srcOrd="1" destOrd="0" parTransId="{CAC93909-FC75-1A4A-AC6C-8A176D84B327}" sibTransId="{6589743F-27BF-6740-9E4C-996261639427}"/>
    <dgm:cxn modelId="{D16D97F3-DFAD-144F-84C9-FD14C1B6A643}" type="presParOf" srcId="{99849F71-D68B-6349-82AD-85F23C18C551}" destId="{25E2C31A-9C32-8244-A94C-1A921F1582B3}" srcOrd="0" destOrd="0" presId="urn:microsoft.com/office/officeart/2005/8/layout/venn1"/>
    <dgm:cxn modelId="{68F31C22-3EB3-7546-80D3-71255CEF552E}" type="presParOf" srcId="{99849F71-D68B-6349-82AD-85F23C18C551}" destId="{12CDB55E-5DD0-DE4F-96C4-703F4165CACE}" srcOrd="1" destOrd="0" presId="urn:microsoft.com/office/officeart/2005/8/layout/venn1"/>
    <dgm:cxn modelId="{ED19B7B3-6FAE-BD49-9E19-A1C4E1D85B26}" type="presParOf" srcId="{99849F71-D68B-6349-82AD-85F23C18C551}" destId="{7DAC2FF7-8C69-8544-B207-8AD8ED8CC18E}" srcOrd="2" destOrd="0" presId="urn:microsoft.com/office/officeart/2005/8/layout/venn1"/>
    <dgm:cxn modelId="{B964DD3B-9CC4-174F-A633-FBFB58832294}" type="presParOf" srcId="{99849F71-D68B-6349-82AD-85F23C18C551}" destId="{76DE5FBD-4E39-D141-A1C7-AC8C1D7BAF55}" srcOrd="3" destOrd="0" presId="urn:microsoft.com/office/officeart/2005/8/layout/venn1"/>
    <dgm:cxn modelId="{720B36BF-859B-B64D-8DC5-26567BAA7DE8}" type="presParOf" srcId="{99849F71-D68B-6349-82AD-85F23C18C551}" destId="{C13988BE-4667-2C42-B802-C07898FB496F}" srcOrd="4" destOrd="0" presId="urn:microsoft.com/office/officeart/2005/8/layout/venn1"/>
    <dgm:cxn modelId="{43A3809A-FA93-8346-91EF-D786EBA2C43D}" type="presParOf" srcId="{99849F71-D68B-6349-82AD-85F23C18C551}" destId="{63B1BA92-5CBD-5D43-B807-32F00F93F4C2}"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the size of the metacommunity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E2C31A-9C32-8244-A94C-1A921F1582B3}">
      <dsp:nvSpPr>
        <dsp:cNvPr id="0" name=""/>
        <dsp:cNvSpPr/>
      </dsp:nvSpPr>
      <dsp:spPr>
        <a:xfrm>
          <a:off x="2163603" y="60100"/>
          <a:ext cx="2884805" cy="2884805"/>
        </a:xfrm>
        <a:prstGeom prst="ellipse">
          <a:avLst/>
        </a:prstGeom>
        <a:solidFill>
          <a:schemeClr val="accent4">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Selection</a:t>
          </a:r>
        </a:p>
      </dsp:txBody>
      <dsp:txXfrm>
        <a:off x="2548244" y="564941"/>
        <a:ext cx="2115523" cy="1298162"/>
      </dsp:txXfrm>
    </dsp:sp>
    <dsp:sp modelId="{7DAC2FF7-8C69-8544-B207-8AD8ED8CC18E}">
      <dsp:nvSpPr>
        <dsp:cNvPr id="0" name=""/>
        <dsp:cNvSpPr/>
      </dsp:nvSpPr>
      <dsp:spPr>
        <a:xfrm>
          <a:off x="3204537" y="1863103"/>
          <a:ext cx="2884805" cy="2884805"/>
        </a:xfrm>
        <a:prstGeom prst="ellipse">
          <a:avLst/>
        </a:prstGeom>
        <a:solidFill>
          <a:schemeClr val="accent4">
            <a:alpha val="50000"/>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Dispersal</a:t>
          </a:r>
        </a:p>
      </dsp:txBody>
      <dsp:txXfrm>
        <a:off x="4086807" y="2608344"/>
        <a:ext cx="1730883" cy="1586642"/>
      </dsp:txXfrm>
    </dsp:sp>
    <dsp:sp modelId="{C13988BE-4667-2C42-B802-C07898FB496F}">
      <dsp:nvSpPr>
        <dsp:cNvPr id="0" name=""/>
        <dsp:cNvSpPr/>
      </dsp:nvSpPr>
      <dsp:spPr>
        <a:xfrm>
          <a:off x="1122669" y="1863103"/>
          <a:ext cx="2884805" cy="2884805"/>
        </a:xfrm>
        <a:prstGeom prst="ellipse">
          <a:avLst/>
        </a:prstGeom>
        <a:solidFill>
          <a:schemeClr val="accent4">
            <a:alpha val="50000"/>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Ecological Drift</a:t>
          </a:r>
        </a:p>
      </dsp:txBody>
      <dsp:txXfrm>
        <a:off x="1394322" y="2608344"/>
        <a:ext cx="1730883" cy="1586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00015" y="661"/>
          <a:ext cx="8258168" cy="77390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Extract ASV table from </a:t>
          </a:r>
          <a:r>
            <a:rPr lang="en-US" sz="1600" kern="1200" dirty="0" err="1"/>
            <a:t>phyloseq</a:t>
          </a:r>
          <a:r>
            <a:rPr lang="en-US" sz="1600" kern="1200" dirty="0"/>
            <a:t> object</a:t>
          </a:r>
        </a:p>
      </dsp:txBody>
      <dsp:txXfrm>
        <a:off x="122682" y="23328"/>
        <a:ext cx="8212834" cy="728572"/>
      </dsp:txXfrm>
    </dsp:sp>
    <dsp:sp modelId="{91DA19BA-A0AB-564A-8A9E-322DF18B64CF}">
      <dsp:nvSpPr>
        <dsp:cNvPr id="0" name=""/>
        <dsp:cNvSpPr/>
      </dsp:nvSpPr>
      <dsp:spPr>
        <a:xfrm rot="5400000">
          <a:off x="4083992" y="793915"/>
          <a:ext cx="290214" cy="3482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822936"/>
        <a:ext cx="208955" cy="203150"/>
      </dsp:txXfrm>
    </dsp:sp>
    <dsp:sp modelId="{43D2067A-91F6-8745-98BA-D6A10B24950A}">
      <dsp:nvSpPr>
        <dsp:cNvPr id="0" name=""/>
        <dsp:cNvSpPr/>
      </dsp:nvSpPr>
      <dsp:spPr>
        <a:xfrm>
          <a:off x="128588" y="1161520"/>
          <a:ext cx="8201023" cy="773906"/>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size of the metacommunity (</a:t>
          </a:r>
          <a:r>
            <a:rPr lang="en-US" sz="1600" i="1" kern="1200" dirty="0"/>
            <a:t>N</a:t>
          </a:r>
          <a:r>
            <a:rPr lang="en-US" sz="1600" kern="1200" dirty="0"/>
            <a:t>) by finding the mean number of reads per sample. We also find the limit of detection (</a:t>
          </a:r>
          <a:r>
            <a:rPr lang="en-US" sz="1600" i="1" kern="1200" dirty="0"/>
            <a:t>d</a:t>
          </a:r>
          <a:r>
            <a:rPr lang="en-US" sz="1600" kern="1200" dirty="0"/>
            <a:t>) = </a:t>
          </a:r>
          <a:r>
            <a:rPr lang="en-US" sz="1600" i="1" kern="1200" dirty="0"/>
            <a:t>1/N</a:t>
          </a:r>
        </a:p>
      </dsp:txBody>
      <dsp:txXfrm>
        <a:off x="151255" y="1184187"/>
        <a:ext cx="8155689" cy="728572"/>
      </dsp:txXfrm>
    </dsp:sp>
    <dsp:sp modelId="{D067C965-9057-9C4A-A1D2-4912C14C50F7}">
      <dsp:nvSpPr>
        <dsp:cNvPr id="0" name=""/>
        <dsp:cNvSpPr/>
      </dsp:nvSpPr>
      <dsp:spPr>
        <a:xfrm rot="5400000">
          <a:off x="4083992" y="1954774"/>
          <a:ext cx="290214" cy="3482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1983795"/>
        <a:ext cx="208955" cy="203150"/>
      </dsp:txXfrm>
    </dsp:sp>
    <dsp:sp modelId="{80C05A4E-2A0A-294C-8DDC-052E97D834DA}">
      <dsp:nvSpPr>
        <dsp:cNvPr id="0" name=""/>
        <dsp:cNvSpPr/>
      </dsp:nvSpPr>
      <dsp:spPr>
        <a:xfrm>
          <a:off x="157161" y="2322380"/>
          <a:ext cx="8143877" cy="77390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mean observed relative abundance and occurrence frequency of each ASV</a:t>
          </a:r>
        </a:p>
      </dsp:txBody>
      <dsp:txXfrm>
        <a:off x="179828" y="2345047"/>
        <a:ext cx="8098543" cy="728572"/>
      </dsp:txXfrm>
    </dsp:sp>
    <dsp:sp modelId="{B3C2DB7A-EC33-6544-A09D-B1205728770A}">
      <dsp:nvSpPr>
        <dsp:cNvPr id="0" name=""/>
        <dsp:cNvSpPr/>
      </dsp:nvSpPr>
      <dsp:spPr>
        <a:xfrm rot="5400000">
          <a:off x="4083992" y="3115634"/>
          <a:ext cx="290214" cy="3482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3144655"/>
        <a:ext cx="208955" cy="203150"/>
      </dsp:txXfrm>
    </dsp:sp>
    <dsp:sp modelId="{6F6C8E07-FBAD-3F4D-A906-27ECCF26E70E}">
      <dsp:nvSpPr>
        <dsp:cNvPr id="0" name=""/>
        <dsp:cNvSpPr/>
      </dsp:nvSpPr>
      <dsp:spPr>
        <a:xfrm>
          <a:off x="171447" y="3483239"/>
          <a:ext cx="8115305" cy="77390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non-linear least squares fitting we fit the neutral model to our data to find, finding the probability of dispersal (</a:t>
          </a:r>
          <a:r>
            <a:rPr lang="en-US" sz="1600" i="1" kern="1200" dirty="0"/>
            <a:t>m</a:t>
          </a:r>
          <a:r>
            <a:rPr lang="en-US" sz="1600" kern="1200" dirty="0"/>
            <a:t>)</a:t>
          </a:r>
        </a:p>
      </dsp:txBody>
      <dsp:txXfrm>
        <a:off x="194114" y="3505906"/>
        <a:ext cx="8069971" cy="728572"/>
      </dsp:txXfrm>
    </dsp:sp>
    <dsp:sp modelId="{48489AC1-89DA-0F48-B940-23505B5798FF}">
      <dsp:nvSpPr>
        <dsp:cNvPr id="0" name=""/>
        <dsp:cNvSpPr/>
      </dsp:nvSpPr>
      <dsp:spPr>
        <a:xfrm rot="5400000">
          <a:off x="4083992" y="4276493"/>
          <a:ext cx="290214" cy="3482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4305514"/>
        <a:ext cx="208955" cy="203150"/>
      </dsp:txXfrm>
    </dsp:sp>
    <dsp:sp modelId="{80377AF5-BC76-FB40-840E-12C9D1BDB641}">
      <dsp:nvSpPr>
        <dsp:cNvPr id="0" name=""/>
        <dsp:cNvSpPr/>
      </dsp:nvSpPr>
      <dsp:spPr>
        <a:xfrm>
          <a:off x="157161" y="4644099"/>
          <a:ext cx="8143877" cy="77390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the estimated value of </a:t>
          </a:r>
          <a:r>
            <a:rPr lang="en-US" sz="1600" i="1" kern="1200" dirty="0"/>
            <a:t>m</a:t>
          </a:r>
          <a:r>
            <a:rPr lang="en-US" sz="1600" kern="1200" dirty="0"/>
            <a:t> we calculate predicted occurrence frequencies and plot predictions from the neutral model against observed frequencies</a:t>
          </a:r>
        </a:p>
      </dsp:txBody>
      <dsp:txXfrm>
        <a:off x="179828" y="4666766"/>
        <a:ext cx="8098543" cy="72857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turnover in community composition (that is, the difference in abundance and diversity of biological communities between locations) is shaped by ecological drift, selection and dispersal</a:t>
            </a:r>
          </a:p>
          <a:p>
            <a:endParaRPr lang="en-US" dirty="0"/>
          </a:p>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8</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arenR"/>
            </a:pPr>
            <a:r>
              <a:rPr lang="en-US" dirty="0"/>
              <a:t>Used ‘vegan’ package to get Shannon, Simpsons, Inverted Simpsons Diversity Indexes of count data in each sample. Also </a:t>
            </a:r>
            <a:r>
              <a:rPr lang="en-US" dirty="0" err="1"/>
              <a:t>Pilou</a:t>
            </a:r>
            <a:r>
              <a:rPr lang="en-US" dirty="0"/>
              <a:t> evenness and Faith’s phylogenetic diversity. </a:t>
            </a:r>
          </a:p>
          <a:p>
            <a:pPr marL="228600" indent="-228600">
              <a:buAutoNum type="arabicParenR"/>
            </a:pPr>
            <a:endParaRPr lang="en-US" dirty="0"/>
          </a:p>
          <a:p>
            <a:pPr marL="228600" indent="-228600">
              <a:buAutoNum type="arabicParenR"/>
            </a:pPr>
            <a:r>
              <a:rPr lang="en-US" dirty="0"/>
              <a:t>Alternatively use alpha() function from microbiome package to calculate all indices at one!</a:t>
            </a:r>
          </a:p>
          <a:p>
            <a:pPr marL="228600" indent="-228600">
              <a:buAutoNum type="arabicParenR"/>
            </a:pPr>
            <a:endParaRPr lang="en-US" dirty="0"/>
          </a:p>
          <a:p>
            <a:pPr marL="228600" indent="-228600">
              <a:buAutoNum type="arabicParenR"/>
            </a:pPr>
            <a:r>
              <a:rPr lang="en-US" dirty="0"/>
              <a:t>Here we have boxplots comparing the diversity indices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12</a:t>
            </a:fld>
            <a:endParaRPr lang="en-US"/>
          </a:p>
        </p:txBody>
      </p:sp>
    </p:spTree>
    <p:extLst>
      <p:ext uri="{BB962C8B-B14F-4D97-AF65-F5344CB8AC3E}">
        <p14:creationId xmlns:p14="http://schemas.microsoft.com/office/powerpoint/2010/main" val="30060708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of phylogenetic diversities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4033971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Relative abundance plots, agglomerated by Class</a:t>
            </a:r>
          </a:p>
        </p:txBody>
      </p:sp>
      <p:sp>
        <p:nvSpPr>
          <p:cNvPr id="4" name="Slide Number Placeholder 3"/>
          <p:cNvSpPr>
            <a:spLocks noGrp="1"/>
          </p:cNvSpPr>
          <p:nvPr>
            <p:ph type="sldNum" sz="quarter" idx="5"/>
          </p:nvPr>
        </p:nvSpPr>
        <p:spPr/>
        <p:txBody>
          <a:bodyPr/>
          <a:lstStyle/>
          <a:p>
            <a:fld id="{91AE2140-D502-214A-B76B-E0784B2C949B}" type="slidenum">
              <a:rPr lang="en-US" smtClean="0"/>
              <a:t>15</a:t>
            </a:fld>
            <a:endParaRPr lang="en-US"/>
          </a:p>
        </p:txBody>
      </p:sp>
    </p:spTree>
    <p:extLst>
      <p:ext uri="{BB962C8B-B14F-4D97-AF65-F5344CB8AC3E}">
        <p14:creationId xmlns:p14="http://schemas.microsoft.com/office/powerpoint/2010/main" val="7611708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#Unweighted </a:t>
            </a:r>
            <a:r>
              <a:rPr lang="en-US" dirty="0" err="1"/>
              <a:t>unifrac</a:t>
            </a:r>
            <a:r>
              <a:rPr lang="en-US" dirty="0"/>
              <a:t> is based on presence/absence not abundance - but it is sensitive to sequencing depth. So if a sample is of greater depth than other reads it may have more low abundance taxa and therefore effect the </a:t>
            </a:r>
            <a:r>
              <a:rPr lang="en-US" dirty="0" err="1"/>
              <a:t>unifrac</a:t>
            </a:r>
            <a:r>
              <a:rPr lang="en-US" dirty="0"/>
              <a:t> metric</a:t>
            </a:r>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1274742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Looked for evidence of compositionality. By multiplying ASV table by itself we can look for evidence of covariance.</a:t>
            </a:r>
          </a:p>
          <a:p>
            <a:r>
              <a:rPr lang="en-US" dirty="0"/>
              <a:t>#We then find the determinant of the covariance matrix and if the answer is 0 we have evidence of compositionality in the data – the result was 0 so the data is compositional.</a:t>
            </a:r>
          </a:p>
          <a:p>
            <a:endParaRPr lang="en-US" dirty="0"/>
          </a:p>
          <a:p>
            <a:r>
              <a:rPr lang="en-US" dirty="0"/>
              <a:t>2) Because out data are compositional we then need to transform them for downstream analysis</a:t>
            </a:r>
          </a:p>
          <a:p>
            <a:r>
              <a:rPr lang="en-US" dirty="0"/>
              <a:t>#Step Four: Perform a Log-Ratio </a:t>
            </a:r>
            <a:r>
              <a:rPr lang="en-US" dirty="0" err="1"/>
              <a:t>trasnformation</a:t>
            </a:r>
            <a:endParaRPr lang="en-US" dirty="0"/>
          </a:p>
          <a:p>
            <a:r>
              <a:rPr lang="en-US" dirty="0"/>
              <a:t>#This will </a:t>
            </a:r>
            <a:r>
              <a:rPr lang="en-US" dirty="0" err="1"/>
              <a:t>normalise</a:t>
            </a:r>
            <a:r>
              <a:rPr lang="en-US" dirty="0"/>
              <a:t> the ASV data within each sample</a:t>
            </a:r>
          </a:p>
          <a:p>
            <a:endParaRPr lang="en-US" dirty="0"/>
          </a:p>
          <a:p>
            <a:r>
              <a:rPr lang="en-US" dirty="0"/>
              <a:t>3) Look at the difference the log-ratio transformation has made to the covariance of the data</a:t>
            </a:r>
          </a:p>
          <a:p>
            <a:endParaRPr lang="en-US" dirty="0"/>
          </a:p>
          <a:p>
            <a:r>
              <a:rPr lang="en-US" dirty="0"/>
              <a:t>4) Figure 6: Perform Principal Component Analysis on Log-Ratio Transformed Data, Create visual representation of PCA and plot</a:t>
            </a:r>
          </a:p>
          <a:p>
            <a:endParaRPr lang="en-US" dirty="0"/>
          </a:p>
          <a:p>
            <a:r>
              <a:rPr lang="en-US" dirty="0"/>
              <a:t>5) Figure 7: </a:t>
            </a:r>
            <a:r>
              <a:rPr lang="en-US" dirty="0" err="1"/>
              <a:t>Visualise</a:t>
            </a:r>
            <a:r>
              <a:rPr lang="en-US" dirty="0"/>
              <a:t> and plot the </a:t>
            </a:r>
            <a:r>
              <a:rPr lang="en-US" dirty="0" err="1"/>
              <a:t>pca</a:t>
            </a:r>
            <a:r>
              <a:rPr lang="en-US" dirty="0"/>
              <a:t> </a:t>
            </a:r>
          </a:p>
          <a:p>
            <a:endParaRPr lang="en-US" dirty="0"/>
          </a:p>
          <a:p>
            <a:r>
              <a:rPr lang="en-US" dirty="0"/>
              <a:t>6) Computed the </a:t>
            </a:r>
            <a:r>
              <a:rPr lang="en-US" dirty="0" err="1"/>
              <a:t>jaccard</a:t>
            </a:r>
            <a:r>
              <a:rPr lang="en-US" dirty="0"/>
              <a:t> distance metric</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1719508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performed linear regressions between the explanatory variables (glaciers) and response variables (richness, depth, area, chlorophyll, </a:t>
            </a:r>
            <a:r>
              <a:rPr lang="en-US" dirty="0" err="1"/>
              <a:t>dna</a:t>
            </a:r>
            <a:r>
              <a:rPr lang="en-US" dirty="0"/>
              <a:t> per gram, diversity indices).</a:t>
            </a:r>
          </a:p>
          <a:p>
            <a:endParaRPr lang="en-US" dirty="0"/>
          </a:p>
          <a:p>
            <a:r>
              <a:rPr lang="en-US" dirty="0"/>
              <a:t>I then constructed ANOVA tables of the linear regression models to gauge their statistical significance. </a:t>
            </a:r>
          </a:p>
          <a:p>
            <a:endParaRPr lang="en-US" dirty="0"/>
          </a:p>
          <a:p>
            <a:r>
              <a:rPr lang="en-US" dirty="0"/>
              <a:t>#Analysis of Variance (ANOVA), a linear model analysis. We want to ask: is the ASV richness/chlorophyll/hole size/hole depth/DNA per gram between glaciers significantly different? Plot the data divided into glacier groups</a:t>
            </a:r>
          </a:p>
          <a:p>
            <a:r>
              <a:rPr lang="en-US" dirty="0"/>
              <a:t>#ANOVA quantifies the signal to noise ratio. How different are our groups in ratio to how spread out the data are? ANOVA will tell us how confident we can be that we are not being fooled by a type I error (a false positive difference between the groups)</a:t>
            </a:r>
          </a:p>
          <a:p>
            <a:r>
              <a:rPr lang="en-US" dirty="0"/>
              <a:t>#ANOVA will: 1) quantify the overall variability of the dataset. 2) Divide that variability into the variability between and within groups. More signal = more </a:t>
            </a:r>
            <a:r>
              <a:rPr lang="en-US" dirty="0" err="1"/>
              <a:t>condifent</a:t>
            </a:r>
            <a:r>
              <a:rPr lang="en-US" dirty="0"/>
              <a:t>. More noise = less confident.</a:t>
            </a:r>
          </a:p>
          <a:p>
            <a:endParaRPr lang="en-US" dirty="0"/>
          </a:p>
          <a:p>
            <a:r>
              <a:rPr lang="en-US" dirty="0"/>
              <a:t>The ANOVA tables showed there was significant difference between the glaciers in terms of ASV richness, cryoconite hole depth, the </a:t>
            </a:r>
            <a:r>
              <a:rPr lang="en-US" dirty="0" err="1"/>
              <a:t>dna</a:t>
            </a:r>
            <a:r>
              <a:rPr lang="en-US" dirty="0"/>
              <a:t> per gram of cryoconite and faith’s pd.</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34193417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 Regression Analysis</a:t>
            </a:r>
          </a:p>
          <a:p>
            <a:r>
              <a:rPr lang="en-US" dirty="0"/>
              <a:t>#We use linear regression analysis if our explanatory variable is continuous </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29761298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21</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r>
              <a:rPr lang="en-US" dirty="0"/>
              <a:t>X axis = log mean relative abundances of each ASV</a:t>
            </a:r>
          </a:p>
          <a:p>
            <a:r>
              <a:rPr lang="en-US" dirty="0"/>
              <a:t>Y axis = mean occurrence frequency of each ASV </a:t>
            </a:r>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p:txBody>
      </p:sp>
      <p:sp>
        <p:nvSpPr>
          <p:cNvPr id="4" name="Slide Number Placeholder 3"/>
          <p:cNvSpPr>
            <a:spLocks noGrp="1"/>
          </p:cNvSpPr>
          <p:nvPr>
            <p:ph type="sldNum" sz="quarter" idx="5"/>
          </p:nvPr>
        </p:nvSpPr>
        <p:spPr/>
        <p:txBody>
          <a:bodyPr/>
          <a:lstStyle/>
          <a:p>
            <a:fld id="{91AE2140-D502-214A-B76B-E0784B2C949B}" type="slidenum">
              <a:rPr lang="en-US" smtClean="0"/>
              <a:t>28</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29</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31</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32</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33</a:t>
            </a:fld>
            <a:endParaRPr lang="en-US"/>
          </a:p>
        </p:txBody>
      </p:sp>
    </p:spTree>
    <p:extLst>
      <p:ext uri="{BB962C8B-B14F-4D97-AF65-F5344CB8AC3E}">
        <p14:creationId xmlns:p14="http://schemas.microsoft.com/office/powerpoint/2010/main" val="21210789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emf"/></Relationships>
</file>

<file path=ppt/slides/_rels/slide1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6.emf"/></Relationships>
</file>

<file path=ppt/slides/_rels/slide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emf"/><Relationship Id="rId7" Type="http://schemas.openxmlformats.org/officeDocument/2006/relationships/image" Target="../media/image12.emf"/><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emf"/><Relationship Id="rId5" Type="http://schemas.openxmlformats.org/officeDocument/2006/relationships/image" Target="../media/image10.emf"/><Relationship Id="rId4" Type="http://schemas.openxmlformats.org/officeDocument/2006/relationships/image" Target="../media/image9.emf"/></Relationships>
</file>

<file path=ppt/slides/_rels/slide1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2.xml"/><Relationship Id="rId4" Type="http://schemas.openxmlformats.org/officeDocument/2006/relationships/image" Target="../media/image15.emf"/></Relationships>
</file>

<file path=ppt/slides/_rels/slide18.xml.rels><?xml version="1.0" encoding="UTF-8" standalone="yes"?>
<Relationships xmlns="http://schemas.openxmlformats.org/package/2006/relationships"><Relationship Id="rId8" Type="http://schemas.openxmlformats.org/officeDocument/2006/relationships/image" Target="../media/image21.emf"/><Relationship Id="rId3" Type="http://schemas.openxmlformats.org/officeDocument/2006/relationships/image" Target="../media/image16.emf"/><Relationship Id="rId7" Type="http://schemas.openxmlformats.org/officeDocument/2006/relationships/image" Target="../media/image20.e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emf"/><Relationship Id="rId5" Type="http://schemas.openxmlformats.org/officeDocument/2006/relationships/image" Target="../media/image18.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8" Type="http://schemas.openxmlformats.org/officeDocument/2006/relationships/image" Target="../media/image27.emf"/><Relationship Id="rId3" Type="http://schemas.openxmlformats.org/officeDocument/2006/relationships/image" Target="../media/image22.emf"/><Relationship Id="rId7" Type="http://schemas.openxmlformats.org/officeDocument/2006/relationships/image" Target="../media/image26.emf"/><Relationship Id="rId12" Type="http://schemas.openxmlformats.org/officeDocument/2006/relationships/image" Target="../media/image31.emf"/><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5.emf"/><Relationship Id="rId11" Type="http://schemas.openxmlformats.org/officeDocument/2006/relationships/image" Target="../media/image30.emf"/><Relationship Id="rId5" Type="http://schemas.openxmlformats.org/officeDocument/2006/relationships/image" Target="../media/image24.emf"/><Relationship Id="rId10" Type="http://schemas.openxmlformats.org/officeDocument/2006/relationships/image" Target="../media/image29.emf"/><Relationship Id="rId4" Type="http://schemas.openxmlformats.org/officeDocument/2006/relationships/image" Target="../media/image23.emf"/><Relationship Id="rId9" Type="http://schemas.openxmlformats.org/officeDocument/2006/relationships/image" Target="../media/image28.emf"/></Relationships>
</file>

<file path=ppt/slides/_rels/slide20.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35.e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8.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31DA-B431-C54A-874F-C1236B9B36B8}"/>
              </a:ext>
            </a:extLst>
          </p:cNvPr>
          <p:cNvSpPr>
            <a:spLocks noGrp="1"/>
          </p:cNvSpPr>
          <p:nvPr>
            <p:ph type="title"/>
          </p:nvPr>
        </p:nvSpPr>
        <p:spPr/>
        <p:txBody>
          <a:bodyPr/>
          <a:lstStyle/>
          <a:p>
            <a:r>
              <a:rPr lang="en-US" dirty="0"/>
              <a:t>Why are they different? Why should we care?</a:t>
            </a:r>
          </a:p>
        </p:txBody>
      </p:sp>
      <p:sp>
        <p:nvSpPr>
          <p:cNvPr id="4" name="Oval 3">
            <a:extLst>
              <a:ext uri="{FF2B5EF4-FFF2-40B4-BE49-F238E27FC236}">
                <a16:creationId xmlns:a16="http://schemas.microsoft.com/office/drawing/2014/main" id="{4075A81A-7D11-9448-BF36-6D732E7F151C}"/>
              </a:ext>
            </a:extLst>
          </p:cNvPr>
          <p:cNvSpPr/>
          <p:nvPr/>
        </p:nvSpPr>
        <p:spPr>
          <a:xfrm>
            <a:off x="2600326" y="3014662"/>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E4516562-A1F7-4A44-B228-68531F4F81E8}"/>
              </a:ext>
            </a:extLst>
          </p:cNvPr>
          <p:cNvSpPr/>
          <p:nvPr/>
        </p:nvSpPr>
        <p:spPr>
          <a:xfrm>
            <a:off x="3467101" y="37528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BEA4FE-AD89-454B-989F-A777676B2DAB}"/>
              </a:ext>
            </a:extLst>
          </p:cNvPr>
          <p:cNvSpPr/>
          <p:nvPr/>
        </p:nvSpPr>
        <p:spPr>
          <a:xfrm>
            <a:off x="2586038" y="4410075"/>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4E83A67A-C00A-B342-BE75-24729CD2D02F}"/>
              </a:ext>
            </a:extLst>
          </p:cNvPr>
          <p:cNvSpPr/>
          <p:nvPr/>
        </p:nvSpPr>
        <p:spPr>
          <a:xfrm>
            <a:off x="4724401" y="4567237"/>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F55F405-3566-B348-BF65-58C69A1A867A}"/>
              </a:ext>
            </a:extLst>
          </p:cNvPr>
          <p:cNvSpPr/>
          <p:nvPr/>
        </p:nvSpPr>
        <p:spPr>
          <a:xfrm>
            <a:off x="3467101" y="5186360"/>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DD5ABE0-00B9-DD40-8C3A-A0CB5719BCBA}"/>
              </a:ext>
            </a:extLst>
          </p:cNvPr>
          <p:cNvSpPr/>
          <p:nvPr/>
        </p:nvSpPr>
        <p:spPr>
          <a:xfrm>
            <a:off x="4410075" y="2800349"/>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26DB84F-E78D-2A48-A3F2-63B628D47B3F}"/>
              </a:ext>
            </a:extLst>
          </p:cNvPr>
          <p:cNvSpPr/>
          <p:nvPr/>
        </p:nvSpPr>
        <p:spPr>
          <a:xfrm>
            <a:off x="3467100" y="3050382"/>
            <a:ext cx="314325" cy="314325"/>
          </a:xfrm>
          <a:prstGeom prst="ellipse">
            <a:avLst/>
          </a:prstGeom>
          <a:solidFill>
            <a:srgbClr val="92D05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C502950-677E-3049-990E-AEC7AF21DD01}"/>
              </a:ext>
            </a:extLst>
          </p:cNvPr>
          <p:cNvSpPr/>
          <p:nvPr/>
        </p:nvSpPr>
        <p:spPr>
          <a:xfrm>
            <a:off x="3967164" y="4410074"/>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5A94771-F505-D14F-B441-07C73CD0D66B}"/>
              </a:ext>
            </a:extLst>
          </p:cNvPr>
          <p:cNvSpPr/>
          <p:nvPr/>
        </p:nvSpPr>
        <p:spPr>
          <a:xfrm>
            <a:off x="4567238" y="3752848"/>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A3A575E6-7D11-6844-B659-F1F931279368}"/>
              </a:ext>
            </a:extLst>
          </p:cNvPr>
          <p:cNvSpPr/>
          <p:nvPr/>
        </p:nvSpPr>
        <p:spPr>
          <a:xfrm>
            <a:off x="3119438" y="4710111"/>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5E120C-A984-764E-B4EF-AA70BC53CD10}"/>
              </a:ext>
            </a:extLst>
          </p:cNvPr>
          <p:cNvSpPr/>
          <p:nvPr/>
        </p:nvSpPr>
        <p:spPr>
          <a:xfrm>
            <a:off x="2728912" y="38671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4679495-EAA4-F64B-8588-1E9DEA49D4C8}"/>
              </a:ext>
            </a:extLst>
          </p:cNvPr>
          <p:cNvSpPr/>
          <p:nvPr/>
        </p:nvSpPr>
        <p:spPr>
          <a:xfrm>
            <a:off x="3967163" y="3378993"/>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F75227F-3BDA-534D-AC82-AA532C3B808A}"/>
              </a:ext>
            </a:extLst>
          </p:cNvPr>
          <p:cNvSpPr/>
          <p:nvPr/>
        </p:nvSpPr>
        <p:spPr>
          <a:xfrm>
            <a:off x="6524626" y="3014662"/>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C9855B0-6DB2-1749-A1D4-4B1B81587D5F}"/>
              </a:ext>
            </a:extLst>
          </p:cNvPr>
          <p:cNvSpPr/>
          <p:nvPr/>
        </p:nvSpPr>
        <p:spPr>
          <a:xfrm>
            <a:off x="7391401" y="3752849"/>
            <a:ext cx="314325" cy="314325"/>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9F5CB4E-153D-EF40-9DD1-4986310BA056}"/>
              </a:ext>
            </a:extLst>
          </p:cNvPr>
          <p:cNvSpPr/>
          <p:nvPr/>
        </p:nvSpPr>
        <p:spPr>
          <a:xfrm>
            <a:off x="6510338" y="4410075"/>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04877B3-DB5A-2E40-9762-5B3784FF014E}"/>
              </a:ext>
            </a:extLst>
          </p:cNvPr>
          <p:cNvSpPr/>
          <p:nvPr/>
        </p:nvSpPr>
        <p:spPr>
          <a:xfrm>
            <a:off x="8648701" y="4567237"/>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53C1F00-2970-264E-8F3C-13F5A89C374D}"/>
              </a:ext>
            </a:extLst>
          </p:cNvPr>
          <p:cNvSpPr/>
          <p:nvPr/>
        </p:nvSpPr>
        <p:spPr>
          <a:xfrm>
            <a:off x="7391401" y="5186360"/>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BE665D8-BD16-C443-A7DB-33C745F5F4C3}"/>
              </a:ext>
            </a:extLst>
          </p:cNvPr>
          <p:cNvSpPr/>
          <p:nvPr/>
        </p:nvSpPr>
        <p:spPr>
          <a:xfrm>
            <a:off x="8334375" y="2800349"/>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8716A6E8-5194-1843-8740-7CFE1E71AC8C}"/>
              </a:ext>
            </a:extLst>
          </p:cNvPr>
          <p:cNvSpPr/>
          <p:nvPr/>
        </p:nvSpPr>
        <p:spPr>
          <a:xfrm>
            <a:off x="7391400" y="3050382"/>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C7232C0-D3C4-874D-B786-BB148BFF7049}"/>
              </a:ext>
            </a:extLst>
          </p:cNvPr>
          <p:cNvSpPr/>
          <p:nvPr/>
        </p:nvSpPr>
        <p:spPr>
          <a:xfrm>
            <a:off x="7891464" y="4410074"/>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FB75B72-7751-E244-927A-357FEE2AD292}"/>
              </a:ext>
            </a:extLst>
          </p:cNvPr>
          <p:cNvSpPr/>
          <p:nvPr/>
        </p:nvSpPr>
        <p:spPr>
          <a:xfrm>
            <a:off x="8491538" y="3752848"/>
            <a:ext cx="314325" cy="314325"/>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A90B763-4A6C-AE44-B10A-CAC54BEA55F6}"/>
              </a:ext>
            </a:extLst>
          </p:cNvPr>
          <p:cNvSpPr/>
          <p:nvPr/>
        </p:nvSpPr>
        <p:spPr>
          <a:xfrm>
            <a:off x="7043738" y="4710111"/>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608D13B-D12C-924F-8139-3E7E8F9E180F}"/>
              </a:ext>
            </a:extLst>
          </p:cNvPr>
          <p:cNvSpPr/>
          <p:nvPr/>
        </p:nvSpPr>
        <p:spPr>
          <a:xfrm>
            <a:off x="6653212" y="3867149"/>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49C0F0-8986-694D-A0BD-8647118E99FE}"/>
              </a:ext>
            </a:extLst>
          </p:cNvPr>
          <p:cNvSpPr/>
          <p:nvPr/>
        </p:nvSpPr>
        <p:spPr>
          <a:xfrm>
            <a:off x="7891463" y="3378993"/>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A335B55-8B52-5644-A550-2710A16DB226}"/>
              </a:ext>
            </a:extLst>
          </p:cNvPr>
          <p:cNvSpPr txBox="1"/>
          <p:nvPr/>
        </p:nvSpPr>
        <p:spPr>
          <a:xfrm>
            <a:off x="2717006" y="1991378"/>
            <a:ext cx="2164558" cy="523220"/>
          </a:xfrm>
          <a:prstGeom prst="rect">
            <a:avLst/>
          </a:prstGeom>
          <a:noFill/>
        </p:spPr>
        <p:txBody>
          <a:bodyPr wrap="square" rtlCol="0">
            <a:spAutoFit/>
          </a:bodyPr>
          <a:lstStyle/>
          <a:p>
            <a:r>
              <a:rPr lang="en-US" sz="2800" dirty="0"/>
              <a:t>Community 1</a:t>
            </a:r>
          </a:p>
        </p:txBody>
      </p:sp>
      <p:sp>
        <p:nvSpPr>
          <p:cNvPr id="29" name="TextBox 28">
            <a:extLst>
              <a:ext uri="{FF2B5EF4-FFF2-40B4-BE49-F238E27FC236}">
                <a16:creationId xmlns:a16="http://schemas.microsoft.com/office/drawing/2014/main" id="{BC52BB93-C1D8-A04D-98AA-48CAD4AC9990}"/>
              </a:ext>
            </a:extLst>
          </p:cNvPr>
          <p:cNvSpPr txBox="1"/>
          <p:nvPr/>
        </p:nvSpPr>
        <p:spPr>
          <a:xfrm>
            <a:off x="6667500" y="2015520"/>
            <a:ext cx="2164558" cy="523220"/>
          </a:xfrm>
          <a:prstGeom prst="rect">
            <a:avLst/>
          </a:prstGeom>
          <a:noFill/>
        </p:spPr>
        <p:txBody>
          <a:bodyPr wrap="square" rtlCol="0">
            <a:spAutoFit/>
          </a:bodyPr>
          <a:lstStyle/>
          <a:p>
            <a:r>
              <a:rPr lang="en-US" sz="2800" dirty="0"/>
              <a:t>Community 2</a:t>
            </a:r>
          </a:p>
        </p:txBody>
      </p:sp>
    </p:spTree>
    <p:extLst>
      <p:ext uri="{BB962C8B-B14F-4D97-AF65-F5344CB8AC3E}">
        <p14:creationId xmlns:p14="http://schemas.microsoft.com/office/powerpoint/2010/main" val="3055002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graphicFrame>
        <p:nvGraphicFramePr>
          <p:cNvPr id="12" name="Diagram 11">
            <a:extLst>
              <a:ext uri="{FF2B5EF4-FFF2-40B4-BE49-F238E27FC236}">
                <a16:creationId xmlns:a16="http://schemas.microsoft.com/office/drawing/2014/main" id="{8B3002D7-459F-0B49-B4AD-4140562B12BC}"/>
              </a:ext>
            </a:extLst>
          </p:cNvPr>
          <p:cNvGraphicFramePr/>
          <p:nvPr>
            <p:extLst>
              <p:ext uri="{D42A27DB-BD31-4B8C-83A1-F6EECF244321}">
                <p14:modId xmlns:p14="http://schemas.microsoft.com/office/powerpoint/2010/main" val="662949717"/>
              </p:ext>
            </p:extLst>
          </p:nvPr>
        </p:nvGraphicFramePr>
        <p:xfrm>
          <a:off x="2489993" y="1690688"/>
          <a:ext cx="7212013" cy="48080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10184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2036473356"/>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&amp; Abundance </a:t>
            </a:r>
            <a:r>
              <a:rPr lang="en-US" sz="4000" dirty="0" err="1"/>
              <a:t>Barplots</a:t>
            </a:r>
            <a:endParaRPr lang="en-US" sz="4000" dirty="0"/>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Linear Models (including ISAR and DDR)</a:t>
            </a:r>
          </a:p>
        </p:txBody>
      </p:sp>
    </p:spTree>
    <p:extLst>
      <p:ext uri="{BB962C8B-B14F-4D97-AF65-F5344CB8AC3E}">
        <p14:creationId xmlns:p14="http://schemas.microsoft.com/office/powerpoint/2010/main" val="542213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a:solidFill>
            <a:srgbClr val="FFC000"/>
          </a:solidFill>
        </p:spPr>
        <p:txBody>
          <a:bodyPr/>
          <a:lstStyle/>
          <a:p>
            <a:r>
              <a:rPr lang="en-US" dirty="0">
                <a:solidFill>
                  <a:schemeClr val="bg1"/>
                </a:solidFill>
              </a:rPr>
              <a:t>Alpha Non-Phylogenetic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a:p>
            <a:r>
              <a:rPr lang="en-US" dirty="0"/>
              <a:t>Simpsons Diversity</a:t>
            </a:r>
          </a:p>
          <a:p>
            <a:r>
              <a:rPr lang="en-US" dirty="0"/>
              <a:t>Inverted Simpsons Diversity</a:t>
            </a:r>
          </a:p>
          <a:p>
            <a:r>
              <a:rPr lang="en-US" dirty="0" err="1"/>
              <a:t>Pilou</a:t>
            </a:r>
            <a:r>
              <a:rPr lang="en-US" dirty="0"/>
              <a:t> Evenness</a:t>
            </a:r>
          </a:p>
        </p:txBody>
      </p:sp>
      <p:pic>
        <p:nvPicPr>
          <p:cNvPr id="7" name="Picture 6">
            <a:extLst>
              <a:ext uri="{FF2B5EF4-FFF2-40B4-BE49-F238E27FC236}">
                <a16:creationId xmlns:a16="http://schemas.microsoft.com/office/drawing/2014/main" id="{532DAA6A-1BA6-784C-8346-66D74B337D63}"/>
              </a:ext>
            </a:extLst>
          </p:cNvPr>
          <p:cNvPicPr>
            <a:picLocks noChangeAspect="1"/>
          </p:cNvPicPr>
          <p:nvPr/>
        </p:nvPicPr>
        <p:blipFill>
          <a:blip r:embed="rId3"/>
          <a:stretch>
            <a:fillRect/>
          </a:stretch>
        </p:blipFill>
        <p:spPr>
          <a:xfrm>
            <a:off x="7543801" y="1825625"/>
            <a:ext cx="4014788" cy="2626636"/>
          </a:xfrm>
          <a:prstGeom prst="rect">
            <a:avLst/>
          </a:prstGeom>
        </p:spPr>
      </p:pic>
      <p:pic>
        <p:nvPicPr>
          <p:cNvPr id="9" name="Picture 8">
            <a:extLst>
              <a:ext uri="{FF2B5EF4-FFF2-40B4-BE49-F238E27FC236}">
                <a16:creationId xmlns:a16="http://schemas.microsoft.com/office/drawing/2014/main" id="{5B9B9A0C-CA89-F44A-BC6E-FEC9B7A6955E}"/>
              </a:ext>
            </a:extLst>
          </p:cNvPr>
          <p:cNvPicPr>
            <a:picLocks noChangeAspect="1"/>
          </p:cNvPicPr>
          <p:nvPr/>
        </p:nvPicPr>
        <p:blipFill>
          <a:blip r:embed="rId4"/>
          <a:stretch>
            <a:fillRect/>
          </a:stretch>
        </p:blipFill>
        <p:spPr>
          <a:xfrm>
            <a:off x="3595688" y="3961130"/>
            <a:ext cx="5876925" cy="2350770"/>
          </a:xfrm>
          <a:prstGeom prst="rect">
            <a:avLst/>
          </a:prstGeom>
        </p:spPr>
      </p:pic>
    </p:spTree>
    <p:extLst>
      <p:ext uri="{BB962C8B-B14F-4D97-AF65-F5344CB8AC3E}">
        <p14:creationId xmlns:p14="http://schemas.microsoft.com/office/powerpoint/2010/main" val="3987674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AF8D7-3E78-9144-9420-0CF314CC8A5D}"/>
              </a:ext>
            </a:extLst>
          </p:cNvPr>
          <p:cNvSpPr>
            <a:spLocks noGrp="1"/>
          </p:cNvSpPr>
          <p:nvPr>
            <p:ph type="title"/>
          </p:nvPr>
        </p:nvSpPr>
        <p:spPr>
          <a:solidFill>
            <a:srgbClr val="FFC003"/>
          </a:solidFill>
        </p:spPr>
        <p:txBody>
          <a:bodyPr/>
          <a:lstStyle/>
          <a:p>
            <a:r>
              <a:rPr lang="en-US" dirty="0">
                <a:solidFill>
                  <a:schemeClr val="bg1"/>
                </a:solidFill>
              </a:rPr>
              <a:t>Alpha Phylogenetic Diversity</a:t>
            </a:r>
          </a:p>
        </p:txBody>
      </p:sp>
      <p:pic>
        <p:nvPicPr>
          <p:cNvPr id="5" name="Picture 4">
            <a:extLst>
              <a:ext uri="{FF2B5EF4-FFF2-40B4-BE49-F238E27FC236}">
                <a16:creationId xmlns:a16="http://schemas.microsoft.com/office/drawing/2014/main" id="{216F0C48-ECD9-7D4B-B913-7CD1FABCCE0B}"/>
              </a:ext>
            </a:extLst>
          </p:cNvPr>
          <p:cNvPicPr>
            <a:picLocks noChangeAspect="1"/>
          </p:cNvPicPr>
          <p:nvPr/>
        </p:nvPicPr>
        <p:blipFill>
          <a:blip r:embed="rId3"/>
          <a:stretch>
            <a:fillRect/>
          </a:stretch>
        </p:blipFill>
        <p:spPr>
          <a:xfrm>
            <a:off x="1524000" y="2243138"/>
            <a:ext cx="9144000" cy="3657600"/>
          </a:xfrm>
          <a:prstGeom prst="rect">
            <a:avLst/>
          </a:prstGeom>
        </p:spPr>
      </p:pic>
    </p:spTree>
    <p:extLst>
      <p:ext uri="{BB962C8B-B14F-4D97-AF65-F5344CB8AC3E}">
        <p14:creationId xmlns:p14="http://schemas.microsoft.com/office/powerpoint/2010/main" val="35411016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646AA-6E34-1841-AD06-37F9BCAFCAB3}"/>
              </a:ext>
            </a:extLst>
          </p:cNvPr>
          <p:cNvSpPr>
            <a:spLocks noGrp="1"/>
          </p:cNvSpPr>
          <p:nvPr>
            <p:ph type="title"/>
          </p:nvPr>
        </p:nvSpPr>
        <p:spPr>
          <a:solidFill>
            <a:srgbClr val="FFC003"/>
          </a:solidFill>
        </p:spPr>
        <p:txBody>
          <a:bodyPr/>
          <a:lstStyle/>
          <a:p>
            <a:r>
              <a:rPr lang="en-US" dirty="0">
                <a:solidFill>
                  <a:schemeClr val="bg1"/>
                </a:solidFill>
              </a:rPr>
              <a:t>Absolute Abundance Bar Plots</a:t>
            </a:r>
          </a:p>
        </p:txBody>
      </p:sp>
      <p:pic>
        <p:nvPicPr>
          <p:cNvPr id="4" name="Picture 3">
            <a:extLst>
              <a:ext uri="{FF2B5EF4-FFF2-40B4-BE49-F238E27FC236}">
                <a16:creationId xmlns:a16="http://schemas.microsoft.com/office/drawing/2014/main" id="{EDDA40F0-EFC7-4446-8619-F219D607915D}"/>
              </a:ext>
            </a:extLst>
          </p:cNvPr>
          <p:cNvPicPr>
            <a:picLocks noChangeAspect="1"/>
          </p:cNvPicPr>
          <p:nvPr/>
        </p:nvPicPr>
        <p:blipFill>
          <a:blip r:embed="rId2"/>
          <a:stretch>
            <a:fillRect/>
          </a:stretch>
        </p:blipFill>
        <p:spPr>
          <a:xfrm>
            <a:off x="396499" y="1900237"/>
            <a:ext cx="3478199" cy="3478199"/>
          </a:xfrm>
          <a:prstGeom prst="rect">
            <a:avLst/>
          </a:prstGeom>
        </p:spPr>
      </p:pic>
      <p:sp>
        <p:nvSpPr>
          <p:cNvPr id="5" name="TextBox 4">
            <a:extLst>
              <a:ext uri="{FF2B5EF4-FFF2-40B4-BE49-F238E27FC236}">
                <a16:creationId xmlns:a16="http://schemas.microsoft.com/office/drawing/2014/main" id="{022071C3-C747-9349-B947-6E8B3F5B8DA7}"/>
              </a:ext>
            </a:extLst>
          </p:cNvPr>
          <p:cNvSpPr txBox="1"/>
          <p:nvPr/>
        </p:nvSpPr>
        <p:spPr>
          <a:xfrm>
            <a:off x="396499" y="5587985"/>
            <a:ext cx="1935166" cy="830997"/>
          </a:xfrm>
          <a:prstGeom prst="rect">
            <a:avLst/>
          </a:prstGeom>
          <a:noFill/>
        </p:spPr>
        <p:txBody>
          <a:bodyPr wrap="square" rtlCol="0">
            <a:spAutoFit/>
          </a:bodyPr>
          <a:lstStyle/>
          <a:p>
            <a:r>
              <a:rPr lang="en-US" sz="1200" dirty="0"/>
              <a:t>Figure 1. Bar chart of Hellinger transformed ASV data with agglomerated Phyla </a:t>
            </a:r>
          </a:p>
        </p:txBody>
      </p:sp>
      <p:pic>
        <p:nvPicPr>
          <p:cNvPr id="7" name="Picture 6">
            <a:extLst>
              <a:ext uri="{FF2B5EF4-FFF2-40B4-BE49-F238E27FC236}">
                <a16:creationId xmlns:a16="http://schemas.microsoft.com/office/drawing/2014/main" id="{5E6D3764-8808-7C4C-8644-1B9812C4F4C8}"/>
              </a:ext>
            </a:extLst>
          </p:cNvPr>
          <p:cNvPicPr>
            <a:picLocks noChangeAspect="1"/>
          </p:cNvPicPr>
          <p:nvPr/>
        </p:nvPicPr>
        <p:blipFill>
          <a:blip r:embed="rId3"/>
          <a:stretch>
            <a:fillRect/>
          </a:stretch>
        </p:blipFill>
        <p:spPr>
          <a:xfrm>
            <a:off x="5574103" y="1729558"/>
            <a:ext cx="4541448" cy="2270724"/>
          </a:xfrm>
          <a:prstGeom prst="rect">
            <a:avLst/>
          </a:prstGeom>
        </p:spPr>
      </p:pic>
      <p:pic>
        <p:nvPicPr>
          <p:cNvPr id="9" name="Picture 8">
            <a:extLst>
              <a:ext uri="{FF2B5EF4-FFF2-40B4-BE49-F238E27FC236}">
                <a16:creationId xmlns:a16="http://schemas.microsoft.com/office/drawing/2014/main" id="{D900526A-1EB2-154A-9ED5-0666585227DE}"/>
              </a:ext>
            </a:extLst>
          </p:cNvPr>
          <p:cNvPicPr>
            <a:picLocks noChangeAspect="1"/>
          </p:cNvPicPr>
          <p:nvPr/>
        </p:nvPicPr>
        <p:blipFill>
          <a:blip r:embed="rId4"/>
          <a:stretch>
            <a:fillRect/>
          </a:stretch>
        </p:blipFill>
        <p:spPr>
          <a:xfrm>
            <a:off x="5574103" y="4277249"/>
            <a:ext cx="4283465" cy="2141733"/>
          </a:xfrm>
          <a:prstGeom prst="rect">
            <a:avLst/>
          </a:prstGeom>
        </p:spPr>
      </p:pic>
    </p:spTree>
    <p:extLst>
      <p:ext uri="{BB962C8B-B14F-4D97-AF65-F5344CB8AC3E}">
        <p14:creationId xmlns:p14="http://schemas.microsoft.com/office/powerpoint/2010/main" val="13562468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91A7E-3582-1F45-81B4-40F9D6A0731D}"/>
              </a:ext>
            </a:extLst>
          </p:cNvPr>
          <p:cNvSpPr>
            <a:spLocks noGrp="1"/>
          </p:cNvSpPr>
          <p:nvPr>
            <p:ph type="title"/>
          </p:nvPr>
        </p:nvSpPr>
        <p:spPr>
          <a:solidFill>
            <a:srgbClr val="FFC003"/>
          </a:solidFill>
        </p:spPr>
        <p:txBody>
          <a:bodyPr/>
          <a:lstStyle/>
          <a:p>
            <a:r>
              <a:rPr lang="en-US" dirty="0">
                <a:solidFill>
                  <a:schemeClr val="bg1"/>
                </a:solidFill>
              </a:rPr>
              <a:t>Relative Abundance Bar Plots</a:t>
            </a:r>
          </a:p>
        </p:txBody>
      </p:sp>
      <p:pic>
        <p:nvPicPr>
          <p:cNvPr id="13" name="Picture 12">
            <a:extLst>
              <a:ext uri="{FF2B5EF4-FFF2-40B4-BE49-F238E27FC236}">
                <a16:creationId xmlns:a16="http://schemas.microsoft.com/office/drawing/2014/main" id="{625ED448-45D4-B046-86B2-8A8A85125618}"/>
              </a:ext>
            </a:extLst>
          </p:cNvPr>
          <p:cNvPicPr>
            <a:picLocks noChangeAspect="1"/>
          </p:cNvPicPr>
          <p:nvPr/>
        </p:nvPicPr>
        <p:blipFill>
          <a:blip r:embed="rId3"/>
          <a:stretch>
            <a:fillRect/>
          </a:stretch>
        </p:blipFill>
        <p:spPr>
          <a:xfrm>
            <a:off x="2338387" y="1768474"/>
            <a:ext cx="7077076" cy="4718051"/>
          </a:xfrm>
          <a:prstGeom prst="rect">
            <a:avLst/>
          </a:prstGeom>
        </p:spPr>
      </p:pic>
    </p:spTree>
    <p:extLst>
      <p:ext uri="{BB962C8B-B14F-4D97-AF65-F5344CB8AC3E}">
        <p14:creationId xmlns:p14="http://schemas.microsoft.com/office/powerpoint/2010/main" val="35743118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94F5-10D0-884B-B137-A4BBC10A30F4}"/>
              </a:ext>
            </a:extLst>
          </p:cNvPr>
          <p:cNvSpPr>
            <a:spLocks noGrp="1"/>
          </p:cNvSpPr>
          <p:nvPr>
            <p:ph type="title"/>
          </p:nvPr>
        </p:nvSpPr>
        <p:spPr>
          <a:solidFill>
            <a:srgbClr val="FFC003"/>
          </a:solidFill>
        </p:spPr>
        <p:txBody>
          <a:bodyPr/>
          <a:lstStyle/>
          <a:p>
            <a:r>
              <a:rPr lang="en-US" dirty="0">
                <a:solidFill>
                  <a:schemeClr val="bg1"/>
                </a:solidFill>
              </a:rPr>
              <a:t>Beta Phylogenetic Diversity &amp; Ordination</a:t>
            </a:r>
          </a:p>
        </p:txBody>
      </p:sp>
      <p:pic>
        <p:nvPicPr>
          <p:cNvPr id="4" name="Picture 3">
            <a:extLst>
              <a:ext uri="{FF2B5EF4-FFF2-40B4-BE49-F238E27FC236}">
                <a16:creationId xmlns:a16="http://schemas.microsoft.com/office/drawing/2014/main" id="{B754F5CF-C190-8442-A426-157B3C2BEA92}"/>
              </a:ext>
            </a:extLst>
          </p:cNvPr>
          <p:cNvPicPr>
            <a:picLocks noChangeAspect="1"/>
          </p:cNvPicPr>
          <p:nvPr/>
        </p:nvPicPr>
        <p:blipFill>
          <a:blip r:embed="rId3"/>
          <a:stretch>
            <a:fillRect/>
          </a:stretch>
        </p:blipFill>
        <p:spPr>
          <a:xfrm>
            <a:off x="7270355" y="902699"/>
            <a:ext cx="3595686" cy="3595686"/>
          </a:xfrm>
          <a:prstGeom prst="rect">
            <a:avLst/>
          </a:prstGeom>
        </p:spPr>
      </p:pic>
      <p:pic>
        <p:nvPicPr>
          <p:cNvPr id="5" name="Picture 4">
            <a:extLst>
              <a:ext uri="{FF2B5EF4-FFF2-40B4-BE49-F238E27FC236}">
                <a16:creationId xmlns:a16="http://schemas.microsoft.com/office/drawing/2014/main" id="{AEEDACE5-D8FE-974B-A660-558C61ABB317}"/>
              </a:ext>
            </a:extLst>
          </p:cNvPr>
          <p:cNvPicPr>
            <a:picLocks noChangeAspect="1"/>
          </p:cNvPicPr>
          <p:nvPr/>
        </p:nvPicPr>
        <p:blipFill rotWithShape="1">
          <a:blip r:embed="rId4"/>
          <a:srcRect t="29431" b="27144"/>
          <a:stretch/>
        </p:blipFill>
        <p:spPr>
          <a:xfrm>
            <a:off x="2167335" y="1919814"/>
            <a:ext cx="3595686" cy="1561456"/>
          </a:xfrm>
          <a:prstGeom prst="rect">
            <a:avLst/>
          </a:prstGeom>
        </p:spPr>
      </p:pic>
      <p:sp>
        <p:nvSpPr>
          <p:cNvPr id="6" name="TextBox 5">
            <a:extLst>
              <a:ext uri="{FF2B5EF4-FFF2-40B4-BE49-F238E27FC236}">
                <a16:creationId xmlns:a16="http://schemas.microsoft.com/office/drawing/2014/main" id="{2DD247B3-370D-CD40-85B1-0BF00CC925FF}"/>
              </a:ext>
            </a:extLst>
          </p:cNvPr>
          <p:cNvSpPr txBox="1"/>
          <p:nvPr/>
        </p:nvSpPr>
        <p:spPr>
          <a:xfrm>
            <a:off x="588170" y="3461725"/>
            <a:ext cx="3186113" cy="461665"/>
          </a:xfrm>
          <a:prstGeom prst="rect">
            <a:avLst/>
          </a:prstGeom>
          <a:noFill/>
        </p:spPr>
        <p:txBody>
          <a:bodyPr wrap="square" rtlCol="0">
            <a:spAutoFit/>
          </a:bodyPr>
          <a:lstStyle/>
          <a:p>
            <a:r>
              <a:rPr lang="en-US" sz="1200" dirty="0"/>
              <a:t>Figure 3. Unweighted </a:t>
            </a:r>
            <a:r>
              <a:rPr lang="en-US" sz="1200" dirty="0" err="1"/>
              <a:t>UniFrac</a:t>
            </a:r>
            <a:r>
              <a:rPr lang="en-US" sz="1200" dirty="0"/>
              <a:t> </a:t>
            </a:r>
            <a:r>
              <a:rPr lang="en-US" sz="1200" dirty="0" err="1"/>
              <a:t>PCoA</a:t>
            </a:r>
            <a:r>
              <a:rPr lang="en-US" sz="1200" dirty="0"/>
              <a:t>, scaled by eigenvalues</a:t>
            </a:r>
          </a:p>
        </p:txBody>
      </p:sp>
      <p:sp>
        <p:nvSpPr>
          <p:cNvPr id="7" name="TextBox 6">
            <a:extLst>
              <a:ext uri="{FF2B5EF4-FFF2-40B4-BE49-F238E27FC236}">
                <a16:creationId xmlns:a16="http://schemas.microsoft.com/office/drawing/2014/main" id="{86C25D41-2396-E34E-8ED9-757C5826FCD5}"/>
              </a:ext>
            </a:extLst>
          </p:cNvPr>
          <p:cNvSpPr txBox="1"/>
          <p:nvPr/>
        </p:nvSpPr>
        <p:spPr>
          <a:xfrm>
            <a:off x="7475141" y="3413021"/>
            <a:ext cx="3186113" cy="461665"/>
          </a:xfrm>
          <a:prstGeom prst="rect">
            <a:avLst/>
          </a:prstGeom>
          <a:noFill/>
        </p:spPr>
        <p:txBody>
          <a:bodyPr wrap="square" rtlCol="0">
            <a:spAutoFit/>
          </a:bodyPr>
          <a:lstStyle/>
          <a:p>
            <a:r>
              <a:rPr lang="en-US" sz="1200" dirty="0"/>
              <a:t>Figure 4. Weighted </a:t>
            </a:r>
            <a:r>
              <a:rPr lang="en-US" sz="1200" dirty="0" err="1"/>
              <a:t>UniFrac</a:t>
            </a:r>
            <a:r>
              <a:rPr lang="en-US" sz="1200" dirty="0"/>
              <a:t> </a:t>
            </a:r>
            <a:r>
              <a:rPr lang="en-US" sz="1200" dirty="0" err="1"/>
              <a:t>PCoA</a:t>
            </a:r>
            <a:r>
              <a:rPr lang="en-US" sz="1200" dirty="0"/>
              <a:t>, scaled by eigenvalues</a:t>
            </a:r>
          </a:p>
        </p:txBody>
      </p:sp>
      <p:pic>
        <p:nvPicPr>
          <p:cNvPr id="9" name="Picture 8">
            <a:extLst>
              <a:ext uri="{FF2B5EF4-FFF2-40B4-BE49-F238E27FC236}">
                <a16:creationId xmlns:a16="http://schemas.microsoft.com/office/drawing/2014/main" id="{64DCED99-8D7A-4141-97F5-B78AC9679478}"/>
              </a:ext>
            </a:extLst>
          </p:cNvPr>
          <p:cNvPicPr>
            <a:picLocks noChangeAspect="1"/>
          </p:cNvPicPr>
          <p:nvPr/>
        </p:nvPicPr>
        <p:blipFill>
          <a:blip r:embed="rId5"/>
          <a:stretch>
            <a:fillRect/>
          </a:stretch>
        </p:blipFill>
        <p:spPr>
          <a:xfrm>
            <a:off x="838200" y="4034249"/>
            <a:ext cx="2410619" cy="1607080"/>
          </a:xfrm>
          <a:prstGeom prst="rect">
            <a:avLst/>
          </a:prstGeom>
        </p:spPr>
      </p:pic>
      <p:pic>
        <p:nvPicPr>
          <p:cNvPr id="11" name="Picture 10">
            <a:extLst>
              <a:ext uri="{FF2B5EF4-FFF2-40B4-BE49-F238E27FC236}">
                <a16:creationId xmlns:a16="http://schemas.microsoft.com/office/drawing/2014/main" id="{70B7CFF2-FC1E-DD48-9DA2-0FAC7296E2EF}"/>
              </a:ext>
            </a:extLst>
          </p:cNvPr>
          <p:cNvPicPr>
            <a:picLocks noChangeAspect="1"/>
          </p:cNvPicPr>
          <p:nvPr/>
        </p:nvPicPr>
        <p:blipFill>
          <a:blip r:embed="rId6"/>
          <a:stretch>
            <a:fillRect/>
          </a:stretch>
        </p:blipFill>
        <p:spPr>
          <a:xfrm>
            <a:off x="3774283" y="4034249"/>
            <a:ext cx="2588021" cy="1725347"/>
          </a:xfrm>
          <a:prstGeom prst="rect">
            <a:avLst/>
          </a:prstGeom>
        </p:spPr>
      </p:pic>
      <p:sp>
        <p:nvSpPr>
          <p:cNvPr id="12" name="Rectangle 11">
            <a:extLst>
              <a:ext uri="{FF2B5EF4-FFF2-40B4-BE49-F238E27FC236}">
                <a16:creationId xmlns:a16="http://schemas.microsoft.com/office/drawing/2014/main" id="{876F1C34-901F-4944-8493-4E1AA38A143E}"/>
              </a:ext>
            </a:extLst>
          </p:cNvPr>
          <p:cNvSpPr/>
          <p:nvPr/>
        </p:nvSpPr>
        <p:spPr>
          <a:xfrm>
            <a:off x="418660" y="5870455"/>
            <a:ext cx="2830160"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filtered data, not scaled by eigenvalues (using microbiome package)</a:t>
            </a:r>
          </a:p>
        </p:txBody>
      </p:sp>
      <p:sp>
        <p:nvSpPr>
          <p:cNvPr id="13" name="Rectangle 12">
            <a:extLst>
              <a:ext uri="{FF2B5EF4-FFF2-40B4-BE49-F238E27FC236}">
                <a16:creationId xmlns:a16="http://schemas.microsoft.com/office/drawing/2014/main" id="{EAB90C3D-87DD-C944-802E-05EE5EDAB09C}"/>
              </a:ext>
            </a:extLst>
          </p:cNvPr>
          <p:cNvSpPr/>
          <p:nvPr/>
        </p:nvSpPr>
        <p:spPr>
          <a:xfrm>
            <a:off x="3645872" y="5897619"/>
            <a:ext cx="2844842"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unfiltered data, not scaled by eigenvalues (using microbiome package)</a:t>
            </a:r>
          </a:p>
        </p:txBody>
      </p:sp>
      <p:pic>
        <p:nvPicPr>
          <p:cNvPr id="15" name="Picture 14">
            <a:extLst>
              <a:ext uri="{FF2B5EF4-FFF2-40B4-BE49-F238E27FC236}">
                <a16:creationId xmlns:a16="http://schemas.microsoft.com/office/drawing/2014/main" id="{60FB934E-516A-4F4E-8467-25B70C57D2DA}"/>
              </a:ext>
            </a:extLst>
          </p:cNvPr>
          <p:cNvPicPr>
            <a:picLocks noChangeAspect="1"/>
          </p:cNvPicPr>
          <p:nvPr/>
        </p:nvPicPr>
        <p:blipFill>
          <a:blip r:embed="rId7"/>
          <a:stretch>
            <a:fillRect/>
          </a:stretch>
        </p:blipFill>
        <p:spPr>
          <a:xfrm>
            <a:off x="7217216" y="4034249"/>
            <a:ext cx="3893126" cy="1946563"/>
          </a:xfrm>
          <a:prstGeom prst="rect">
            <a:avLst/>
          </a:prstGeom>
        </p:spPr>
      </p:pic>
      <p:sp>
        <p:nvSpPr>
          <p:cNvPr id="16" name="Rectangle 15">
            <a:extLst>
              <a:ext uri="{FF2B5EF4-FFF2-40B4-BE49-F238E27FC236}">
                <a16:creationId xmlns:a16="http://schemas.microsoft.com/office/drawing/2014/main" id="{59515EFA-54BA-3941-BE80-896D8B95BA4A}"/>
              </a:ext>
            </a:extLst>
          </p:cNvPr>
          <p:cNvSpPr/>
          <p:nvPr/>
        </p:nvSpPr>
        <p:spPr>
          <a:xfrm>
            <a:off x="7228508" y="6018024"/>
            <a:ext cx="3881834" cy="461665"/>
          </a:xfrm>
          <a:prstGeom prst="rect">
            <a:avLst/>
          </a:prstGeom>
        </p:spPr>
        <p:txBody>
          <a:bodyPr wrap="square">
            <a:spAutoFit/>
          </a:bodyPr>
          <a:lstStyle/>
          <a:p>
            <a:r>
              <a:rPr lang="en-US" sz="1200" dirty="0"/>
              <a:t>Figure. Weighted </a:t>
            </a:r>
            <a:r>
              <a:rPr lang="en-US" sz="1200" dirty="0" err="1"/>
              <a:t>UniFrac</a:t>
            </a:r>
            <a:r>
              <a:rPr lang="en-US" sz="1200" dirty="0"/>
              <a:t> </a:t>
            </a:r>
            <a:r>
              <a:rPr lang="en-US" sz="1200" dirty="0" err="1"/>
              <a:t>PCoA</a:t>
            </a:r>
            <a:r>
              <a:rPr lang="en-US" sz="1200" dirty="0"/>
              <a:t> with unfiltered data, not scaled by eigenvalues (using microbiome package)</a:t>
            </a:r>
          </a:p>
        </p:txBody>
      </p:sp>
    </p:spTree>
    <p:extLst>
      <p:ext uri="{BB962C8B-B14F-4D97-AF65-F5344CB8AC3E}">
        <p14:creationId xmlns:p14="http://schemas.microsoft.com/office/powerpoint/2010/main" val="26176756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52339-2F8F-5348-A13F-AA14DB8160AF}"/>
              </a:ext>
            </a:extLst>
          </p:cNvPr>
          <p:cNvSpPr>
            <a:spLocks noGrp="1"/>
          </p:cNvSpPr>
          <p:nvPr>
            <p:ph type="title"/>
          </p:nvPr>
        </p:nvSpPr>
        <p:spPr>
          <a:solidFill>
            <a:srgbClr val="FFC003"/>
          </a:solidFill>
        </p:spPr>
        <p:txBody>
          <a:bodyPr/>
          <a:lstStyle/>
          <a:p>
            <a:r>
              <a:rPr lang="en-US" dirty="0">
                <a:solidFill>
                  <a:schemeClr val="bg1"/>
                </a:solidFill>
              </a:rPr>
              <a:t>Beta Non-Phylogenetic Diversity &amp; Ordination</a:t>
            </a:r>
          </a:p>
        </p:txBody>
      </p:sp>
      <p:pic>
        <p:nvPicPr>
          <p:cNvPr id="4" name="Picture 3">
            <a:extLst>
              <a:ext uri="{FF2B5EF4-FFF2-40B4-BE49-F238E27FC236}">
                <a16:creationId xmlns:a16="http://schemas.microsoft.com/office/drawing/2014/main" id="{69FAD212-9692-394C-9F0C-4A139B22BE75}"/>
              </a:ext>
            </a:extLst>
          </p:cNvPr>
          <p:cNvPicPr>
            <a:picLocks noChangeAspect="1"/>
          </p:cNvPicPr>
          <p:nvPr/>
        </p:nvPicPr>
        <p:blipFill rotWithShape="1">
          <a:blip r:embed="rId2"/>
          <a:srcRect l="-1707" t="21631" r="1707" b="24114"/>
          <a:stretch/>
        </p:blipFill>
        <p:spPr>
          <a:xfrm>
            <a:off x="3289298" y="1829507"/>
            <a:ext cx="3581400" cy="1943100"/>
          </a:xfrm>
          <a:prstGeom prst="rect">
            <a:avLst/>
          </a:prstGeom>
        </p:spPr>
      </p:pic>
      <p:sp>
        <p:nvSpPr>
          <p:cNvPr id="5" name="TextBox 4">
            <a:extLst>
              <a:ext uri="{FF2B5EF4-FFF2-40B4-BE49-F238E27FC236}">
                <a16:creationId xmlns:a16="http://schemas.microsoft.com/office/drawing/2014/main" id="{4F980DB2-EFCB-A640-A6E4-4B79C3B2FB9D}"/>
              </a:ext>
            </a:extLst>
          </p:cNvPr>
          <p:cNvSpPr txBox="1"/>
          <p:nvPr/>
        </p:nvSpPr>
        <p:spPr>
          <a:xfrm>
            <a:off x="3486941" y="3911427"/>
            <a:ext cx="3186113" cy="461665"/>
          </a:xfrm>
          <a:prstGeom prst="rect">
            <a:avLst/>
          </a:prstGeom>
          <a:noFill/>
        </p:spPr>
        <p:txBody>
          <a:bodyPr wrap="square" rtlCol="0">
            <a:spAutoFit/>
          </a:bodyPr>
          <a:lstStyle/>
          <a:p>
            <a:r>
              <a:rPr lang="en-US" sz="1200" dirty="0"/>
              <a:t>Figure 2. Bray-Curtis </a:t>
            </a:r>
            <a:r>
              <a:rPr lang="en-US" sz="1200" dirty="0" err="1"/>
              <a:t>PCoA</a:t>
            </a:r>
            <a:r>
              <a:rPr lang="en-US" sz="1200" dirty="0"/>
              <a:t>, scaled by eigenvalues</a:t>
            </a:r>
          </a:p>
        </p:txBody>
      </p:sp>
      <p:pic>
        <p:nvPicPr>
          <p:cNvPr id="6" name="Picture 5">
            <a:extLst>
              <a:ext uri="{FF2B5EF4-FFF2-40B4-BE49-F238E27FC236}">
                <a16:creationId xmlns:a16="http://schemas.microsoft.com/office/drawing/2014/main" id="{5E0CB574-F731-4E49-8A73-FF63430261E6}"/>
              </a:ext>
            </a:extLst>
          </p:cNvPr>
          <p:cNvPicPr>
            <a:picLocks noChangeAspect="1"/>
          </p:cNvPicPr>
          <p:nvPr/>
        </p:nvPicPr>
        <p:blipFill>
          <a:blip r:embed="rId3"/>
          <a:stretch>
            <a:fillRect/>
          </a:stretch>
        </p:blipFill>
        <p:spPr>
          <a:xfrm>
            <a:off x="552167" y="1868015"/>
            <a:ext cx="2505077" cy="2505077"/>
          </a:xfrm>
          <a:prstGeom prst="rect">
            <a:avLst/>
          </a:prstGeom>
        </p:spPr>
      </p:pic>
      <p:sp>
        <p:nvSpPr>
          <p:cNvPr id="7" name="TextBox 6">
            <a:extLst>
              <a:ext uri="{FF2B5EF4-FFF2-40B4-BE49-F238E27FC236}">
                <a16:creationId xmlns:a16="http://schemas.microsoft.com/office/drawing/2014/main" id="{EBF882E9-9AE8-7949-A919-FED329D5812E}"/>
              </a:ext>
            </a:extLst>
          </p:cNvPr>
          <p:cNvSpPr txBox="1"/>
          <p:nvPr/>
        </p:nvSpPr>
        <p:spPr>
          <a:xfrm>
            <a:off x="552167" y="4550419"/>
            <a:ext cx="1935166" cy="461665"/>
          </a:xfrm>
          <a:prstGeom prst="rect">
            <a:avLst/>
          </a:prstGeom>
          <a:noFill/>
        </p:spPr>
        <p:txBody>
          <a:bodyPr wrap="square" rtlCol="0">
            <a:spAutoFit/>
          </a:bodyPr>
          <a:lstStyle/>
          <a:p>
            <a:r>
              <a:rPr lang="en-US" sz="1200" dirty="0"/>
              <a:t>Figure 5. Bray-Curtis NMDS plot</a:t>
            </a:r>
          </a:p>
        </p:txBody>
      </p:sp>
      <p:pic>
        <p:nvPicPr>
          <p:cNvPr id="9" name="Picture 8">
            <a:extLst>
              <a:ext uri="{FF2B5EF4-FFF2-40B4-BE49-F238E27FC236}">
                <a16:creationId xmlns:a16="http://schemas.microsoft.com/office/drawing/2014/main" id="{B60432EE-ED05-334F-B135-159C1DB31D98}"/>
              </a:ext>
            </a:extLst>
          </p:cNvPr>
          <p:cNvPicPr>
            <a:picLocks noChangeAspect="1"/>
          </p:cNvPicPr>
          <p:nvPr/>
        </p:nvPicPr>
        <p:blipFill>
          <a:blip r:embed="rId4"/>
          <a:stretch>
            <a:fillRect/>
          </a:stretch>
        </p:blipFill>
        <p:spPr>
          <a:xfrm>
            <a:off x="6673054" y="3911426"/>
            <a:ext cx="5091113" cy="2545557"/>
          </a:xfrm>
          <a:prstGeom prst="rect">
            <a:avLst/>
          </a:prstGeom>
        </p:spPr>
      </p:pic>
      <p:sp>
        <p:nvSpPr>
          <p:cNvPr id="10" name="TextBox 9">
            <a:extLst>
              <a:ext uri="{FF2B5EF4-FFF2-40B4-BE49-F238E27FC236}">
                <a16:creationId xmlns:a16="http://schemas.microsoft.com/office/drawing/2014/main" id="{F8863A8B-C075-824C-B97E-B938DBFCE3CA}"/>
              </a:ext>
            </a:extLst>
          </p:cNvPr>
          <p:cNvSpPr txBox="1"/>
          <p:nvPr/>
        </p:nvSpPr>
        <p:spPr>
          <a:xfrm>
            <a:off x="8551342" y="3541774"/>
            <a:ext cx="1935166" cy="461665"/>
          </a:xfrm>
          <a:prstGeom prst="rect">
            <a:avLst/>
          </a:prstGeom>
          <a:noFill/>
        </p:spPr>
        <p:txBody>
          <a:bodyPr wrap="square" rtlCol="0">
            <a:spAutoFit/>
          </a:bodyPr>
          <a:lstStyle/>
          <a:p>
            <a:r>
              <a:rPr lang="en-US" sz="1200" dirty="0"/>
              <a:t>Figure. Bray-Curtis NMDS plot</a:t>
            </a:r>
          </a:p>
        </p:txBody>
      </p:sp>
    </p:spTree>
    <p:extLst>
      <p:ext uri="{BB962C8B-B14F-4D97-AF65-F5344CB8AC3E}">
        <p14:creationId xmlns:p14="http://schemas.microsoft.com/office/powerpoint/2010/main" val="12447536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9B615-6302-3749-9C9D-450854A7B4FC}"/>
              </a:ext>
            </a:extLst>
          </p:cNvPr>
          <p:cNvSpPr>
            <a:spLocks noGrp="1"/>
          </p:cNvSpPr>
          <p:nvPr>
            <p:ph type="title"/>
          </p:nvPr>
        </p:nvSpPr>
        <p:spPr>
          <a:solidFill>
            <a:srgbClr val="FFC000"/>
          </a:solidFill>
        </p:spPr>
        <p:txBody>
          <a:bodyPr/>
          <a:lstStyle/>
          <a:p>
            <a:r>
              <a:rPr lang="en-US" dirty="0">
                <a:solidFill>
                  <a:schemeClr val="bg1"/>
                </a:solidFill>
              </a:rPr>
              <a:t>Beta Non-Phylogenetic Diversity &amp; Ordination</a:t>
            </a:r>
          </a:p>
        </p:txBody>
      </p:sp>
      <p:pic>
        <p:nvPicPr>
          <p:cNvPr id="5" name="Picture 4">
            <a:extLst>
              <a:ext uri="{FF2B5EF4-FFF2-40B4-BE49-F238E27FC236}">
                <a16:creationId xmlns:a16="http://schemas.microsoft.com/office/drawing/2014/main" id="{A581D335-DFFC-1143-BF29-2688477FDA3F}"/>
              </a:ext>
            </a:extLst>
          </p:cNvPr>
          <p:cNvPicPr>
            <a:picLocks noChangeAspect="1"/>
          </p:cNvPicPr>
          <p:nvPr/>
        </p:nvPicPr>
        <p:blipFill>
          <a:blip r:embed="rId3"/>
          <a:stretch>
            <a:fillRect/>
          </a:stretch>
        </p:blipFill>
        <p:spPr>
          <a:xfrm>
            <a:off x="416723" y="1976484"/>
            <a:ext cx="1800222" cy="1800222"/>
          </a:xfrm>
          <a:prstGeom prst="rect">
            <a:avLst/>
          </a:prstGeom>
        </p:spPr>
      </p:pic>
      <p:sp>
        <p:nvSpPr>
          <p:cNvPr id="6" name="TextBox 5">
            <a:extLst>
              <a:ext uri="{FF2B5EF4-FFF2-40B4-BE49-F238E27FC236}">
                <a16:creationId xmlns:a16="http://schemas.microsoft.com/office/drawing/2014/main" id="{268B9DD7-F3E0-2244-8A36-B5372EF07E88}"/>
              </a:ext>
            </a:extLst>
          </p:cNvPr>
          <p:cNvSpPr txBox="1"/>
          <p:nvPr/>
        </p:nvSpPr>
        <p:spPr>
          <a:xfrm>
            <a:off x="2240761" y="2200050"/>
            <a:ext cx="1414467" cy="1200329"/>
          </a:xfrm>
          <a:prstGeom prst="rect">
            <a:avLst/>
          </a:prstGeom>
          <a:noFill/>
        </p:spPr>
        <p:txBody>
          <a:bodyPr wrap="square" rtlCol="0">
            <a:spAutoFit/>
          </a:bodyPr>
          <a:lstStyle/>
          <a:p>
            <a:r>
              <a:rPr lang="en-US" sz="1200" dirty="0"/>
              <a:t>Figure 6. Bar plot of Principal Component Analysis on Log-Ratio Transformed Data</a:t>
            </a:r>
          </a:p>
        </p:txBody>
      </p:sp>
      <p:pic>
        <p:nvPicPr>
          <p:cNvPr id="8" name="Picture 7">
            <a:extLst>
              <a:ext uri="{FF2B5EF4-FFF2-40B4-BE49-F238E27FC236}">
                <a16:creationId xmlns:a16="http://schemas.microsoft.com/office/drawing/2014/main" id="{964FDF21-A5BE-9341-8006-35983884743F}"/>
              </a:ext>
            </a:extLst>
          </p:cNvPr>
          <p:cNvPicPr>
            <a:picLocks noChangeAspect="1"/>
          </p:cNvPicPr>
          <p:nvPr/>
        </p:nvPicPr>
        <p:blipFill>
          <a:blip r:embed="rId4"/>
          <a:stretch>
            <a:fillRect/>
          </a:stretch>
        </p:blipFill>
        <p:spPr>
          <a:xfrm>
            <a:off x="416723" y="3685427"/>
            <a:ext cx="2009776" cy="2009776"/>
          </a:xfrm>
          <a:prstGeom prst="rect">
            <a:avLst/>
          </a:prstGeom>
        </p:spPr>
      </p:pic>
      <p:sp>
        <p:nvSpPr>
          <p:cNvPr id="9" name="TextBox 8">
            <a:extLst>
              <a:ext uri="{FF2B5EF4-FFF2-40B4-BE49-F238E27FC236}">
                <a16:creationId xmlns:a16="http://schemas.microsoft.com/office/drawing/2014/main" id="{D4162294-5278-9A49-89DF-B3EB29407B06}"/>
              </a:ext>
            </a:extLst>
          </p:cNvPr>
          <p:cNvSpPr txBox="1"/>
          <p:nvPr/>
        </p:nvSpPr>
        <p:spPr>
          <a:xfrm>
            <a:off x="2345541" y="4097381"/>
            <a:ext cx="1309687" cy="830997"/>
          </a:xfrm>
          <a:prstGeom prst="rect">
            <a:avLst/>
          </a:prstGeom>
          <a:noFill/>
        </p:spPr>
        <p:txBody>
          <a:bodyPr wrap="square" rtlCol="0">
            <a:spAutoFit/>
          </a:bodyPr>
          <a:lstStyle/>
          <a:p>
            <a:r>
              <a:rPr lang="en-US" sz="1200" dirty="0"/>
              <a:t>Figure 7. Log-Ratio PCA ordination of 16S sequence data</a:t>
            </a:r>
          </a:p>
        </p:txBody>
      </p:sp>
      <p:pic>
        <p:nvPicPr>
          <p:cNvPr id="11" name="Picture 10">
            <a:extLst>
              <a:ext uri="{FF2B5EF4-FFF2-40B4-BE49-F238E27FC236}">
                <a16:creationId xmlns:a16="http://schemas.microsoft.com/office/drawing/2014/main" id="{4605CCF0-0A32-B349-AEBC-DB7EDA4D7984}"/>
              </a:ext>
            </a:extLst>
          </p:cNvPr>
          <p:cNvPicPr>
            <a:picLocks noChangeAspect="1"/>
          </p:cNvPicPr>
          <p:nvPr/>
        </p:nvPicPr>
        <p:blipFill>
          <a:blip r:embed="rId5"/>
          <a:stretch>
            <a:fillRect/>
          </a:stretch>
        </p:blipFill>
        <p:spPr>
          <a:xfrm>
            <a:off x="3994544" y="2969462"/>
            <a:ext cx="1614488" cy="1614488"/>
          </a:xfrm>
          <a:prstGeom prst="rect">
            <a:avLst/>
          </a:prstGeom>
        </p:spPr>
      </p:pic>
      <p:sp>
        <p:nvSpPr>
          <p:cNvPr id="12" name="TextBox 11">
            <a:extLst>
              <a:ext uri="{FF2B5EF4-FFF2-40B4-BE49-F238E27FC236}">
                <a16:creationId xmlns:a16="http://schemas.microsoft.com/office/drawing/2014/main" id="{BA970433-457A-2646-90DA-835914F430E1}"/>
              </a:ext>
            </a:extLst>
          </p:cNvPr>
          <p:cNvSpPr txBox="1"/>
          <p:nvPr/>
        </p:nvSpPr>
        <p:spPr>
          <a:xfrm>
            <a:off x="5928127" y="3327540"/>
            <a:ext cx="1281105" cy="830997"/>
          </a:xfrm>
          <a:prstGeom prst="rect">
            <a:avLst/>
          </a:prstGeom>
          <a:noFill/>
        </p:spPr>
        <p:txBody>
          <a:bodyPr wrap="square" rtlCol="0">
            <a:spAutoFit/>
          </a:bodyPr>
          <a:lstStyle/>
          <a:p>
            <a:r>
              <a:rPr lang="en-US" sz="1200" dirty="0"/>
              <a:t>Figure 8. Log-Ratio </a:t>
            </a:r>
            <a:r>
              <a:rPr lang="en-US" sz="1200" dirty="0" err="1"/>
              <a:t>PCoA</a:t>
            </a:r>
            <a:r>
              <a:rPr lang="en-US" sz="1200" dirty="0"/>
              <a:t> </a:t>
            </a:r>
            <a:r>
              <a:rPr lang="en-US" sz="1200" dirty="0" err="1"/>
              <a:t>screenplot</a:t>
            </a:r>
            <a:r>
              <a:rPr lang="en-US" sz="1200" dirty="0"/>
              <a:t> using Jaccard variances</a:t>
            </a:r>
          </a:p>
        </p:txBody>
      </p:sp>
      <p:pic>
        <p:nvPicPr>
          <p:cNvPr id="14" name="Picture 13">
            <a:extLst>
              <a:ext uri="{FF2B5EF4-FFF2-40B4-BE49-F238E27FC236}">
                <a16:creationId xmlns:a16="http://schemas.microsoft.com/office/drawing/2014/main" id="{9FD4A4FA-ABC9-114E-9C37-FAFEEB008796}"/>
              </a:ext>
            </a:extLst>
          </p:cNvPr>
          <p:cNvPicPr>
            <a:picLocks noChangeAspect="1"/>
          </p:cNvPicPr>
          <p:nvPr/>
        </p:nvPicPr>
        <p:blipFill>
          <a:blip r:embed="rId6"/>
          <a:stretch>
            <a:fillRect/>
          </a:stretch>
        </p:blipFill>
        <p:spPr>
          <a:xfrm>
            <a:off x="3994545" y="4714177"/>
            <a:ext cx="1614488" cy="1614488"/>
          </a:xfrm>
          <a:prstGeom prst="rect">
            <a:avLst/>
          </a:prstGeom>
        </p:spPr>
      </p:pic>
      <p:sp>
        <p:nvSpPr>
          <p:cNvPr id="15" name="TextBox 14">
            <a:extLst>
              <a:ext uri="{FF2B5EF4-FFF2-40B4-BE49-F238E27FC236}">
                <a16:creationId xmlns:a16="http://schemas.microsoft.com/office/drawing/2014/main" id="{0ABFC3FC-2783-5547-B4E1-1560B5AAA389}"/>
              </a:ext>
            </a:extLst>
          </p:cNvPr>
          <p:cNvSpPr txBox="1"/>
          <p:nvPr/>
        </p:nvSpPr>
        <p:spPr>
          <a:xfrm>
            <a:off x="5562604" y="5055910"/>
            <a:ext cx="1419225" cy="830997"/>
          </a:xfrm>
          <a:prstGeom prst="rect">
            <a:avLst/>
          </a:prstGeom>
          <a:noFill/>
        </p:spPr>
        <p:txBody>
          <a:bodyPr wrap="square" rtlCol="0">
            <a:spAutoFit/>
          </a:bodyPr>
          <a:lstStyle/>
          <a:p>
            <a:r>
              <a:rPr lang="en-US" sz="1200" dirty="0"/>
              <a:t>Figure 9. Log-Ratio </a:t>
            </a:r>
            <a:r>
              <a:rPr lang="en-US" sz="1200" dirty="0" err="1"/>
              <a:t>PCoA</a:t>
            </a:r>
            <a:r>
              <a:rPr lang="en-US" sz="1200" dirty="0"/>
              <a:t> </a:t>
            </a:r>
            <a:r>
              <a:rPr lang="en-US" sz="1200" dirty="0" err="1"/>
              <a:t>screenplot</a:t>
            </a:r>
            <a:r>
              <a:rPr lang="en-US" sz="1200" dirty="0"/>
              <a:t> using Euclidean variances</a:t>
            </a:r>
          </a:p>
        </p:txBody>
      </p:sp>
      <p:pic>
        <p:nvPicPr>
          <p:cNvPr id="17" name="Picture 16">
            <a:extLst>
              <a:ext uri="{FF2B5EF4-FFF2-40B4-BE49-F238E27FC236}">
                <a16:creationId xmlns:a16="http://schemas.microsoft.com/office/drawing/2014/main" id="{4D9C7E1B-89CB-B545-9585-D367C09BEF54}"/>
              </a:ext>
            </a:extLst>
          </p:cNvPr>
          <p:cNvPicPr>
            <a:picLocks noChangeAspect="1"/>
          </p:cNvPicPr>
          <p:nvPr/>
        </p:nvPicPr>
        <p:blipFill>
          <a:blip r:embed="rId7"/>
          <a:stretch>
            <a:fillRect/>
          </a:stretch>
        </p:blipFill>
        <p:spPr>
          <a:xfrm>
            <a:off x="7829550" y="4464053"/>
            <a:ext cx="1690688" cy="1690688"/>
          </a:xfrm>
          <a:prstGeom prst="rect">
            <a:avLst/>
          </a:prstGeom>
        </p:spPr>
      </p:pic>
      <p:sp>
        <p:nvSpPr>
          <p:cNvPr id="18" name="TextBox 17">
            <a:extLst>
              <a:ext uri="{FF2B5EF4-FFF2-40B4-BE49-F238E27FC236}">
                <a16:creationId xmlns:a16="http://schemas.microsoft.com/office/drawing/2014/main" id="{FD559CBB-9EEF-9E43-8A4C-650168FCAA36}"/>
              </a:ext>
            </a:extLst>
          </p:cNvPr>
          <p:cNvSpPr txBox="1"/>
          <p:nvPr/>
        </p:nvSpPr>
        <p:spPr>
          <a:xfrm>
            <a:off x="7415223" y="6265867"/>
            <a:ext cx="2600315" cy="276999"/>
          </a:xfrm>
          <a:prstGeom prst="rect">
            <a:avLst/>
          </a:prstGeom>
          <a:noFill/>
        </p:spPr>
        <p:txBody>
          <a:bodyPr wrap="square" rtlCol="0">
            <a:spAutoFit/>
          </a:bodyPr>
          <a:lstStyle/>
          <a:p>
            <a:r>
              <a:rPr lang="en-US" sz="1200" dirty="0"/>
              <a:t>Figure 10. Euclidean NMDS plot</a:t>
            </a:r>
          </a:p>
        </p:txBody>
      </p:sp>
      <p:pic>
        <p:nvPicPr>
          <p:cNvPr id="20" name="Picture 19">
            <a:extLst>
              <a:ext uri="{FF2B5EF4-FFF2-40B4-BE49-F238E27FC236}">
                <a16:creationId xmlns:a16="http://schemas.microsoft.com/office/drawing/2014/main" id="{2E61C60F-7113-D34B-94CE-7E15E097A968}"/>
              </a:ext>
            </a:extLst>
          </p:cNvPr>
          <p:cNvPicPr>
            <a:picLocks noChangeAspect="1"/>
          </p:cNvPicPr>
          <p:nvPr/>
        </p:nvPicPr>
        <p:blipFill>
          <a:blip r:embed="rId8"/>
          <a:stretch>
            <a:fillRect/>
          </a:stretch>
        </p:blipFill>
        <p:spPr>
          <a:xfrm>
            <a:off x="10159608" y="4385482"/>
            <a:ext cx="1769259" cy="1769259"/>
          </a:xfrm>
          <a:prstGeom prst="rect">
            <a:avLst/>
          </a:prstGeom>
        </p:spPr>
      </p:pic>
      <p:sp>
        <p:nvSpPr>
          <p:cNvPr id="21" name="TextBox 20">
            <a:extLst>
              <a:ext uri="{FF2B5EF4-FFF2-40B4-BE49-F238E27FC236}">
                <a16:creationId xmlns:a16="http://schemas.microsoft.com/office/drawing/2014/main" id="{0E50DB5E-F8A6-D141-8857-79EDA9C03512}"/>
              </a:ext>
            </a:extLst>
          </p:cNvPr>
          <p:cNvSpPr txBox="1"/>
          <p:nvPr/>
        </p:nvSpPr>
        <p:spPr>
          <a:xfrm>
            <a:off x="9767896" y="6258110"/>
            <a:ext cx="2600315" cy="276999"/>
          </a:xfrm>
          <a:prstGeom prst="rect">
            <a:avLst/>
          </a:prstGeom>
          <a:noFill/>
        </p:spPr>
        <p:txBody>
          <a:bodyPr wrap="square" rtlCol="0">
            <a:spAutoFit/>
          </a:bodyPr>
          <a:lstStyle/>
          <a:p>
            <a:r>
              <a:rPr lang="en-US" sz="1200" dirty="0"/>
              <a:t>Figure 11. Jaccard NMDS plot</a:t>
            </a:r>
          </a:p>
        </p:txBody>
      </p:sp>
    </p:spTree>
    <p:extLst>
      <p:ext uri="{BB962C8B-B14F-4D97-AF65-F5344CB8AC3E}">
        <p14:creationId xmlns:p14="http://schemas.microsoft.com/office/powerpoint/2010/main" val="13142413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B15C2-352D-7244-8523-A17BAA6CB11A}"/>
              </a:ext>
            </a:extLst>
          </p:cNvPr>
          <p:cNvSpPr>
            <a:spLocks noGrp="1"/>
          </p:cNvSpPr>
          <p:nvPr>
            <p:ph type="title"/>
          </p:nvPr>
        </p:nvSpPr>
        <p:spPr>
          <a:solidFill>
            <a:srgbClr val="FFC000"/>
          </a:solidFill>
        </p:spPr>
        <p:txBody>
          <a:bodyPr/>
          <a:lstStyle/>
          <a:p>
            <a:r>
              <a:rPr lang="en-US" dirty="0">
                <a:solidFill>
                  <a:schemeClr val="bg1"/>
                </a:solidFill>
              </a:rPr>
              <a:t>Linear Models</a:t>
            </a:r>
          </a:p>
        </p:txBody>
      </p:sp>
      <p:pic>
        <p:nvPicPr>
          <p:cNvPr id="7" name="Picture 6">
            <a:extLst>
              <a:ext uri="{FF2B5EF4-FFF2-40B4-BE49-F238E27FC236}">
                <a16:creationId xmlns:a16="http://schemas.microsoft.com/office/drawing/2014/main" id="{C390D8F2-FE6B-9D47-9E22-2349F978CFF2}"/>
              </a:ext>
            </a:extLst>
          </p:cNvPr>
          <p:cNvPicPr>
            <a:picLocks noChangeAspect="1"/>
          </p:cNvPicPr>
          <p:nvPr/>
        </p:nvPicPr>
        <p:blipFill>
          <a:blip r:embed="rId3"/>
          <a:stretch>
            <a:fillRect/>
          </a:stretch>
        </p:blipFill>
        <p:spPr>
          <a:xfrm>
            <a:off x="9553800" y="1743519"/>
            <a:ext cx="1800000" cy="1800000"/>
          </a:xfrm>
          <a:prstGeom prst="rect">
            <a:avLst/>
          </a:prstGeom>
        </p:spPr>
      </p:pic>
      <p:pic>
        <p:nvPicPr>
          <p:cNvPr id="9" name="Picture 8">
            <a:extLst>
              <a:ext uri="{FF2B5EF4-FFF2-40B4-BE49-F238E27FC236}">
                <a16:creationId xmlns:a16="http://schemas.microsoft.com/office/drawing/2014/main" id="{4FF54945-6BCE-4E47-BF8A-AF25A8E40D90}"/>
              </a:ext>
            </a:extLst>
          </p:cNvPr>
          <p:cNvPicPr>
            <a:picLocks noChangeAspect="1"/>
          </p:cNvPicPr>
          <p:nvPr/>
        </p:nvPicPr>
        <p:blipFill>
          <a:blip r:embed="rId4"/>
          <a:stretch>
            <a:fillRect/>
          </a:stretch>
        </p:blipFill>
        <p:spPr>
          <a:xfrm>
            <a:off x="7403583" y="1774451"/>
            <a:ext cx="1800000" cy="1800000"/>
          </a:xfrm>
          <a:prstGeom prst="rect">
            <a:avLst/>
          </a:prstGeom>
        </p:spPr>
      </p:pic>
      <p:pic>
        <p:nvPicPr>
          <p:cNvPr id="11" name="Picture 10">
            <a:extLst>
              <a:ext uri="{FF2B5EF4-FFF2-40B4-BE49-F238E27FC236}">
                <a16:creationId xmlns:a16="http://schemas.microsoft.com/office/drawing/2014/main" id="{6527A7FD-FEEC-2D42-8379-AF823768FF64}"/>
              </a:ext>
            </a:extLst>
          </p:cNvPr>
          <p:cNvPicPr>
            <a:picLocks noChangeAspect="1"/>
          </p:cNvPicPr>
          <p:nvPr/>
        </p:nvPicPr>
        <p:blipFill>
          <a:blip r:embed="rId5"/>
          <a:stretch>
            <a:fillRect/>
          </a:stretch>
        </p:blipFill>
        <p:spPr>
          <a:xfrm>
            <a:off x="3007238" y="1796761"/>
            <a:ext cx="1800000" cy="1800000"/>
          </a:xfrm>
          <a:prstGeom prst="rect">
            <a:avLst/>
          </a:prstGeom>
        </p:spPr>
      </p:pic>
      <p:pic>
        <p:nvPicPr>
          <p:cNvPr id="13" name="Picture 12">
            <a:extLst>
              <a:ext uri="{FF2B5EF4-FFF2-40B4-BE49-F238E27FC236}">
                <a16:creationId xmlns:a16="http://schemas.microsoft.com/office/drawing/2014/main" id="{756C24B0-18AF-804C-9C45-0B501074A7DC}"/>
              </a:ext>
            </a:extLst>
          </p:cNvPr>
          <p:cNvPicPr>
            <a:picLocks noChangeAspect="1"/>
          </p:cNvPicPr>
          <p:nvPr/>
        </p:nvPicPr>
        <p:blipFill>
          <a:blip r:embed="rId6"/>
          <a:stretch>
            <a:fillRect/>
          </a:stretch>
        </p:blipFill>
        <p:spPr>
          <a:xfrm>
            <a:off x="5196000" y="1761726"/>
            <a:ext cx="1800000" cy="1800000"/>
          </a:xfrm>
          <a:prstGeom prst="rect">
            <a:avLst/>
          </a:prstGeom>
        </p:spPr>
      </p:pic>
      <p:pic>
        <p:nvPicPr>
          <p:cNvPr id="15" name="Picture 14">
            <a:extLst>
              <a:ext uri="{FF2B5EF4-FFF2-40B4-BE49-F238E27FC236}">
                <a16:creationId xmlns:a16="http://schemas.microsoft.com/office/drawing/2014/main" id="{77B286B0-164B-BB4E-9DF8-4A9DDFBDF723}"/>
              </a:ext>
            </a:extLst>
          </p:cNvPr>
          <p:cNvPicPr>
            <a:picLocks noChangeAspect="1"/>
          </p:cNvPicPr>
          <p:nvPr/>
        </p:nvPicPr>
        <p:blipFill>
          <a:blip r:embed="rId7"/>
          <a:stretch>
            <a:fillRect/>
          </a:stretch>
        </p:blipFill>
        <p:spPr>
          <a:xfrm>
            <a:off x="838200" y="1796761"/>
            <a:ext cx="1800000" cy="1800000"/>
          </a:xfrm>
          <a:prstGeom prst="rect">
            <a:avLst/>
          </a:prstGeom>
        </p:spPr>
      </p:pic>
      <p:pic>
        <p:nvPicPr>
          <p:cNvPr id="17" name="Picture 16">
            <a:extLst>
              <a:ext uri="{FF2B5EF4-FFF2-40B4-BE49-F238E27FC236}">
                <a16:creationId xmlns:a16="http://schemas.microsoft.com/office/drawing/2014/main" id="{38C7DD22-EC25-1044-853A-C17F7F38BD4E}"/>
              </a:ext>
            </a:extLst>
          </p:cNvPr>
          <p:cNvPicPr>
            <a:picLocks noChangeAspect="1"/>
          </p:cNvPicPr>
          <p:nvPr/>
        </p:nvPicPr>
        <p:blipFill>
          <a:blip r:embed="rId8"/>
          <a:stretch>
            <a:fillRect/>
          </a:stretch>
        </p:blipFill>
        <p:spPr>
          <a:xfrm>
            <a:off x="9553800" y="4330044"/>
            <a:ext cx="1800000" cy="1800000"/>
          </a:xfrm>
          <a:prstGeom prst="rect">
            <a:avLst/>
          </a:prstGeom>
        </p:spPr>
      </p:pic>
      <p:pic>
        <p:nvPicPr>
          <p:cNvPr id="21" name="Picture 20">
            <a:extLst>
              <a:ext uri="{FF2B5EF4-FFF2-40B4-BE49-F238E27FC236}">
                <a16:creationId xmlns:a16="http://schemas.microsoft.com/office/drawing/2014/main" id="{C39A86B3-C4B8-B64A-B7D9-5030E34D4D4A}"/>
              </a:ext>
            </a:extLst>
          </p:cNvPr>
          <p:cNvPicPr>
            <a:picLocks noChangeAspect="1"/>
          </p:cNvPicPr>
          <p:nvPr/>
        </p:nvPicPr>
        <p:blipFill>
          <a:blip r:embed="rId9"/>
          <a:stretch>
            <a:fillRect/>
          </a:stretch>
        </p:blipFill>
        <p:spPr>
          <a:xfrm>
            <a:off x="5196000" y="4330044"/>
            <a:ext cx="1800000" cy="1800000"/>
          </a:xfrm>
          <a:prstGeom prst="rect">
            <a:avLst/>
          </a:prstGeom>
        </p:spPr>
      </p:pic>
      <p:pic>
        <p:nvPicPr>
          <p:cNvPr id="25" name="Picture 24">
            <a:extLst>
              <a:ext uri="{FF2B5EF4-FFF2-40B4-BE49-F238E27FC236}">
                <a16:creationId xmlns:a16="http://schemas.microsoft.com/office/drawing/2014/main" id="{0BFB303C-02A5-B544-B34B-A6F36B3801DF}"/>
              </a:ext>
            </a:extLst>
          </p:cNvPr>
          <p:cNvPicPr>
            <a:picLocks noChangeAspect="1"/>
          </p:cNvPicPr>
          <p:nvPr/>
        </p:nvPicPr>
        <p:blipFill>
          <a:blip r:embed="rId10"/>
          <a:stretch>
            <a:fillRect/>
          </a:stretch>
        </p:blipFill>
        <p:spPr>
          <a:xfrm>
            <a:off x="7238274" y="4330044"/>
            <a:ext cx="1800000" cy="1800000"/>
          </a:xfrm>
          <a:prstGeom prst="rect">
            <a:avLst/>
          </a:prstGeom>
        </p:spPr>
      </p:pic>
      <p:pic>
        <p:nvPicPr>
          <p:cNvPr id="29" name="Picture 28">
            <a:extLst>
              <a:ext uri="{FF2B5EF4-FFF2-40B4-BE49-F238E27FC236}">
                <a16:creationId xmlns:a16="http://schemas.microsoft.com/office/drawing/2014/main" id="{8AC5CD21-BF3C-D64F-AE15-E1717AD46B46}"/>
              </a:ext>
            </a:extLst>
          </p:cNvPr>
          <p:cNvPicPr>
            <a:picLocks noChangeAspect="1"/>
          </p:cNvPicPr>
          <p:nvPr/>
        </p:nvPicPr>
        <p:blipFill>
          <a:blip r:embed="rId11"/>
          <a:stretch>
            <a:fillRect/>
          </a:stretch>
        </p:blipFill>
        <p:spPr>
          <a:xfrm>
            <a:off x="761111" y="4330044"/>
            <a:ext cx="1800000" cy="1800000"/>
          </a:xfrm>
          <a:prstGeom prst="rect">
            <a:avLst/>
          </a:prstGeom>
        </p:spPr>
      </p:pic>
      <p:pic>
        <p:nvPicPr>
          <p:cNvPr id="33" name="Picture 32">
            <a:extLst>
              <a:ext uri="{FF2B5EF4-FFF2-40B4-BE49-F238E27FC236}">
                <a16:creationId xmlns:a16="http://schemas.microsoft.com/office/drawing/2014/main" id="{2AAC71C9-1DDD-D346-9BC4-A459C98EE3EA}"/>
              </a:ext>
            </a:extLst>
          </p:cNvPr>
          <p:cNvPicPr>
            <a:picLocks noChangeAspect="1"/>
          </p:cNvPicPr>
          <p:nvPr/>
        </p:nvPicPr>
        <p:blipFill>
          <a:blip r:embed="rId12"/>
          <a:stretch>
            <a:fillRect/>
          </a:stretch>
        </p:blipFill>
        <p:spPr>
          <a:xfrm>
            <a:off x="2961739" y="4330044"/>
            <a:ext cx="1800000" cy="1800000"/>
          </a:xfrm>
          <a:prstGeom prst="rect">
            <a:avLst/>
          </a:prstGeom>
        </p:spPr>
      </p:pic>
      <p:sp>
        <p:nvSpPr>
          <p:cNvPr id="34" name="TextBox 33">
            <a:extLst>
              <a:ext uri="{FF2B5EF4-FFF2-40B4-BE49-F238E27FC236}">
                <a16:creationId xmlns:a16="http://schemas.microsoft.com/office/drawing/2014/main" id="{EFB48590-676E-D24C-9954-B8281B91DEAF}"/>
              </a:ext>
            </a:extLst>
          </p:cNvPr>
          <p:cNvSpPr txBox="1"/>
          <p:nvPr/>
        </p:nvSpPr>
        <p:spPr>
          <a:xfrm>
            <a:off x="761111" y="3605383"/>
            <a:ext cx="10592689" cy="646331"/>
          </a:xfrm>
          <a:prstGeom prst="rect">
            <a:avLst/>
          </a:prstGeom>
          <a:noFill/>
        </p:spPr>
        <p:txBody>
          <a:bodyPr wrap="square" rtlCol="0">
            <a:spAutoFit/>
          </a:bodyPr>
          <a:lstStyle/>
          <a:p>
            <a:r>
              <a:rPr lang="en-US" dirty="0"/>
              <a:t>Figures 12-16: Boxplots showing medians, 25</a:t>
            </a:r>
            <a:r>
              <a:rPr lang="en-US" baseline="30000" dirty="0"/>
              <a:t>th</a:t>
            </a:r>
            <a:r>
              <a:rPr lang="en-US" dirty="0"/>
              <a:t>, 75th percentiles and outlying data points for ASV richness, hole area, hole depth, chlorophyll and DNA content, between the two glaciers</a:t>
            </a:r>
          </a:p>
        </p:txBody>
      </p:sp>
      <p:sp>
        <p:nvSpPr>
          <p:cNvPr id="35" name="TextBox 34">
            <a:extLst>
              <a:ext uri="{FF2B5EF4-FFF2-40B4-BE49-F238E27FC236}">
                <a16:creationId xmlns:a16="http://schemas.microsoft.com/office/drawing/2014/main" id="{AC8322CB-50FC-D04E-80D9-08868385A3B5}"/>
              </a:ext>
            </a:extLst>
          </p:cNvPr>
          <p:cNvSpPr txBox="1"/>
          <p:nvPr/>
        </p:nvSpPr>
        <p:spPr>
          <a:xfrm>
            <a:off x="799655" y="6155450"/>
            <a:ext cx="10592689" cy="646331"/>
          </a:xfrm>
          <a:prstGeom prst="rect">
            <a:avLst/>
          </a:prstGeom>
          <a:noFill/>
        </p:spPr>
        <p:txBody>
          <a:bodyPr wrap="square" rtlCol="0">
            <a:spAutoFit/>
          </a:bodyPr>
          <a:lstStyle/>
          <a:p>
            <a:r>
              <a:rPr lang="en-US" dirty="0"/>
              <a:t>Figures 17-21: Boxplots showing medians, 25</a:t>
            </a:r>
            <a:r>
              <a:rPr lang="en-US" baseline="30000" dirty="0"/>
              <a:t>th</a:t>
            </a:r>
            <a:r>
              <a:rPr lang="en-US" dirty="0"/>
              <a:t>, 75th percentiles and outlying data points for Shannon, Simpson, Inverse Simpson Diversity, </a:t>
            </a:r>
            <a:r>
              <a:rPr lang="en-US" dirty="0" err="1"/>
              <a:t>Pilou</a:t>
            </a:r>
            <a:r>
              <a:rPr lang="en-US" dirty="0"/>
              <a:t> Evenness and Faith’s PD, between the two glaciers</a:t>
            </a:r>
          </a:p>
        </p:txBody>
      </p:sp>
    </p:spTree>
    <p:extLst>
      <p:ext uri="{BB962C8B-B14F-4D97-AF65-F5344CB8AC3E}">
        <p14:creationId xmlns:p14="http://schemas.microsoft.com/office/powerpoint/2010/main" val="8479132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D80F-EB70-6C4E-8A1D-52448A861CC4}"/>
              </a:ext>
            </a:extLst>
          </p:cNvPr>
          <p:cNvSpPr>
            <a:spLocks noGrp="1"/>
          </p:cNvSpPr>
          <p:nvPr>
            <p:ph type="title"/>
          </p:nvPr>
        </p:nvSpPr>
        <p:spPr>
          <a:solidFill>
            <a:srgbClr val="FFC000"/>
          </a:solidFill>
        </p:spPr>
        <p:txBody>
          <a:bodyPr/>
          <a:lstStyle/>
          <a:p>
            <a:r>
              <a:rPr lang="en-US" dirty="0">
                <a:solidFill>
                  <a:schemeClr val="bg1"/>
                </a:solidFill>
              </a:rPr>
              <a:t>General Statistics: Linear Regression Analysis</a:t>
            </a:r>
          </a:p>
        </p:txBody>
      </p:sp>
      <p:pic>
        <p:nvPicPr>
          <p:cNvPr id="5" name="Picture 4">
            <a:extLst>
              <a:ext uri="{FF2B5EF4-FFF2-40B4-BE49-F238E27FC236}">
                <a16:creationId xmlns:a16="http://schemas.microsoft.com/office/drawing/2014/main" id="{F33065BA-F614-7C4B-B087-6683F2BAF588}"/>
              </a:ext>
            </a:extLst>
          </p:cNvPr>
          <p:cNvPicPr>
            <a:picLocks noChangeAspect="1"/>
          </p:cNvPicPr>
          <p:nvPr/>
        </p:nvPicPr>
        <p:blipFill>
          <a:blip r:embed="rId3"/>
          <a:stretch>
            <a:fillRect/>
          </a:stretch>
        </p:blipFill>
        <p:spPr>
          <a:xfrm>
            <a:off x="838200" y="1690688"/>
            <a:ext cx="4981575" cy="3074343"/>
          </a:xfrm>
          <a:prstGeom prst="rect">
            <a:avLst/>
          </a:prstGeom>
        </p:spPr>
      </p:pic>
      <p:sp>
        <p:nvSpPr>
          <p:cNvPr id="14" name="TextBox 13">
            <a:extLst>
              <a:ext uri="{FF2B5EF4-FFF2-40B4-BE49-F238E27FC236}">
                <a16:creationId xmlns:a16="http://schemas.microsoft.com/office/drawing/2014/main" id="{2D6A8C39-986A-1242-93B9-01CC36029E62}"/>
              </a:ext>
            </a:extLst>
          </p:cNvPr>
          <p:cNvSpPr txBox="1"/>
          <p:nvPr/>
        </p:nvSpPr>
        <p:spPr>
          <a:xfrm>
            <a:off x="1042988" y="5014913"/>
            <a:ext cx="4672012" cy="646331"/>
          </a:xfrm>
          <a:prstGeom prst="rect">
            <a:avLst/>
          </a:prstGeom>
          <a:noFill/>
        </p:spPr>
        <p:txBody>
          <a:bodyPr wrap="square" rtlCol="0">
            <a:spAutoFit/>
          </a:bodyPr>
          <a:lstStyle/>
          <a:p>
            <a:r>
              <a:rPr lang="en-US" dirty="0"/>
              <a:t>Figure 22: Linear regression plot of ASV richness against cryoconite hole area</a:t>
            </a:r>
          </a:p>
        </p:txBody>
      </p:sp>
    </p:spTree>
    <p:extLst>
      <p:ext uri="{BB962C8B-B14F-4D97-AF65-F5344CB8AC3E}">
        <p14:creationId xmlns:p14="http://schemas.microsoft.com/office/powerpoint/2010/main" val="36542806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a:solidFill>
            <a:srgbClr val="FFC000"/>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Kruskal-Wallis to compare alpha diversity between glaciers</a:t>
            </a:r>
          </a:p>
          <a:p>
            <a:r>
              <a:rPr lang="en-US" dirty="0"/>
              <a:t>Permutation Multivariate Analysis of Variance (PERMANOVA) to identify if community composition varied between glaciers</a:t>
            </a:r>
          </a:p>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2"/>
          <a:stretch>
            <a:fillRect/>
          </a:stretch>
        </p:blipFill>
        <p:spPr>
          <a:xfrm>
            <a:off x="4095750" y="45120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3"/>
          <a:stretch>
            <a:fillRect/>
          </a:stretch>
        </p:blipFill>
        <p:spPr>
          <a:xfrm>
            <a:off x="3706018" y="1825625"/>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4"/>
          <a:stretch>
            <a:fillRect/>
          </a:stretch>
        </p:blipFill>
        <p:spPr>
          <a:xfrm>
            <a:off x="6534150" y="45120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3890963" y="6340348"/>
            <a:ext cx="5657850" cy="369332"/>
          </a:xfrm>
          <a:prstGeom prst="rect">
            <a:avLst/>
          </a:prstGeom>
          <a:noFill/>
        </p:spPr>
        <p:txBody>
          <a:bodyPr wrap="square" rtlCol="0">
            <a:spAutoFit/>
          </a:bodyPr>
          <a:lstStyle/>
          <a:p>
            <a:r>
              <a:rPr lang="en-US" dirty="0"/>
              <a:t>Figure. Results graphs from my analyses (16S only)</a:t>
            </a:r>
          </a:p>
        </p:txBody>
      </p:sp>
    </p:spTree>
    <p:extLst>
      <p:ext uri="{BB962C8B-B14F-4D97-AF65-F5344CB8AC3E}">
        <p14:creationId xmlns:p14="http://schemas.microsoft.com/office/powerpoint/2010/main" val="29251788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755050813"/>
              </p:ext>
            </p:extLst>
          </p:nvPr>
        </p:nvGraphicFramePr>
        <p:xfrm>
          <a:off x="3200400" y="623359"/>
          <a:ext cx="84582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(2013)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69368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2"/>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
        <p:nvSpPr>
          <p:cNvPr id="3" name="Content Placeholder 2">
            <a:extLst>
              <a:ext uri="{FF2B5EF4-FFF2-40B4-BE49-F238E27FC236}">
                <a16:creationId xmlns:a16="http://schemas.microsoft.com/office/drawing/2014/main" id="{958C73FE-1CD3-9D4C-8447-A79ED529B7A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046988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err="1">
                <a:solidFill>
                  <a:schemeClr val="bg1"/>
                </a:solidFill>
              </a:rPr>
              <a:t>Gephi</a:t>
            </a:r>
            <a:endParaRPr lang="en-US" dirty="0">
              <a:solidFill>
                <a:schemeClr val="bg1"/>
              </a:solidFill>
            </a:endParaRP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7164</TotalTime>
  <Words>3730</Words>
  <Application>Microsoft Macintosh PowerPoint</Application>
  <PresentationFormat>Widescreen</PresentationFormat>
  <Paragraphs>333</Paragraphs>
  <Slides>33</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Why are they different? Why should we care?</vt:lpstr>
      <vt:lpstr>Community Assembly Processes</vt:lpstr>
      <vt:lpstr>Supraglacial deterministic processes</vt:lpstr>
      <vt:lpstr>Supraglacial stochastic processes</vt:lpstr>
      <vt:lpstr>Hypotheses</vt:lpstr>
      <vt:lpstr>Analysis Workflow</vt:lpstr>
      <vt:lpstr>Sommers et al., (2020) ﻿Microbial Species–Area Relationships in Antarctic Cryoconite Holes Depend on Productivity</vt:lpstr>
      <vt:lpstr>QIIME2 &amp; DADA2</vt:lpstr>
      <vt:lpstr>Data Prep</vt:lpstr>
      <vt:lpstr>Multivariate Analysis</vt:lpstr>
      <vt:lpstr>Alpha Non-Phylogenetic Diversity</vt:lpstr>
      <vt:lpstr>Alpha Phylogenetic Diversity</vt:lpstr>
      <vt:lpstr>Absolute Abundance Bar Plots</vt:lpstr>
      <vt:lpstr>Relative Abundance Bar Plots</vt:lpstr>
      <vt:lpstr>Beta Phylogenetic Diversity &amp; Ordination</vt:lpstr>
      <vt:lpstr>Beta Non-Phylogenetic Diversity &amp; Ordination</vt:lpstr>
      <vt:lpstr>Beta Non-Phylogenetic Diversity &amp; Ordination</vt:lpstr>
      <vt:lpstr>Linear Models</vt:lpstr>
      <vt:lpstr>General Statistics: Linear Regression Analysis</vt:lpstr>
      <vt:lpstr>Multivariate Analysis</vt:lpstr>
      <vt:lpstr>Island Species-Area Relationship (ISAR)</vt:lpstr>
      <vt:lpstr>Distance-Decay Relationship (DDR)</vt:lpstr>
      <vt:lpstr>Sloan’s Neutral Model</vt:lpstr>
      <vt:lpstr>Code</vt:lpstr>
      <vt:lpstr>Results</vt:lpstr>
      <vt:lpstr>Phylogenetic Signal</vt:lpstr>
      <vt:lpstr>Phylogenetic Signal</vt:lpstr>
      <vt:lpstr>Stegen et al., (2013) Phylogenetic Null Model</vt:lpstr>
      <vt:lpstr>Phylogenetic Null Model</vt:lpstr>
      <vt:lpstr>Co-Occurrence Network Analysis</vt:lpstr>
      <vt:lpstr>Centrality and Clustering</vt:lpstr>
      <vt:lpstr>Gephi</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97</cp:revision>
  <dcterms:created xsi:type="dcterms:W3CDTF">2021-04-15T08:49:25Z</dcterms:created>
  <dcterms:modified xsi:type="dcterms:W3CDTF">2021-04-21T08:04:16Z</dcterms:modified>
</cp:coreProperties>
</file>