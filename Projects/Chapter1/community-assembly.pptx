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79" r:id="rId3"/>
    <p:sldId id="264" r:id="rId4"/>
    <p:sldId id="268" r:id="rId5"/>
    <p:sldId id="269" r:id="rId6"/>
    <p:sldId id="270" r:id="rId7"/>
    <p:sldId id="280" r:id="rId8"/>
    <p:sldId id="281" r:id="rId9"/>
    <p:sldId id="283" r:id="rId10"/>
    <p:sldId id="282" r:id="rId11"/>
    <p:sldId id="267" r:id="rId12"/>
    <p:sldId id="274" r:id="rId13"/>
    <p:sldId id="273" r:id="rId14"/>
    <p:sldId id="263" r:id="rId15"/>
    <p:sldId id="258" r:id="rId16"/>
    <p:sldId id="259" r:id="rId17"/>
    <p:sldId id="265" r:id="rId18"/>
    <p:sldId id="266" r:id="rId19"/>
    <p:sldId id="260" r:id="rId20"/>
    <p:sldId id="271" r:id="rId21"/>
    <p:sldId id="272" r:id="rId22"/>
    <p:sldId id="261" r:id="rId23"/>
    <p:sldId id="277" r:id="rId24"/>
    <p:sldId id="278" r:id="rId25"/>
    <p:sldId id="262"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E5"/>
    <a:srgbClr val="FF008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51"/>
    <p:restoredTop sz="83266"/>
  </p:normalViewPr>
  <p:slideViewPr>
    <p:cSldViewPr snapToGrid="0" snapToObjects="1">
      <p:cViewPr>
        <p:scale>
          <a:sx n="90" d="100"/>
          <a:sy n="90" d="100"/>
        </p:scale>
        <p:origin x="536" y="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F4A8053-4923-A24E-AEC5-81BF6014CBC8}" type="doc">
      <dgm:prSet loTypeId="urn:microsoft.com/office/officeart/2005/8/layout/venn1" loCatId="" qsTypeId="urn:microsoft.com/office/officeart/2005/8/quickstyle/simple1" qsCatId="simple" csTypeId="urn:microsoft.com/office/officeart/2005/8/colors/colorful4" csCatId="colorful" phldr="1"/>
      <dgm:spPr/>
    </dgm:pt>
    <dgm:pt modelId="{7F8359A3-B9CF-6D4B-8037-57FE1863EDF2}">
      <dgm:prSet phldrT="[Text]"/>
      <dgm:spPr/>
      <dgm:t>
        <a:bodyPr/>
        <a:lstStyle/>
        <a:p>
          <a:r>
            <a:rPr lang="en-US" dirty="0"/>
            <a:t>Selection</a:t>
          </a:r>
        </a:p>
      </dgm:t>
    </dgm:pt>
    <dgm:pt modelId="{B0B7F09A-A873-7049-9697-5CF8A7964645}" type="parTrans" cxnId="{22E0002F-3AB5-A944-A9A5-20F9CD6BC590}">
      <dgm:prSet/>
      <dgm:spPr/>
      <dgm:t>
        <a:bodyPr/>
        <a:lstStyle/>
        <a:p>
          <a:endParaRPr lang="en-US"/>
        </a:p>
      </dgm:t>
    </dgm:pt>
    <dgm:pt modelId="{B699ECE7-0CE4-8B41-A16C-D2DA25295E5A}" type="sibTrans" cxnId="{22E0002F-3AB5-A944-A9A5-20F9CD6BC590}">
      <dgm:prSet/>
      <dgm:spPr/>
      <dgm:t>
        <a:bodyPr/>
        <a:lstStyle/>
        <a:p>
          <a:endParaRPr lang="en-US"/>
        </a:p>
      </dgm:t>
    </dgm:pt>
    <dgm:pt modelId="{0475E55C-BC76-CC49-A6EA-4425DC97CB71}">
      <dgm:prSet phldrT="[Text]"/>
      <dgm:spPr/>
      <dgm:t>
        <a:bodyPr/>
        <a:lstStyle/>
        <a:p>
          <a:r>
            <a:rPr lang="en-US" dirty="0"/>
            <a:t>Dispersal</a:t>
          </a:r>
        </a:p>
      </dgm:t>
    </dgm:pt>
    <dgm:pt modelId="{CAC93909-FC75-1A4A-AC6C-8A176D84B327}" type="parTrans" cxnId="{6C7751D4-1294-EB42-9CAD-B69CD70ABD32}">
      <dgm:prSet/>
      <dgm:spPr/>
      <dgm:t>
        <a:bodyPr/>
        <a:lstStyle/>
        <a:p>
          <a:endParaRPr lang="en-US"/>
        </a:p>
      </dgm:t>
    </dgm:pt>
    <dgm:pt modelId="{6589743F-27BF-6740-9E4C-996261639427}" type="sibTrans" cxnId="{6C7751D4-1294-EB42-9CAD-B69CD70ABD32}">
      <dgm:prSet/>
      <dgm:spPr/>
      <dgm:t>
        <a:bodyPr/>
        <a:lstStyle/>
        <a:p>
          <a:endParaRPr lang="en-US"/>
        </a:p>
      </dgm:t>
    </dgm:pt>
    <dgm:pt modelId="{C77A4A92-8829-554D-A202-9E33F357FC68}">
      <dgm:prSet phldrT="[Text]"/>
      <dgm:spPr/>
      <dgm:t>
        <a:bodyPr/>
        <a:lstStyle/>
        <a:p>
          <a:r>
            <a:rPr lang="en-US" dirty="0"/>
            <a:t>Ecological Drift</a:t>
          </a:r>
        </a:p>
      </dgm:t>
    </dgm:pt>
    <dgm:pt modelId="{CD6B9D5D-8787-D348-92EC-DD8D371AAF2D}" type="parTrans" cxnId="{E16A4536-2D03-6141-932B-DB32ABF87EDF}">
      <dgm:prSet/>
      <dgm:spPr/>
      <dgm:t>
        <a:bodyPr/>
        <a:lstStyle/>
        <a:p>
          <a:endParaRPr lang="en-US"/>
        </a:p>
      </dgm:t>
    </dgm:pt>
    <dgm:pt modelId="{DE11C94D-1CAD-B04E-8F8C-6BD6380124BA}" type="sibTrans" cxnId="{E16A4536-2D03-6141-932B-DB32ABF87EDF}">
      <dgm:prSet/>
      <dgm:spPr/>
      <dgm:t>
        <a:bodyPr/>
        <a:lstStyle/>
        <a:p>
          <a:endParaRPr lang="en-US"/>
        </a:p>
      </dgm:t>
    </dgm:pt>
    <dgm:pt modelId="{99849F71-D68B-6349-82AD-85F23C18C551}" type="pres">
      <dgm:prSet presAssocID="{8F4A8053-4923-A24E-AEC5-81BF6014CBC8}" presName="compositeShape" presStyleCnt="0">
        <dgm:presLayoutVars>
          <dgm:chMax val="7"/>
          <dgm:dir/>
          <dgm:resizeHandles val="exact"/>
        </dgm:presLayoutVars>
      </dgm:prSet>
      <dgm:spPr/>
    </dgm:pt>
    <dgm:pt modelId="{25E2C31A-9C32-8244-A94C-1A921F1582B3}" type="pres">
      <dgm:prSet presAssocID="{7F8359A3-B9CF-6D4B-8037-57FE1863EDF2}" presName="circ1" presStyleLbl="vennNode1" presStyleIdx="0" presStyleCnt="3"/>
      <dgm:spPr/>
    </dgm:pt>
    <dgm:pt modelId="{12CDB55E-5DD0-DE4F-96C4-703F4165CACE}" type="pres">
      <dgm:prSet presAssocID="{7F8359A3-B9CF-6D4B-8037-57FE1863EDF2}" presName="circ1Tx" presStyleLbl="revTx" presStyleIdx="0" presStyleCnt="0">
        <dgm:presLayoutVars>
          <dgm:chMax val="0"/>
          <dgm:chPref val="0"/>
          <dgm:bulletEnabled val="1"/>
        </dgm:presLayoutVars>
      </dgm:prSet>
      <dgm:spPr/>
    </dgm:pt>
    <dgm:pt modelId="{7DAC2FF7-8C69-8544-B207-8AD8ED8CC18E}" type="pres">
      <dgm:prSet presAssocID="{0475E55C-BC76-CC49-A6EA-4425DC97CB71}" presName="circ2" presStyleLbl="vennNode1" presStyleIdx="1" presStyleCnt="3"/>
      <dgm:spPr/>
    </dgm:pt>
    <dgm:pt modelId="{76DE5FBD-4E39-D141-A1C7-AC8C1D7BAF55}" type="pres">
      <dgm:prSet presAssocID="{0475E55C-BC76-CC49-A6EA-4425DC97CB71}" presName="circ2Tx" presStyleLbl="revTx" presStyleIdx="0" presStyleCnt="0">
        <dgm:presLayoutVars>
          <dgm:chMax val="0"/>
          <dgm:chPref val="0"/>
          <dgm:bulletEnabled val="1"/>
        </dgm:presLayoutVars>
      </dgm:prSet>
      <dgm:spPr/>
    </dgm:pt>
    <dgm:pt modelId="{C13988BE-4667-2C42-B802-C07898FB496F}" type="pres">
      <dgm:prSet presAssocID="{C77A4A92-8829-554D-A202-9E33F357FC68}" presName="circ3" presStyleLbl="vennNode1" presStyleIdx="2" presStyleCnt="3"/>
      <dgm:spPr/>
    </dgm:pt>
    <dgm:pt modelId="{63B1BA92-5CBD-5D43-B807-32F00F93F4C2}" type="pres">
      <dgm:prSet presAssocID="{C77A4A92-8829-554D-A202-9E33F357FC68}" presName="circ3Tx" presStyleLbl="revTx" presStyleIdx="0" presStyleCnt="0">
        <dgm:presLayoutVars>
          <dgm:chMax val="0"/>
          <dgm:chPref val="0"/>
          <dgm:bulletEnabled val="1"/>
        </dgm:presLayoutVars>
      </dgm:prSet>
      <dgm:spPr/>
    </dgm:pt>
  </dgm:ptLst>
  <dgm:cxnLst>
    <dgm:cxn modelId="{22E0002F-3AB5-A944-A9A5-20F9CD6BC590}" srcId="{8F4A8053-4923-A24E-AEC5-81BF6014CBC8}" destId="{7F8359A3-B9CF-6D4B-8037-57FE1863EDF2}" srcOrd="0" destOrd="0" parTransId="{B0B7F09A-A873-7049-9697-5CF8A7964645}" sibTransId="{B699ECE7-0CE4-8B41-A16C-D2DA25295E5A}"/>
    <dgm:cxn modelId="{E16A4536-2D03-6141-932B-DB32ABF87EDF}" srcId="{8F4A8053-4923-A24E-AEC5-81BF6014CBC8}" destId="{C77A4A92-8829-554D-A202-9E33F357FC68}" srcOrd="2" destOrd="0" parTransId="{CD6B9D5D-8787-D348-92EC-DD8D371AAF2D}" sibTransId="{DE11C94D-1CAD-B04E-8F8C-6BD6380124BA}"/>
    <dgm:cxn modelId="{30926E4F-908A-2648-A053-9920F727B0EC}" type="presOf" srcId="{0475E55C-BC76-CC49-A6EA-4425DC97CB71}" destId="{76DE5FBD-4E39-D141-A1C7-AC8C1D7BAF55}" srcOrd="1" destOrd="0" presId="urn:microsoft.com/office/officeart/2005/8/layout/venn1"/>
    <dgm:cxn modelId="{1CE78F51-CC2E-DD49-9AB8-215DB2E3873F}" type="presOf" srcId="{7F8359A3-B9CF-6D4B-8037-57FE1863EDF2}" destId="{25E2C31A-9C32-8244-A94C-1A921F1582B3}" srcOrd="0" destOrd="0" presId="urn:microsoft.com/office/officeart/2005/8/layout/venn1"/>
    <dgm:cxn modelId="{77AD5456-ADF9-5144-901C-53774063F956}" type="presOf" srcId="{7F8359A3-B9CF-6D4B-8037-57FE1863EDF2}" destId="{12CDB55E-5DD0-DE4F-96C4-703F4165CACE}" srcOrd="1" destOrd="0" presId="urn:microsoft.com/office/officeart/2005/8/layout/venn1"/>
    <dgm:cxn modelId="{43CD5461-142A-BC4E-90AB-21C84DA1623D}" type="presOf" srcId="{C77A4A92-8829-554D-A202-9E33F357FC68}" destId="{63B1BA92-5CBD-5D43-B807-32F00F93F4C2}" srcOrd="1" destOrd="0" presId="urn:microsoft.com/office/officeart/2005/8/layout/venn1"/>
    <dgm:cxn modelId="{903EFF63-DF67-514E-8054-8C572B8FB92F}" type="presOf" srcId="{C77A4A92-8829-554D-A202-9E33F357FC68}" destId="{C13988BE-4667-2C42-B802-C07898FB496F}" srcOrd="0" destOrd="0" presId="urn:microsoft.com/office/officeart/2005/8/layout/venn1"/>
    <dgm:cxn modelId="{01B8258E-F57E-024C-9034-8CCCDFC3C0BF}" type="presOf" srcId="{0475E55C-BC76-CC49-A6EA-4425DC97CB71}" destId="{7DAC2FF7-8C69-8544-B207-8AD8ED8CC18E}" srcOrd="0" destOrd="0" presId="urn:microsoft.com/office/officeart/2005/8/layout/venn1"/>
    <dgm:cxn modelId="{E502D9AF-D72C-8E4E-B145-ADD72D368CFD}" type="presOf" srcId="{8F4A8053-4923-A24E-AEC5-81BF6014CBC8}" destId="{99849F71-D68B-6349-82AD-85F23C18C551}" srcOrd="0" destOrd="0" presId="urn:microsoft.com/office/officeart/2005/8/layout/venn1"/>
    <dgm:cxn modelId="{6C7751D4-1294-EB42-9CAD-B69CD70ABD32}" srcId="{8F4A8053-4923-A24E-AEC5-81BF6014CBC8}" destId="{0475E55C-BC76-CC49-A6EA-4425DC97CB71}" srcOrd="1" destOrd="0" parTransId="{CAC93909-FC75-1A4A-AC6C-8A176D84B327}" sibTransId="{6589743F-27BF-6740-9E4C-996261639427}"/>
    <dgm:cxn modelId="{D16D97F3-DFAD-144F-84C9-FD14C1B6A643}" type="presParOf" srcId="{99849F71-D68B-6349-82AD-85F23C18C551}" destId="{25E2C31A-9C32-8244-A94C-1A921F1582B3}" srcOrd="0" destOrd="0" presId="urn:microsoft.com/office/officeart/2005/8/layout/venn1"/>
    <dgm:cxn modelId="{68F31C22-3EB3-7546-80D3-71255CEF552E}" type="presParOf" srcId="{99849F71-D68B-6349-82AD-85F23C18C551}" destId="{12CDB55E-5DD0-DE4F-96C4-703F4165CACE}" srcOrd="1" destOrd="0" presId="urn:microsoft.com/office/officeart/2005/8/layout/venn1"/>
    <dgm:cxn modelId="{ED19B7B3-6FAE-BD49-9E19-A1C4E1D85B26}" type="presParOf" srcId="{99849F71-D68B-6349-82AD-85F23C18C551}" destId="{7DAC2FF7-8C69-8544-B207-8AD8ED8CC18E}" srcOrd="2" destOrd="0" presId="urn:microsoft.com/office/officeart/2005/8/layout/venn1"/>
    <dgm:cxn modelId="{B964DD3B-9CC4-174F-A633-FBFB58832294}" type="presParOf" srcId="{99849F71-D68B-6349-82AD-85F23C18C551}" destId="{76DE5FBD-4E39-D141-A1C7-AC8C1D7BAF55}" srcOrd="3" destOrd="0" presId="urn:microsoft.com/office/officeart/2005/8/layout/venn1"/>
    <dgm:cxn modelId="{720B36BF-859B-B64D-8DC5-26567BAA7DE8}" type="presParOf" srcId="{99849F71-D68B-6349-82AD-85F23C18C551}" destId="{C13988BE-4667-2C42-B802-C07898FB496F}" srcOrd="4" destOrd="0" presId="urn:microsoft.com/office/officeart/2005/8/layout/venn1"/>
    <dgm:cxn modelId="{43A3809A-FA93-8346-91EF-D786EBA2C43D}" type="presParOf" srcId="{99849F71-D68B-6349-82AD-85F23C18C551}" destId="{63B1BA92-5CBD-5D43-B807-32F00F93F4C2}"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33B4054-FB37-8840-90AB-98D7FF6893B3}" type="doc">
      <dgm:prSet loTypeId="urn:microsoft.com/office/officeart/2005/8/layout/chevron1" loCatId="" qsTypeId="urn:microsoft.com/office/officeart/2005/8/quickstyle/simple1" qsCatId="simple" csTypeId="urn:microsoft.com/office/officeart/2005/8/colors/colorful1" csCatId="colorful" phldr="1"/>
      <dgm:spPr/>
    </dgm:pt>
    <dgm:pt modelId="{81059F07-ED21-AA47-AB0D-5BEE89B5068C}">
      <dgm:prSet phldrT="[Text]"/>
      <dgm:spPr/>
      <dgm:t>
        <a:bodyPr/>
        <a:lstStyle/>
        <a:p>
          <a:r>
            <a:rPr lang="en-US" dirty="0"/>
            <a:t>Ordination</a:t>
          </a:r>
        </a:p>
      </dgm:t>
    </dgm:pt>
    <dgm:pt modelId="{36E43CD0-1865-9346-901F-F36932656131}" type="parTrans" cxnId="{0BB271FE-870A-4B41-B4A9-7DE214699986}">
      <dgm:prSet/>
      <dgm:spPr/>
      <dgm:t>
        <a:bodyPr/>
        <a:lstStyle/>
        <a:p>
          <a:endParaRPr lang="en-US"/>
        </a:p>
      </dgm:t>
    </dgm:pt>
    <dgm:pt modelId="{21CC0604-8A2A-0641-9324-D2E295FD1E2E}" type="sibTrans" cxnId="{0BB271FE-870A-4B41-B4A9-7DE214699986}">
      <dgm:prSet/>
      <dgm:spPr/>
      <dgm:t>
        <a:bodyPr/>
        <a:lstStyle/>
        <a:p>
          <a:endParaRPr lang="en-US"/>
        </a:p>
      </dgm:t>
    </dgm:pt>
    <dgm:pt modelId="{5B1A15B2-217B-F843-BAD5-02509D01FDE0}">
      <dgm:prSet phldrT="[Text]"/>
      <dgm:spPr/>
      <dgm:t>
        <a:bodyPr/>
        <a:lstStyle/>
        <a:p>
          <a:r>
            <a:rPr lang="en-US" dirty="0"/>
            <a:t>Alpha &amp; Beta Diversity</a:t>
          </a:r>
        </a:p>
      </dgm:t>
    </dgm:pt>
    <dgm:pt modelId="{DE692154-94C9-8B41-81A5-F0969108E383}" type="parTrans" cxnId="{08365C8F-757E-5642-99F4-E10C80C22E71}">
      <dgm:prSet/>
      <dgm:spPr/>
      <dgm:t>
        <a:bodyPr/>
        <a:lstStyle/>
        <a:p>
          <a:endParaRPr lang="en-US"/>
        </a:p>
      </dgm:t>
    </dgm:pt>
    <dgm:pt modelId="{0B1B7B91-B802-3649-88F1-A8230F670046}" type="sibTrans" cxnId="{08365C8F-757E-5642-99F4-E10C80C22E71}">
      <dgm:prSet/>
      <dgm:spPr/>
      <dgm:t>
        <a:bodyPr/>
        <a:lstStyle/>
        <a:p>
          <a:endParaRPr lang="en-US"/>
        </a:p>
      </dgm:t>
    </dgm:pt>
    <dgm:pt modelId="{85A8E8F9-220E-2E4B-BD17-17B84BAFCEE3}">
      <dgm:prSet phldrT="[Text]"/>
      <dgm:spPr/>
      <dgm:t>
        <a:bodyPr/>
        <a:lstStyle/>
        <a:p>
          <a:r>
            <a:rPr lang="en-US" dirty="0"/>
            <a:t>Multivariate Analysis</a:t>
          </a:r>
        </a:p>
      </dgm:t>
    </dgm:pt>
    <dgm:pt modelId="{2F98D148-B91A-6C4F-955D-7EF70029142A}" type="parTrans" cxnId="{3B2C89EA-8598-A44E-8425-4DFD9B15F114}">
      <dgm:prSet/>
      <dgm:spPr/>
      <dgm:t>
        <a:bodyPr/>
        <a:lstStyle/>
        <a:p>
          <a:endParaRPr lang="en-US"/>
        </a:p>
      </dgm:t>
    </dgm:pt>
    <dgm:pt modelId="{774C9424-02F2-6340-9585-68BEEC283337}" type="sibTrans" cxnId="{3B2C89EA-8598-A44E-8425-4DFD9B15F114}">
      <dgm:prSet/>
      <dgm:spPr/>
      <dgm:t>
        <a:bodyPr/>
        <a:lstStyle/>
        <a:p>
          <a:endParaRPr lang="en-US"/>
        </a:p>
      </dgm:t>
    </dgm:pt>
    <dgm:pt modelId="{9BCF2EEF-5E85-B142-82D6-B17993D6963B}">
      <dgm:prSet/>
      <dgm:spPr/>
      <dgm:t>
        <a:bodyPr/>
        <a:lstStyle/>
        <a:p>
          <a:r>
            <a:rPr lang="en-US" dirty="0"/>
            <a:t>ISAR</a:t>
          </a:r>
        </a:p>
      </dgm:t>
    </dgm:pt>
    <dgm:pt modelId="{455E607D-8E75-CA4D-8E23-8A44967138CF}" type="parTrans" cxnId="{50D96C2A-39C9-FD47-9692-830A7BEE6283}">
      <dgm:prSet/>
      <dgm:spPr/>
      <dgm:t>
        <a:bodyPr/>
        <a:lstStyle/>
        <a:p>
          <a:endParaRPr lang="en-US"/>
        </a:p>
      </dgm:t>
    </dgm:pt>
    <dgm:pt modelId="{947F372B-7BE9-944C-82CC-39C018EF4796}" type="sibTrans" cxnId="{50D96C2A-39C9-FD47-9692-830A7BEE6283}">
      <dgm:prSet/>
      <dgm:spPr/>
      <dgm:t>
        <a:bodyPr/>
        <a:lstStyle/>
        <a:p>
          <a:endParaRPr lang="en-US"/>
        </a:p>
      </dgm:t>
    </dgm:pt>
    <dgm:pt modelId="{E5F40A9B-14F3-BE43-98EA-03072977F5D3}">
      <dgm:prSet/>
      <dgm:spPr/>
      <dgm:t>
        <a:bodyPr/>
        <a:lstStyle/>
        <a:p>
          <a:r>
            <a:rPr lang="en-US" dirty="0"/>
            <a:t>DDR</a:t>
          </a:r>
        </a:p>
      </dgm:t>
    </dgm:pt>
    <dgm:pt modelId="{806E8659-C86D-B147-A99C-EC9EA8CC0DCE}" type="parTrans" cxnId="{6D319D42-E854-974F-9E9C-61AFEEF44B61}">
      <dgm:prSet/>
      <dgm:spPr/>
      <dgm:t>
        <a:bodyPr/>
        <a:lstStyle/>
        <a:p>
          <a:endParaRPr lang="en-US"/>
        </a:p>
      </dgm:t>
    </dgm:pt>
    <dgm:pt modelId="{DF34E27C-B5ED-B649-9553-DE5187E1C733}" type="sibTrans" cxnId="{6D319D42-E854-974F-9E9C-61AFEEF44B61}">
      <dgm:prSet/>
      <dgm:spPr/>
      <dgm:t>
        <a:bodyPr/>
        <a:lstStyle/>
        <a:p>
          <a:endParaRPr lang="en-US"/>
        </a:p>
      </dgm:t>
    </dgm:pt>
    <dgm:pt modelId="{B5958D73-7CAF-0C4E-93E6-55A6971A912F}">
      <dgm:prSet/>
      <dgm:spPr/>
      <dgm:t>
        <a:bodyPr/>
        <a:lstStyle/>
        <a:p>
          <a:r>
            <a:rPr lang="en-US" dirty="0"/>
            <a:t>Null Model</a:t>
          </a:r>
        </a:p>
      </dgm:t>
    </dgm:pt>
    <dgm:pt modelId="{9B3B1D5C-9D31-F94E-BD16-E7D062719ED5}" type="parTrans" cxnId="{F6E6DCDC-089A-6B43-B024-03C361F43633}">
      <dgm:prSet/>
      <dgm:spPr/>
      <dgm:t>
        <a:bodyPr/>
        <a:lstStyle/>
        <a:p>
          <a:endParaRPr lang="en-US"/>
        </a:p>
      </dgm:t>
    </dgm:pt>
    <dgm:pt modelId="{84D8F0DF-497A-B248-B6BD-53C772326452}" type="sibTrans" cxnId="{F6E6DCDC-089A-6B43-B024-03C361F43633}">
      <dgm:prSet/>
      <dgm:spPr/>
      <dgm:t>
        <a:bodyPr/>
        <a:lstStyle/>
        <a:p>
          <a:endParaRPr lang="en-US"/>
        </a:p>
      </dgm:t>
    </dgm:pt>
    <dgm:pt modelId="{611AFF1D-5007-4F44-AF6E-6B036E64DD0B}">
      <dgm:prSet/>
      <dgm:spPr/>
      <dgm:t>
        <a:bodyPr/>
        <a:lstStyle/>
        <a:p>
          <a:r>
            <a:rPr lang="en-US" dirty="0"/>
            <a:t>Neutral Model</a:t>
          </a:r>
        </a:p>
      </dgm:t>
    </dgm:pt>
    <dgm:pt modelId="{B1290F56-1B2F-A84E-A54F-60F5DA1B7882}" type="parTrans" cxnId="{34659777-6745-184E-B0FD-81FA3738ADE1}">
      <dgm:prSet/>
      <dgm:spPr/>
      <dgm:t>
        <a:bodyPr/>
        <a:lstStyle/>
        <a:p>
          <a:endParaRPr lang="en-US"/>
        </a:p>
      </dgm:t>
    </dgm:pt>
    <dgm:pt modelId="{C2B5D443-1AEA-284F-B1EB-11FBB145377B}" type="sibTrans" cxnId="{34659777-6745-184E-B0FD-81FA3738ADE1}">
      <dgm:prSet/>
      <dgm:spPr/>
      <dgm:t>
        <a:bodyPr/>
        <a:lstStyle/>
        <a:p>
          <a:endParaRPr lang="en-US"/>
        </a:p>
      </dgm:t>
    </dgm:pt>
    <dgm:pt modelId="{7EFDD187-55F0-6147-A8DE-A95F6FE37D83}">
      <dgm:prSet/>
      <dgm:spPr/>
      <dgm:t>
        <a:bodyPr/>
        <a:lstStyle/>
        <a:p>
          <a:r>
            <a:rPr lang="en-US" dirty="0"/>
            <a:t>Network Analysis</a:t>
          </a:r>
        </a:p>
      </dgm:t>
    </dgm:pt>
    <dgm:pt modelId="{9A7ECF4C-1FDC-4241-AD73-239FB1D43CF9}" type="parTrans" cxnId="{3502BEA6-6CBA-2447-A2DA-5FA519569872}">
      <dgm:prSet/>
      <dgm:spPr/>
      <dgm:t>
        <a:bodyPr/>
        <a:lstStyle/>
        <a:p>
          <a:endParaRPr lang="en-US"/>
        </a:p>
      </dgm:t>
    </dgm:pt>
    <dgm:pt modelId="{16FE4422-765B-2144-99EA-F3FECE73A4D8}" type="sibTrans" cxnId="{3502BEA6-6CBA-2447-A2DA-5FA519569872}">
      <dgm:prSet/>
      <dgm:spPr/>
      <dgm:t>
        <a:bodyPr/>
        <a:lstStyle/>
        <a:p>
          <a:endParaRPr lang="en-US"/>
        </a:p>
      </dgm:t>
    </dgm:pt>
    <dgm:pt modelId="{8B93FFDE-05A5-1545-8E2F-A0B473160679}" type="pres">
      <dgm:prSet presAssocID="{633B4054-FB37-8840-90AB-98D7FF6893B3}" presName="Name0" presStyleCnt="0">
        <dgm:presLayoutVars>
          <dgm:dir/>
          <dgm:animLvl val="lvl"/>
          <dgm:resizeHandles val="exact"/>
        </dgm:presLayoutVars>
      </dgm:prSet>
      <dgm:spPr/>
    </dgm:pt>
    <dgm:pt modelId="{0A381FD2-93AC-0945-B718-5304447B0F9B}" type="pres">
      <dgm:prSet presAssocID="{81059F07-ED21-AA47-AB0D-5BEE89B5068C}" presName="parTxOnly" presStyleLbl="node1" presStyleIdx="0" presStyleCnt="8">
        <dgm:presLayoutVars>
          <dgm:chMax val="0"/>
          <dgm:chPref val="0"/>
          <dgm:bulletEnabled val="1"/>
        </dgm:presLayoutVars>
      </dgm:prSet>
      <dgm:spPr/>
    </dgm:pt>
    <dgm:pt modelId="{49C2674D-9430-2B42-AC68-C708A019A20E}" type="pres">
      <dgm:prSet presAssocID="{21CC0604-8A2A-0641-9324-D2E295FD1E2E}" presName="parTxOnlySpace" presStyleCnt="0"/>
      <dgm:spPr/>
    </dgm:pt>
    <dgm:pt modelId="{90AFCD07-267C-9C44-9A89-5A50796587E3}" type="pres">
      <dgm:prSet presAssocID="{5B1A15B2-217B-F843-BAD5-02509D01FDE0}" presName="parTxOnly" presStyleLbl="node1" presStyleIdx="1" presStyleCnt="8">
        <dgm:presLayoutVars>
          <dgm:chMax val="0"/>
          <dgm:chPref val="0"/>
          <dgm:bulletEnabled val="1"/>
        </dgm:presLayoutVars>
      </dgm:prSet>
      <dgm:spPr/>
    </dgm:pt>
    <dgm:pt modelId="{477ACFB6-271E-C843-8125-8DCCDC017C46}" type="pres">
      <dgm:prSet presAssocID="{0B1B7B91-B802-3649-88F1-A8230F670046}" presName="parTxOnlySpace" presStyleCnt="0"/>
      <dgm:spPr/>
    </dgm:pt>
    <dgm:pt modelId="{DBC67D4B-288C-C941-9948-4D7CB11DC5C5}" type="pres">
      <dgm:prSet presAssocID="{85A8E8F9-220E-2E4B-BD17-17B84BAFCEE3}" presName="parTxOnly" presStyleLbl="node1" presStyleIdx="2" presStyleCnt="8">
        <dgm:presLayoutVars>
          <dgm:chMax val="0"/>
          <dgm:chPref val="0"/>
          <dgm:bulletEnabled val="1"/>
        </dgm:presLayoutVars>
      </dgm:prSet>
      <dgm:spPr/>
    </dgm:pt>
    <dgm:pt modelId="{D10A12CF-7369-5641-88E3-F51093964655}" type="pres">
      <dgm:prSet presAssocID="{774C9424-02F2-6340-9585-68BEEC283337}" presName="parTxOnlySpace" presStyleCnt="0"/>
      <dgm:spPr/>
    </dgm:pt>
    <dgm:pt modelId="{9485580D-E302-344E-A0CF-702C7A847712}" type="pres">
      <dgm:prSet presAssocID="{9BCF2EEF-5E85-B142-82D6-B17993D6963B}" presName="parTxOnly" presStyleLbl="node1" presStyleIdx="3" presStyleCnt="8">
        <dgm:presLayoutVars>
          <dgm:chMax val="0"/>
          <dgm:chPref val="0"/>
          <dgm:bulletEnabled val="1"/>
        </dgm:presLayoutVars>
      </dgm:prSet>
      <dgm:spPr/>
    </dgm:pt>
    <dgm:pt modelId="{5F4E692B-3C7A-E14C-9711-4E1C9F228A78}" type="pres">
      <dgm:prSet presAssocID="{947F372B-7BE9-944C-82CC-39C018EF4796}" presName="parTxOnlySpace" presStyleCnt="0"/>
      <dgm:spPr/>
    </dgm:pt>
    <dgm:pt modelId="{949A562F-7030-DF4E-9D49-68255A9DEE1D}" type="pres">
      <dgm:prSet presAssocID="{E5F40A9B-14F3-BE43-98EA-03072977F5D3}" presName="parTxOnly" presStyleLbl="node1" presStyleIdx="4" presStyleCnt="8">
        <dgm:presLayoutVars>
          <dgm:chMax val="0"/>
          <dgm:chPref val="0"/>
          <dgm:bulletEnabled val="1"/>
        </dgm:presLayoutVars>
      </dgm:prSet>
      <dgm:spPr/>
    </dgm:pt>
    <dgm:pt modelId="{21532501-8F2F-A041-B482-CEFEAF37FD8B}" type="pres">
      <dgm:prSet presAssocID="{DF34E27C-B5ED-B649-9553-DE5187E1C733}" presName="parTxOnlySpace" presStyleCnt="0"/>
      <dgm:spPr/>
    </dgm:pt>
    <dgm:pt modelId="{27C5A505-81DC-A445-992D-1BC4566AB6F2}" type="pres">
      <dgm:prSet presAssocID="{B5958D73-7CAF-0C4E-93E6-55A6971A912F}" presName="parTxOnly" presStyleLbl="node1" presStyleIdx="5" presStyleCnt="8">
        <dgm:presLayoutVars>
          <dgm:chMax val="0"/>
          <dgm:chPref val="0"/>
          <dgm:bulletEnabled val="1"/>
        </dgm:presLayoutVars>
      </dgm:prSet>
      <dgm:spPr/>
    </dgm:pt>
    <dgm:pt modelId="{7864293B-1409-F449-B4CF-BF9CB218EB2D}" type="pres">
      <dgm:prSet presAssocID="{84D8F0DF-497A-B248-B6BD-53C772326452}" presName="parTxOnlySpace" presStyleCnt="0"/>
      <dgm:spPr/>
    </dgm:pt>
    <dgm:pt modelId="{CF60189A-F0BD-1B41-89D2-307F1DA955E7}" type="pres">
      <dgm:prSet presAssocID="{611AFF1D-5007-4F44-AF6E-6B036E64DD0B}" presName="parTxOnly" presStyleLbl="node1" presStyleIdx="6" presStyleCnt="8">
        <dgm:presLayoutVars>
          <dgm:chMax val="0"/>
          <dgm:chPref val="0"/>
          <dgm:bulletEnabled val="1"/>
        </dgm:presLayoutVars>
      </dgm:prSet>
      <dgm:spPr/>
    </dgm:pt>
    <dgm:pt modelId="{EEAAC419-0981-234A-943A-98901572F4FF}" type="pres">
      <dgm:prSet presAssocID="{C2B5D443-1AEA-284F-B1EB-11FBB145377B}" presName="parTxOnlySpace" presStyleCnt="0"/>
      <dgm:spPr/>
    </dgm:pt>
    <dgm:pt modelId="{4C6D95A5-AC6D-914C-B774-93CD0C61E4A3}" type="pres">
      <dgm:prSet presAssocID="{7EFDD187-55F0-6147-A8DE-A95F6FE37D83}" presName="parTxOnly" presStyleLbl="node1" presStyleIdx="7" presStyleCnt="8">
        <dgm:presLayoutVars>
          <dgm:chMax val="0"/>
          <dgm:chPref val="0"/>
          <dgm:bulletEnabled val="1"/>
        </dgm:presLayoutVars>
      </dgm:prSet>
      <dgm:spPr/>
    </dgm:pt>
  </dgm:ptLst>
  <dgm:cxnLst>
    <dgm:cxn modelId="{746AA517-BC71-A543-8FC9-8ADF2FF643B1}" type="presOf" srcId="{9BCF2EEF-5E85-B142-82D6-B17993D6963B}" destId="{9485580D-E302-344E-A0CF-702C7A847712}" srcOrd="0" destOrd="0" presId="urn:microsoft.com/office/officeart/2005/8/layout/chevron1"/>
    <dgm:cxn modelId="{50D96C2A-39C9-FD47-9692-830A7BEE6283}" srcId="{633B4054-FB37-8840-90AB-98D7FF6893B3}" destId="{9BCF2EEF-5E85-B142-82D6-B17993D6963B}" srcOrd="3" destOrd="0" parTransId="{455E607D-8E75-CA4D-8E23-8A44967138CF}" sibTransId="{947F372B-7BE9-944C-82CC-39C018EF4796}"/>
    <dgm:cxn modelId="{6D319D42-E854-974F-9E9C-61AFEEF44B61}" srcId="{633B4054-FB37-8840-90AB-98D7FF6893B3}" destId="{E5F40A9B-14F3-BE43-98EA-03072977F5D3}" srcOrd="4" destOrd="0" parTransId="{806E8659-C86D-B147-A99C-EC9EA8CC0DCE}" sibTransId="{DF34E27C-B5ED-B649-9553-DE5187E1C733}"/>
    <dgm:cxn modelId="{22A64944-DBAC-4041-AD50-EE115E7AF28A}" type="presOf" srcId="{7EFDD187-55F0-6147-A8DE-A95F6FE37D83}" destId="{4C6D95A5-AC6D-914C-B774-93CD0C61E4A3}" srcOrd="0" destOrd="0" presId="urn:microsoft.com/office/officeart/2005/8/layout/chevron1"/>
    <dgm:cxn modelId="{D6504845-27F3-A74D-AB4F-750BB5048E25}" type="presOf" srcId="{611AFF1D-5007-4F44-AF6E-6B036E64DD0B}" destId="{CF60189A-F0BD-1B41-89D2-307F1DA955E7}" srcOrd="0" destOrd="0" presId="urn:microsoft.com/office/officeart/2005/8/layout/chevron1"/>
    <dgm:cxn modelId="{7ED80F55-377A-FC4A-91C3-7B8A08E0A7D2}" type="presOf" srcId="{81059F07-ED21-AA47-AB0D-5BEE89B5068C}" destId="{0A381FD2-93AC-0945-B718-5304447B0F9B}" srcOrd="0" destOrd="0" presId="urn:microsoft.com/office/officeart/2005/8/layout/chevron1"/>
    <dgm:cxn modelId="{03D37A73-2A07-0748-860F-A0885E972A90}" type="presOf" srcId="{B5958D73-7CAF-0C4E-93E6-55A6971A912F}" destId="{27C5A505-81DC-A445-992D-1BC4566AB6F2}" srcOrd="0" destOrd="0" presId="urn:microsoft.com/office/officeart/2005/8/layout/chevron1"/>
    <dgm:cxn modelId="{34659777-6745-184E-B0FD-81FA3738ADE1}" srcId="{633B4054-FB37-8840-90AB-98D7FF6893B3}" destId="{611AFF1D-5007-4F44-AF6E-6B036E64DD0B}" srcOrd="6" destOrd="0" parTransId="{B1290F56-1B2F-A84E-A54F-60F5DA1B7882}" sibTransId="{C2B5D443-1AEA-284F-B1EB-11FBB145377B}"/>
    <dgm:cxn modelId="{08365C8F-757E-5642-99F4-E10C80C22E71}" srcId="{633B4054-FB37-8840-90AB-98D7FF6893B3}" destId="{5B1A15B2-217B-F843-BAD5-02509D01FDE0}" srcOrd="1" destOrd="0" parTransId="{DE692154-94C9-8B41-81A5-F0969108E383}" sibTransId="{0B1B7B91-B802-3649-88F1-A8230F670046}"/>
    <dgm:cxn modelId="{3502BEA6-6CBA-2447-A2DA-5FA519569872}" srcId="{633B4054-FB37-8840-90AB-98D7FF6893B3}" destId="{7EFDD187-55F0-6147-A8DE-A95F6FE37D83}" srcOrd="7" destOrd="0" parTransId="{9A7ECF4C-1FDC-4241-AD73-239FB1D43CF9}" sibTransId="{16FE4422-765B-2144-99EA-F3FECE73A4D8}"/>
    <dgm:cxn modelId="{E8DD57A7-B97F-874A-8699-C40C40F53EC4}" type="presOf" srcId="{5B1A15B2-217B-F843-BAD5-02509D01FDE0}" destId="{90AFCD07-267C-9C44-9A89-5A50796587E3}" srcOrd="0" destOrd="0" presId="urn:microsoft.com/office/officeart/2005/8/layout/chevron1"/>
    <dgm:cxn modelId="{F6E6DCDC-089A-6B43-B024-03C361F43633}" srcId="{633B4054-FB37-8840-90AB-98D7FF6893B3}" destId="{B5958D73-7CAF-0C4E-93E6-55A6971A912F}" srcOrd="5" destOrd="0" parTransId="{9B3B1D5C-9D31-F94E-BD16-E7D062719ED5}" sibTransId="{84D8F0DF-497A-B248-B6BD-53C772326452}"/>
    <dgm:cxn modelId="{3B2C89EA-8598-A44E-8425-4DFD9B15F114}" srcId="{633B4054-FB37-8840-90AB-98D7FF6893B3}" destId="{85A8E8F9-220E-2E4B-BD17-17B84BAFCEE3}" srcOrd="2" destOrd="0" parTransId="{2F98D148-B91A-6C4F-955D-7EF70029142A}" sibTransId="{774C9424-02F2-6340-9585-68BEEC283337}"/>
    <dgm:cxn modelId="{C4962EF0-94B4-8641-8295-FC3236C122CA}" type="presOf" srcId="{E5F40A9B-14F3-BE43-98EA-03072977F5D3}" destId="{949A562F-7030-DF4E-9D49-68255A9DEE1D}" srcOrd="0" destOrd="0" presId="urn:microsoft.com/office/officeart/2005/8/layout/chevron1"/>
    <dgm:cxn modelId="{DBF1B7F3-8B73-B341-8E27-F6D19D91A509}" type="presOf" srcId="{85A8E8F9-220E-2E4B-BD17-17B84BAFCEE3}" destId="{DBC67D4B-288C-C941-9948-4D7CB11DC5C5}" srcOrd="0" destOrd="0" presId="urn:microsoft.com/office/officeart/2005/8/layout/chevron1"/>
    <dgm:cxn modelId="{08BD6DF7-4250-7B40-9621-75A884093113}" type="presOf" srcId="{633B4054-FB37-8840-90AB-98D7FF6893B3}" destId="{8B93FFDE-05A5-1545-8E2F-A0B473160679}" srcOrd="0" destOrd="0" presId="urn:microsoft.com/office/officeart/2005/8/layout/chevron1"/>
    <dgm:cxn modelId="{0BB271FE-870A-4B41-B4A9-7DE214699986}" srcId="{633B4054-FB37-8840-90AB-98D7FF6893B3}" destId="{81059F07-ED21-AA47-AB0D-5BEE89B5068C}" srcOrd="0" destOrd="0" parTransId="{36E43CD0-1865-9346-901F-F36932656131}" sibTransId="{21CC0604-8A2A-0641-9324-D2E295FD1E2E}"/>
    <dgm:cxn modelId="{C52178D0-AFD4-0143-86C0-EA8D7255FB99}" type="presParOf" srcId="{8B93FFDE-05A5-1545-8E2F-A0B473160679}" destId="{0A381FD2-93AC-0945-B718-5304447B0F9B}" srcOrd="0" destOrd="0" presId="urn:microsoft.com/office/officeart/2005/8/layout/chevron1"/>
    <dgm:cxn modelId="{F821F39D-C5AE-9240-8323-DBD5BF1415FB}" type="presParOf" srcId="{8B93FFDE-05A5-1545-8E2F-A0B473160679}" destId="{49C2674D-9430-2B42-AC68-C708A019A20E}" srcOrd="1" destOrd="0" presId="urn:microsoft.com/office/officeart/2005/8/layout/chevron1"/>
    <dgm:cxn modelId="{158862F8-E7CC-FF4B-97AC-A1A114246528}" type="presParOf" srcId="{8B93FFDE-05A5-1545-8E2F-A0B473160679}" destId="{90AFCD07-267C-9C44-9A89-5A50796587E3}" srcOrd="2" destOrd="0" presId="urn:microsoft.com/office/officeart/2005/8/layout/chevron1"/>
    <dgm:cxn modelId="{B7852304-C4D3-4043-89E3-6E04FE73360D}" type="presParOf" srcId="{8B93FFDE-05A5-1545-8E2F-A0B473160679}" destId="{477ACFB6-271E-C843-8125-8DCCDC017C46}" srcOrd="3" destOrd="0" presId="urn:microsoft.com/office/officeart/2005/8/layout/chevron1"/>
    <dgm:cxn modelId="{050D51D1-30B7-6E48-8815-41564E7AB669}" type="presParOf" srcId="{8B93FFDE-05A5-1545-8E2F-A0B473160679}" destId="{DBC67D4B-288C-C941-9948-4D7CB11DC5C5}" srcOrd="4" destOrd="0" presId="urn:microsoft.com/office/officeart/2005/8/layout/chevron1"/>
    <dgm:cxn modelId="{11F89015-2AF5-3544-B5F4-9D2993813F3A}" type="presParOf" srcId="{8B93FFDE-05A5-1545-8E2F-A0B473160679}" destId="{D10A12CF-7369-5641-88E3-F51093964655}" srcOrd="5" destOrd="0" presId="urn:microsoft.com/office/officeart/2005/8/layout/chevron1"/>
    <dgm:cxn modelId="{55023399-5B81-334B-A7D7-53F4794BD51E}" type="presParOf" srcId="{8B93FFDE-05A5-1545-8E2F-A0B473160679}" destId="{9485580D-E302-344E-A0CF-702C7A847712}" srcOrd="6" destOrd="0" presId="urn:microsoft.com/office/officeart/2005/8/layout/chevron1"/>
    <dgm:cxn modelId="{0A4DCE60-0755-224C-8CE6-7B1F95EB92F3}" type="presParOf" srcId="{8B93FFDE-05A5-1545-8E2F-A0B473160679}" destId="{5F4E692B-3C7A-E14C-9711-4E1C9F228A78}" srcOrd="7" destOrd="0" presId="urn:microsoft.com/office/officeart/2005/8/layout/chevron1"/>
    <dgm:cxn modelId="{E3AE5BD5-E905-774B-9CC0-42898E6D18D5}" type="presParOf" srcId="{8B93FFDE-05A5-1545-8E2F-A0B473160679}" destId="{949A562F-7030-DF4E-9D49-68255A9DEE1D}" srcOrd="8" destOrd="0" presId="urn:microsoft.com/office/officeart/2005/8/layout/chevron1"/>
    <dgm:cxn modelId="{46CD7022-A943-6F45-A4EB-11F4F298FBB4}" type="presParOf" srcId="{8B93FFDE-05A5-1545-8E2F-A0B473160679}" destId="{21532501-8F2F-A041-B482-CEFEAF37FD8B}" srcOrd="9" destOrd="0" presId="urn:microsoft.com/office/officeart/2005/8/layout/chevron1"/>
    <dgm:cxn modelId="{EFAF16B3-B0A3-2841-86AD-17CF0028B934}" type="presParOf" srcId="{8B93FFDE-05A5-1545-8E2F-A0B473160679}" destId="{27C5A505-81DC-A445-992D-1BC4566AB6F2}" srcOrd="10" destOrd="0" presId="urn:microsoft.com/office/officeart/2005/8/layout/chevron1"/>
    <dgm:cxn modelId="{42DF9720-F235-6748-8AF6-FB220F535113}" type="presParOf" srcId="{8B93FFDE-05A5-1545-8E2F-A0B473160679}" destId="{7864293B-1409-F449-B4CF-BF9CB218EB2D}" srcOrd="11" destOrd="0" presId="urn:microsoft.com/office/officeart/2005/8/layout/chevron1"/>
    <dgm:cxn modelId="{FB251CEA-D66E-F940-A69E-6683039EB759}" type="presParOf" srcId="{8B93FFDE-05A5-1545-8E2F-A0B473160679}" destId="{CF60189A-F0BD-1B41-89D2-307F1DA955E7}" srcOrd="12" destOrd="0" presId="urn:microsoft.com/office/officeart/2005/8/layout/chevron1"/>
    <dgm:cxn modelId="{D3FAC9EE-20AF-1C46-A3B9-E26F2ECCCDDF}" type="presParOf" srcId="{8B93FFDE-05A5-1545-8E2F-A0B473160679}" destId="{EEAAC419-0981-234A-943A-98901572F4FF}" srcOrd="13" destOrd="0" presId="urn:microsoft.com/office/officeart/2005/8/layout/chevron1"/>
    <dgm:cxn modelId="{179A5595-00EA-3144-B2DC-EA82F593D236}" type="presParOf" srcId="{8B93FFDE-05A5-1545-8E2F-A0B473160679}" destId="{4C6D95A5-AC6D-914C-B774-93CD0C61E4A3}" srcOrd="14"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the size of the metacommunity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E2C31A-9C32-8244-A94C-1A921F1582B3}">
      <dsp:nvSpPr>
        <dsp:cNvPr id="0" name=""/>
        <dsp:cNvSpPr/>
      </dsp:nvSpPr>
      <dsp:spPr>
        <a:xfrm>
          <a:off x="2163603" y="60100"/>
          <a:ext cx="2884805" cy="2884805"/>
        </a:xfrm>
        <a:prstGeom prst="ellipse">
          <a:avLst/>
        </a:prstGeom>
        <a:solidFill>
          <a:schemeClr val="accent4">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Selection</a:t>
          </a:r>
        </a:p>
      </dsp:txBody>
      <dsp:txXfrm>
        <a:off x="2548244" y="564941"/>
        <a:ext cx="2115523" cy="1298162"/>
      </dsp:txXfrm>
    </dsp:sp>
    <dsp:sp modelId="{7DAC2FF7-8C69-8544-B207-8AD8ED8CC18E}">
      <dsp:nvSpPr>
        <dsp:cNvPr id="0" name=""/>
        <dsp:cNvSpPr/>
      </dsp:nvSpPr>
      <dsp:spPr>
        <a:xfrm>
          <a:off x="3204537" y="1863103"/>
          <a:ext cx="2884805" cy="2884805"/>
        </a:xfrm>
        <a:prstGeom prst="ellipse">
          <a:avLst/>
        </a:prstGeom>
        <a:solidFill>
          <a:schemeClr val="accent4">
            <a:alpha val="50000"/>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Dispersal</a:t>
          </a:r>
        </a:p>
      </dsp:txBody>
      <dsp:txXfrm>
        <a:off x="4086807" y="2608344"/>
        <a:ext cx="1730883" cy="1586642"/>
      </dsp:txXfrm>
    </dsp:sp>
    <dsp:sp modelId="{C13988BE-4667-2C42-B802-C07898FB496F}">
      <dsp:nvSpPr>
        <dsp:cNvPr id="0" name=""/>
        <dsp:cNvSpPr/>
      </dsp:nvSpPr>
      <dsp:spPr>
        <a:xfrm>
          <a:off x="1122669" y="1863103"/>
          <a:ext cx="2884805" cy="2884805"/>
        </a:xfrm>
        <a:prstGeom prst="ellipse">
          <a:avLst/>
        </a:prstGeom>
        <a:solidFill>
          <a:schemeClr val="accent4">
            <a:alpha val="50000"/>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Ecological Drift</a:t>
          </a:r>
        </a:p>
      </dsp:txBody>
      <dsp:txXfrm>
        <a:off x="1394322" y="2608344"/>
        <a:ext cx="1730883" cy="1586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381FD2-93AC-0945-B718-5304447B0F9B}">
      <dsp:nvSpPr>
        <dsp:cNvPr id="0" name=""/>
        <dsp:cNvSpPr/>
      </dsp:nvSpPr>
      <dsp:spPr>
        <a:xfrm>
          <a:off x="949" y="2404879"/>
          <a:ext cx="1522269" cy="608907"/>
        </a:xfrm>
        <a:prstGeom prst="chevron">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Ordination</a:t>
          </a:r>
        </a:p>
      </dsp:txBody>
      <dsp:txXfrm>
        <a:off x="305403" y="2404879"/>
        <a:ext cx="913362" cy="608907"/>
      </dsp:txXfrm>
    </dsp:sp>
    <dsp:sp modelId="{90AFCD07-267C-9C44-9A89-5A50796587E3}">
      <dsp:nvSpPr>
        <dsp:cNvPr id="0" name=""/>
        <dsp:cNvSpPr/>
      </dsp:nvSpPr>
      <dsp:spPr>
        <a:xfrm>
          <a:off x="1370992" y="2404879"/>
          <a:ext cx="1522269" cy="608907"/>
        </a:xfrm>
        <a:prstGeom prst="chevron">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Alpha &amp; Beta Diversity</a:t>
          </a:r>
        </a:p>
      </dsp:txBody>
      <dsp:txXfrm>
        <a:off x="1675446" y="2404879"/>
        <a:ext cx="913362" cy="608907"/>
      </dsp:txXfrm>
    </dsp:sp>
    <dsp:sp modelId="{DBC67D4B-288C-C941-9948-4D7CB11DC5C5}">
      <dsp:nvSpPr>
        <dsp:cNvPr id="0" name=""/>
        <dsp:cNvSpPr/>
      </dsp:nvSpPr>
      <dsp:spPr>
        <a:xfrm>
          <a:off x="2741035" y="2404879"/>
          <a:ext cx="1522269" cy="608907"/>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Multivariate Analysis</a:t>
          </a:r>
        </a:p>
      </dsp:txBody>
      <dsp:txXfrm>
        <a:off x="3045489" y="2404879"/>
        <a:ext cx="913362" cy="608907"/>
      </dsp:txXfrm>
    </dsp:sp>
    <dsp:sp modelId="{9485580D-E302-344E-A0CF-702C7A847712}">
      <dsp:nvSpPr>
        <dsp:cNvPr id="0" name=""/>
        <dsp:cNvSpPr/>
      </dsp:nvSpPr>
      <dsp:spPr>
        <a:xfrm>
          <a:off x="4111077" y="2404879"/>
          <a:ext cx="1522269" cy="608907"/>
        </a:xfrm>
        <a:prstGeom prst="chevron">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ISAR</a:t>
          </a:r>
        </a:p>
      </dsp:txBody>
      <dsp:txXfrm>
        <a:off x="4415531" y="2404879"/>
        <a:ext cx="913362" cy="608907"/>
      </dsp:txXfrm>
    </dsp:sp>
    <dsp:sp modelId="{949A562F-7030-DF4E-9D49-68255A9DEE1D}">
      <dsp:nvSpPr>
        <dsp:cNvPr id="0" name=""/>
        <dsp:cNvSpPr/>
      </dsp:nvSpPr>
      <dsp:spPr>
        <a:xfrm>
          <a:off x="5481120" y="2404879"/>
          <a:ext cx="1522269" cy="608907"/>
        </a:xfrm>
        <a:prstGeom prst="chevron">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DDR</a:t>
          </a:r>
        </a:p>
      </dsp:txBody>
      <dsp:txXfrm>
        <a:off x="5785574" y="2404879"/>
        <a:ext cx="913362" cy="608907"/>
      </dsp:txXfrm>
    </dsp:sp>
    <dsp:sp modelId="{27C5A505-81DC-A445-992D-1BC4566AB6F2}">
      <dsp:nvSpPr>
        <dsp:cNvPr id="0" name=""/>
        <dsp:cNvSpPr/>
      </dsp:nvSpPr>
      <dsp:spPr>
        <a:xfrm>
          <a:off x="6851163" y="2404879"/>
          <a:ext cx="1522269" cy="608907"/>
        </a:xfrm>
        <a:prstGeom prst="chevron">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Null Model</a:t>
          </a:r>
        </a:p>
      </dsp:txBody>
      <dsp:txXfrm>
        <a:off x="7155617" y="2404879"/>
        <a:ext cx="913362" cy="608907"/>
      </dsp:txXfrm>
    </dsp:sp>
    <dsp:sp modelId="{CF60189A-F0BD-1B41-89D2-307F1DA955E7}">
      <dsp:nvSpPr>
        <dsp:cNvPr id="0" name=""/>
        <dsp:cNvSpPr/>
      </dsp:nvSpPr>
      <dsp:spPr>
        <a:xfrm>
          <a:off x="8221205" y="2404879"/>
          <a:ext cx="1522269" cy="608907"/>
        </a:xfrm>
        <a:prstGeom prst="chevron">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Neutral Model</a:t>
          </a:r>
        </a:p>
      </dsp:txBody>
      <dsp:txXfrm>
        <a:off x="8525659" y="2404879"/>
        <a:ext cx="913362" cy="608907"/>
      </dsp:txXfrm>
    </dsp:sp>
    <dsp:sp modelId="{4C6D95A5-AC6D-914C-B774-93CD0C61E4A3}">
      <dsp:nvSpPr>
        <dsp:cNvPr id="0" name=""/>
        <dsp:cNvSpPr/>
      </dsp:nvSpPr>
      <dsp:spPr>
        <a:xfrm>
          <a:off x="9591248" y="2404879"/>
          <a:ext cx="1522269" cy="608907"/>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Network Analysis</a:t>
          </a:r>
        </a:p>
      </dsp:txBody>
      <dsp:txXfrm>
        <a:off x="9895702" y="2404879"/>
        <a:ext cx="913362" cy="60890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7675" y="988"/>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8219" y="11532"/>
        <a:ext cx="9486667" cy="338909"/>
      </dsp:txXfrm>
    </dsp:sp>
    <dsp:sp modelId="{91DA19BA-A0AB-564A-8A9E-322DF18B64CF}">
      <dsp:nvSpPr>
        <dsp:cNvPr id="0" name=""/>
        <dsp:cNvSpPr/>
      </dsp:nvSpPr>
      <dsp:spPr>
        <a:xfrm rot="5400000">
          <a:off x="5574195"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403437"/>
        <a:ext cx="183395" cy="178300"/>
      </dsp:txXfrm>
    </dsp:sp>
    <dsp:sp modelId="{43D2067A-91F6-8745-98BA-D6A10B24950A}">
      <dsp:nvSpPr>
        <dsp:cNvPr id="0" name=""/>
        <dsp:cNvSpPr/>
      </dsp:nvSpPr>
      <dsp:spPr>
        <a:xfrm>
          <a:off x="947675"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8219" y="711149"/>
        <a:ext cx="9486667" cy="338909"/>
      </dsp:txXfrm>
    </dsp:sp>
    <dsp:sp modelId="{D067C965-9057-9C4A-A1D2-4912C14C50F7}">
      <dsp:nvSpPr>
        <dsp:cNvPr id="0" name=""/>
        <dsp:cNvSpPr/>
      </dsp:nvSpPr>
      <dsp:spPr>
        <a:xfrm rot="5400000">
          <a:off x="5574195"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1103054"/>
        <a:ext cx="183395" cy="178300"/>
      </dsp:txXfrm>
    </dsp:sp>
    <dsp:sp modelId="{80C05A4E-2A0A-294C-8DDC-052E97D834DA}">
      <dsp:nvSpPr>
        <dsp:cNvPr id="0" name=""/>
        <dsp:cNvSpPr/>
      </dsp:nvSpPr>
      <dsp:spPr>
        <a:xfrm>
          <a:off x="947675"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8219" y="1410766"/>
        <a:ext cx="9486667" cy="338909"/>
      </dsp:txXfrm>
    </dsp:sp>
    <dsp:sp modelId="{B3C2DB7A-EC33-6544-A09D-B1205728770A}">
      <dsp:nvSpPr>
        <dsp:cNvPr id="0" name=""/>
        <dsp:cNvSpPr/>
      </dsp:nvSpPr>
      <dsp:spPr>
        <a:xfrm rot="5400000">
          <a:off x="5574195"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1802671"/>
        <a:ext cx="183395" cy="178300"/>
      </dsp:txXfrm>
    </dsp:sp>
    <dsp:sp modelId="{6F6C8E07-FBAD-3F4D-A906-27ECCF26E70E}">
      <dsp:nvSpPr>
        <dsp:cNvPr id="0" name=""/>
        <dsp:cNvSpPr/>
      </dsp:nvSpPr>
      <dsp:spPr>
        <a:xfrm>
          <a:off x="947675"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8219" y="2110383"/>
        <a:ext cx="9486667" cy="338909"/>
      </dsp:txXfrm>
    </dsp:sp>
    <dsp:sp modelId="{48489AC1-89DA-0F48-B940-23505B5798FF}">
      <dsp:nvSpPr>
        <dsp:cNvPr id="0" name=""/>
        <dsp:cNvSpPr/>
      </dsp:nvSpPr>
      <dsp:spPr>
        <a:xfrm rot="5400000">
          <a:off x="5574195"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2502289"/>
        <a:ext cx="183395" cy="178300"/>
      </dsp:txXfrm>
    </dsp:sp>
    <dsp:sp modelId="{BEBB65BD-4B92-BC44-96A8-BAAA586B7BF5}">
      <dsp:nvSpPr>
        <dsp:cNvPr id="0" name=""/>
        <dsp:cNvSpPr/>
      </dsp:nvSpPr>
      <dsp:spPr>
        <a:xfrm>
          <a:off x="947675"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8219" y="2810000"/>
        <a:ext cx="9486667" cy="338909"/>
      </dsp:txXfrm>
    </dsp:sp>
    <dsp:sp modelId="{2839F08F-24F1-614A-A1A4-847F111C0482}">
      <dsp:nvSpPr>
        <dsp:cNvPr id="0" name=""/>
        <dsp:cNvSpPr/>
      </dsp:nvSpPr>
      <dsp:spPr>
        <a:xfrm rot="5400000">
          <a:off x="5574195"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3201906"/>
        <a:ext cx="183395" cy="178300"/>
      </dsp:txXfrm>
    </dsp:sp>
    <dsp:sp modelId="{80377AF5-BC76-FB40-840E-12C9D1BDB641}">
      <dsp:nvSpPr>
        <dsp:cNvPr id="0" name=""/>
        <dsp:cNvSpPr/>
      </dsp:nvSpPr>
      <dsp:spPr>
        <a:xfrm>
          <a:off x="947675"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8219" y="3509618"/>
        <a:ext cx="9486667" cy="338909"/>
      </dsp:txXfrm>
    </dsp:sp>
    <dsp:sp modelId="{C9A34051-A77A-F049-83DF-B23743A74457}">
      <dsp:nvSpPr>
        <dsp:cNvPr id="0" name=""/>
        <dsp:cNvSpPr/>
      </dsp:nvSpPr>
      <dsp:spPr>
        <a:xfrm rot="5400000">
          <a:off x="5574195"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3901523"/>
        <a:ext cx="183395" cy="178300"/>
      </dsp:txXfrm>
    </dsp:sp>
    <dsp:sp modelId="{77F0190E-9B2D-0449-9A36-A264480F521F}">
      <dsp:nvSpPr>
        <dsp:cNvPr id="0" name=""/>
        <dsp:cNvSpPr/>
      </dsp:nvSpPr>
      <dsp:spPr>
        <a:xfrm>
          <a:off x="947675"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8219" y="4209235"/>
        <a:ext cx="9486667" cy="338909"/>
      </dsp:txXfrm>
    </dsp:sp>
    <dsp:sp modelId="{26A17077-D919-4B4F-8DCF-A621A4F50A35}">
      <dsp:nvSpPr>
        <dsp:cNvPr id="0" name=""/>
        <dsp:cNvSpPr/>
      </dsp:nvSpPr>
      <dsp:spPr>
        <a:xfrm rot="5400000">
          <a:off x="5574195"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4601140"/>
        <a:ext cx="183395" cy="178300"/>
      </dsp:txXfrm>
    </dsp:sp>
    <dsp:sp modelId="{218DEA2E-8D5B-8741-B88A-2B31902D6D39}">
      <dsp:nvSpPr>
        <dsp:cNvPr id="0" name=""/>
        <dsp:cNvSpPr/>
      </dsp:nvSpPr>
      <dsp:spPr>
        <a:xfrm>
          <a:off x="947675"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8219" y="4908852"/>
        <a:ext cx="9486667" cy="33890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7675" y="988"/>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8219" y="11532"/>
        <a:ext cx="9486667" cy="338909"/>
      </dsp:txXfrm>
    </dsp:sp>
    <dsp:sp modelId="{91DA19BA-A0AB-564A-8A9E-322DF18B64CF}">
      <dsp:nvSpPr>
        <dsp:cNvPr id="0" name=""/>
        <dsp:cNvSpPr/>
      </dsp:nvSpPr>
      <dsp:spPr>
        <a:xfrm rot="5400000">
          <a:off x="5574195"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403437"/>
        <a:ext cx="183395" cy="178300"/>
      </dsp:txXfrm>
    </dsp:sp>
    <dsp:sp modelId="{43D2067A-91F6-8745-98BA-D6A10B24950A}">
      <dsp:nvSpPr>
        <dsp:cNvPr id="0" name=""/>
        <dsp:cNvSpPr/>
      </dsp:nvSpPr>
      <dsp:spPr>
        <a:xfrm>
          <a:off x="947675"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8219" y="711149"/>
        <a:ext cx="9486667" cy="338909"/>
      </dsp:txXfrm>
    </dsp:sp>
    <dsp:sp modelId="{D067C965-9057-9C4A-A1D2-4912C14C50F7}">
      <dsp:nvSpPr>
        <dsp:cNvPr id="0" name=""/>
        <dsp:cNvSpPr/>
      </dsp:nvSpPr>
      <dsp:spPr>
        <a:xfrm rot="5400000">
          <a:off x="5574195"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1103054"/>
        <a:ext cx="183395" cy="178300"/>
      </dsp:txXfrm>
    </dsp:sp>
    <dsp:sp modelId="{80C05A4E-2A0A-294C-8DDC-052E97D834DA}">
      <dsp:nvSpPr>
        <dsp:cNvPr id="0" name=""/>
        <dsp:cNvSpPr/>
      </dsp:nvSpPr>
      <dsp:spPr>
        <a:xfrm>
          <a:off x="947675"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8219" y="1410766"/>
        <a:ext cx="9486667" cy="338909"/>
      </dsp:txXfrm>
    </dsp:sp>
    <dsp:sp modelId="{B3C2DB7A-EC33-6544-A09D-B1205728770A}">
      <dsp:nvSpPr>
        <dsp:cNvPr id="0" name=""/>
        <dsp:cNvSpPr/>
      </dsp:nvSpPr>
      <dsp:spPr>
        <a:xfrm rot="5400000">
          <a:off x="5574195"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1802671"/>
        <a:ext cx="183395" cy="178300"/>
      </dsp:txXfrm>
    </dsp:sp>
    <dsp:sp modelId="{6F6C8E07-FBAD-3F4D-A906-27ECCF26E70E}">
      <dsp:nvSpPr>
        <dsp:cNvPr id="0" name=""/>
        <dsp:cNvSpPr/>
      </dsp:nvSpPr>
      <dsp:spPr>
        <a:xfrm>
          <a:off x="947675"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8219" y="2110383"/>
        <a:ext cx="9486667" cy="338909"/>
      </dsp:txXfrm>
    </dsp:sp>
    <dsp:sp modelId="{48489AC1-89DA-0F48-B940-23505B5798FF}">
      <dsp:nvSpPr>
        <dsp:cNvPr id="0" name=""/>
        <dsp:cNvSpPr/>
      </dsp:nvSpPr>
      <dsp:spPr>
        <a:xfrm rot="5400000">
          <a:off x="5574195"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2502289"/>
        <a:ext cx="183395" cy="178300"/>
      </dsp:txXfrm>
    </dsp:sp>
    <dsp:sp modelId="{BEBB65BD-4B92-BC44-96A8-BAAA586B7BF5}">
      <dsp:nvSpPr>
        <dsp:cNvPr id="0" name=""/>
        <dsp:cNvSpPr/>
      </dsp:nvSpPr>
      <dsp:spPr>
        <a:xfrm>
          <a:off x="947675"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8219" y="2810000"/>
        <a:ext cx="9486667" cy="338909"/>
      </dsp:txXfrm>
    </dsp:sp>
    <dsp:sp modelId="{2839F08F-24F1-614A-A1A4-847F111C0482}">
      <dsp:nvSpPr>
        <dsp:cNvPr id="0" name=""/>
        <dsp:cNvSpPr/>
      </dsp:nvSpPr>
      <dsp:spPr>
        <a:xfrm rot="5400000">
          <a:off x="5574195"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3201906"/>
        <a:ext cx="183395" cy="178300"/>
      </dsp:txXfrm>
    </dsp:sp>
    <dsp:sp modelId="{80377AF5-BC76-FB40-840E-12C9D1BDB641}">
      <dsp:nvSpPr>
        <dsp:cNvPr id="0" name=""/>
        <dsp:cNvSpPr/>
      </dsp:nvSpPr>
      <dsp:spPr>
        <a:xfrm>
          <a:off x="947675"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8219" y="3509618"/>
        <a:ext cx="9486667" cy="338909"/>
      </dsp:txXfrm>
    </dsp:sp>
    <dsp:sp modelId="{C9A34051-A77A-F049-83DF-B23743A74457}">
      <dsp:nvSpPr>
        <dsp:cNvPr id="0" name=""/>
        <dsp:cNvSpPr/>
      </dsp:nvSpPr>
      <dsp:spPr>
        <a:xfrm rot="5400000">
          <a:off x="5574195"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3901523"/>
        <a:ext cx="183395" cy="178300"/>
      </dsp:txXfrm>
    </dsp:sp>
    <dsp:sp modelId="{77F0190E-9B2D-0449-9A36-A264480F521F}">
      <dsp:nvSpPr>
        <dsp:cNvPr id="0" name=""/>
        <dsp:cNvSpPr/>
      </dsp:nvSpPr>
      <dsp:spPr>
        <a:xfrm>
          <a:off x="947675"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8219" y="4209235"/>
        <a:ext cx="9486667" cy="338909"/>
      </dsp:txXfrm>
    </dsp:sp>
    <dsp:sp modelId="{26A17077-D919-4B4F-8DCF-A621A4F50A35}">
      <dsp:nvSpPr>
        <dsp:cNvPr id="0" name=""/>
        <dsp:cNvSpPr/>
      </dsp:nvSpPr>
      <dsp:spPr>
        <a:xfrm rot="5400000">
          <a:off x="5574195"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09855" y="4601140"/>
        <a:ext cx="183395" cy="178300"/>
      </dsp:txXfrm>
    </dsp:sp>
    <dsp:sp modelId="{218DEA2E-8D5B-8741-B88A-2B31902D6D39}">
      <dsp:nvSpPr>
        <dsp:cNvPr id="0" name=""/>
        <dsp:cNvSpPr/>
      </dsp:nvSpPr>
      <dsp:spPr>
        <a:xfrm>
          <a:off x="947675"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8219" y="4908852"/>
        <a:ext cx="9486667" cy="33890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00015" y="661"/>
          <a:ext cx="8258168" cy="773906"/>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Extract ASV table from </a:t>
          </a:r>
          <a:r>
            <a:rPr lang="en-US" sz="1600" kern="1200" dirty="0" err="1"/>
            <a:t>phyloseq</a:t>
          </a:r>
          <a:r>
            <a:rPr lang="en-US" sz="1600" kern="1200" dirty="0"/>
            <a:t> object</a:t>
          </a:r>
        </a:p>
      </dsp:txBody>
      <dsp:txXfrm>
        <a:off x="122682" y="23328"/>
        <a:ext cx="8212834" cy="728572"/>
      </dsp:txXfrm>
    </dsp:sp>
    <dsp:sp modelId="{91DA19BA-A0AB-564A-8A9E-322DF18B64CF}">
      <dsp:nvSpPr>
        <dsp:cNvPr id="0" name=""/>
        <dsp:cNvSpPr/>
      </dsp:nvSpPr>
      <dsp:spPr>
        <a:xfrm rot="5400000">
          <a:off x="4083992" y="793915"/>
          <a:ext cx="290214" cy="3482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822936"/>
        <a:ext cx="208955" cy="203150"/>
      </dsp:txXfrm>
    </dsp:sp>
    <dsp:sp modelId="{43D2067A-91F6-8745-98BA-D6A10B24950A}">
      <dsp:nvSpPr>
        <dsp:cNvPr id="0" name=""/>
        <dsp:cNvSpPr/>
      </dsp:nvSpPr>
      <dsp:spPr>
        <a:xfrm>
          <a:off x="128588" y="1161520"/>
          <a:ext cx="8201023" cy="773906"/>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size of the metacommunity (</a:t>
          </a:r>
          <a:r>
            <a:rPr lang="en-US" sz="1600" i="1" kern="1200" dirty="0"/>
            <a:t>N</a:t>
          </a:r>
          <a:r>
            <a:rPr lang="en-US" sz="1600" kern="1200" dirty="0"/>
            <a:t>) by finding the mean number of reads per sample. We also find the limit of detection (</a:t>
          </a:r>
          <a:r>
            <a:rPr lang="en-US" sz="1600" i="1" kern="1200" dirty="0"/>
            <a:t>d</a:t>
          </a:r>
          <a:r>
            <a:rPr lang="en-US" sz="1600" kern="1200" dirty="0"/>
            <a:t>) = </a:t>
          </a:r>
          <a:r>
            <a:rPr lang="en-US" sz="1600" i="1" kern="1200" dirty="0"/>
            <a:t>1/N</a:t>
          </a:r>
        </a:p>
      </dsp:txBody>
      <dsp:txXfrm>
        <a:off x="151255" y="1184187"/>
        <a:ext cx="8155689" cy="728572"/>
      </dsp:txXfrm>
    </dsp:sp>
    <dsp:sp modelId="{D067C965-9057-9C4A-A1D2-4912C14C50F7}">
      <dsp:nvSpPr>
        <dsp:cNvPr id="0" name=""/>
        <dsp:cNvSpPr/>
      </dsp:nvSpPr>
      <dsp:spPr>
        <a:xfrm rot="5400000">
          <a:off x="4083992" y="1954774"/>
          <a:ext cx="290214" cy="3482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1983795"/>
        <a:ext cx="208955" cy="203150"/>
      </dsp:txXfrm>
    </dsp:sp>
    <dsp:sp modelId="{80C05A4E-2A0A-294C-8DDC-052E97D834DA}">
      <dsp:nvSpPr>
        <dsp:cNvPr id="0" name=""/>
        <dsp:cNvSpPr/>
      </dsp:nvSpPr>
      <dsp:spPr>
        <a:xfrm>
          <a:off x="157161" y="2322380"/>
          <a:ext cx="8143877" cy="77390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mean observed relative abundance and occurrence frequency of each ASV</a:t>
          </a:r>
        </a:p>
      </dsp:txBody>
      <dsp:txXfrm>
        <a:off x="179828" y="2345047"/>
        <a:ext cx="8098543" cy="728572"/>
      </dsp:txXfrm>
    </dsp:sp>
    <dsp:sp modelId="{B3C2DB7A-EC33-6544-A09D-B1205728770A}">
      <dsp:nvSpPr>
        <dsp:cNvPr id="0" name=""/>
        <dsp:cNvSpPr/>
      </dsp:nvSpPr>
      <dsp:spPr>
        <a:xfrm rot="5400000">
          <a:off x="4083992" y="3115634"/>
          <a:ext cx="290214" cy="3482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3144655"/>
        <a:ext cx="208955" cy="203150"/>
      </dsp:txXfrm>
    </dsp:sp>
    <dsp:sp modelId="{6F6C8E07-FBAD-3F4D-A906-27ECCF26E70E}">
      <dsp:nvSpPr>
        <dsp:cNvPr id="0" name=""/>
        <dsp:cNvSpPr/>
      </dsp:nvSpPr>
      <dsp:spPr>
        <a:xfrm>
          <a:off x="171447" y="3483239"/>
          <a:ext cx="8115305" cy="773906"/>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non-linear least squares fitting we fit the neutral model to our data to find, finding the probability of dispersal (</a:t>
          </a:r>
          <a:r>
            <a:rPr lang="en-US" sz="1600" i="1" kern="1200" dirty="0"/>
            <a:t>m</a:t>
          </a:r>
          <a:r>
            <a:rPr lang="en-US" sz="1600" kern="1200" dirty="0"/>
            <a:t>)</a:t>
          </a:r>
        </a:p>
      </dsp:txBody>
      <dsp:txXfrm>
        <a:off x="194114" y="3505906"/>
        <a:ext cx="8069971" cy="728572"/>
      </dsp:txXfrm>
    </dsp:sp>
    <dsp:sp modelId="{48489AC1-89DA-0F48-B940-23505B5798FF}">
      <dsp:nvSpPr>
        <dsp:cNvPr id="0" name=""/>
        <dsp:cNvSpPr/>
      </dsp:nvSpPr>
      <dsp:spPr>
        <a:xfrm rot="5400000">
          <a:off x="4083992" y="4276493"/>
          <a:ext cx="290214" cy="3482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4305514"/>
        <a:ext cx="208955" cy="203150"/>
      </dsp:txXfrm>
    </dsp:sp>
    <dsp:sp modelId="{80377AF5-BC76-FB40-840E-12C9D1BDB641}">
      <dsp:nvSpPr>
        <dsp:cNvPr id="0" name=""/>
        <dsp:cNvSpPr/>
      </dsp:nvSpPr>
      <dsp:spPr>
        <a:xfrm>
          <a:off x="157161" y="4644099"/>
          <a:ext cx="8143877" cy="77390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the estimated value of </a:t>
          </a:r>
          <a:r>
            <a:rPr lang="en-US" sz="1600" i="1" kern="1200" dirty="0"/>
            <a:t>m</a:t>
          </a:r>
          <a:r>
            <a:rPr lang="en-US" sz="1600" kern="1200" dirty="0"/>
            <a:t> we calculate predicted occurrence frequencies and plot predictions from the neutral model against observed frequencies</a:t>
          </a:r>
        </a:p>
      </dsp:txBody>
      <dsp:txXfrm>
        <a:off x="179828" y="4666766"/>
        <a:ext cx="8098543" cy="728572"/>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Spatial turnover in community composition (that is, the difference in abundance and diversity of biological communities between locations) is shaped by ecological drift, selection and dispersal</a:t>
            </a:r>
          </a:p>
          <a:p>
            <a:endParaRPr lang="en-US" dirty="0"/>
          </a:p>
          <a:p>
            <a:r>
              <a:rPr lang="en-US" dirty="0"/>
              <a:t>Community assembly processes can be stochastic or deterministic.</a:t>
            </a:r>
          </a:p>
          <a:p>
            <a:r>
              <a:rPr lang="en-US" dirty="0"/>
              <a:t>Stochastic processes are random birth, death and dispersal events .</a:t>
            </a:r>
          </a:p>
          <a:p>
            <a:r>
              <a:rPr lang="en-US" dirty="0"/>
              <a:t>Deterministic processes arise from fitness differences between species, that drive their habitat preferences.</a:t>
            </a:r>
          </a:p>
          <a:p>
            <a:r>
              <a:rPr lang="en-US" dirty="0"/>
              <a:t>Adaptive traits (e.g. tolerance to low temperatures) define fitness differences (e.g. the greater reproductive success of one species in a cold habitat as compared to another, less reproductively successful species) and may be phylogenetically conserved (e.g. present in species with closer evolutionarily relationships – two species that have a more recent common ancestor may share tolerance to low temperatures that gives both greater reproductive success as compared to a third organism that has a more distance evolutionary relationship).</a:t>
            </a:r>
          </a:p>
          <a:p>
            <a:r>
              <a:rPr lang="en-US" dirty="0"/>
              <a:t>Closely evolutionarily related species will share adaptive traits that define their fitness differences and drive habitat preferences. So, the environmental constraints of habitat A may facilitate species with close evolutionary histories, while the community of habitat B may share close evolutionary histories with each other while the beta diversity (the change in community composition between habitat A and B) is driven deterministically by those environmental constrains. </a:t>
            </a:r>
          </a:p>
          <a:p>
            <a:r>
              <a:rPr lang="en-US" dirty="0"/>
              <a:t>Both stochastic (birth, death) and deterministic (fitness difference) processes are influenced by dispersal rates.</a:t>
            </a:r>
          </a:p>
          <a:p>
            <a:r>
              <a:rPr lang="en-US" dirty="0"/>
              <a:t>Dispersal = the replacement of a dead individual in the local community with a random individual from the regional species pool.</a:t>
            </a:r>
          </a:p>
          <a:p>
            <a:r>
              <a:rPr lang="en-US" dirty="0"/>
              <a:t>We don’t know much about the ecological factors influencing bacterial dispersal rates.</a:t>
            </a:r>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p:txBody>
      </p:sp>
      <p:sp>
        <p:nvSpPr>
          <p:cNvPr id="4" name="Slide Number Placeholder 3"/>
          <p:cNvSpPr>
            <a:spLocks noGrp="1"/>
          </p:cNvSpPr>
          <p:nvPr>
            <p:ph type="sldNum" sz="quarter" idx="5"/>
          </p:nvPr>
        </p:nvSpPr>
        <p:spPr/>
        <p:txBody>
          <a:bodyPr/>
          <a:lstStyle/>
          <a:p>
            <a:fld id="{91AE2140-D502-214A-B76B-E0784B2C949B}" type="slidenum">
              <a:rPr lang="en-US" smtClean="0"/>
              <a:t>3</a:t>
            </a:fld>
            <a:endParaRPr lang="en-US"/>
          </a:p>
        </p:txBody>
      </p:sp>
    </p:spTree>
    <p:extLst>
      <p:ext uri="{BB962C8B-B14F-4D97-AF65-F5344CB8AC3E}">
        <p14:creationId xmlns:p14="http://schemas.microsoft.com/office/powerpoint/2010/main" val="399017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dataset on which to develop my analysis pipeline because it included recently published cryoconite community data and cryoconite communities are of specific interest to me as they are a hotspot of biological activity on the glacier surface. Also, they act as discrete microcosms which can be measured in terms of area, therefore have the advantage of being used to explore the present of island-species area relationships.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fact that ISAR had already been investigated in this dataset meant that I could carry out my own analyses and compare the results to ensure that I was analyzing the data correctly.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paper included information on sequence processing that I was able to use in my first QIIME workflow. </a:t>
            </a:r>
          </a:p>
          <a:p>
            <a:endParaRPr lang="en-US" dirty="0"/>
          </a:p>
          <a:p>
            <a:r>
              <a:rPr lang="en-US" dirty="0"/>
              <a:t>It gave me the opportunity to work with 16S and 18S data (although here I have only analyzed the 16S data) </a:t>
            </a:r>
          </a:p>
          <a:p>
            <a:endParaRPr lang="en-US" dirty="0"/>
          </a:p>
          <a:p>
            <a:r>
              <a:rPr lang="en-US" dirty="0"/>
              <a:t>The data could also be grouped by glacier which was useful for comparative analyses.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8</a:t>
            </a:fld>
            <a:endParaRPr lang="en-US"/>
          </a:p>
        </p:txBody>
      </p:sp>
    </p:spTree>
    <p:extLst>
      <p:ext uri="{BB962C8B-B14F-4D97-AF65-F5344CB8AC3E}">
        <p14:creationId xmlns:p14="http://schemas.microsoft.com/office/powerpoint/2010/main" val="295096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QIIME2 on my local computer I downloaded Sequence Read Archive (SRA) toolbox that allowed me to prefetch the sequence data from the SRA website using the archive umber supplied by the paper, splitting the flies into forward and reverse reads and saving them to my laptop.</a:t>
            </a:r>
          </a:p>
          <a:p>
            <a:endParaRPr lang="en-US" dirty="0"/>
          </a:p>
          <a:p>
            <a:r>
              <a:rPr lang="en-US" dirty="0"/>
              <a:t>I renamed the sequence files and modified the metadata file into formats expected by QIIME2.</a:t>
            </a:r>
          </a:p>
          <a:p>
            <a:endParaRPr lang="en-US" dirty="0"/>
          </a:p>
          <a:p>
            <a:r>
              <a:rPr lang="en-GB" sz="1200" kern="1200" dirty="0">
                <a:solidFill>
                  <a:schemeClr val="tx1"/>
                </a:solidFill>
                <a:effectLst/>
                <a:latin typeface="+mn-lt"/>
                <a:ea typeface="+mn-ea"/>
                <a:cs typeface="+mn-cs"/>
              </a:rPr>
              <a:t>Import </a:t>
            </a:r>
            <a:r>
              <a:rPr lang="en-GB" sz="1200" kern="1200" dirty="0" err="1">
                <a:solidFill>
                  <a:schemeClr val="tx1"/>
                </a:solidFill>
                <a:effectLst/>
                <a:latin typeface="+mn-lt"/>
                <a:ea typeface="+mn-ea"/>
                <a:cs typeface="+mn-cs"/>
              </a:rPr>
              <a:t>fastq</a:t>
            </a:r>
            <a:r>
              <a:rPr lang="en-GB" sz="1200" kern="1200" dirty="0">
                <a:solidFill>
                  <a:schemeClr val="tx1"/>
                </a:solidFill>
                <a:effectLst/>
                <a:latin typeface="+mn-lt"/>
                <a:ea typeface="+mn-ea"/>
                <a:cs typeface="+mn-cs"/>
              </a:rPr>
              <a:t> files and convert them into a format </a:t>
            </a:r>
            <a:r>
              <a:rPr lang="en-GB" sz="1200" kern="1200" dirty="0" err="1">
                <a:solidFill>
                  <a:schemeClr val="tx1"/>
                </a:solidFill>
                <a:effectLst/>
                <a:latin typeface="+mn-lt"/>
                <a:ea typeface="+mn-ea"/>
                <a:cs typeface="+mn-cs"/>
              </a:rPr>
              <a:t>Qiime</a:t>
            </a:r>
            <a:r>
              <a:rPr lang="en-GB" sz="1200" kern="1200" dirty="0">
                <a:solidFill>
                  <a:schemeClr val="tx1"/>
                </a:solidFill>
                <a:effectLst/>
                <a:latin typeface="+mn-lt"/>
                <a:ea typeface="+mn-ea"/>
                <a:cs typeface="+mn-cs"/>
              </a:rPr>
              <a:t> wants to work with.</a:t>
            </a:r>
            <a:r>
              <a:rPr lang="en-GB" dirty="0">
                <a:effectLst/>
              </a:rPr>
              <a:t> </a:t>
            </a:r>
          </a:p>
          <a:p>
            <a:endParaRPr lang="en-GB" dirty="0">
              <a:effectLst/>
            </a:endParaRPr>
          </a:p>
          <a:p>
            <a:r>
              <a:rPr lang="en-GB" sz="1200" kern="1200" dirty="0">
                <a:solidFill>
                  <a:schemeClr val="tx1"/>
                </a:solidFill>
                <a:effectLst/>
                <a:latin typeface="+mn-lt"/>
                <a:ea typeface="+mn-ea"/>
                <a:cs typeface="+mn-cs"/>
              </a:rPr>
              <a:t>Remove primers. I'm getting the primers from https://</a:t>
            </a:r>
            <a:r>
              <a:rPr lang="en-GB" sz="1200" kern="1200" dirty="0" err="1">
                <a:solidFill>
                  <a:schemeClr val="tx1"/>
                </a:solidFill>
                <a:effectLst/>
                <a:latin typeface="+mn-lt"/>
                <a:ea typeface="+mn-ea"/>
                <a:cs typeface="+mn-cs"/>
              </a:rPr>
              <a:t>earthmicrobiome.org</a:t>
            </a:r>
            <a:r>
              <a:rPr lang="en-GB" sz="1200" kern="1200" dirty="0">
                <a:solidFill>
                  <a:schemeClr val="tx1"/>
                </a:solidFill>
                <a:effectLst/>
                <a:latin typeface="+mn-lt"/>
                <a:ea typeface="+mn-ea"/>
                <a:cs typeface="+mn-cs"/>
              </a:rPr>
              <a:t>/protocols-and-standards/16s/ as described by Sommers et al., (2020)</a:t>
            </a:r>
          </a:p>
          <a:p>
            <a:r>
              <a:rPr lang="en-GB" sz="1200" kern="1200" dirty="0">
                <a:solidFill>
                  <a:schemeClr val="tx1"/>
                </a:solidFill>
                <a:effectLst/>
                <a:latin typeface="+mn-lt"/>
                <a:ea typeface="+mn-ea"/>
                <a:cs typeface="+mn-cs"/>
              </a:rPr>
              <a:t>The primer sequences are :</a:t>
            </a:r>
          </a:p>
          <a:p>
            <a:r>
              <a:rPr lang="en-GB" sz="1200" kern="1200" dirty="0">
                <a:solidFill>
                  <a:schemeClr val="tx1"/>
                </a:solidFill>
                <a:effectLst/>
                <a:latin typeface="+mn-lt"/>
                <a:ea typeface="+mn-ea"/>
                <a:cs typeface="+mn-cs"/>
              </a:rPr>
              <a:t>Updated sequences: 515F (</a:t>
            </a:r>
            <a:r>
              <a:rPr lang="en-GB" sz="1200" kern="1200" dirty="0" err="1">
                <a:solidFill>
                  <a:schemeClr val="tx1"/>
                </a:solidFill>
                <a:effectLst/>
                <a:latin typeface="+mn-lt"/>
                <a:ea typeface="+mn-ea"/>
                <a:cs typeface="+mn-cs"/>
              </a:rPr>
              <a:t>Parada</a:t>
            </a:r>
            <a:r>
              <a:rPr lang="en-GB" sz="1200" kern="1200" dirty="0">
                <a:solidFill>
                  <a:schemeClr val="tx1"/>
                </a:solidFill>
                <a:effectLst/>
                <a:latin typeface="+mn-lt"/>
                <a:ea typeface="+mn-ea"/>
                <a:cs typeface="+mn-cs"/>
              </a:rPr>
              <a:t>)–806R (</a:t>
            </a:r>
            <a:r>
              <a:rPr lang="en-GB" sz="1200" kern="1200" dirty="0" err="1">
                <a:solidFill>
                  <a:schemeClr val="tx1"/>
                </a:solidFill>
                <a:effectLst/>
                <a:latin typeface="+mn-lt"/>
                <a:ea typeface="+mn-ea"/>
                <a:cs typeface="+mn-cs"/>
              </a:rPr>
              <a:t>Apprill</a:t>
            </a:r>
            <a:r>
              <a:rPr lang="en-GB" sz="1200" kern="1200" dirty="0">
                <a:solidFill>
                  <a:schemeClr val="tx1"/>
                </a:solidFill>
                <a:effectLst/>
                <a:latin typeface="+mn-lt"/>
                <a:ea typeface="+mn-ea"/>
                <a:cs typeface="+mn-cs"/>
              </a:rPr>
              <a:t>), forward-barcoded:</a:t>
            </a:r>
          </a:p>
          <a:p>
            <a:r>
              <a:rPr lang="en-GB" sz="1200" kern="1200" dirty="0">
                <a:solidFill>
                  <a:schemeClr val="tx1"/>
                </a:solidFill>
                <a:effectLst/>
                <a:latin typeface="+mn-lt"/>
                <a:ea typeface="+mn-ea"/>
                <a:cs typeface="+mn-cs"/>
              </a:rPr>
              <a:t>FWD:GTGYCAGCMGCCGCGGTAA; REV:GGACTACNVGGGTWTCTAAT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Check the quality of trimmed reads and visualise.</a:t>
            </a:r>
            <a:r>
              <a:rPr lang="en-GB" dirty="0">
                <a:effectLst/>
              </a:rPr>
              <a:t> </a:t>
            </a:r>
          </a:p>
          <a:p>
            <a:endParaRPr lang="en-GB" dirty="0">
              <a:effectLst/>
            </a:endParaRPr>
          </a:p>
          <a:p>
            <a:r>
              <a:rPr lang="en-GB" sz="1200" kern="1200" dirty="0">
                <a:solidFill>
                  <a:schemeClr val="tx1"/>
                </a:solidFill>
                <a:effectLst/>
                <a:latin typeface="+mn-lt"/>
                <a:ea typeface="+mn-ea"/>
                <a:cs typeface="+mn-cs"/>
              </a:rPr>
              <a:t>Call DADA2.  Where are the adaptors? Front or back? Use trim in DADA2 to cut them, in stead of QIIME2 </a:t>
            </a:r>
            <a:r>
              <a:rPr lang="en-GB" sz="1200" kern="1200" dirty="0" err="1">
                <a:solidFill>
                  <a:schemeClr val="tx1"/>
                </a:solidFill>
                <a:effectLst/>
                <a:latin typeface="+mn-lt"/>
                <a:ea typeface="+mn-ea"/>
                <a:cs typeface="+mn-cs"/>
              </a:rPr>
              <a:t>cutadapt</a:t>
            </a: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 - look at for adaptor - if adaptor isn't there then don't worry about it! Warning: Not all adaptors are picked up by </a:t>
            </a:r>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Denoise data and check results of this step.</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Summarise remaining reads after denoising and visualise.  Through the sequence table generated below you can click on a representative sequence and BLAST it.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Generate a feature table and visualise.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Download Silva classifier and move to work folder.</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Classify representative sequences and visualise.</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Make a multiple sequence alignment with MAFFT.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Now mask the alignment.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Construct the phylogenetic tree and root.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Export feature table (Feature table of the remaining sequences after denoising that tells us how many samples we have, how many features (ASVs) we have, how frequent (how many individual cells there are) per sample, how many ASVs we see per sample</a:t>
            </a:r>
            <a:r>
              <a:rPr lang="en-GB" dirty="0">
                <a:effectLst/>
              </a:rPr>
              <a:t> ) </a:t>
            </a:r>
            <a:r>
              <a:rPr lang="en-GB" sz="1200" kern="1200" dirty="0">
                <a:solidFill>
                  <a:schemeClr val="tx1"/>
                </a:solidFill>
                <a:effectLst/>
                <a:latin typeface="+mn-lt"/>
                <a:ea typeface="+mn-ea"/>
                <a:cs typeface="+mn-cs"/>
              </a:rPr>
              <a:t>, ASV count table (ASV count table with sample as columns and ASV as row</a:t>
            </a:r>
            <a:r>
              <a:rPr lang="en-GB" dirty="0">
                <a:effectLst/>
              </a:rPr>
              <a:t> )</a:t>
            </a:r>
            <a:r>
              <a:rPr lang="en-GB" sz="1200" kern="1200" dirty="0">
                <a:solidFill>
                  <a:schemeClr val="tx1"/>
                </a:solidFill>
                <a:effectLst/>
                <a:latin typeface="+mn-lt"/>
                <a:ea typeface="+mn-ea"/>
                <a:cs typeface="+mn-cs"/>
              </a:rPr>
              <a:t>, representative sequences (The remaining representative sequences after denoising (i.e. a list of all the unique base pair sequences present in the denoised dataset), exported as a </a:t>
            </a:r>
            <a:r>
              <a:rPr lang="en-GB" sz="1200" kern="1200" dirty="0" err="1">
                <a:solidFill>
                  <a:schemeClr val="tx1"/>
                </a:solidFill>
                <a:effectLst/>
                <a:latin typeface="+mn-lt"/>
                <a:ea typeface="+mn-ea"/>
                <a:cs typeface="+mn-cs"/>
              </a:rPr>
              <a:t>fasta</a:t>
            </a:r>
            <a:r>
              <a:rPr lang="en-GB" sz="1200" kern="1200" dirty="0">
                <a:solidFill>
                  <a:schemeClr val="tx1"/>
                </a:solidFill>
                <a:effectLst/>
                <a:latin typeface="+mn-lt"/>
                <a:ea typeface="+mn-ea"/>
                <a:cs typeface="+mn-cs"/>
              </a:rPr>
              <a:t> file</a:t>
            </a:r>
            <a:r>
              <a:rPr lang="en-GB" dirty="0">
                <a:effectLst/>
              </a:rPr>
              <a:t>)</a:t>
            </a:r>
            <a:r>
              <a:rPr lang="en-GB" sz="1200" kern="1200" dirty="0">
                <a:solidFill>
                  <a:schemeClr val="tx1"/>
                </a:solidFill>
                <a:effectLst/>
                <a:latin typeface="+mn-lt"/>
                <a:ea typeface="+mn-ea"/>
                <a:cs typeface="+mn-cs"/>
              </a:rPr>
              <a:t>, taxonomy table (Table of feature (ASV) IDs and their taxonomic classifications</a:t>
            </a:r>
            <a:r>
              <a:rPr lang="en-GB" dirty="0">
                <a:effectLst/>
              </a:rPr>
              <a:t> ) </a:t>
            </a:r>
            <a:r>
              <a:rPr lang="en-GB" sz="1200" kern="1200" dirty="0">
                <a:solidFill>
                  <a:schemeClr val="tx1"/>
                </a:solidFill>
                <a:effectLst/>
                <a:latin typeface="+mn-lt"/>
                <a:ea typeface="+mn-ea"/>
                <a:cs typeface="+mn-cs"/>
              </a:rPr>
              <a:t>and phylogenetic tree.</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9</a:t>
            </a:fld>
            <a:endParaRPr lang="en-US"/>
          </a:p>
        </p:txBody>
      </p:sp>
    </p:spTree>
    <p:extLst>
      <p:ext uri="{BB962C8B-B14F-4D97-AF65-F5344CB8AC3E}">
        <p14:creationId xmlns:p14="http://schemas.microsoft.com/office/powerpoint/2010/main" val="2819534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10</a:t>
            </a:fld>
            <a:endParaRPr lang="en-US"/>
          </a:p>
        </p:txBody>
      </p:sp>
    </p:spTree>
    <p:extLst>
      <p:ext uri="{BB962C8B-B14F-4D97-AF65-F5344CB8AC3E}">
        <p14:creationId xmlns:p14="http://schemas.microsoft.com/office/powerpoint/2010/main" val="791841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Multivariate analysis can allow us to look at the relationship between community composition and environmental characteristics – these are deterministic, non-random processes. </a:t>
            </a:r>
            <a:r>
              <a:rPr lang="en-US" dirty="0" err="1"/>
              <a:t>Investiagation</a:t>
            </a:r>
            <a:r>
              <a:rPr lang="en-US" dirty="0"/>
              <a:t> into deterministic processes of community assembly (e.g. relationship between community composition and environmental characteristics) dominate most studies of microbial community assembly, </a:t>
            </a:r>
            <a:r>
              <a:rPr lang="en-US" dirty="0" err="1"/>
              <a:t>howeber</a:t>
            </a:r>
            <a:r>
              <a:rPr lang="en-US" dirty="0"/>
              <a:t>, it is likely both deterministic and stochastic processes contribute to community assembly. This is why I combine multivariate and network analysis (deterministic) with phylogenetic null modelling (deterministic and stochastic) and neutral modelling (stochastic). </a:t>
            </a:r>
          </a:p>
          <a:p>
            <a:endParaRPr lang="en-US" dirty="0"/>
          </a:p>
          <a:p>
            <a:r>
              <a:rPr lang="en-US" dirty="0"/>
              <a:t>It has been suggested that initial community assembly is driven by stochastic processes, and deterministic processes shape the community through time. </a:t>
            </a:r>
          </a:p>
          <a:p>
            <a:endParaRPr lang="en-US" dirty="0"/>
          </a:p>
          <a:p>
            <a:r>
              <a:rPr lang="en-US" dirty="0"/>
              <a:t>What do we already know about deterministic processes on glaciers?</a:t>
            </a:r>
          </a:p>
          <a:p>
            <a:endParaRPr lang="en-US" dirty="0"/>
          </a:p>
          <a:p>
            <a:r>
              <a:rPr lang="en-US" dirty="0"/>
              <a:t>What do we already know about stochastic processes on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14</a:t>
            </a:fld>
            <a:endParaRPr lang="en-US"/>
          </a:p>
        </p:txBody>
      </p:sp>
    </p:spTree>
    <p:extLst>
      <p:ext uri="{BB962C8B-B14F-4D97-AF65-F5344CB8AC3E}">
        <p14:creationId xmlns:p14="http://schemas.microsoft.com/office/powerpoint/2010/main" val="28273279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17</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divergence (adaptation to the environment) + genetic drift (random genetic mutations) = evolutionary diversification (evolutionary branching of species through time).</a:t>
            </a:r>
          </a:p>
          <a:p>
            <a:r>
              <a:rPr lang="en-US" dirty="0"/>
              <a:t>Large spatial and temporal scales.</a:t>
            </a:r>
          </a:p>
          <a:p>
            <a:r>
              <a:rPr lang="en-US" dirty="0"/>
              <a:t>Evolution impacts diversity, function and fitness of communities.</a:t>
            </a:r>
          </a:p>
          <a:p>
            <a:r>
              <a:rPr lang="en-US" dirty="0"/>
              <a:t>Evolution contributes to community assembly by contributing new species to the species pool. </a:t>
            </a:r>
          </a:p>
          <a:p>
            <a:r>
              <a:rPr lang="en-US" dirty="0"/>
              <a:t>This is often excluded from study due to the long time scales over which evolution occurs, even for microbial communities. </a:t>
            </a:r>
          </a:p>
        </p:txBody>
      </p:sp>
      <p:sp>
        <p:nvSpPr>
          <p:cNvPr id="4" name="Slide Number Placeholder 3"/>
          <p:cNvSpPr>
            <a:spLocks noGrp="1"/>
          </p:cNvSpPr>
          <p:nvPr>
            <p:ph type="sldNum" sz="quarter" idx="5"/>
          </p:nvPr>
        </p:nvSpPr>
        <p:spPr/>
        <p:txBody>
          <a:bodyPr/>
          <a:lstStyle/>
          <a:p>
            <a:fld id="{91AE2140-D502-214A-B76B-E0784B2C949B}" type="slidenum">
              <a:rPr lang="en-US" smtClean="0"/>
              <a:t>18</a:t>
            </a:fld>
            <a:endParaRPr lang="en-US"/>
          </a:p>
        </p:txBody>
      </p:sp>
    </p:spTree>
    <p:extLst>
      <p:ext uri="{BB962C8B-B14F-4D97-AF65-F5344CB8AC3E}">
        <p14:creationId xmlns:p14="http://schemas.microsoft.com/office/powerpoint/2010/main" val="26808267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the phylogenetic null model approach is dependent on phylogenetic signal </a:t>
            </a:r>
          </a:p>
        </p:txBody>
      </p:sp>
      <p:sp>
        <p:nvSpPr>
          <p:cNvPr id="4" name="Slide Number Placeholder 3"/>
          <p:cNvSpPr>
            <a:spLocks noGrp="1"/>
          </p:cNvSpPr>
          <p:nvPr>
            <p:ph type="sldNum" sz="quarter" idx="5"/>
          </p:nvPr>
        </p:nvSpPr>
        <p:spPr/>
        <p:txBody>
          <a:bodyPr/>
          <a:lstStyle/>
          <a:p>
            <a:fld id="{91AE2140-D502-214A-B76B-E0784B2C949B}" type="slidenum">
              <a:rPr lang="en-US" smtClean="0"/>
              <a:t>20</a:t>
            </a:fld>
            <a:endParaRPr lang="en-US"/>
          </a:p>
        </p:txBody>
      </p:sp>
    </p:spTree>
    <p:extLst>
      <p:ext uri="{BB962C8B-B14F-4D97-AF65-F5344CB8AC3E}">
        <p14:creationId xmlns:p14="http://schemas.microsoft.com/office/powerpoint/2010/main" val="14247534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22</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p:txBody>
      </p:sp>
      <p:sp>
        <p:nvSpPr>
          <p:cNvPr id="4" name="Slide Number Placeholder 3"/>
          <p:cNvSpPr>
            <a:spLocks noGrp="1"/>
          </p:cNvSpPr>
          <p:nvPr>
            <p:ph type="sldNum" sz="quarter" idx="5"/>
          </p:nvPr>
        </p:nvSpPr>
        <p:spPr/>
        <p:txBody>
          <a:bodyPr/>
          <a:lstStyle/>
          <a:p>
            <a:fld id="{91AE2140-D502-214A-B76B-E0784B2C949B}" type="slidenum">
              <a:rPr lang="en-US" smtClean="0"/>
              <a:t>23</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r>
              <a:rPr lang="en-US" dirty="0"/>
              <a:t>X axis = log mean relative abundances of each ASV</a:t>
            </a:r>
          </a:p>
          <a:p>
            <a:r>
              <a:rPr lang="en-US" dirty="0"/>
              <a:t>Y axis = mean occurrence frequency of each ASV </a:t>
            </a:r>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neutral assembly processes can explain the pattern of observed ASV occurrence frequencies </a:t>
            </a:r>
            <a:r>
              <a:rPr lang="en-US" strike="sngStrike" dirty="0"/>
              <a:t>and that the the regional species pool is a driving factor in the community composition of these samples. </a:t>
            </a:r>
          </a:p>
          <a:p>
            <a:r>
              <a:rPr lang="en-US" strike="noStrike" dirty="0"/>
              <a:t>The deviation of predicted occurrence frequencies from observed occurrence frequencies suggests that there are also deterministic processes driving community composition.</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24</a:t>
            </a:fld>
            <a:endParaRPr lang="en-US"/>
          </a:p>
        </p:txBody>
      </p:sp>
    </p:spTree>
    <p:extLst>
      <p:ext uri="{BB962C8B-B14F-4D97-AF65-F5344CB8AC3E}">
        <p14:creationId xmlns:p14="http://schemas.microsoft.com/office/powerpoint/2010/main" val="16695857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A31DA-B431-C54A-874F-C1236B9B36B8}"/>
              </a:ext>
            </a:extLst>
          </p:cNvPr>
          <p:cNvSpPr>
            <a:spLocks noGrp="1"/>
          </p:cNvSpPr>
          <p:nvPr>
            <p:ph type="title"/>
          </p:nvPr>
        </p:nvSpPr>
        <p:spPr/>
        <p:txBody>
          <a:bodyPr/>
          <a:lstStyle/>
          <a:p>
            <a:r>
              <a:rPr lang="en-US" dirty="0"/>
              <a:t>Why are they different? Why should we care?</a:t>
            </a:r>
          </a:p>
        </p:txBody>
      </p:sp>
      <p:sp>
        <p:nvSpPr>
          <p:cNvPr id="4" name="Oval 3">
            <a:extLst>
              <a:ext uri="{FF2B5EF4-FFF2-40B4-BE49-F238E27FC236}">
                <a16:creationId xmlns:a16="http://schemas.microsoft.com/office/drawing/2014/main" id="{4075A81A-7D11-9448-BF36-6D732E7F151C}"/>
              </a:ext>
            </a:extLst>
          </p:cNvPr>
          <p:cNvSpPr/>
          <p:nvPr/>
        </p:nvSpPr>
        <p:spPr>
          <a:xfrm>
            <a:off x="2600326" y="3014662"/>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E4516562-A1F7-4A44-B228-68531F4F81E8}"/>
              </a:ext>
            </a:extLst>
          </p:cNvPr>
          <p:cNvSpPr/>
          <p:nvPr/>
        </p:nvSpPr>
        <p:spPr>
          <a:xfrm>
            <a:off x="3467101" y="37528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BEA4FE-AD89-454B-989F-A777676B2DAB}"/>
              </a:ext>
            </a:extLst>
          </p:cNvPr>
          <p:cNvSpPr/>
          <p:nvPr/>
        </p:nvSpPr>
        <p:spPr>
          <a:xfrm>
            <a:off x="2586038" y="4410075"/>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4E83A67A-C00A-B342-BE75-24729CD2D02F}"/>
              </a:ext>
            </a:extLst>
          </p:cNvPr>
          <p:cNvSpPr/>
          <p:nvPr/>
        </p:nvSpPr>
        <p:spPr>
          <a:xfrm>
            <a:off x="4724401" y="4567237"/>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F55F405-3566-B348-BF65-58C69A1A867A}"/>
              </a:ext>
            </a:extLst>
          </p:cNvPr>
          <p:cNvSpPr/>
          <p:nvPr/>
        </p:nvSpPr>
        <p:spPr>
          <a:xfrm>
            <a:off x="3467101" y="5186360"/>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DD5ABE0-00B9-DD40-8C3A-A0CB5719BCBA}"/>
              </a:ext>
            </a:extLst>
          </p:cNvPr>
          <p:cNvSpPr/>
          <p:nvPr/>
        </p:nvSpPr>
        <p:spPr>
          <a:xfrm>
            <a:off x="4410075" y="2800349"/>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26DB84F-E78D-2A48-A3F2-63B628D47B3F}"/>
              </a:ext>
            </a:extLst>
          </p:cNvPr>
          <p:cNvSpPr/>
          <p:nvPr/>
        </p:nvSpPr>
        <p:spPr>
          <a:xfrm>
            <a:off x="3467100" y="3050382"/>
            <a:ext cx="314325" cy="314325"/>
          </a:xfrm>
          <a:prstGeom prst="ellipse">
            <a:avLst/>
          </a:prstGeom>
          <a:solidFill>
            <a:srgbClr val="92D050"/>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C502950-677E-3049-990E-AEC7AF21DD01}"/>
              </a:ext>
            </a:extLst>
          </p:cNvPr>
          <p:cNvSpPr/>
          <p:nvPr/>
        </p:nvSpPr>
        <p:spPr>
          <a:xfrm>
            <a:off x="3967164" y="4410074"/>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5A94771-F505-D14F-B441-07C73CD0D66B}"/>
              </a:ext>
            </a:extLst>
          </p:cNvPr>
          <p:cNvSpPr/>
          <p:nvPr/>
        </p:nvSpPr>
        <p:spPr>
          <a:xfrm>
            <a:off x="4567238" y="3752848"/>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A3A575E6-7D11-6844-B659-F1F931279368}"/>
              </a:ext>
            </a:extLst>
          </p:cNvPr>
          <p:cNvSpPr/>
          <p:nvPr/>
        </p:nvSpPr>
        <p:spPr>
          <a:xfrm>
            <a:off x="3119438" y="4710111"/>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D5E120C-A984-764E-B4EF-AA70BC53CD10}"/>
              </a:ext>
            </a:extLst>
          </p:cNvPr>
          <p:cNvSpPr/>
          <p:nvPr/>
        </p:nvSpPr>
        <p:spPr>
          <a:xfrm>
            <a:off x="2728912" y="38671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F4679495-EAA4-F64B-8588-1E9DEA49D4C8}"/>
              </a:ext>
            </a:extLst>
          </p:cNvPr>
          <p:cNvSpPr/>
          <p:nvPr/>
        </p:nvSpPr>
        <p:spPr>
          <a:xfrm>
            <a:off x="3967163" y="3378993"/>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F75227F-3BDA-534D-AC82-AA532C3B808A}"/>
              </a:ext>
            </a:extLst>
          </p:cNvPr>
          <p:cNvSpPr/>
          <p:nvPr/>
        </p:nvSpPr>
        <p:spPr>
          <a:xfrm>
            <a:off x="6524626" y="3014662"/>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C9855B0-6DB2-1749-A1D4-4B1B81587D5F}"/>
              </a:ext>
            </a:extLst>
          </p:cNvPr>
          <p:cNvSpPr/>
          <p:nvPr/>
        </p:nvSpPr>
        <p:spPr>
          <a:xfrm>
            <a:off x="7391401" y="3752849"/>
            <a:ext cx="314325" cy="314325"/>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9F5CB4E-153D-EF40-9DD1-4986310BA056}"/>
              </a:ext>
            </a:extLst>
          </p:cNvPr>
          <p:cNvSpPr/>
          <p:nvPr/>
        </p:nvSpPr>
        <p:spPr>
          <a:xfrm>
            <a:off x="6510338" y="4410075"/>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04877B3-DB5A-2E40-9762-5B3784FF014E}"/>
              </a:ext>
            </a:extLst>
          </p:cNvPr>
          <p:cNvSpPr/>
          <p:nvPr/>
        </p:nvSpPr>
        <p:spPr>
          <a:xfrm>
            <a:off x="8648701" y="4567237"/>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53C1F00-2970-264E-8F3C-13F5A89C374D}"/>
              </a:ext>
            </a:extLst>
          </p:cNvPr>
          <p:cNvSpPr/>
          <p:nvPr/>
        </p:nvSpPr>
        <p:spPr>
          <a:xfrm>
            <a:off x="7391401" y="5186360"/>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BE665D8-BD16-C443-A7DB-33C745F5F4C3}"/>
              </a:ext>
            </a:extLst>
          </p:cNvPr>
          <p:cNvSpPr/>
          <p:nvPr/>
        </p:nvSpPr>
        <p:spPr>
          <a:xfrm>
            <a:off x="8334375" y="2800349"/>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8716A6E8-5194-1843-8740-7CFE1E71AC8C}"/>
              </a:ext>
            </a:extLst>
          </p:cNvPr>
          <p:cNvSpPr/>
          <p:nvPr/>
        </p:nvSpPr>
        <p:spPr>
          <a:xfrm>
            <a:off x="7391400" y="3050382"/>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AC7232C0-D3C4-874D-B786-BB148BFF7049}"/>
              </a:ext>
            </a:extLst>
          </p:cNvPr>
          <p:cNvSpPr/>
          <p:nvPr/>
        </p:nvSpPr>
        <p:spPr>
          <a:xfrm>
            <a:off x="7891464" y="4410074"/>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CFB75B72-7751-E244-927A-357FEE2AD292}"/>
              </a:ext>
            </a:extLst>
          </p:cNvPr>
          <p:cNvSpPr/>
          <p:nvPr/>
        </p:nvSpPr>
        <p:spPr>
          <a:xfrm>
            <a:off x="8491538" y="3752848"/>
            <a:ext cx="314325" cy="314325"/>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A90B763-4A6C-AE44-B10A-CAC54BEA55F6}"/>
              </a:ext>
            </a:extLst>
          </p:cNvPr>
          <p:cNvSpPr/>
          <p:nvPr/>
        </p:nvSpPr>
        <p:spPr>
          <a:xfrm>
            <a:off x="7043738" y="4710111"/>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608D13B-D12C-924F-8139-3E7E8F9E180F}"/>
              </a:ext>
            </a:extLst>
          </p:cNvPr>
          <p:cNvSpPr/>
          <p:nvPr/>
        </p:nvSpPr>
        <p:spPr>
          <a:xfrm>
            <a:off x="6653212" y="3867149"/>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6549C0F0-8986-694D-A0BD-8647118E99FE}"/>
              </a:ext>
            </a:extLst>
          </p:cNvPr>
          <p:cNvSpPr/>
          <p:nvPr/>
        </p:nvSpPr>
        <p:spPr>
          <a:xfrm>
            <a:off x="7891463" y="3378993"/>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EA335B55-8B52-5644-A550-2710A16DB226}"/>
              </a:ext>
            </a:extLst>
          </p:cNvPr>
          <p:cNvSpPr txBox="1"/>
          <p:nvPr/>
        </p:nvSpPr>
        <p:spPr>
          <a:xfrm>
            <a:off x="2717006" y="1991378"/>
            <a:ext cx="2164558" cy="523220"/>
          </a:xfrm>
          <a:prstGeom prst="rect">
            <a:avLst/>
          </a:prstGeom>
          <a:noFill/>
        </p:spPr>
        <p:txBody>
          <a:bodyPr wrap="square" rtlCol="0">
            <a:spAutoFit/>
          </a:bodyPr>
          <a:lstStyle/>
          <a:p>
            <a:r>
              <a:rPr lang="en-US" sz="2800" dirty="0"/>
              <a:t>Community 1</a:t>
            </a:r>
          </a:p>
        </p:txBody>
      </p:sp>
      <p:sp>
        <p:nvSpPr>
          <p:cNvPr id="29" name="TextBox 28">
            <a:extLst>
              <a:ext uri="{FF2B5EF4-FFF2-40B4-BE49-F238E27FC236}">
                <a16:creationId xmlns:a16="http://schemas.microsoft.com/office/drawing/2014/main" id="{BC52BB93-C1D8-A04D-98AA-48CAD4AC9990}"/>
              </a:ext>
            </a:extLst>
          </p:cNvPr>
          <p:cNvSpPr txBox="1"/>
          <p:nvPr/>
        </p:nvSpPr>
        <p:spPr>
          <a:xfrm>
            <a:off x="6667500" y="2015520"/>
            <a:ext cx="2164558" cy="523220"/>
          </a:xfrm>
          <a:prstGeom prst="rect">
            <a:avLst/>
          </a:prstGeom>
          <a:noFill/>
        </p:spPr>
        <p:txBody>
          <a:bodyPr wrap="square" rtlCol="0">
            <a:spAutoFit/>
          </a:bodyPr>
          <a:lstStyle/>
          <a:p>
            <a:r>
              <a:rPr lang="en-US" sz="2800" dirty="0"/>
              <a:t>Community 2</a:t>
            </a:r>
          </a:p>
        </p:txBody>
      </p:sp>
    </p:spTree>
    <p:extLst>
      <p:ext uri="{BB962C8B-B14F-4D97-AF65-F5344CB8AC3E}">
        <p14:creationId xmlns:p14="http://schemas.microsoft.com/office/powerpoint/2010/main" val="30550021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B9FC6-0620-0A48-9F8C-295D1BC9A634}"/>
              </a:ext>
            </a:extLst>
          </p:cNvPr>
          <p:cNvSpPr>
            <a:spLocks noGrp="1"/>
          </p:cNvSpPr>
          <p:nvPr>
            <p:ph type="title"/>
          </p:nvPr>
        </p:nvSpPr>
        <p:spPr/>
        <p:txBody>
          <a:bodyPr/>
          <a:lstStyle/>
          <a:p>
            <a:r>
              <a:rPr lang="en-US" dirty="0"/>
              <a:t>Community Assembly Processes</a:t>
            </a:r>
          </a:p>
        </p:txBody>
      </p:sp>
      <p:graphicFrame>
        <p:nvGraphicFramePr>
          <p:cNvPr id="12" name="Diagram 11">
            <a:extLst>
              <a:ext uri="{FF2B5EF4-FFF2-40B4-BE49-F238E27FC236}">
                <a16:creationId xmlns:a16="http://schemas.microsoft.com/office/drawing/2014/main" id="{8B3002D7-459F-0B49-B4AD-4140562B12BC}"/>
              </a:ext>
            </a:extLst>
          </p:cNvPr>
          <p:cNvGraphicFramePr/>
          <p:nvPr>
            <p:extLst>
              <p:ext uri="{D42A27DB-BD31-4B8C-83A1-F6EECF244321}">
                <p14:modId xmlns:p14="http://schemas.microsoft.com/office/powerpoint/2010/main" val="662949717"/>
              </p:ext>
            </p:extLst>
          </p:nvPr>
        </p:nvGraphicFramePr>
        <p:xfrm>
          <a:off x="2489993" y="1690688"/>
          <a:ext cx="7212013" cy="48080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85572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CDC92-0661-1246-80A9-19D7E41E1F07}"/>
              </a:ext>
            </a:extLst>
          </p:cNvPr>
          <p:cNvSpPr>
            <a:spLocks noGrp="1"/>
          </p:cNvSpPr>
          <p:nvPr>
            <p:ph type="title"/>
          </p:nvPr>
        </p:nvSpPr>
        <p:spPr/>
        <p:txBody>
          <a:bodyPr/>
          <a:lstStyle/>
          <a:p>
            <a:r>
              <a:rPr lang="en-US" dirty="0"/>
              <a:t>Supraglacial deterministic processes</a:t>
            </a:r>
          </a:p>
        </p:txBody>
      </p:sp>
      <p:sp>
        <p:nvSpPr>
          <p:cNvPr id="3" name="Content Placeholder 2">
            <a:extLst>
              <a:ext uri="{FF2B5EF4-FFF2-40B4-BE49-F238E27FC236}">
                <a16:creationId xmlns:a16="http://schemas.microsoft.com/office/drawing/2014/main" id="{A3E183A2-E290-3C4B-A147-40B6288AB72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52230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9B114-DB6E-AD4D-BFC4-FDB8D03A7251}"/>
              </a:ext>
            </a:extLst>
          </p:cNvPr>
          <p:cNvSpPr>
            <a:spLocks noGrp="1"/>
          </p:cNvSpPr>
          <p:nvPr>
            <p:ph type="title"/>
          </p:nvPr>
        </p:nvSpPr>
        <p:spPr/>
        <p:txBody>
          <a:bodyPr/>
          <a:lstStyle/>
          <a:p>
            <a:r>
              <a:rPr lang="en-US" dirty="0"/>
              <a:t>Supraglacial stochastic processes</a:t>
            </a:r>
          </a:p>
        </p:txBody>
      </p:sp>
      <p:sp>
        <p:nvSpPr>
          <p:cNvPr id="3" name="Content Placeholder 2">
            <a:extLst>
              <a:ext uri="{FF2B5EF4-FFF2-40B4-BE49-F238E27FC236}">
                <a16:creationId xmlns:a16="http://schemas.microsoft.com/office/drawing/2014/main" id="{6A23DFD4-9C55-9849-993C-859830355257}"/>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82039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20000"/>
          </a:bodyPr>
          <a:lstStyle/>
          <a:p>
            <a:r>
              <a:rPr lang="en-US" dirty="0"/>
              <a:t>Microbial community composition in the supraglacial environment is explained by both deterministic and stochastic processes.</a:t>
            </a:r>
          </a:p>
          <a:p>
            <a:r>
              <a:rPr lang="en-US" dirty="0"/>
              <a:t>Community assembly processes will differ between abundant and rare taxa. </a:t>
            </a:r>
          </a:p>
          <a:p>
            <a:r>
              <a:rPr lang="en-US" dirty="0"/>
              <a:t>Biogeographic patterns (ISAR, DDR) will differ between abundant and rare taxa.</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6C24-0A16-374D-BF9D-60031E2505CD}"/>
              </a:ext>
            </a:extLst>
          </p:cNvPr>
          <p:cNvSpPr>
            <a:spLocks noGrp="1"/>
          </p:cNvSpPr>
          <p:nvPr>
            <p:ph type="title"/>
          </p:nvPr>
        </p:nvSpPr>
        <p:spPr/>
        <p:txBody>
          <a:bodyPr/>
          <a:lstStyle/>
          <a:p>
            <a:r>
              <a:rPr lang="en-US" dirty="0"/>
              <a:t>Analysis Workflow</a:t>
            </a:r>
          </a:p>
        </p:txBody>
      </p:sp>
      <p:graphicFrame>
        <p:nvGraphicFramePr>
          <p:cNvPr id="4" name="Diagram 3">
            <a:extLst>
              <a:ext uri="{FF2B5EF4-FFF2-40B4-BE49-F238E27FC236}">
                <a16:creationId xmlns:a16="http://schemas.microsoft.com/office/drawing/2014/main" id="{123C19CA-2238-F94E-9EC3-78CEF4AA032F}"/>
              </a:ext>
            </a:extLst>
          </p:cNvPr>
          <p:cNvGraphicFramePr/>
          <p:nvPr>
            <p:extLst>
              <p:ext uri="{D42A27DB-BD31-4B8C-83A1-F6EECF244321}">
                <p14:modId xmlns:p14="http://schemas.microsoft.com/office/powerpoint/2010/main" val="3026516631"/>
              </p:ext>
            </p:extLst>
          </p:nvPr>
        </p:nvGraphicFramePr>
        <p:xfrm>
          <a:off x="605307" y="719666"/>
          <a:ext cx="11114468"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10184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CD05-747D-1E45-B228-C14538EB7A69}"/>
              </a:ext>
            </a:extLst>
          </p:cNvPr>
          <p:cNvSpPr>
            <a:spLocks noGrp="1"/>
          </p:cNvSpPr>
          <p:nvPr>
            <p:ph type="title"/>
          </p:nvPr>
        </p:nvSpPr>
        <p:spPr/>
        <p:txBody>
          <a:bodyPr>
            <a:normAutofit fontScale="90000"/>
          </a:bodyPr>
          <a:lstStyle/>
          <a:p>
            <a:r>
              <a:rPr lang="en-US" dirty="0"/>
              <a:t>Sommers et al., (2020) ﻿Microbial Species–Area Relationships in Antarctic Cryoconite Holes Depend on Productivity</a:t>
            </a:r>
          </a:p>
        </p:txBody>
      </p:sp>
      <p:sp>
        <p:nvSpPr>
          <p:cNvPr id="3" name="Content Placeholder 2">
            <a:extLst>
              <a:ext uri="{FF2B5EF4-FFF2-40B4-BE49-F238E27FC236}">
                <a16:creationId xmlns:a16="http://schemas.microsoft.com/office/drawing/2014/main" id="{C03C291E-7610-8743-BC71-FD328E619CDA}"/>
              </a:ext>
            </a:extLst>
          </p:cNvPr>
          <p:cNvSpPr>
            <a:spLocks noGrp="1"/>
          </p:cNvSpPr>
          <p:nvPr>
            <p:ph idx="1"/>
          </p:nvPr>
        </p:nvSpPr>
        <p:spPr/>
        <p:txBody>
          <a:bodyPr/>
          <a:lstStyle/>
          <a:p>
            <a:endParaRPr lang="en-US" dirty="0"/>
          </a:p>
          <a:p>
            <a:r>
              <a:rPr lang="en-US" dirty="0"/>
              <a:t>Recently published</a:t>
            </a:r>
          </a:p>
          <a:p>
            <a:r>
              <a:rPr lang="en-US" dirty="0"/>
              <a:t>Cryoconite communities</a:t>
            </a:r>
          </a:p>
          <a:p>
            <a:r>
              <a:rPr lang="en-US" dirty="0"/>
              <a:t>Detailed information on sequence processing</a:t>
            </a:r>
          </a:p>
          <a:p>
            <a:r>
              <a:rPr lang="en-US" dirty="0"/>
              <a:t>ISAR analysis</a:t>
            </a:r>
          </a:p>
          <a:p>
            <a:r>
              <a:rPr lang="en-US" dirty="0"/>
              <a:t>Includes bacterial and eukaryotic sequence data</a:t>
            </a:r>
          </a:p>
          <a:p>
            <a:r>
              <a:rPr lang="en-US" dirty="0"/>
              <a:t>Includes data from two glaciers</a:t>
            </a:r>
          </a:p>
        </p:txBody>
      </p:sp>
    </p:spTree>
    <p:extLst>
      <p:ext uri="{BB962C8B-B14F-4D97-AF65-F5344CB8AC3E}">
        <p14:creationId xmlns:p14="http://schemas.microsoft.com/office/powerpoint/2010/main" val="2133643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68AB4-FF76-A94F-B32F-7FF7F1B7CE49}"/>
              </a:ext>
            </a:extLst>
          </p:cNvPr>
          <p:cNvSpPr>
            <a:spLocks noGrp="1"/>
          </p:cNvSpPr>
          <p:nvPr>
            <p:ph type="title"/>
          </p:nvPr>
        </p:nvSpPr>
        <p:spPr/>
        <p:txBody>
          <a:bodyPr/>
          <a:lstStyle/>
          <a:p>
            <a:r>
              <a:rPr lang="en-US" dirty="0"/>
              <a:t>QIIME2 &amp; DADA2</a:t>
            </a:r>
          </a:p>
        </p:txBody>
      </p:sp>
      <p:graphicFrame>
        <p:nvGraphicFramePr>
          <p:cNvPr id="4" name="Diagram 3">
            <a:extLst>
              <a:ext uri="{FF2B5EF4-FFF2-40B4-BE49-F238E27FC236}">
                <a16:creationId xmlns:a16="http://schemas.microsoft.com/office/drawing/2014/main" id="{04E634AB-22E0-304B-B405-6C29D3E8790E}"/>
              </a:ext>
            </a:extLst>
          </p:cNvPr>
          <p:cNvGraphicFramePr/>
          <p:nvPr>
            <p:extLst>
              <p:ext uri="{D42A27DB-BD31-4B8C-83A1-F6EECF244321}">
                <p14:modId xmlns:p14="http://schemas.microsoft.com/office/powerpoint/2010/main" val="1972040180"/>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6333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147D-246C-1C4E-9483-9D5FCC7642FC}"/>
              </a:ext>
            </a:extLst>
          </p:cNvPr>
          <p:cNvSpPr>
            <a:spLocks noGrp="1"/>
          </p:cNvSpPr>
          <p:nvPr>
            <p:ph type="title"/>
          </p:nvPr>
        </p:nvSpPr>
        <p:spPr/>
        <p:txBody>
          <a:bodyPr/>
          <a:lstStyle/>
          <a:p>
            <a:r>
              <a:rPr lang="en-US" dirty="0"/>
              <a:t>Data Prep</a:t>
            </a:r>
          </a:p>
        </p:txBody>
      </p:sp>
      <p:graphicFrame>
        <p:nvGraphicFramePr>
          <p:cNvPr id="7" name="Diagram 6">
            <a:extLst>
              <a:ext uri="{FF2B5EF4-FFF2-40B4-BE49-F238E27FC236}">
                <a16:creationId xmlns:a16="http://schemas.microsoft.com/office/drawing/2014/main" id="{B086D1E3-AD9E-5542-B8AC-F2FC4B285B6A}"/>
              </a:ext>
            </a:extLst>
          </p:cNvPr>
          <p:cNvGraphicFramePr/>
          <p:nvPr>
            <p:extLst>
              <p:ext uri="{D42A27DB-BD31-4B8C-83A1-F6EECF244321}">
                <p14:modId xmlns:p14="http://schemas.microsoft.com/office/powerpoint/2010/main" val="4024712381"/>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53838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219C-A256-3B41-862B-643328BC5119}"/>
              </a:ext>
            </a:extLst>
          </p:cNvPr>
          <p:cNvSpPr>
            <a:spLocks noGrp="1"/>
          </p:cNvSpPr>
          <p:nvPr>
            <p:ph type="title"/>
          </p:nvPr>
        </p:nvSpPr>
        <p:spPr/>
        <p:txBody>
          <a:bodyPr/>
          <a:lstStyle/>
          <a:p>
            <a:r>
              <a:rPr lang="en-US" dirty="0"/>
              <a:t>Ordination </a:t>
            </a:r>
          </a:p>
        </p:txBody>
      </p:sp>
      <p:sp>
        <p:nvSpPr>
          <p:cNvPr id="3" name="Content Placeholder 2">
            <a:extLst>
              <a:ext uri="{FF2B5EF4-FFF2-40B4-BE49-F238E27FC236}">
                <a16:creationId xmlns:a16="http://schemas.microsoft.com/office/drawing/2014/main" id="{28B86DE3-8EDB-3A49-8E50-7FD4218F36FD}"/>
              </a:ext>
            </a:extLst>
          </p:cNvPr>
          <p:cNvSpPr>
            <a:spLocks noGrp="1"/>
          </p:cNvSpPr>
          <p:nvPr>
            <p:ph idx="1"/>
          </p:nvPr>
        </p:nvSpPr>
        <p:spPr/>
        <p:txBody>
          <a:bodyPr/>
          <a:lstStyle/>
          <a:p>
            <a:r>
              <a:rPr lang="en-US" dirty="0"/>
              <a:t>Data taken from: Sommers et al., (2020) </a:t>
            </a:r>
            <a:r>
              <a:rPr lang="en-GB" dirty="0"/>
              <a:t>Microbial Species – Area Relationships in Antarctic Cryoconite Holes Depend on Productivity</a:t>
            </a:r>
          </a:p>
          <a:p>
            <a:r>
              <a:rPr lang="en-GB" dirty="0"/>
              <a:t>Principal Coordinate Analysis to explore variation in community composition between the glaciers</a:t>
            </a:r>
            <a:endParaRPr lang="en-US" dirty="0"/>
          </a:p>
          <a:p>
            <a:endParaRPr lang="en-US" dirty="0"/>
          </a:p>
        </p:txBody>
      </p:sp>
    </p:spTree>
    <p:extLst>
      <p:ext uri="{BB962C8B-B14F-4D97-AF65-F5344CB8AC3E}">
        <p14:creationId xmlns:p14="http://schemas.microsoft.com/office/powerpoint/2010/main" val="26959058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5D3B-A455-EF48-91C3-A3250798EA64}"/>
              </a:ext>
            </a:extLst>
          </p:cNvPr>
          <p:cNvSpPr>
            <a:spLocks noGrp="1"/>
          </p:cNvSpPr>
          <p:nvPr>
            <p:ph type="title"/>
          </p:nvPr>
        </p:nvSpPr>
        <p:spPr/>
        <p:txBody>
          <a:bodyPr/>
          <a:lstStyle/>
          <a:p>
            <a:r>
              <a:rPr lang="en-US" dirty="0"/>
              <a:t>Alpha Diversity</a:t>
            </a:r>
          </a:p>
        </p:txBody>
      </p:sp>
      <p:sp>
        <p:nvSpPr>
          <p:cNvPr id="3" name="Content Placeholder 2">
            <a:extLst>
              <a:ext uri="{FF2B5EF4-FFF2-40B4-BE49-F238E27FC236}">
                <a16:creationId xmlns:a16="http://schemas.microsoft.com/office/drawing/2014/main" id="{2049920E-B358-7147-8331-3683EC758770}"/>
              </a:ext>
            </a:extLst>
          </p:cNvPr>
          <p:cNvSpPr>
            <a:spLocks noGrp="1"/>
          </p:cNvSpPr>
          <p:nvPr>
            <p:ph idx="1"/>
          </p:nvPr>
        </p:nvSpPr>
        <p:spPr/>
        <p:txBody>
          <a:bodyPr/>
          <a:lstStyle/>
          <a:p>
            <a:r>
              <a:rPr lang="en-US" dirty="0"/>
              <a:t>ASV richness</a:t>
            </a:r>
          </a:p>
          <a:p>
            <a:r>
              <a:rPr lang="en-US" dirty="0"/>
              <a:t>Shannon Diversity</a:t>
            </a:r>
          </a:p>
        </p:txBody>
      </p:sp>
    </p:spTree>
    <p:extLst>
      <p:ext uri="{BB962C8B-B14F-4D97-AF65-F5344CB8AC3E}">
        <p14:creationId xmlns:p14="http://schemas.microsoft.com/office/powerpoint/2010/main" val="3987674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959AC-EC01-BB40-9AF0-DCE9E14A298A}"/>
              </a:ext>
            </a:extLst>
          </p:cNvPr>
          <p:cNvSpPr>
            <a:spLocks noGrp="1"/>
          </p:cNvSpPr>
          <p:nvPr>
            <p:ph type="title"/>
          </p:nvPr>
        </p:nvSpPr>
        <p:spPr/>
        <p:txBody>
          <a:bodyPr/>
          <a:lstStyle/>
          <a:p>
            <a:r>
              <a:rPr lang="en-US" dirty="0"/>
              <a:t>Beta Diversity </a:t>
            </a:r>
          </a:p>
        </p:txBody>
      </p:sp>
      <p:sp>
        <p:nvSpPr>
          <p:cNvPr id="3" name="Content Placeholder 2">
            <a:extLst>
              <a:ext uri="{FF2B5EF4-FFF2-40B4-BE49-F238E27FC236}">
                <a16:creationId xmlns:a16="http://schemas.microsoft.com/office/drawing/2014/main" id="{B4135107-2C54-4541-9E57-EB148207FCF7}"/>
              </a:ext>
            </a:extLst>
          </p:cNvPr>
          <p:cNvSpPr>
            <a:spLocks noGrp="1"/>
          </p:cNvSpPr>
          <p:nvPr>
            <p:ph idx="1"/>
          </p:nvPr>
        </p:nvSpPr>
        <p:spPr/>
        <p:txBody>
          <a:bodyPr/>
          <a:lstStyle/>
          <a:p>
            <a:r>
              <a:rPr lang="en-US" dirty="0"/>
              <a:t>Weighted </a:t>
            </a:r>
            <a:r>
              <a:rPr lang="en-US" dirty="0" err="1"/>
              <a:t>UniFrac</a:t>
            </a:r>
            <a:r>
              <a:rPr lang="en-US" dirty="0"/>
              <a:t> Distance</a:t>
            </a:r>
          </a:p>
        </p:txBody>
      </p:sp>
    </p:spTree>
    <p:extLst>
      <p:ext uri="{BB962C8B-B14F-4D97-AF65-F5344CB8AC3E}">
        <p14:creationId xmlns:p14="http://schemas.microsoft.com/office/powerpoint/2010/main" val="6337245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3173D-92A9-A142-88D2-12113C65FC43}"/>
              </a:ext>
            </a:extLst>
          </p:cNvPr>
          <p:cNvSpPr>
            <a:spLocks noGrp="1"/>
          </p:cNvSpPr>
          <p:nvPr>
            <p:ph type="title"/>
          </p:nvPr>
        </p:nvSpPr>
        <p:spPr/>
        <p:txBody>
          <a:bodyPr/>
          <a:lstStyle/>
          <a:p>
            <a:r>
              <a:rPr lang="en-US" dirty="0"/>
              <a:t>Multivariate Analysis</a:t>
            </a:r>
          </a:p>
        </p:txBody>
      </p:sp>
      <p:sp>
        <p:nvSpPr>
          <p:cNvPr id="3" name="Content Placeholder 2">
            <a:extLst>
              <a:ext uri="{FF2B5EF4-FFF2-40B4-BE49-F238E27FC236}">
                <a16:creationId xmlns:a16="http://schemas.microsoft.com/office/drawing/2014/main" id="{F9E2B9F6-D3F8-6F45-9AB8-A0B941544B0C}"/>
              </a:ext>
            </a:extLst>
          </p:cNvPr>
          <p:cNvSpPr>
            <a:spLocks noGrp="1"/>
          </p:cNvSpPr>
          <p:nvPr>
            <p:ph idx="1"/>
          </p:nvPr>
        </p:nvSpPr>
        <p:spPr/>
        <p:txBody>
          <a:bodyPr/>
          <a:lstStyle/>
          <a:p>
            <a:r>
              <a:rPr lang="en-US" dirty="0"/>
              <a:t>Kruskal-Wallis to compare alpha diversity between glaciers</a:t>
            </a:r>
          </a:p>
          <a:p>
            <a:r>
              <a:rPr lang="en-US" dirty="0"/>
              <a:t>Permutation Multivariate Analysis of Variance (PERMANOVA) to identify if community composition varied between glaciers</a:t>
            </a:r>
          </a:p>
          <a:p>
            <a:r>
              <a:rPr lang="en-US" dirty="0"/>
              <a:t>Canonical Analysis of Principal Coordinates (CAP) used to identify the variation in community composition explained by pH, cryoconite hole area, cryoconite hole depth, water content and chlorophyll</a:t>
            </a:r>
          </a:p>
          <a:p>
            <a:endParaRPr lang="en-US" dirty="0"/>
          </a:p>
        </p:txBody>
      </p:sp>
    </p:spTree>
    <p:extLst>
      <p:ext uri="{BB962C8B-B14F-4D97-AF65-F5344CB8AC3E}">
        <p14:creationId xmlns:p14="http://schemas.microsoft.com/office/powerpoint/2010/main" val="41680002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p:txBody>
          <a:bodyPr/>
          <a:lstStyle/>
          <a:p>
            <a:r>
              <a:rPr lang="en-US" dirty="0"/>
              <a:t>Island Species-Area Relationship (ISAR)</a:t>
            </a:r>
          </a:p>
        </p:txBody>
      </p:sp>
      <p:sp>
        <p:nvSpPr>
          <p:cNvPr id="3" name="Content Placeholder 2">
            <a:extLst>
              <a:ext uri="{FF2B5EF4-FFF2-40B4-BE49-F238E27FC236}">
                <a16:creationId xmlns:a16="http://schemas.microsoft.com/office/drawing/2014/main" id="{8164F5FD-2E5F-5C41-AD49-D588DDF7513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251788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p:txBody>
          <a:bodyPr/>
          <a:lstStyle/>
          <a:p>
            <a:r>
              <a:rPr lang="en-US" dirty="0"/>
              <a:t>Distance-Decay Relationship (DDR)</a:t>
            </a:r>
          </a:p>
        </p:txBody>
      </p:sp>
      <p:sp>
        <p:nvSpPr>
          <p:cNvPr id="3" name="Content Placeholder 2">
            <a:extLst>
              <a:ext uri="{FF2B5EF4-FFF2-40B4-BE49-F238E27FC236}">
                <a16:creationId xmlns:a16="http://schemas.microsoft.com/office/drawing/2014/main" id="{8C99AD61-FFDB-C541-AC73-40B69F35175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103124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p:txBody>
          <a:bodyPr/>
          <a:lstStyle/>
          <a:p>
            <a:r>
              <a:rPr lang="en-US" dirty="0"/>
              <a:t>Community Assembly Processes</a:t>
            </a:r>
          </a:p>
        </p:txBody>
      </p:sp>
      <p:sp>
        <p:nvSpPr>
          <p:cNvPr id="3" name="Content Placeholder 2">
            <a:extLst>
              <a:ext uri="{FF2B5EF4-FFF2-40B4-BE49-F238E27FC236}">
                <a16:creationId xmlns:a16="http://schemas.microsoft.com/office/drawing/2014/main" id="{F90D7D02-C8D3-3346-98EA-A1F2BC2048E4}"/>
              </a:ext>
            </a:extLst>
          </p:cNvPr>
          <p:cNvSpPr>
            <a:spLocks noGrp="1"/>
          </p:cNvSpPr>
          <p:nvPr>
            <p:ph idx="1"/>
          </p:nvPr>
        </p:nvSpPr>
        <p:spPr/>
        <p:txBody>
          <a:bodyPr/>
          <a:lstStyle/>
          <a:p>
            <a:r>
              <a:rPr lang="en-US" dirty="0"/>
              <a:t>Variable selection</a:t>
            </a:r>
          </a:p>
          <a:p>
            <a:r>
              <a:rPr lang="en-US" dirty="0"/>
              <a:t>Homogenizing selection</a:t>
            </a:r>
          </a:p>
          <a:p>
            <a:r>
              <a:rPr lang="en-US" dirty="0"/>
              <a:t>Dispersal limitation</a:t>
            </a:r>
          </a:p>
          <a:p>
            <a:r>
              <a:rPr lang="en-US" dirty="0"/>
              <a:t>Homogenizing dispersal</a:t>
            </a:r>
          </a:p>
          <a:p>
            <a:r>
              <a:rPr lang="en-US" dirty="0"/>
              <a:t>Ecological drift</a:t>
            </a:r>
          </a:p>
        </p:txBody>
      </p:sp>
    </p:spTree>
    <p:extLst>
      <p:ext uri="{BB962C8B-B14F-4D97-AF65-F5344CB8AC3E}">
        <p14:creationId xmlns:p14="http://schemas.microsoft.com/office/powerpoint/2010/main" val="569368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26D42-074B-1E4B-A777-A7DC340A8715}"/>
              </a:ext>
            </a:extLst>
          </p:cNvPr>
          <p:cNvSpPr>
            <a:spLocks noGrp="1"/>
          </p:cNvSpPr>
          <p:nvPr>
            <p:ph type="title"/>
          </p:nvPr>
        </p:nvSpPr>
        <p:spPr/>
        <p:txBody>
          <a:bodyPr/>
          <a:lstStyle/>
          <a:p>
            <a:r>
              <a:rPr lang="en-US" dirty="0"/>
              <a:t>Evolutionary Diversification</a:t>
            </a:r>
          </a:p>
        </p:txBody>
      </p:sp>
      <p:sp>
        <p:nvSpPr>
          <p:cNvPr id="3" name="Content Placeholder 2">
            <a:extLst>
              <a:ext uri="{FF2B5EF4-FFF2-40B4-BE49-F238E27FC236}">
                <a16:creationId xmlns:a16="http://schemas.microsoft.com/office/drawing/2014/main" id="{1CA944D9-62DB-F04F-A3DA-3DD8B531DB20}"/>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9820181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p:txBody>
          <a:bodyPr/>
          <a:lstStyle/>
          <a:p>
            <a:r>
              <a:rPr lang="en-US" dirty="0"/>
              <a:t>Phylogenetic Null Model</a:t>
            </a:r>
          </a:p>
        </p:txBody>
      </p:sp>
      <p:sp>
        <p:nvSpPr>
          <p:cNvPr id="3" name="Content Placeholder 2">
            <a:extLst>
              <a:ext uri="{FF2B5EF4-FFF2-40B4-BE49-F238E27FC236}">
                <a16:creationId xmlns:a16="http://schemas.microsoft.com/office/drawing/2014/main" id="{5BADFAAF-DC9F-AC4F-9CCF-4761A7AC07D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8389305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p:txBody>
          <a:bodyPr/>
          <a:lstStyle/>
          <a:p>
            <a:r>
              <a:rPr lang="en-US" dirty="0"/>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3"/>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964B50-1133-7740-B87C-5F128B15AF84}"/>
              </a:ext>
            </a:extLst>
          </p:cNvPr>
          <p:cNvSpPr>
            <a:spLocks noGrp="1"/>
          </p:cNvSpPr>
          <p:nvPr>
            <p:ph type="title"/>
          </p:nvPr>
        </p:nvSpPr>
        <p:spPr/>
        <p:txBody>
          <a:bodyPr/>
          <a:lstStyle/>
          <a:p>
            <a:r>
              <a:rPr lang="el-GR" dirty="0"/>
              <a:t>β</a:t>
            </a:r>
            <a:r>
              <a:rPr lang="en-US" dirty="0"/>
              <a:t>-Nearest Taxon Index</a:t>
            </a:r>
          </a:p>
        </p:txBody>
      </p:sp>
      <p:sp>
        <p:nvSpPr>
          <p:cNvPr id="3" name="Content Placeholder 2">
            <a:extLst>
              <a:ext uri="{FF2B5EF4-FFF2-40B4-BE49-F238E27FC236}">
                <a16:creationId xmlns:a16="http://schemas.microsoft.com/office/drawing/2014/main" id="{A128397E-478A-7C43-B224-54FEC2B5BD9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150273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p:txBody>
          <a:bodyPr/>
          <a:lstStyle/>
          <a:p>
            <a:r>
              <a:rPr lang="en-US" dirty="0"/>
              <a:t>Sloan’s Neutral Model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xmlns="">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847024"/>
            <a:ext cx="1616826" cy="1754326"/>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7610397" y="1348724"/>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1" y="2601350"/>
            <a:ext cx="844635"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500231" y="12476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EDE13FD-762C-E645-B28E-EFAF1603682A}"/>
                  </a:ext>
                </a:extLst>
              </p:cNvPr>
              <p:cNvSpPr txBox="1"/>
              <p:nvPr/>
            </p:nvSpPr>
            <p:spPr>
              <a:xfrm>
                <a:off x="2078182" y="5785658"/>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xmlns="">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078182" y="5785658"/>
                <a:ext cx="8296102" cy="369332"/>
              </a:xfrm>
              <a:prstGeom prst="rect">
                <a:avLst/>
              </a:prstGeom>
              <a:blipFill>
                <a:blip r:embed="rId4"/>
                <a:stretch>
                  <a:fillRect t="-10345" b="-24138"/>
                </a:stretch>
              </a:blipFill>
            </p:spPr>
            <p:txBody>
              <a:bodyPr/>
              <a:lstStyle/>
              <a:p>
                <a:r>
                  <a:rPr lang="en-US">
                    <a:noFill/>
                  </a:rPr>
                  <a:t> </a:t>
                </a:r>
              </a:p>
            </p:txBody>
          </p:sp>
        </mc:Fallback>
      </mc:AlternateContent>
    </p:spTree>
    <p:extLst>
      <p:ext uri="{BB962C8B-B14F-4D97-AF65-F5344CB8AC3E}">
        <p14:creationId xmlns:p14="http://schemas.microsoft.com/office/powerpoint/2010/main" val="2102182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p:txBody>
          <a:bodyPr/>
          <a:lstStyle/>
          <a:p>
            <a:r>
              <a:rPr lang="en-US" dirty="0"/>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755050813"/>
              </p:ext>
            </p:extLst>
          </p:nvPr>
        </p:nvGraphicFramePr>
        <p:xfrm>
          <a:off x="3200400" y="623359"/>
          <a:ext cx="84582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059778" y="1027906"/>
            <a:ext cx="8327233" cy="555148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p:txBody>
          <a:bodyPr/>
          <a:lstStyle/>
          <a:p>
            <a:r>
              <a:rPr lang="en-US" dirty="0"/>
              <a:t>Results</a:t>
            </a:r>
          </a:p>
        </p:txBody>
      </p:sp>
    </p:spTree>
    <p:extLst>
      <p:ext uri="{BB962C8B-B14F-4D97-AF65-F5344CB8AC3E}">
        <p14:creationId xmlns:p14="http://schemas.microsoft.com/office/powerpoint/2010/main" val="9662271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p:txBody>
          <a:bodyPr/>
          <a:lstStyle/>
          <a:p>
            <a:r>
              <a:rPr lang="en-US" dirty="0"/>
              <a:t>Co-Occurrence Network Analysis</a:t>
            </a:r>
          </a:p>
        </p:txBody>
      </p:sp>
      <p:sp>
        <p:nvSpPr>
          <p:cNvPr id="3" name="Content Placeholder 2">
            <a:extLst>
              <a:ext uri="{FF2B5EF4-FFF2-40B4-BE49-F238E27FC236}">
                <a16:creationId xmlns:a16="http://schemas.microsoft.com/office/drawing/2014/main" id="{958C73FE-1CD3-9D4C-8447-A79ED529B7A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046988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5613</TotalTime>
  <Words>2603</Words>
  <Application>Microsoft Macintosh PowerPoint</Application>
  <PresentationFormat>Widescreen</PresentationFormat>
  <Paragraphs>230</Paragraphs>
  <Slides>25</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Why are they different? Why should we care?</vt:lpstr>
      <vt:lpstr>Community Assembly Processes</vt:lpstr>
      <vt:lpstr>Supraglacial deterministic processes</vt:lpstr>
      <vt:lpstr>Supraglacial stochastic processes</vt:lpstr>
      <vt:lpstr>Hypotheses</vt:lpstr>
      <vt:lpstr>Analysis Workflow</vt:lpstr>
      <vt:lpstr>Sommers et al., (2020) ﻿Microbial Species–Area Relationships in Antarctic Cryoconite Holes Depend on Productivity</vt:lpstr>
      <vt:lpstr>QIIME2 &amp; DADA2</vt:lpstr>
      <vt:lpstr>Data Prep</vt:lpstr>
      <vt:lpstr>Ordination </vt:lpstr>
      <vt:lpstr>Alpha Diversity</vt:lpstr>
      <vt:lpstr>Beta Diversity </vt:lpstr>
      <vt:lpstr>Multivariate Analysis</vt:lpstr>
      <vt:lpstr>Island Species-Area Relationship (ISAR)</vt:lpstr>
      <vt:lpstr>Distance-Decay Relationship (DDR)</vt:lpstr>
      <vt:lpstr>Community Assembly Processes</vt:lpstr>
      <vt:lpstr>Evolutionary Diversification</vt:lpstr>
      <vt:lpstr>Phylogenetic Null Model</vt:lpstr>
      <vt:lpstr>Phylogenetic Signal</vt:lpstr>
      <vt:lpstr>β-Nearest Taxon Index</vt:lpstr>
      <vt:lpstr>Sloan’s Neutral Model</vt:lpstr>
      <vt:lpstr>Code</vt:lpstr>
      <vt:lpstr>Results</vt:lpstr>
      <vt:lpstr>Co-Occurrence Network Analysis</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Amy Bo Tinky Solman</cp:lastModifiedBy>
  <cp:revision>54</cp:revision>
  <dcterms:created xsi:type="dcterms:W3CDTF">2021-04-15T08:49:25Z</dcterms:created>
  <dcterms:modified xsi:type="dcterms:W3CDTF">2021-04-20T06:13:25Z</dcterms:modified>
</cp:coreProperties>
</file>