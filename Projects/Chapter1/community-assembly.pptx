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9.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79" r:id="rId3"/>
    <p:sldId id="264" r:id="rId4"/>
    <p:sldId id="268" r:id="rId5"/>
    <p:sldId id="269" r:id="rId6"/>
    <p:sldId id="270" r:id="rId7"/>
    <p:sldId id="280" r:id="rId8"/>
    <p:sldId id="281" r:id="rId9"/>
    <p:sldId id="283" r:id="rId10"/>
    <p:sldId id="282" r:id="rId11"/>
    <p:sldId id="287" r:id="rId12"/>
    <p:sldId id="299" r:id="rId13"/>
    <p:sldId id="300" r:id="rId14"/>
    <p:sldId id="301" r:id="rId15"/>
    <p:sldId id="302" r:id="rId16"/>
    <p:sldId id="274" r:id="rId17"/>
    <p:sldId id="288" r:id="rId18"/>
    <p:sldId id="289" r:id="rId19"/>
    <p:sldId id="290" r:id="rId20"/>
    <p:sldId id="291" r:id="rId21"/>
    <p:sldId id="292" r:id="rId22"/>
    <p:sldId id="284" r:id="rId23"/>
    <p:sldId id="285" r:id="rId24"/>
    <p:sldId id="286" r:id="rId25"/>
    <p:sldId id="263" r:id="rId26"/>
    <p:sldId id="258" r:id="rId27"/>
    <p:sldId id="259" r:id="rId28"/>
    <p:sldId id="261" r:id="rId29"/>
    <p:sldId id="277" r:id="rId30"/>
    <p:sldId id="278" r:id="rId31"/>
    <p:sldId id="293" r:id="rId32"/>
    <p:sldId id="271" r:id="rId33"/>
    <p:sldId id="265" r:id="rId34"/>
    <p:sldId id="260" r:id="rId35"/>
    <p:sldId id="262" r:id="rId36"/>
    <p:sldId id="294" r:id="rId37"/>
    <p:sldId id="298" r:id="rId38"/>
    <p:sldId id="295" r:id="rId39"/>
    <p:sldId id="296" r:id="rId40"/>
    <p:sldId id="297"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3"/>
    <a:srgbClr val="5C9BD5"/>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244"/>
    <p:restoredTop sz="83256"/>
  </p:normalViewPr>
  <p:slideViewPr>
    <p:cSldViewPr snapToGrid="0" snapToObjects="1">
      <p:cViewPr>
        <p:scale>
          <a:sx n="90" d="100"/>
          <a:sy n="90" d="100"/>
        </p:scale>
        <p:origin x="-1928" y="2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F4A8053-4923-A24E-AEC5-81BF6014CBC8}" type="doc">
      <dgm:prSet loTypeId="urn:microsoft.com/office/officeart/2005/8/layout/venn1" loCatId="" qsTypeId="urn:microsoft.com/office/officeart/2005/8/quickstyle/simple1" qsCatId="simple" csTypeId="urn:microsoft.com/office/officeart/2005/8/colors/colorful4" csCatId="colorful" phldr="1"/>
      <dgm:spPr/>
    </dgm:pt>
    <dgm:pt modelId="{7F8359A3-B9CF-6D4B-8037-57FE1863EDF2}">
      <dgm:prSet phldrT="[Text]"/>
      <dgm:spPr/>
      <dgm:t>
        <a:bodyPr/>
        <a:lstStyle/>
        <a:p>
          <a:r>
            <a:rPr lang="en-US" dirty="0"/>
            <a:t>Selection</a:t>
          </a:r>
        </a:p>
      </dgm:t>
    </dgm:pt>
    <dgm:pt modelId="{B0B7F09A-A873-7049-9697-5CF8A7964645}" type="parTrans" cxnId="{22E0002F-3AB5-A944-A9A5-20F9CD6BC590}">
      <dgm:prSet/>
      <dgm:spPr/>
      <dgm:t>
        <a:bodyPr/>
        <a:lstStyle/>
        <a:p>
          <a:endParaRPr lang="en-US"/>
        </a:p>
      </dgm:t>
    </dgm:pt>
    <dgm:pt modelId="{B699ECE7-0CE4-8B41-A16C-D2DA25295E5A}" type="sibTrans" cxnId="{22E0002F-3AB5-A944-A9A5-20F9CD6BC590}">
      <dgm:prSet/>
      <dgm:spPr/>
      <dgm:t>
        <a:bodyPr/>
        <a:lstStyle/>
        <a:p>
          <a:endParaRPr lang="en-US"/>
        </a:p>
      </dgm:t>
    </dgm:pt>
    <dgm:pt modelId="{0475E55C-BC76-CC49-A6EA-4425DC97CB71}">
      <dgm:prSet phldrT="[Text]"/>
      <dgm:spPr/>
      <dgm:t>
        <a:bodyPr/>
        <a:lstStyle/>
        <a:p>
          <a:r>
            <a:rPr lang="en-US" dirty="0"/>
            <a:t>Dispersal</a:t>
          </a:r>
        </a:p>
      </dgm:t>
    </dgm:pt>
    <dgm:pt modelId="{CAC93909-FC75-1A4A-AC6C-8A176D84B327}" type="parTrans" cxnId="{6C7751D4-1294-EB42-9CAD-B69CD70ABD32}">
      <dgm:prSet/>
      <dgm:spPr/>
      <dgm:t>
        <a:bodyPr/>
        <a:lstStyle/>
        <a:p>
          <a:endParaRPr lang="en-US"/>
        </a:p>
      </dgm:t>
    </dgm:pt>
    <dgm:pt modelId="{6589743F-27BF-6740-9E4C-996261639427}" type="sibTrans" cxnId="{6C7751D4-1294-EB42-9CAD-B69CD70ABD32}">
      <dgm:prSet/>
      <dgm:spPr/>
      <dgm:t>
        <a:bodyPr/>
        <a:lstStyle/>
        <a:p>
          <a:endParaRPr lang="en-US"/>
        </a:p>
      </dgm:t>
    </dgm:pt>
    <dgm:pt modelId="{C77A4A92-8829-554D-A202-9E33F357FC68}">
      <dgm:prSet phldrT="[Text]"/>
      <dgm:spPr/>
      <dgm:t>
        <a:bodyPr/>
        <a:lstStyle/>
        <a:p>
          <a:r>
            <a:rPr lang="en-US" dirty="0"/>
            <a:t>Ecological Drift</a:t>
          </a:r>
        </a:p>
      </dgm:t>
    </dgm:pt>
    <dgm:pt modelId="{CD6B9D5D-8787-D348-92EC-DD8D371AAF2D}" type="parTrans" cxnId="{E16A4536-2D03-6141-932B-DB32ABF87EDF}">
      <dgm:prSet/>
      <dgm:spPr/>
      <dgm:t>
        <a:bodyPr/>
        <a:lstStyle/>
        <a:p>
          <a:endParaRPr lang="en-US"/>
        </a:p>
      </dgm:t>
    </dgm:pt>
    <dgm:pt modelId="{DE11C94D-1CAD-B04E-8F8C-6BD6380124BA}" type="sibTrans" cxnId="{E16A4536-2D03-6141-932B-DB32ABF87EDF}">
      <dgm:prSet/>
      <dgm:spPr/>
      <dgm:t>
        <a:bodyPr/>
        <a:lstStyle/>
        <a:p>
          <a:endParaRPr lang="en-US"/>
        </a:p>
      </dgm:t>
    </dgm:pt>
    <dgm:pt modelId="{99849F71-D68B-6349-82AD-85F23C18C551}" type="pres">
      <dgm:prSet presAssocID="{8F4A8053-4923-A24E-AEC5-81BF6014CBC8}" presName="compositeShape" presStyleCnt="0">
        <dgm:presLayoutVars>
          <dgm:chMax val="7"/>
          <dgm:dir/>
          <dgm:resizeHandles val="exact"/>
        </dgm:presLayoutVars>
      </dgm:prSet>
      <dgm:spPr/>
    </dgm:pt>
    <dgm:pt modelId="{25E2C31A-9C32-8244-A94C-1A921F1582B3}" type="pres">
      <dgm:prSet presAssocID="{7F8359A3-B9CF-6D4B-8037-57FE1863EDF2}" presName="circ1" presStyleLbl="vennNode1" presStyleIdx="0" presStyleCnt="3"/>
      <dgm:spPr/>
    </dgm:pt>
    <dgm:pt modelId="{12CDB55E-5DD0-DE4F-96C4-703F4165CACE}" type="pres">
      <dgm:prSet presAssocID="{7F8359A3-B9CF-6D4B-8037-57FE1863EDF2}" presName="circ1Tx" presStyleLbl="revTx" presStyleIdx="0" presStyleCnt="0">
        <dgm:presLayoutVars>
          <dgm:chMax val="0"/>
          <dgm:chPref val="0"/>
          <dgm:bulletEnabled val="1"/>
        </dgm:presLayoutVars>
      </dgm:prSet>
      <dgm:spPr/>
    </dgm:pt>
    <dgm:pt modelId="{7DAC2FF7-8C69-8544-B207-8AD8ED8CC18E}" type="pres">
      <dgm:prSet presAssocID="{0475E55C-BC76-CC49-A6EA-4425DC97CB71}" presName="circ2" presStyleLbl="vennNode1" presStyleIdx="1" presStyleCnt="3"/>
      <dgm:spPr/>
    </dgm:pt>
    <dgm:pt modelId="{76DE5FBD-4E39-D141-A1C7-AC8C1D7BAF55}" type="pres">
      <dgm:prSet presAssocID="{0475E55C-BC76-CC49-A6EA-4425DC97CB71}" presName="circ2Tx" presStyleLbl="revTx" presStyleIdx="0" presStyleCnt="0">
        <dgm:presLayoutVars>
          <dgm:chMax val="0"/>
          <dgm:chPref val="0"/>
          <dgm:bulletEnabled val="1"/>
        </dgm:presLayoutVars>
      </dgm:prSet>
      <dgm:spPr/>
    </dgm:pt>
    <dgm:pt modelId="{C13988BE-4667-2C42-B802-C07898FB496F}" type="pres">
      <dgm:prSet presAssocID="{C77A4A92-8829-554D-A202-9E33F357FC68}" presName="circ3" presStyleLbl="vennNode1" presStyleIdx="2" presStyleCnt="3"/>
      <dgm:spPr/>
    </dgm:pt>
    <dgm:pt modelId="{63B1BA92-5CBD-5D43-B807-32F00F93F4C2}" type="pres">
      <dgm:prSet presAssocID="{C77A4A92-8829-554D-A202-9E33F357FC68}" presName="circ3Tx" presStyleLbl="revTx" presStyleIdx="0" presStyleCnt="0">
        <dgm:presLayoutVars>
          <dgm:chMax val="0"/>
          <dgm:chPref val="0"/>
          <dgm:bulletEnabled val="1"/>
        </dgm:presLayoutVars>
      </dgm:prSet>
      <dgm:spPr/>
    </dgm:pt>
  </dgm:ptLst>
  <dgm:cxnLst>
    <dgm:cxn modelId="{22E0002F-3AB5-A944-A9A5-20F9CD6BC590}" srcId="{8F4A8053-4923-A24E-AEC5-81BF6014CBC8}" destId="{7F8359A3-B9CF-6D4B-8037-57FE1863EDF2}" srcOrd="0" destOrd="0" parTransId="{B0B7F09A-A873-7049-9697-5CF8A7964645}" sibTransId="{B699ECE7-0CE4-8B41-A16C-D2DA25295E5A}"/>
    <dgm:cxn modelId="{E16A4536-2D03-6141-932B-DB32ABF87EDF}" srcId="{8F4A8053-4923-A24E-AEC5-81BF6014CBC8}" destId="{C77A4A92-8829-554D-A202-9E33F357FC68}" srcOrd="2" destOrd="0" parTransId="{CD6B9D5D-8787-D348-92EC-DD8D371AAF2D}" sibTransId="{DE11C94D-1CAD-B04E-8F8C-6BD6380124BA}"/>
    <dgm:cxn modelId="{30926E4F-908A-2648-A053-9920F727B0EC}" type="presOf" srcId="{0475E55C-BC76-CC49-A6EA-4425DC97CB71}" destId="{76DE5FBD-4E39-D141-A1C7-AC8C1D7BAF55}" srcOrd="1" destOrd="0" presId="urn:microsoft.com/office/officeart/2005/8/layout/venn1"/>
    <dgm:cxn modelId="{1CE78F51-CC2E-DD49-9AB8-215DB2E3873F}" type="presOf" srcId="{7F8359A3-B9CF-6D4B-8037-57FE1863EDF2}" destId="{25E2C31A-9C32-8244-A94C-1A921F1582B3}" srcOrd="0" destOrd="0" presId="urn:microsoft.com/office/officeart/2005/8/layout/venn1"/>
    <dgm:cxn modelId="{77AD5456-ADF9-5144-901C-53774063F956}" type="presOf" srcId="{7F8359A3-B9CF-6D4B-8037-57FE1863EDF2}" destId="{12CDB55E-5DD0-DE4F-96C4-703F4165CACE}" srcOrd="1" destOrd="0" presId="urn:microsoft.com/office/officeart/2005/8/layout/venn1"/>
    <dgm:cxn modelId="{43CD5461-142A-BC4E-90AB-21C84DA1623D}" type="presOf" srcId="{C77A4A92-8829-554D-A202-9E33F357FC68}" destId="{63B1BA92-5CBD-5D43-B807-32F00F93F4C2}" srcOrd="1" destOrd="0" presId="urn:microsoft.com/office/officeart/2005/8/layout/venn1"/>
    <dgm:cxn modelId="{903EFF63-DF67-514E-8054-8C572B8FB92F}" type="presOf" srcId="{C77A4A92-8829-554D-A202-9E33F357FC68}" destId="{C13988BE-4667-2C42-B802-C07898FB496F}" srcOrd="0" destOrd="0" presId="urn:microsoft.com/office/officeart/2005/8/layout/venn1"/>
    <dgm:cxn modelId="{01B8258E-F57E-024C-9034-8CCCDFC3C0BF}" type="presOf" srcId="{0475E55C-BC76-CC49-A6EA-4425DC97CB71}" destId="{7DAC2FF7-8C69-8544-B207-8AD8ED8CC18E}" srcOrd="0" destOrd="0" presId="urn:microsoft.com/office/officeart/2005/8/layout/venn1"/>
    <dgm:cxn modelId="{E502D9AF-D72C-8E4E-B145-ADD72D368CFD}" type="presOf" srcId="{8F4A8053-4923-A24E-AEC5-81BF6014CBC8}" destId="{99849F71-D68B-6349-82AD-85F23C18C551}" srcOrd="0" destOrd="0" presId="urn:microsoft.com/office/officeart/2005/8/layout/venn1"/>
    <dgm:cxn modelId="{6C7751D4-1294-EB42-9CAD-B69CD70ABD32}" srcId="{8F4A8053-4923-A24E-AEC5-81BF6014CBC8}" destId="{0475E55C-BC76-CC49-A6EA-4425DC97CB71}" srcOrd="1" destOrd="0" parTransId="{CAC93909-FC75-1A4A-AC6C-8A176D84B327}" sibTransId="{6589743F-27BF-6740-9E4C-996261639427}"/>
    <dgm:cxn modelId="{D16D97F3-DFAD-144F-84C9-FD14C1B6A643}" type="presParOf" srcId="{99849F71-D68B-6349-82AD-85F23C18C551}" destId="{25E2C31A-9C32-8244-A94C-1A921F1582B3}" srcOrd="0" destOrd="0" presId="urn:microsoft.com/office/officeart/2005/8/layout/venn1"/>
    <dgm:cxn modelId="{68F31C22-3EB3-7546-80D3-71255CEF552E}" type="presParOf" srcId="{99849F71-D68B-6349-82AD-85F23C18C551}" destId="{12CDB55E-5DD0-DE4F-96C4-703F4165CACE}" srcOrd="1" destOrd="0" presId="urn:microsoft.com/office/officeart/2005/8/layout/venn1"/>
    <dgm:cxn modelId="{ED19B7B3-6FAE-BD49-9E19-A1C4E1D85B26}" type="presParOf" srcId="{99849F71-D68B-6349-82AD-85F23C18C551}" destId="{7DAC2FF7-8C69-8544-B207-8AD8ED8CC18E}" srcOrd="2" destOrd="0" presId="urn:microsoft.com/office/officeart/2005/8/layout/venn1"/>
    <dgm:cxn modelId="{B964DD3B-9CC4-174F-A633-FBFB58832294}" type="presParOf" srcId="{99849F71-D68B-6349-82AD-85F23C18C551}" destId="{76DE5FBD-4E39-D141-A1C7-AC8C1D7BAF55}" srcOrd="3" destOrd="0" presId="urn:microsoft.com/office/officeart/2005/8/layout/venn1"/>
    <dgm:cxn modelId="{720B36BF-859B-B64D-8DC5-26567BAA7DE8}" type="presParOf" srcId="{99849F71-D68B-6349-82AD-85F23C18C551}" destId="{C13988BE-4667-2C42-B802-C07898FB496F}" srcOrd="4" destOrd="0" presId="urn:microsoft.com/office/officeart/2005/8/layout/venn1"/>
    <dgm:cxn modelId="{43A3809A-FA93-8346-91EF-D786EBA2C43D}" type="presParOf" srcId="{99849F71-D68B-6349-82AD-85F23C18C551}" destId="{63B1BA92-5CBD-5D43-B807-32F00F93F4C2}"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the size of the metacommunity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E2C31A-9C32-8244-A94C-1A921F1582B3}">
      <dsp:nvSpPr>
        <dsp:cNvPr id="0" name=""/>
        <dsp:cNvSpPr/>
      </dsp:nvSpPr>
      <dsp:spPr>
        <a:xfrm>
          <a:off x="2163603" y="60100"/>
          <a:ext cx="2884805" cy="2884805"/>
        </a:xfrm>
        <a:prstGeom prst="ellipse">
          <a:avLst/>
        </a:prstGeom>
        <a:solidFill>
          <a:schemeClr val="accent4">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Selection</a:t>
          </a:r>
        </a:p>
      </dsp:txBody>
      <dsp:txXfrm>
        <a:off x="2548244" y="564941"/>
        <a:ext cx="2115523" cy="1298162"/>
      </dsp:txXfrm>
    </dsp:sp>
    <dsp:sp modelId="{7DAC2FF7-8C69-8544-B207-8AD8ED8CC18E}">
      <dsp:nvSpPr>
        <dsp:cNvPr id="0" name=""/>
        <dsp:cNvSpPr/>
      </dsp:nvSpPr>
      <dsp:spPr>
        <a:xfrm>
          <a:off x="3204537" y="1863103"/>
          <a:ext cx="2884805" cy="2884805"/>
        </a:xfrm>
        <a:prstGeom prst="ellipse">
          <a:avLst/>
        </a:prstGeom>
        <a:solidFill>
          <a:schemeClr val="accent4">
            <a:alpha val="50000"/>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Dispersal</a:t>
          </a:r>
        </a:p>
      </dsp:txBody>
      <dsp:txXfrm>
        <a:off x="4086807" y="2608344"/>
        <a:ext cx="1730883" cy="1586642"/>
      </dsp:txXfrm>
    </dsp:sp>
    <dsp:sp modelId="{C13988BE-4667-2C42-B802-C07898FB496F}">
      <dsp:nvSpPr>
        <dsp:cNvPr id="0" name=""/>
        <dsp:cNvSpPr/>
      </dsp:nvSpPr>
      <dsp:spPr>
        <a:xfrm>
          <a:off x="1122669" y="1863103"/>
          <a:ext cx="2884805" cy="2884805"/>
        </a:xfrm>
        <a:prstGeom prst="ellipse">
          <a:avLst/>
        </a:prstGeom>
        <a:solidFill>
          <a:schemeClr val="accent4">
            <a:alpha val="50000"/>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Ecological Drift</a:t>
          </a:r>
        </a:p>
      </dsp:txBody>
      <dsp:txXfrm>
        <a:off x="1394322" y="2608344"/>
        <a:ext cx="1730883" cy="1586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00015" y="661"/>
          <a:ext cx="8258168" cy="773906"/>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Extract ASV table from </a:t>
          </a:r>
          <a:r>
            <a:rPr lang="en-US" sz="1600" kern="1200" dirty="0" err="1"/>
            <a:t>phyloseq</a:t>
          </a:r>
          <a:r>
            <a:rPr lang="en-US" sz="1600" kern="1200" dirty="0"/>
            <a:t> object</a:t>
          </a:r>
        </a:p>
      </dsp:txBody>
      <dsp:txXfrm>
        <a:off x="122682" y="23328"/>
        <a:ext cx="8212834" cy="728572"/>
      </dsp:txXfrm>
    </dsp:sp>
    <dsp:sp modelId="{91DA19BA-A0AB-564A-8A9E-322DF18B64CF}">
      <dsp:nvSpPr>
        <dsp:cNvPr id="0" name=""/>
        <dsp:cNvSpPr/>
      </dsp:nvSpPr>
      <dsp:spPr>
        <a:xfrm rot="5400000">
          <a:off x="4083992" y="793915"/>
          <a:ext cx="290214" cy="3482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822936"/>
        <a:ext cx="208955" cy="203150"/>
      </dsp:txXfrm>
    </dsp:sp>
    <dsp:sp modelId="{43D2067A-91F6-8745-98BA-D6A10B24950A}">
      <dsp:nvSpPr>
        <dsp:cNvPr id="0" name=""/>
        <dsp:cNvSpPr/>
      </dsp:nvSpPr>
      <dsp:spPr>
        <a:xfrm>
          <a:off x="128588" y="1161520"/>
          <a:ext cx="8201023" cy="773906"/>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size of the metacommunity (</a:t>
          </a:r>
          <a:r>
            <a:rPr lang="en-US" sz="1600" i="1" kern="1200" dirty="0"/>
            <a:t>N</a:t>
          </a:r>
          <a:r>
            <a:rPr lang="en-US" sz="1600" kern="1200" dirty="0"/>
            <a:t>) by finding the mean number of reads per sample. We also find the limit of detection (</a:t>
          </a:r>
          <a:r>
            <a:rPr lang="en-US" sz="1600" i="1" kern="1200" dirty="0"/>
            <a:t>d</a:t>
          </a:r>
          <a:r>
            <a:rPr lang="en-US" sz="1600" kern="1200" dirty="0"/>
            <a:t>) = </a:t>
          </a:r>
          <a:r>
            <a:rPr lang="en-US" sz="1600" i="1" kern="1200" dirty="0"/>
            <a:t>1/N</a:t>
          </a:r>
        </a:p>
      </dsp:txBody>
      <dsp:txXfrm>
        <a:off x="151255" y="1184187"/>
        <a:ext cx="8155689" cy="728572"/>
      </dsp:txXfrm>
    </dsp:sp>
    <dsp:sp modelId="{D067C965-9057-9C4A-A1D2-4912C14C50F7}">
      <dsp:nvSpPr>
        <dsp:cNvPr id="0" name=""/>
        <dsp:cNvSpPr/>
      </dsp:nvSpPr>
      <dsp:spPr>
        <a:xfrm rot="5400000">
          <a:off x="4083992" y="1954774"/>
          <a:ext cx="290214" cy="3482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1983795"/>
        <a:ext cx="208955" cy="203150"/>
      </dsp:txXfrm>
    </dsp:sp>
    <dsp:sp modelId="{80C05A4E-2A0A-294C-8DDC-052E97D834DA}">
      <dsp:nvSpPr>
        <dsp:cNvPr id="0" name=""/>
        <dsp:cNvSpPr/>
      </dsp:nvSpPr>
      <dsp:spPr>
        <a:xfrm>
          <a:off x="157161" y="2322380"/>
          <a:ext cx="8143877" cy="77390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mean observed relative abundance and occurrence frequency of each ASV</a:t>
          </a:r>
        </a:p>
      </dsp:txBody>
      <dsp:txXfrm>
        <a:off x="179828" y="2345047"/>
        <a:ext cx="8098543" cy="728572"/>
      </dsp:txXfrm>
    </dsp:sp>
    <dsp:sp modelId="{B3C2DB7A-EC33-6544-A09D-B1205728770A}">
      <dsp:nvSpPr>
        <dsp:cNvPr id="0" name=""/>
        <dsp:cNvSpPr/>
      </dsp:nvSpPr>
      <dsp:spPr>
        <a:xfrm rot="5400000">
          <a:off x="4083992" y="3115634"/>
          <a:ext cx="290214" cy="3482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3144655"/>
        <a:ext cx="208955" cy="203150"/>
      </dsp:txXfrm>
    </dsp:sp>
    <dsp:sp modelId="{6F6C8E07-FBAD-3F4D-A906-27ECCF26E70E}">
      <dsp:nvSpPr>
        <dsp:cNvPr id="0" name=""/>
        <dsp:cNvSpPr/>
      </dsp:nvSpPr>
      <dsp:spPr>
        <a:xfrm>
          <a:off x="171447" y="3483239"/>
          <a:ext cx="8115305" cy="77390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non-linear least squares fitting we fit the neutral model to our data to find, finding the probability of dispersal (</a:t>
          </a:r>
          <a:r>
            <a:rPr lang="en-US" sz="1600" i="1" kern="1200" dirty="0"/>
            <a:t>m</a:t>
          </a:r>
          <a:r>
            <a:rPr lang="en-US" sz="1600" kern="1200" dirty="0"/>
            <a:t>)</a:t>
          </a:r>
        </a:p>
      </dsp:txBody>
      <dsp:txXfrm>
        <a:off x="194114" y="3505906"/>
        <a:ext cx="8069971" cy="728572"/>
      </dsp:txXfrm>
    </dsp:sp>
    <dsp:sp modelId="{48489AC1-89DA-0F48-B940-23505B5798FF}">
      <dsp:nvSpPr>
        <dsp:cNvPr id="0" name=""/>
        <dsp:cNvSpPr/>
      </dsp:nvSpPr>
      <dsp:spPr>
        <a:xfrm rot="5400000">
          <a:off x="4083992" y="4276493"/>
          <a:ext cx="290214" cy="3482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4305514"/>
        <a:ext cx="208955" cy="203150"/>
      </dsp:txXfrm>
    </dsp:sp>
    <dsp:sp modelId="{80377AF5-BC76-FB40-840E-12C9D1BDB641}">
      <dsp:nvSpPr>
        <dsp:cNvPr id="0" name=""/>
        <dsp:cNvSpPr/>
      </dsp:nvSpPr>
      <dsp:spPr>
        <a:xfrm>
          <a:off x="157161" y="4644099"/>
          <a:ext cx="8143877" cy="77390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the estimated value of </a:t>
          </a:r>
          <a:r>
            <a:rPr lang="en-US" sz="1600" i="1" kern="1200" dirty="0"/>
            <a:t>m</a:t>
          </a:r>
          <a:r>
            <a:rPr lang="en-US" sz="1600" kern="1200" dirty="0"/>
            <a:t> we calculate predicted occurrence frequencies and plot predictions from the neutral model against observed frequencies</a:t>
          </a:r>
        </a:p>
      </dsp:txBody>
      <dsp:txXfrm>
        <a:off x="179828" y="4666766"/>
        <a:ext cx="8098543" cy="72857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a:p>
            <a:endParaRPr lang="en-US" dirty="0"/>
          </a:p>
          <a:p>
            <a:r>
              <a:rPr lang="en-US" dirty="0"/>
              <a:t>This study aims to develop an in-depth understanding of cryoconite community interactions and assembly processes. Particular questions of interest include:</a:t>
            </a:r>
          </a:p>
          <a:p>
            <a:r>
              <a:rPr lang="en-US" dirty="0"/>
              <a:t>(</a:t>
            </a:r>
            <a:r>
              <a:rPr lang="en-US" dirty="0" err="1"/>
              <a:t>i</a:t>
            </a:r>
            <a:r>
              <a:rPr lang="en-US" dirty="0"/>
              <a:t>) Do cryoconite community exhibit nonrandom co-occurrence patterns?</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turnover in community composition (that is, the difference in abundance and diversity of biological communities between locations) is shaped by ecological drift, selection and dispersal</a:t>
            </a:r>
          </a:p>
          <a:p>
            <a:endParaRPr lang="en-US" dirty="0"/>
          </a:p>
          <a:p>
            <a:r>
              <a:rPr lang="en-US" dirty="0"/>
              <a:t>Community assembly processes can be stochastic or deterministic.</a:t>
            </a:r>
          </a:p>
          <a:p>
            <a:r>
              <a:rPr lang="en-US" dirty="0"/>
              <a:t>Stochastic processes are random birth, death and dispersal events .</a:t>
            </a:r>
          </a:p>
          <a:p>
            <a:r>
              <a:rPr lang="en-US" dirty="0"/>
              <a:t>Deterministic processes arise from fitness differences between species, that drive their habitat preferences.</a:t>
            </a:r>
          </a:p>
          <a:p>
            <a:r>
              <a:rPr lang="en-US" dirty="0"/>
              <a:t>Adaptive traits (e.g. tolerance to low temperatures) define fitness differences (e.g. the greater reproductive success of one species in a cold habitat as compared to another, less reproductively successful species) and may be phylogenetically conserved (e.g. present in species with closer evolutionarily relationships – two species that have a more recent common ancestor may share tolerance to low temperatures that gives both greater reproductive success as compared to a third organism that has a more distance evolutionary relationship).</a:t>
            </a:r>
          </a:p>
          <a:p>
            <a:r>
              <a:rPr lang="en-US" dirty="0"/>
              <a:t>Closely evolutionarily related species will share adaptive traits that define their fitness differences and drive habitat preferences. So, the environmental constraints of habitat A may facilitate species with close evolutionary histories, while the community of habitat B may share close evolutionary histories with each other while the beta diversity (the change in community composition between habitat A and B) is driven deterministically by those environmental constrains. </a:t>
            </a:r>
          </a:p>
          <a:p>
            <a:r>
              <a:rPr lang="en-US" dirty="0"/>
              <a:t>Both stochastic (birth, death) and deterministic (fitness difference) processes are influenced by dispersal rates.</a:t>
            </a:r>
          </a:p>
          <a:p>
            <a:r>
              <a:rPr lang="en-US" dirty="0"/>
              <a:t>Dispersal = the replacement of a dead individual in the local community with a random individual from the regional species pool.</a:t>
            </a:r>
          </a:p>
          <a:p>
            <a:r>
              <a:rPr lang="en-US" dirty="0"/>
              <a:t>We don’t know much about the ecological factors influencing bacterial dispersal rates.</a:t>
            </a:r>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p:txBody>
      </p:sp>
      <p:sp>
        <p:nvSpPr>
          <p:cNvPr id="4" name="Slide Number Placeholder 3"/>
          <p:cNvSpPr>
            <a:spLocks noGrp="1"/>
          </p:cNvSpPr>
          <p:nvPr>
            <p:ph type="sldNum" sz="quarter" idx="5"/>
          </p:nvPr>
        </p:nvSpPr>
        <p:spPr/>
        <p:txBody>
          <a:bodyPr/>
          <a:lstStyle/>
          <a:p>
            <a:fld id="{91AE2140-D502-214A-B76B-E0784B2C949B}" type="slidenum">
              <a:rPr lang="en-US" smtClean="0"/>
              <a:t>3</a:t>
            </a:fld>
            <a:endParaRPr lang="en-US"/>
          </a:p>
        </p:txBody>
      </p:sp>
    </p:spTree>
    <p:extLst>
      <p:ext uri="{BB962C8B-B14F-4D97-AF65-F5344CB8AC3E}">
        <p14:creationId xmlns:p14="http://schemas.microsoft.com/office/powerpoint/2010/main" val="399017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8</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9</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Calculated ASV richness and Shannon Diversity Index for each Glacier</a:t>
            </a:r>
          </a:p>
          <a:p>
            <a:r>
              <a:rPr lang="en-US" sz="1200" dirty="0"/>
              <a:t>Used Two Samples T-Test to compare ASV richness between glaciers (as count data was normally distributed) </a:t>
            </a:r>
          </a:p>
          <a:p>
            <a:r>
              <a:rPr lang="en-US" sz="1200" dirty="0"/>
              <a:t>Result: No significant difference between ASV richness (</a:t>
            </a:r>
            <a:r>
              <a:rPr lang="en-US" sz="1200" i="1" dirty="0"/>
              <a:t>p=0.052</a:t>
            </a:r>
            <a:r>
              <a:rPr lang="en-US" sz="1200" dirty="0"/>
              <a:t>) </a:t>
            </a:r>
          </a:p>
          <a:p>
            <a:r>
              <a:rPr lang="en-US" sz="1200" dirty="0"/>
              <a:t>Used Two Samples Wilcoxon Test to compare Shannon Diversity Index for each glacier (as index data was not normally distribute)</a:t>
            </a:r>
          </a:p>
          <a:p>
            <a:r>
              <a:rPr lang="en-US" sz="1200" dirty="0"/>
              <a:t>Result: No significant difference between Shannon Diversity (</a:t>
            </a:r>
            <a:r>
              <a:rPr lang="en-US" sz="1200" i="1" dirty="0"/>
              <a:t>p=0.581</a:t>
            </a:r>
            <a:r>
              <a:rPr lang="en-US" sz="1200" dirty="0"/>
              <a:t>)</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12</a:t>
            </a:fld>
            <a:endParaRPr lang="en-US"/>
          </a:p>
        </p:txBody>
      </p:sp>
    </p:spTree>
    <p:extLst>
      <p:ext uri="{BB962C8B-B14F-4D97-AF65-F5344CB8AC3E}">
        <p14:creationId xmlns:p14="http://schemas.microsoft.com/office/powerpoint/2010/main" val="547813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calculated the beta diversity between glaciers using weighted </a:t>
            </a:r>
            <a:r>
              <a:rPr lang="en-US" dirty="0" err="1"/>
              <a:t>unifrac</a:t>
            </a:r>
            <a:r>
              <a:rPr lang="en-US" dirty="0"/>
              <a:t> distances used the distance function in </a:t>
            </a:r>
            <a:r>
              <a:rPr lang="en-US" dirty="0" err="1"/>
              <a:t>phyloseq</a:t>
            </a:r>
            <a:r>
              <a:rPr lang="en-US" dirty="0"/>
              <a:t> package.</a:t>
            </a:r>
          </a:p>
          <a:p>
            <a:r>
              <a:rPr lang="en-US" dirty="0"/>
              <a:t>I used permutational multivariate analysis of variance (PERMANOVA) to find if community composition significantly varied between glaciers using 999 permutations</a:t>
            </a:r>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41326726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arenR"/>
            </a:pPr>
            <a:r>
              <a:rPr lang="en-US" dirty="0"/>
              <a:t>Used ‘vegan’ package to get Shannon, Simpsons, Inverted Simpsons Diversity Indexes of count data in each sample. Also </a:t>
            </a:r>
            <a:r>
              <a:rPr lang="en-US" dirty="0" err="1"/>
              <a:t>Pilou</a:t>
            </a:r>
            <a:r>
              <a:rPr lang="en-US" dirty="0"/>
              <a:t> evenness and Faith’s phylogenetic diversity. </a:t>
            </a:r>
          </a:p>
          <a:p>
            <a:pPr marL="228600" indent="-228600">
              <a:buAutoNum type="arabicParenR"/>
            </a:pPr>
            <a:endParaRPr lang="en-US" dirty="0"/>
          </a:p>
          <a:p>
            <a:pPr marL="228600" indent="-228600">
              <a:buAutoNum type="arabicParenR"/>
            </a:pPr>
            <a:r>
              <a:rPr lang="en-US" dirty="0"/>
              <a:t>Alternatively use alpha() function from microbiome package to calculate all indices at one!</a:t>
            </a:r>
          </a:p>
          <a:p>
            <a:pPr marL="228600" indent="-228600">
              <a:buAutoNum type="arabicParenR"/>
            </a:pPr>
            <a:endParaRPr lang="en-US" dirty="0"/>
          </a:p>
          <a:p>
            <a:pPr marL="228600" indent="-228600">
              <a:buAutoNum type="arabicParenR"/>
            </a:pPr>
            <a:r>
              <a:rPr lang="en-US" dirty="0"/>
              <a:t>Here we have boxplots comparing the diversity indices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16</a:t>
            </a:fld>
            <a:endParaRPr lang="en-US"/>
          </a:p>
        </p:txBody>
      </p:sp>
    </p:spTree>
    <p:extLst>
      <p:ext uri="{BB962C8B-B14F-4D97-AF65-F5344CB8AC3E}">
        <p14:creationId xmlns:p14="http://schemas.microsoft.com/office/powerpoint/2010/main" val="3006070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of phylogenetic diversities of the two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17</a:t>
            </a:fld>
            <a:endParaRPr lang="en-US"/>
          </a:p>
        </p:txBody>
      </p:sp>
    </p:spTree>
    <p:extLst>
      <p:ext uri="{BB962C8B-B14F-4D97-AF65-F5344CB8AC3E}">
        <p14:creationId xmlns:p14="http://schemas.microsoft.com/office/powerpoint/2010/main" val="40339710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Relative abundance plots, agglomerated by Class</a:t>
            </a:r>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7611708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#Unweighted </a:t>
            </a:r>
            <a:r>
              <a:rPr lang="en-US" dirty="0" err="1"/>
              <a:t>unifrac</a:t>
            </a:r>
            <a:r>
              <a:rPr lang="en-US" dirty="0"/>
              <a:t> is based on presence/absence not abundance - but it is sensitive to sequencing depth. So if a sample is of greater depth than other reads it may have more low abundance taxa and therefore effect the </a:t>
            </a:r>
            <a:r>
              <a:rPr lang="en-US" dirty="0" err="1"/>
              <a:t>unifrac</a:t>
            </a:r>
            <a:r>
              <a:rPr lang="en-US" dirty="0"/>
              <a:t> metric</a:t>
            </a:r>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1274742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Looked for evidence of compositionality. By multiplying ASV table by itself we can look for evidence of covariance.</a:t>
            </a:r>
          </a:p>
          <a:p>
            <a:r>
              <a:rPr lang="en-US" dirty="0"/>
              <a:t>#We then find the determinant of the covariance matrix and if the answer is 0 we have evidence of compositionality in the data – the result was 0 so the data is compositional.</a:t>
            </a:r>
          </a:p>
          <a:p>
            <a:endParaRPr lang="en-US" dirty="0"/>
          </a:p>
          <a:p>
            <a:r>
              <a:rPr lang="en-US" dirty="0"/>
              <a:t>2) Because out data are compositional we then need to transform them for downstream analysis</a:t>
            </a:r>
          </a:p>
          <a:p>
            <a:r>
              <a:rPr lang="en-US" dirty="0"/>
              <a:t>#Step Four: Perform a Log-Ratio </a:t>
            </a:r>
            <a:r>
              <a:rPr lang="en-US" dirty="0" err="1"/>
              <a:t>trasnformation</a:t>
            </a:r>
            <a:endParaRPr lang="en-US" dirty="0"/>
          </a:p>
          <a:p>
            <a:r>
              <a:rPr lang="en-US" dirty="0"/>
              <a:t>#This will </a:t>
            </a:r>
            <a:r>
              <a:rPr lang="en-US" dirty="0" err="1"/>
              <a:t>normalise</a:t>
            </a:r>
            <a:r>
              <a:rPr lang="en-US" dirty="0"/>
              <a:t> the ASV data within each sample</a:t>
            </a:r>
          </a:p>
          <a:p>
            <a:endParaRPr lang="en-US" dirty="0"/>
          </a:p>
          <a:p>
            <a:r>
              <a:rPr lang="en-US" dirty="0"/>
              <a:t>3) Look at the difference the log-ratio transformation has made to the covariance of the data</a:t>
            </a:r>
          </a:p>
          <a:p>
            <a:endParaRPr lang="en-US" dirty="0"/>
          </a:p>
          <a:p>
            <a:r>
              <a:rPr lang="en-US" dirty="0"/>
              <a:t>4) Figure 6: Perform Principal Component Analysis on Log-Ratio Transformed Data, Create visual representation of PCA and plot</a:t>
            </a:r>
          </a:p>
          <a:p>
            <a:endParaRPr lang="en-US" dirty="0"/>
          </a:p>
          <a:p>
            <a:r>
              <a:rPr lang="en-US" dirty="0"/>
              <a:t>5) Figure 7: </a:t>
            </a:r>
            <a:r>
              <a:rPr lang="en-US" dirty="0" err="1"/>
              <a:t>Visualise</a:t>
            </a:r>
            <a:r>
              <a:rPr lang="en-US" dirty="0"/>
              <a:t> and plot the </a:t>
            </a:r>
            <a:r>
              <a:rPr lang="en-US" dirty="0" err="1"/>
              <a:t>pca</a:t>
            </a:r>
            <a:r>
              <a:rPr lang="en-US" dirty="0"/>
              <a:t> </a:t>
            </a:r>
          </a:p>
          <a:p>
            <a:endParaRPr lang="en-US" dirty="0"/>
          </a:p>
          <a:p>
            <a:r>
              <a:rPr lang="en-US" dirty="0"/>
              <a:t>6) Computed the </a:t>
            </a:r>
            <a:r>
              <a:rPr lang="en-US" dirty="0" err="1"/>
              <a:t>jaccard</a:t>
            </a:r>
            <a:r>
              <a:rPr lang="en-US" dirty="0"/>
              <a:t> distance metric</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22</a:t>
            </a:fld>
            <a:endParaRPr lang="en-US"/>
          </a:p>
        </p:txBody>
      </p:sp>
    </p:spTree>
    <p:extLst>
      <p:ext uri="{BB962C8B-B14F-4D97-AF65-F5344CB8AC3E}">
        <p14:creationId xmlns:p14="http://schemas.microsoft.com/office/powerpoint/2010/main" val="1719508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performed linear regressions between the explanatory variables (glaciers) and response variables (richness, depth, area, chlorophyll, </a:t>
            </a:r>
            <a:r>
              <a:rPr lang="en-US" dirty="0" err="1"/>
              <a:t>dna</a:t>
            </a:r>
            <a:r>
              <a:rPr lang="en-US" dirty="0"/>
              <a:t> per gram, diversity indices).</a:t>
            </a:r>
          </a:p>
          <a:p>
            <a:endParaRPr lang="en-US" dirty="0"/>
          </a:p>
          <a:p>
            <a:r>
              <a:rPr lang="en-US" dirty="0"/>
              <a:t>I then constructed ANOVA tables of the linear regression models to gauge their statistical significance. </a:t>
            </a:r>
          </a:p>
          <a:p>
            <a:endParaRPr lang="en-US" dirty="0"/>
          </a:p>
          <a:p>
            <a:r>
              <a:rPr lang="en-US" dirty="0"/>
              <a:t>#Analysis of Variance (ANOVA), a linear model analysis. We want to ask: is the ASV richness/chlorophyll/hole size/hole depth/DNA per gram between glaciers significantly different? Plot the data divided into glacier groups</a:t>
            </a:r>
          </a:p>
          <a:p>
            <a:r>
              <a:rPr lang="en-US" dirty="0"/>
              <a:t>#ANOVA quantifies the signal to noise ratio. How different are our groups in ratio to how spread out the data are? ANOVA will tell us how confident we can be that we are not being fooled by a type I error (a false positive difference between the groups)</a:t>
            </a:r>
          </a:p>
          <a:p>
            <a:r>
              <a:rPr lang="en-US" dirty="0"/>
              <a:t>#ANOVA will: 1) quantify the overall variability of the dataset. 2) Divide that variability into the variability between and within groups. More signal = more </a:t>
            </a:r>
            <a:r>
              <a:rPr lang="en-US" dirty="0" err="1"/>
              <a:t>condifent</a:t>
            </a:r>
            <a:r>
              <a:rPr lang="en-US" dirty="0"/>
              <a:t>. More noise = less confident.</a:t>
            </a:r>
          </a:p>
          <a:p>
            <a:endParaRPr lang="en-US" dirty="0"/>
          </a:p>
          <a:p>
            <a:r>
              <a:rPr lang="en-US" dirty="0"/>
              <a:t>The ANOVA tables showed there was significant difference between the glaciers in terms of ASV richness, cryoconite hole depth, the </a:t>
            </a:r>
            <a:r>
              <a:rPr lang="en-US" dirty="0" err="1"/>
              <a:t>dna</a:t>
            </a:r>
            <a:r>
              <a:rPr lang="en-US" dirty="0"/>
              <a:t> per gram of cryoconite and faith’s pd.</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34193417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 Regression Analysis</a:t>
            </a:r>
          </a:p>
          <a:p>
            <a:r>
              <a:rPr lang="en-US" dirty="0"/>
              <a:t>#We use linear regression analysis if our explanatory variable is continuous </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24</a:t>
            </a:fld>
            <a:endParaRPr lang="en-US"/>
          </a:p>
        </p:txBody>
      </p:sp>
    </p:spTree>
    <p:extLst>
      <p:ext uri="{BB962C8B-B14F-4D97-AF65-F5344CB8AC3E}">
        <p14:creationId xmlns:p14="http://schemas.microsoft.com/office/powerpoint/2010/main" val="29761298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Multivariate analysis can allow us to look at the relationship between community composition and environmental characteristics – these are deterministic, non-random processes. </a:t>
            </a:r>
            <a:r>
              <a:rPr lang="en-US" dirty="0" err="1"/>
              <a:t>Investiagation</a:t>
            </a:r>
            <a:r>
              <a:rPr lang="en-US" dirty="0"/>
              <a:t> into deterministic processes of community assembly (e.g. relationship between community composition and environmental characteristics) dominate most studies of microbial community assembly, </a:t>
            </a:r>
            <a:r>
              <a:rPr lang="en-US" dirty="0" err="1"/>
              <a:t>howeber</a:t>
            </a:r>
            <a:r>
              <a:rPr lang="en-US" dirty="0"/>
              <a:t>, it is likely both deterministic and stochastic processes contribute to community assembly. This is why I combine multivariate and network analysis (deterministic) with phylogenetic null modelling (deterministic and stochastic) and neutral modelling (stochastic). </a:t>
            </a:r>
          </a:p>
          <a:p>
            <a:endParaRPr lang="en-US" dirty="0"/>
          </a:p>
          <a:p>
            <a:r>
              <a:rPr lang="en-US" dirty="0"/>
              <a:t>It has been suggested that initial community assembly is driven by stochastic processes, and deterministic processes shape the community through time. </a:t>
            </a:r>
          </a:p>
          <a:p>
            <a:endParaRPr lang="en-US" dirty="0"/>
          </a:p>
          <a:p>
            <a:r>
              <a:rPr lang="en-US" dirty="0"/>
              <a:t>What do we already know about deterministic processes on glaciers?</a:t>
            </a:r>
          </a:p>
          <a:p>
            <a:endParaRPr lang="en-US" dirty="0"/>
          </a:p>
          <a:p>
            <a:r>
              <a:rPr lang="en-US" dirty="0"/>
              <a:t>What do we already know about stochastic processes on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25</a:t>
            </a:fld>
            <a:endParaRPr lang="en-US"/>
          </a:p>
        </p:txBody>
      </p:sp>
    </p:spTree>
    <p:extLst>
      <p:ext uri="{BB962C8B-B14F-4D97-AF65-F5344CB8AC3E}">
        <p14:creationId xmlns:p14="http://schemas.microsoft.com/office/powerpoint/2010/main" val="28273279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p:txBody>
      </p:sp>
      <p:sp>
        <p:nvSpPr>
          <p:cNvPr id="4" name="Slide Number Placeholder 3"/>
          <p:cNvSpPr>
            <a:spLocks noGrp="1"/>
          </p:cNvSpPr>
          <p:nvPr>
            <p:ph type="sldNum" sz="quarter" idx="5"/>
          </p:nvPr>
        </p:nvSpPr>
        <p:spPr/>
        <p:txBody>
          <a:bodyPr/>
          <a:lstStyle/>
          <a:p>
            <a:fld id="{91AE2140-D502-214A-B76B-E0784B2C949B}" type="slidenum">
              <a:rPr lang="en-US" smtClean="0"/>
              <a:t>27</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28</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p:txBody>
      </p:sp>
      <p:sp>
        <p:nvSpPr>
          <p:cNvPr id="4" name="Slide Number Placeholder 3"/>
          <p:cNvSpPr>
            <a:spLocks noGrp="1"/>
          </p:cNvSpPr>
          <p:nvPr>
            <p:ph type="sldNum" sz="quarter" idx="5"/>
          </p:nvPr>
        </p:nvSpPr>
        <p:spPr/>
        <p:txBody>
          <a:bodyPr/>
          <a:lstStyle/>
          <a:p>
            <a:fld id="{91AE2140-D502-214A-B76B-E0784B2C949B}" type="slidenum">
              <a:rPr lang="en-US" smtClean="0"/>
              <a:t>29</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r>
              <a:rPr lang="en-US" dirty="0"/>
              <a:t>X axis = log mean relative abundances of each ASV</a:t>
            </a:r>
          </a:p>
          <a:p>
            <a:r>
              <a:rPr lang="en-US" dirty="0"/>
              <a:t>Y axis = mean occurrence frequency of each ASV </a:t>
            </a:r>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30</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p:txBody>
      </p:sp>
      <p:sp>
        <p:nvSpPr>
          <p:cNvPr id="4" name="Slide Number Placeholder 3"/>
          <p:cNvSpPr>
            <a:spLocks noGrp="1"/>
          </p:cNvSpPr>
          <p:nvPr>
            <p:ph type="sldNum" sz="quarter" idx="5"/>
          </p:nvPr>
        </p:nvSpPr>
        <p:spPr/>
        <p:txBody>
          <a:bodyPr/>
          <a:lstStyle/>
          <a:p>
            <a:fld id="{91AE2140-D502-214A-B76B-E0784B2C949B}" type="slidenum">
              <a:rPr lang="en-US" smtClean="0"/>
              <a:t>32</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33</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Whilst multivariate analysis can assist us in investigating abiotic selection, microbial community assembly is also shaped by biotic selection. </a:t>
            </a:r>
          </a:p>
          <a:p>
            <a:endParaRPr lang="en-US" dirty="0"/>
          </a:p>
          <a:p>
            <a:r>
              <a:rPr lang="en-US" dirty="0"/>
              <a:t>Biotic interactions may include top-down control through viral lysis and grazing, as well as microbe-microbe interactions.</a:t>
            </a:r>
          </a:p>
          <a:p>
            <a:endParaRPr lang="en-US" dirty="0"/>
          </a:p>
          <a:p>
            <a:r>
              <a:rPr lang="en-US" dirty="0"/>
              <a:t>Due to technological restrictions, investigations of microbe-microbe interactions have typically been limited. With access to high-throughout sequencing, we can now construct co-occurrence networks in an attempt to decipher intra- and inter-specific interactions within communities.</a:t>
            </a:r>
          </a:p>
          <a:p>
            <a:endParaRPr lang="en-US" dirty="0"/>
          </a:p>
          <a:p>
            <a:r>
              <a:rPr lang="en-US" dirty="0"/>
              <a:t>Previous research has indicated that microbial communities exhibit non-random co-occurrence patterns and module structures, suggesting that biotic selection plays a strong role in shaping community assembly.</a:t>
            </a:r>
          </a:p>
          <a:p>
            <a:endParaRPr lang="en-US" dirty="0"/>
          </a:p>
          <a:p>
            <a:r>
              <a:rPr lang="en-US" dirty="0"/>
              <a:t>Communities may even </a:t>
            </a:r>
            <a:r>
              <a:rPr lang="en-US" dirty="0" err="1"/>
              <a:t>centre</a:t>
            </a:r>
            <a:r>
              <a:rPr lang="en-US" dirty="0"/>
              <a:t> around keystone species, that maintain the functioning of the community as a whole. </a:t>
            </a:r>
          </a:p>
        </p:txBody>
      </p:sp>
      <p:sp>
        <p:nvSpPr>
          <p:cNvPr id="4" name="Slide Number Placeholder 3"/>
          <p:cNvSpPr>
            <a:spLocks noGrp="1"/>
          </p:cNvSpPr>
          <p:nvPr>
            <p:ph type="sldNum" sz="quarter" idx="5"/>
          </p:nvPr>
        </p:nvSpPr>
        <p:spPr/>
        <p:txBody>
          <a:bodyPr/>
          <a:lstStyle/>
          <a:p>
            <a:fld id="{91AE2140-D502-214A-B76B-E0784B2C949B}" type="slidenum">
              <a:rPr lang="en-US" smtClean="0"/>
              <a:t>35</a:t>
            </a:fld>
            <a:endParaRPr lang="en-US"/>
          </a:p>
        </p:txBody>
      </p:sp>
    </p:spTree>
    <p:extLst>
      <p:ext uri="{BB962C8B-B14F-4D97-AF65-F5344CB8AC3E}">
        <p14:creationId xmlns:p14="http://schemas.microsoft.com/office/powerpoint/2010/main" val="21075344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 how close is a node to the network as a whole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Degree Centrality – number of links connected to a node (who has the most friends?)</a:t>
            </a:r>
          </a:p>
          <a:p>
            <a:r>
              <a:rPr lang="en-US" dirty="0"/>
              <a:t>Closeness Centrality -  average length of the shortest path between the node and all other nodes in the graph (how long does it take me on average to reach another node)</a:t>
            </a:r>
          </a:p>
          <a:p>
            <a:r>
              <a:rPr lang="en-US" dirty="0"/>
              <a:t>Betweenness Centrality – the number of times a node is crossed by each of the shortest routes between nodes (between any two nodes there is a shortest distance to travel. How many shortest distances is the node of interest within?)</a:t>
            </a:r>
          </a:p>
          <a:p>
            <a:endParaRPr lang="en-US" dirty="0"/>
          </a:p>
          <a:p>
            <a:r>
              <a:rPr lang="en-US" dirty="0"/>
              <a:t>Clustering</a:t>
            </a:r>
          </a:p>
          <a:p>
            <a:r>
              <a:rPr lang="en-US" dirty="0"/>
              <a:t>What groups are within the network?</a:t>
            </a:r>
          </a:p>
          <a:p>
            <a:r>
              <a:rPr lang="en-US" dirty="0"/>
              <a:t>Clustering coefficient – how many connections are there to other nodes, compared to the POTENTIAL number of connections to other nodes within the group?</a:t>
            </a:r>
          </a:p>
          <a:p>
            <a:r>
              <a:rPr lang="en-US" dirty="0"/>
              <a:t>Clustering coefficient = 1 means there is a clique, so all nodes are connected to each other in a group</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36</a:t>
            </a:fld>
            <a:endParaRPr lang="en-US"/>
          </a:p>
        </p:txBody>
      </p:sp>
    </p:spTree>
    <p:extLst>
      <p:ext uri="{BB962C8B-B14F-4D97-AF65-F5344CB8AC3E}">
        <p14:creationId xmlns:p14="http://schemas.microsoft.com/office/powerpoint/2010/main" val="55339303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Based on correlation analysis, for the positive co-occurrence network, 6526 edges, which depict significant and strong pairwise correlations between species (Spearman's </a:t>
            </a:r>
            <a:r>
              <a:rPr lang="el-GR" i="1" dirty="0"/>
              <a:t>ρ</a:t>
            </a:r>
            <a:r>
              <a:rPr lang="el-GR" dirty="0"/>
              <a:t> ≥ 0.6, </a:t>
            </a:r>
            <a:r>
              <a:rPr lang="en-GB" i="1" dirty="0"/>
              <a:t>P</a:t>
            </a:r>
            <a:r>
              <a:rPr lang="en-GB" dirty="0"/>
              <a:t> &lt; 0.01), were captured between 554 nodes (i.e. ASVs).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Based on correlation analysis, for the negative co-occurrence network, 1780 edges, which depict significant and strong pairwise correlations between species (Spearman's </a:t>
            </a:r>
            <a:r>
              <a:rPr lang="el-GR" i="1" dirty="0"/>
              <a:t>ρ</a:t>
            </a:r>
            <a:r>
              <a:rPr lang="el-GR" dirty="0"/>
              <a:t> ≥ 0.6, </a:t>
            </a:r>
            <a:r>
              <a:rPr lang="en-GB" i="1" dirty="0"/>
              <a:t>P</a:t>
            </a:r>
            <a:r>
              <a:rPr lang="en-GB" dirty="0"/>
              <a:t> &lt; 0.01), were captured between 299 nodes (i.e. ASVs).</a:t>
            </a:r>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37</a:t>
            </a:fld>
            <a:endParaRPr lang="en-US"/>
          </a:p>
        </p:txBody>
      </p:sp>
    </p:spTree>
    <p:extLst>
      <p:ext uri="{BB962C8B-B14F-4D97-AF65-F5344CB8AC3E}">
        <p14:creationId xmlns:p14="http://schemas.microsoft.com/office/powerpoint/2010/main" val="30142117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38</a:t>
            </a:fld>
            <a:endParaRPr lang="en-US"/>
          </a:p>
        </p:txBody>
      </p:sp>
    </p:spTree>
    <p:extLst>
      <p:ext uri="{BB962C8B-B14F-4D97-AF65-F5344CB8AC3E}">
        <p14:creationId xmlns:p14="http://schemas.microsoft.com/office/powerpoint/2010/main" val="21210789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a:t>
            </a:r>
          </a:p>
          <a:p>
            <a:r>
              <a:rPr lang="en-US" dirty="0"/>
              <a:t>Vegan</a:t>
            </a:r>
          </a:p>
          <a:p>
            <a:r>
              <a:rPr lang="en-US" dirty="0" err="1"/>
              <a:t>Igraph</a:t>
            </a:r>
            <a:endParaRPr lang="en-US" dirty="0"/>
          </a:p>
          <a:p>
            <a:r>
              <a:rPr lang="en-US" dirty="0" err="1"/>
              <a:t>Hmisc</a:t>
            </a:r>
            <a:endParaRPr lang="en-US" dirty="0"/>
          </a:p>
          <a:p>
            <a:endParaRPr lang="en-US" dirty="0"/>
          </a:p>
          <a:p>
            <a:r>
              <a:rPr lang="en-US" dirty="0"/>
              <a:t>1) Defines functions for co-occurrence network analysis. Function needs a matrix with samples as columns and ASVs as rows, as well as the </a:t>
            </a:r>
            <a:r>
              <a:rPr lang="en-GB" dirty="0" err="1"/>
              <a:t>cutoffs</a:t>
            </a:r>
            <a:r>
              <a:rPr lang="en-GB" dirty="0"/>
              <a:t> for clustering coefficient and cut off for FDR-adjusted P-value. </a:t>
            </a:r>
          </a:p>
          <a:p>
            <a:endParaRPr lang="en-GB" dirty="0"/>
          </a:p>
          <a:p>
            <a:r>
              <a:rPr lang="en-GB" dirty="0"/>
              <a:t>2) </a:t>
            </a: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39</a:t>
            </a:fld>
            <a:endParaRPr lang="en-US"/>
          </a:p>
        </p:txBody>
      </p:sp>
    </p:spTree>
    <p:extLst>
      <p:ext uri="{BB962C8B-B14F-4D97-AF65-F5344CB8AC3E}">
        <p14:creationId xmlns:p14="http://schemas.microsoft.com/office/powerpoint/2010/main" val="1986868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emf"/></Relationships>
</file>

<file path=ppt/slides/_rels/slide1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Layout" Target="../slideLayouts/slideLayout2.xml"/><Relationship Id="rId4" Type="http://schemas.openxmlformats.org/officeDocument/2006/relationships/image" Target="../media/image10.emf"/></Relationships>
</file>

<file path=ppt/slides/_rels/slide1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emf"/><Relationship Id="rId7" Type="http://schemas.openxmlformats.org/officeDocument/2006/relationships/image" Target="../media/image16.emf"/><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5.emf"/><Relationship Id="rId5" Type="http://schemas.openxmlformats.org/officeDocument/2006/relationships/image" Target="../media/image14.emf"/><Relationship Id="rId4" Type="http://schemas.openxmlformats.org/officeDocument/2006/relationships/image" Target="../media/image13.emf"/></Relationships>
</file>

<file path=ppt/slides/_rels/slide21.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17.emf"/><Relationship Id="rId1" Type="http://schemas.openxmlformats.org/officeDocument/2006/relationships/slideLayout" Target="../slideLayouts/slideLayout2.xml"/><Relationship Id="rId4" Type="http://schemas.openxmlformats.org/officeDocument/2006/relationships/image" Target="../media/image19.emf"/></Relationships>
</file>

<file path=ppt/slides/_rels/slide22.xml.rels><?xml version="1.0" encoding="UTF-8" standalone="yes"?>
<Relationships xmlns="http://schemas.openxmlformats.org/package/2006/relationships"><Relationship Id="rId8" Type="http://schemas.openxmlformats.org/officeDocument/2006/relationships/image" Target="../media/image25.emf"/><Relationship Id="rId3" Type="http://schemas.openxmlformats.org/officeDocument/2006/relationships/image" Target="../media/image20.emf"/><Relationship Id="rId7" Type="http://schemas.openxmlformats.org/officeDocument/2006/relationships/image" Target="../media/image24.emf"/><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3.emf"/><Relationship Id="rId5" Type="http://schemas.openxmlformats.org/officeDocument/2006/relationships/image" Target="../media/image22.emf"/><Relationship Id="rId4" Type="http://schemas.openxmlformats.org/officeDocument/2006/relationships/image" Target="../media/image21.emf"/></Relationships>
</file>

<file path=ppt/slides/_rels/slide23.xml.rels><?xml version="1.0" encoding="UTF-8" standalone="yes"?>
<Relationships xmlns="http://schemas.openxmlformats.org/package/2006/relationships"><Relationship Id="rId8" Type="http://schemas.openxmlformats.org/officeDocument/2006/relationships/image" Target="../media/image31.emf"/><Relationship Id="rId3" Type="http://schemas.openxmlformats.org/officeDocument/2006/relationships/image" Target="../media/image26.emf"/><Relationship Id="rId7" Type="http://schemas.openxmlformats.org/officeDocument/2006/relationships/image" Target="../media/image30.emf"/><Relationship Id="rId12" Type="http://schemas.openxmlformats.org/officeDocument/2006/relationships/image" Target="../media/image35.emf"/><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9.emf"/><Relationship Id="rId11" Type="http://schemas.openxmlformats.org/officeDocument/2006/relationships/image" Target="../media/image34.emf"/><Relationship Id="rId5" Type="http://schemas.openxmlformats.org/officeDocument/2006/relationships/image" Target="../media/image28.emf"/><Relationship Id="rId10" Type="http://schemas.openxmlformats.org/officeDocument/2006/relationships/image" Target="../media/image33.emf"/><Relationship Id="rId4" Type="http://schemas.openxmlformats.org/officeDocument/2006/relationships/image" Target="../media/image27.emf"/><Relationship Id="rId9" Type="http://schemas.openxmlformats.org/officeDocument/2006/relationships/image" Target="../media/image32.emf"/></Relationships>
</file>

<file path=ppt/slides/_rels/slide24.xml.rels><?xml version="1.0" encoding="UTF-8" standalone="yes"?>
<Relationships xmlns="http://schemas.openxmlformats.org/package/2006/relationships"><Relationship Id="rId3" Type="http://schemas.openxmlformats.org/officeDocument/2006/relationships/image" Target="../media/image36.em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emf"/><Relationship Id="rId1" Type="http://schemas.openxmlformats.org/officeDocument/2006/relationships/slideLayout" Target="../slideLayouts/slideLayout2.xml"/><Relationship Id="rId4" Type="http://schemas.openxmlformats.org/officeDocument/2006/relationships/image" Target="../media/image39.emf"/></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2.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42.emf"/><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31DA-B431-C54A-874F-C1236B9B36B8}"/>
              </a:ext>
            </a:extLst>
          </p:cNvPr>
          <p:cNvSpPr>
            <a:spLocks noGrp="1"/>
          </p:cNvSpPr>
          <p:nvPr>
            <p:ph type="title"/>
          </p:nvPr>
        </p:nvSpPr>
        <p:spPr/>
        <p:txBody>
          <a:bodyPr/>
          <a:lstStyle/>
          <a:p>
            <a:r>
              <a:rPr lang="en-US" dirty="0"/>
              <a:t>Why are they different? Why should we care?</a:t>
            </a:r>
          </a:p>
        </p:txBody>
      </p:sp>
      <p:sp>
        <p:nvSpPr>
          <p:cNvPr id="4" name="Oval 3">
            <a:extLst>
              <a:ext uri="{FF2B5EF4-FFF2-40B4-BE49-F238E27FC236}">
                <a16:creationId xmlns:a16="http://schemas.microsoft.com/office/drawing/2014/main" id="{4075A81A-7D11-9448-BF36-6D732E7F151C}"/>
              </a:ext>
            </a:extLst>
          </p:cNvPr>
          <p:cNvSpPr/>
          <p:nvPr/>
        </p:nvSpPr>
        <p:spPr>
          <a:xfrm>
            <a:off x="2600326" y="3014662"/>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E4516562-A1F7-4A44-B228-68531F4F81E8}"/>
              </a:ext>
            </a:extLst>
          </p:cNvPr>
          <p:cNvSpPr/>
          <p:nvPr/>
        </p:nvSpPr>
        <p:spPr>
          <a:xfrm>
            <a:off x="3467101" y="37528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BEA4FE-AD89-454B-989F-A777676B2DAB}"/>
              </a:ext>
            </a:extLst>
          </p:cNvPr>
          <p:cNvSpPr/>
          <p:nvPr/>
        </p:nvSpPr>
        <p:spPr>
          <a:xfrm>
            <a:off x="2586038" y="4410075"/>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4E83A67A-C00A-B342-BE75-24729CD2D02F}"/>
              </a:ext>
            </a:extLst>
          </p:cNvPr>
          <p:cNvSpPr/>
          <p:nvPr/>
        </p:nvSpPr>
        <p:spPr>
          <a:xfrm>
            <a:off x="4724401" y="4567237"/>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F55F405-3566-B348-BF65-58C69A1A867A}"/>
              </a:ext>
            </a:extLst>
          </p:cNvPr>
          <p:cNvSpPr/>
          <p:nvPr/>
        </p:nvSpPr>
        <p:spPr>
          <a:xfrm>
            <a:off x="3467101" y="5186360"/>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DD5ABE0-00B9-DD40-8C3A-A0CB5719BCBA}"/>
              </a:ext>
            </a:extLst>
          </p:cNvPr>
          <p:cNvSpPr/>
          <p:nvPr/>
        </p:nvSpPr>
        <p:spPr>
          <a:xfrm>
            <a:off x="4410075" y="2800349"/>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26DB84F-E78D-2A48-A3F2-63B628D47B3F}"/>
              </a:ext>
            </a:extLst>
          </p:cNvPr>
          <p:cNvSpPr/>
          <p:nvPr/>
        </p:nvSpPr>
        <p:spPr>
          <a:xfrm>
            <a:off x="3467100" y="3050382"/>
            <a:ext cx="314325" cy="314325"/>
          </a:xfrm>
          <a:prstGeom prst="ellipse">
            <a:avLst/>
          </a:prstGeom>
          <a:solidFill>
            <a:srgbClr val="92D05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C502950-677E-3049-990E-AEC7AF21DD01}"/>
              </a:ext>
            </a:extLst>
          </p:cNvPr>
          <p:cNvSpPr/>
          <p:nvPr/>
        </p:nvSpPr>
        <p:spPr>
          <a:xfrm>
            <a:off x="3967164" y="4410074"/>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5A94771-F505-D14F-B441-07C73CD0D66B}"/>
              </a:ext>
            </a:extLst>
          </p:cNvPr>
          <p:cNvSpPr/>
          <p:nvPr/>
        </p:nvSpPr>
        <p:spPr>
          <a:xfrm>
            <a:off x="4567238" y="3752848"/>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A3A575E6-7D11-6844-B659-F1F931279368}"/>
              </a:ext>
            </a:extLst>
          </p:cNvPr>
          <p:cNvSpPr/>
          <p:nvPr/>
        </p:nvSpPr>
        <p:spPr>
          <a:xfrm>
            <a:off x="3119438" y="4710111"/>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5E120C-A984-764E-B4EF-AA70BC53CD10}"/>
              </a:ext>
            </a:extLst>
          </p:cNvPr>
          <p:cNvSpPr/>
          <p:nvPr/>
        </p:nvSpPr>
        <p:spPr>
          <a:xfrm>
            <a:off x="2728912" y="38671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F4679495-EAA4-F64B-8588-1E9DEA49D4C8}"/>
              </a:ext>
            </a:extLst>
          </p:cNvPr>
          <p:cNvSpPr/>
          <p:nvPr/>
        </p:nvSpPr>
        <p:spPr>
          <a:xfrm>
            <a:off x="3967163" y="3378993"/>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F75227F-3BDA-534D-AC82-AA532C3B808A}"/>
              </a:ext>
            </a:extLst>
          </p:cNvPr>
          <p:cNvSpPr/>
          <p:nvPr/>
        </p:nvSpPr>
        <p:spPr>
          <a:xfrm>
            <a:off x="6524626" y="3014662"/>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C9855B0-6DB2-1749-A1D4-4B1B81587D5F}"/>
              </a:ext>
            </a:extLst>
          </p:cNvPr>
          <p:cNvSpPr/>
          <p:nvPr/>
        </p:nvSpPr>
        <p:spPr>
          <a:xfrm>
            <a:off x="7391401" y="3752849"/>
            <a:ext cx="314325" cy="314325"/>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9F5CB4E-153D-EF40-9DD1-4986310BA056}"/>
              </a:ext>
            </a:extLst>
          </p:cNvPr>
          <p:cNvSpPr/>
          <p:nvPr/>
        </p:nvSpPr>
        <p:spPr>
          <a:xfrm>
            <a:off x="6510338" y="4410075"/>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04877B3-DB5A-2E40-9762-5B3784FF014E}"/>
              </a:ext>
            </a:extLst>
          </p:cNvPr>
          <p:cNvSpPr/>
          <p:nvPr/>
        </p:nvSpPr>
        <p:spPr>
          <a:xfrm>
            <a:off x="8648701" y="4567237"/>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53C1F00-2970-264E-8F3C-13F5A89C374D}"/>
              </a:ext>
            </a:extLst>
          </p:cNvPr>
          <p:cNvSpPr/>
          <p:nvPr/>
        </p:nvSpPr>
        <p:spPr>
          <a:xfrm>
            <a:off x="7391401" y="5186360"/>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BE665D8-BD16-C443-A7DB-33C745F5F4C3}"/>
              </a:ext>
            </a:extLst>
          </p:cNvPr>
          <p:cNvSpPr/>
          <p:nvPr/>
        </p:nvSpPr>
        <p:spPr>
          <a:xfrm>
            <a:off x="8334375" y="2800349"/>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8716A6E8-5194-1843-8740-7CFE1E71AC8C}"/>
              </a:ext>
            </a:extLst>
          </p:cNvPr>
          <p:cNvSpPr/>
          <p:nvPr/>
        </p:nvSpPr>
        <p:spPr>
          <a:xfrm>
            <a:off x="7391400" y="3050382"/>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AC7232C0-D3C4-874D-B786-BB148BFF7049}"/>
              </a:ext>
            </a:extLst>
          </p:cNvPr>
          <p:cNvSpPr/>
          <p:nvPr/>
        </p:nvSpPr>
        <p:spPr>
          <a:xfrm>
            <a:off x="7891464" y="4410074"/>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CFB75B72-7751-E244-927A-357FEE2AD292}"/>
              </a:ext>
            </a:extLst>
          </p:cNvPr>
          <p:cNvSpPr/>
          <p:nvPr/>
        </p:nvSpPr>
        <p:spPr>
          <a:xfrm>
            <a:off x="8491538" y="3752848"/>
            <a:ext cx="314325" cy="314325"/>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A90B763-4A6C-AE44-B10A-CAC54BEA55F6}"/>
              </a:ext>
            </a:extLst>
          </p:cNvPr>
          <p:cNvSpPr/>
          <p:nvPr/>
        </p:nvSpPr>
        <p:spPr>
          <a:xfrm>
            <a:off x="7043738" y="4710111"/>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608D13B-D12C-924F-8139-3E7E8F9E180F}"/>
              </a:ext>
            </a:extLst>
          </p:cNvPr>
          <p:cNvSpPr/>
          <p:nvPr/>
        </p:nvSpPr>
        <p:spPr>
          <a:xfrm>
            <a:off x="6653212" y="3867149"/>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6549C0F0-8986-694D-A0BD-8647118E99FE}"/>
              </a:ext>
            </a:extLst>
          </p:cNvPr>
          <p:cNvSpPr/>
          <p:nvPr/>
        </p:nvSpPr>
        <p:spPr>
          <a:xfrm>
            <a:off x="7891463" y="3378993"/>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A335B55-8B52-5644-A550-2710A16DB226}"/>
              </a:ext>
            </a:extLst>
          </p:cNvPr>
          <p:cNvSpPr txBox="1"/>
          <p:nvPr/>
        </p:nvSpPr>
        <p:spPr>
          <a:xfrm>
            <a:off x="2717006" y="1991378"/>
            <a:ext cx="2164558" cy="523220"/>
          </a:xfrm>
          <a:prstGeom prst="rect">
            <a:avLst/>
          </a:prstGeom>
          <a:noFill/>
        </p:spPr>
        <p:txBody>
          <a:bodyPr wrap="square" rtlCol="0">
            <a:spAutoFit/>
          </a:bodyPr>
          <a:lstStyle/>
          <a:p>
            <a:r>
              <a:rPr lang="en-US" sz="2800" dirty="0"/>
              <a:t>Community 1</a:t>
            </a:r>
          </a:p>
        </p:txBody>
      </p:sp>
      <p:sp>
        <p:nvSpPr>
          <p:cNvPr id="29" name="TextBox 28">
            <a:extLst>
              <a:ext uri="{FF2B5EF4-FFF2-40B4-BE49-F238E27FC236}">
                <a16:creationId xmlns:a16="http://schemas.microsoft.com/office/drawing/2014/main" id="{BC52BB93-C1D8-A04D-98AA-48CAD4AC9990}"/>
              </a:ext>
            </a:extLst>
          </p:cNvPr>
          <p:cNvSpPr txBox="1"/>
          <p:nvPr/>
        </p:nvSpPr>
        <p:spPr>
          <a:xfrm>
            <a:off x="6667500" y="2015520"/>
            <a:ext cx="2164558" cy="523220"/>
          </a:xfrm>
          <a:prstGeom prst="rect">
            <a:avLst/>
          </a:prstGeom>
          <a:noFill/>
        </p:spPr>
        <p:txBody>
          <a:bodyPr wrap="square" rtlCol="0">
            <a:spAutoFit/>
          </a:bodyPr>
          <a:lstStyle/>
          <a:p>
            <a:r>
              <a:rPr lang="en-US" sz="2800" dirty="0"/>
              <a:t>Community 2</a:t>
            </a:r>
          </a:p>
        </p:txBody>
      </p:sp>
    </p:spTree>
    <p:extLst>
      <p:ext uri="{BB962C8B-B14F-4D97-AF65-F5344CB8AC3E}">
        <p14:creationId xmlns:p14="http://schemas.microsoft.com/office/powerpoint/2010/main" val="3055002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B9FC6-0620-0A48-9F8C-295D1BC9A634}"/>
              </a:ext>
            </a:extLst>
          </p:cNvPr>
          <p:cNvSpPr>
            <a:spLocks noGrp="1"/>
          </p:cNvSpPr>
          <p:nvPr>
            <p:ph type="title"/>
          </p:nvPr>
        </p:nvSpPr>
        <p:spPr/>
        <p:txBody>
          <a:bodyPr/>
          <a:lstStyle/>
          <a:p>
            <a:r>
              <a:rPr lang="en-US" dirty="0"/>
              <a:t>Community Assembly Processes</a:t>
            </a:r>
          </a:p>
        </p:txBody>
      </p:sp>
      <p:graphicFrame>
        <p:nvGraphicFramePr>
          <p:cNvPr id="12" name="Diagram 11">
            <a:extLst>
              <a:ext uri="{FF2B5EF4-FFF2-40B4-BE49-F238E27FC236}">
                <a16:creationId xmlns:a16="http://schemas.microsoft.com/office/drawing/2014/main" id="{8B3002D7-459F-0B49-B4AD-4140562B12BC}"/>
              </a:ext>
            </a:extLst>
          </p:cNvPr>
          <p:cNvGraphicFramePr/>
          <p:nvPr>
            <p:extLst>
              <p:ext uri="{D42A27DB-BD31-4B8C-83A1-F6EECF244321}">
                <p14:modId xmlns:p14="http://schemas.microsoft.com/office/powerpoint/2010/main" val="662949717"/>
              </p:ext>
            </p:extLst>
          </p:nvPr>
        </p:nvGraphicFramePr>
        <p:xfrm>
          <a:off x="2489993" y="1690688"/>
          <a:ext cx="7212013" cy="48080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8557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CDC92-0661-1246-80A9-19D7E41E1F07}"/>
              </a:ext>
            </a:extLst>
          </p:cNvPr>
          <p:cNvSpPr>
            <a:spLocks noGrp="1"/>
          </p:cNvSpPr>
          <p:nvPr>
            <p:ph type="title"/>
          </p:nvPr>
        </p:nvSpPr>
        <p:spPr/>
        <p:txBody>
          <a:bodyPr/>
          <a:lstStyle/>
          <a:p>
            <a:r>
              <a:rPr lang="en-US" dirty="0"/>
              <a:t>Supraglacial deterministic processes</a:t>
            </a:r>
          </a:p>
        </p:txBody>
      </p:sp>
      <p:sp>
        <p:nvSpPr>
          <p:cNvPr id="3" name="Content Placeholder 2">
            <a:extLst>
              <a:ext uri="{FF2B5EF4-FFF2-40B4-BE49-F238E27FC236}">
                <a16:creationId xmlns:a16="http://schemas.microsoft.com/office/drawing/2014/main" id="{A3E183A2-E290-3C4B-A147-40B6288AB72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52230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B114-DB6E-AD4D-BFC4-FDB8D03A7251}"/>
              </a:ext>
            </a:extLst>
          </p:cNvPr>
          <p:cNvSpPr>
            <a:spLocks noGrp="1"/>
          </p:cNvSpPr>
          <p:nvPr>
            <p:ph type="title"/>
          </p:nvPr>
        </p:nvSpPr>
        <p:spPr/>
        <p:txBody>
          <a:bodyPr/>
          <a:lstStyle/>
          <a:p>
            <a:r>
              <a:rPr lang="en-US" dirty="0"/>
              <a:t>Supraglacial stochastic processes</a:t>
            </a:r>
          </a:p>
        </p:txBody>
      </p:sp>
      <p:sp>
        <p:nvSpPr>
          <p:cNvPr id="3" name="Content Placeholder 2">
            <a:extLst>
              <a:ext uri="{FF2B5EF4-FFF2-40B4-BE49-F238E27FC236}">
                <a16:creationId xmlns:a16="http://schemas.microsoft.com/office/drawing/2014/main" id="{6A23DFD4-9C55-9849-993C-8598303552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82039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20000"/>
          </a:bodyPr>
          <a:lstStyle/>
          <a:p>
            <a:r>
              <a:rPr lang="en-US" dirty="0"/>
              <a:t>Microbial community composition in the supraglacial environment is explained by both deterministic and stochastic processes.</a:t>
            </a:r>
          </a:p>
          <a:p>
            <a:r>
              <a:rPr lang="en-US" dirty="0"/>
              <a:t>Community assembly processes will differ between abundant and rare taxa. </a:t>
            </a:r>
          </a:p>
          <a:p>
            <a:r>
              <a:rPr lang="en-US" dirty="0"/>
              <a:t>Biogeographic patterns (ISAR, DDR) will differ between abundant and rare taxa.</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10184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2036473356"/>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t>
            </a:r>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Linear Models (including ISAR and DDR)</a:t>
            </a:r>
          </a:p>
        </p:txBody>
      </p:sp>
    </p:spTree>
    <p:extLst>
      <p:ext uri="{BB962C8B-B14F-4D97-AF65-F5344CB8AC3E}">
        <p14:creationId xmlns:p14="http://schemas.microsoft.com/office/powerpoint/2010/main" val="542213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2E773-3623-2B44-B116-7AD110CA92ED}"/>
              </a:ext>
            </a:extLst>
          </p:cNvPr>
          <p:cNvSpPr>
            <a:spLocks noGrp="1"/>
          </p:cNvSpPr>
          <p:nvPr>
            <p:ph type="title"/>
          </p:nvPr>
        </p:nvSpPr>
        <p:spPr>
          <a:solidFill>
            <a:srgbClr val="FFC003"/>
          </a:solidFill>
        </p:spPr>
        <p:txBody>
          <a:bodyPr/>
          <a:lstStyle/>
          <a:p>
            <a:r>
              <a:rPr lang="en-US" dirty="0">
                <a:solidFill>
                  <a:schemeClr val="bg1"/>
                </a:solidFill>
              </a:rPr>
              <a:t>Alpha Diversity</a:t>
            </a:r>
          </a:p>
        </p:txBody>
      </p:sp>
      <p:sp>
        <p:nvSpPr>
          <p:cNvPr id="3" name="Content Placeholder 2">
            <a:extLst>
              <a:ext uri="{FF2B5EF4-FFF2-40B4-BE49-F238E27FC236}">
                <a16:creationId xmlns:a16="http://schemas.microsoft.com/office/drawing/2014/main" id="{C8B28687-3A56-724D-832B-D6AF3CD1B17E}"/>
              </a:ext>
            </a:extLst>
          </p:cNvPr>
          <p:cNvSpPr>
            <a:spLocks noGrp="1"/>
          </p:cNvSpPr>
          <p:nvPr>
            <p:ph idx="1"/>
          </p:nvPr>
        </p:nvSpPr>
        <p:spPr>
          <a:xfrm>
            <a:off x="838200" y="5557837"/>
            <a:ext cx="10515600" cy="619125"/>
          </a:xfrm>
        </p:spPr>
        <p:txBody>
          <a:bodyPr>
            <a:normAutofit fontScale="92500" lnSpcReduction="20000"/>
          </a:bodyPr>
          <a:lstStyle/>
          <a:p>
            <a:pPr marL="0" indent="0" algn="ctr">
              <a:buNone/>
            </a:pPr>
            <a:r>
              <a:rPr lang="en-US" sz="2400" dirty="0"/>
              <a:t>Figure : </a:t>
            </a:r>
            <a:r>
              <a:rPr lang="en-GB" sz="2400" dirty="0"/>
              <a:t>Plots of ASV richness (A) and Shannon Diversity Index (B) for each glacier (richness: t = 2.0202, </a:t>
            </a:r>
            <a:r>
              <a:rPr lang="en-GB" sz="2400" dirty="0" err="1"/>
              <a:t>df</a:t>
            </a:r>
            <a:r>
              <a:rPr lang="en-GB" sz="2400" dirty="0"/>
              <a:t> = 32, p=0.0518, Shannon: W = 142, p=0.5808)</a:t>
            </a:r>
            <a:endParaRPr lang="en-US" sz="2400" dirty="0"/>
          </a:p>
        </p:txBody>
      </p:sp>
      <p:pic>
        <p:nvPicPr>
          <p:cNvPr id="5" name="Picture 4">
            <a:extLst>
              <a:ext uri="{FF2B5EF4-FFF2-40B4-BE49-F238E27FC236}">
                <a16:creationId xmlns:a16="http://schemas.microsoft.com/office/drawing/2014/main" id="{4FB688A8-5093-E44A-998C-E2EA4D158E52}"/>
              </a:ext>
            </a:extLst>
          </p:cNvPr>
          <p:cNvPicPr>
            <a:picLocks noChangeAspect="1"/>
          </p:cNvPicPr>
          <p:nvPr/>
        </p:nvPicPr>
        <p:blipFill>
          <a:blip r:embed="rId3"/>
          <a:stretch>
            <a:fillRect/>
          </a:stretch>
        </p:blipFill>
        <p:spPr>
          <a:xfrm>
            <a:off x="2438400" y="1795463"/>
            <a:ext cx="7315200" cy="3657600"/>
          </a:xfrm>
          <a:prstGeom prst="rect">
            <a:avLst/>
          </a:prstGeom>
        </p:spPr>
      </p:pic>
    </p:spTree>
    <p:extLst>
      <p:ext uri="{BB962C8B-B14F-4D97-AF65-F5344CB8AC3E}">
        <p14:creationId xmlns:p14="http://schemas.microsoft.com/office/powerpoint/2010/main" val="3700840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2A0EB-033A-2548-B24B-9258C1B51CB6}"/>
              </a:ext>
            </a:extLst>
          </p:cNvPr>
          <p:cNvSpPr>
            <a:spLocks noGrp="1"/>
          </p:cNvSpPr>
          <p:nvPr>
            <p:ph type="title"/>
          </p:nvPr>
        </p:nvSpPr>
        <p:spPr>
          <a:solidFill>
            <a:srgbClr val="FFC003"/>
          </a:solidFill>
        </p:spPr>
        <p:txBody>
          <a:bodyPr/>
          <a:lstStyle/>
          <a:p>
            <a:r>
              <a:rPr lang="en-US" dirty="0">
                <a:solidFill>
                  <a:schemeClr val="bg1"/>
                </a:solidFill>
              </a:rPr>
              <a:t>Beta Diversity &amp; Ordination: Weighted </a:t>
            </a:r>
            <a:r>
              <a:rPr lang="en-US" dirty="0" err="1">
                <a:solidFill>
                  <a:schemeClr val="bg1"/>
                </a:solidFill>
              </a:rPr>
              <a:t>UniFrac</a:t>
            </a:r>
            <a:endParaRPr lang="en-US" dirty="0">
              <a:solidFill>
                <a:schemeClr val="bg1"/>
              </a:solidFill>
            </a:endParaRPr>
          </a:p>
        </p:txBody>
      </p:sp>
      <p:sp>
        <p:nvSpPr>
          <p:cNvPr id="3" name="Content Placeholder 2">
            <a:extLst>
              <a:ext uri="{FF2B5EF4-FFF2-40B4-BE49-F238E27FC236}">
                <a16:creationId xmlns:a16="http://schemas.microsoft.com/office/drawing/2014/main" id="{AA3D5702-1A30-E248-80BA-2F3C6F41D3BA}"/>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 12.539, </a:t>
            </a:r>
            <a:r>
              <a:rPr lang="en-US" sz="2000" dirty="0" err="1"/>
              <a:t>df</a:t>
            </a:r>
            <a:r>
              <a:rPr lang="en-US" sz="2000" dirty="0"/>
              <a:t>=1, P = 0.0001).</a:t>
            </a:r>
          </a:p>
        </p:txBody>
      </p:sp>
      <p:pic>
        <p:nvPicPr>
          <p:cNvPr id="5" name="Picture 4">
            <a:extLst>
              <a:ext uri="{FF2B5EF4-FFF2-40B4-BE49-F238E27FC236}">
                <a16:creationId xmlns:a16="http://schemas.microsoft.com/office/drawing/2014/main" id="{9C1FC389-8FED-4D4B-AE7E-C8C819B547F0}"/>
              </a:ext>
            </a:extLst>
          </p:cNvPr>
          <p:cNvPicPr>
            <a:picLocks noChangeAspect="1"/>
          </p:cNvPicPr>
          <p:nvPr/>
        </p:nvPicPr>
        <p:blipFill>
          <a:blip r:embed="rId3"/>
          <a:stretch>
            <a:fillRect/>
          </a:stretch>
        </p:blipFill>
        <p:spPr>
          <a:xfrm>
            <a:off x="2438400" y="1909762"/>
            <a:ext cx="7315200" cy="3657600"/>
          </a:xfrm>
          <a:prstGeom prst="rect">
            <a:avLst/>
          </a:prstGeom>
        </p:spPr>
      </p:pic>
    </p:spTree>
    <p:extLst>
      <p:ext uri="{BB962C8B-B14F-4D97-AF65-F5344CB8AC3E}">
        <p14:creationId xmlns:p14="http://schemas.microsoft.com/office/powerpoint/2010/main" val="4953494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97597-8752-BB4F-8014-E3B32D5A4471}"/>
              </a:ext>
            </a:extLst>
          </p:cNvPr>
          <p:cNvSpPr>
            <a:spLocks noGrp="1"/>
          </p:cNvSpPr>
          <p:nvPr>
            <p:ph type="title"/>
          </p:nvPr>
        </p:nvSpPr>
        <p:spPr>
          <a:solidFill>
            <a:srgbClr val="FFC003"/>
          </a:solidFill>
        </p:spPr>
        <p:txBody>
          <a:bodyPr/>
          <a:lstStyle/>
          <a:p>
            <a:r>
              <a:rPr lang="en-US" dirty="0">
                <a:solidFill>
                  <a:schemeClr val="bg1"/>
                </a:solidFill>
              </a:rPr>
              <a:t>Beta Diversity &amp; Ordination: Unweighted </a:t>
            </a:r>
            <a:r>
              <a:rPr lang="en-US" dirty="0" err="1">
                <a:solidFill>
                  <a:schemeClr val="bg1"/>
                </a:solidFill>
              </a:rPr>
              <a:t>UniFrac</a:t>
            </a:r>
            <a:endParaRPr lang="en-US" dirty="0"/>
          </a:p>
        </p:txBody>
      </p:sp>
      <p:pic>
        <p:nvPicPr>
          <p:cNvPr id="7" name="Picture 6">
            <a:extLst>
              <a:ext uri="{FF2B5EF4-FFF2-40B4-BE49-F238E27FC236}">
                <a16:creationId xmlns:a16="http://schemas.microsoft.com/office/drawing/2014/main" id="{D67D15A3-0D66-5D4C-936C-6CE3DD7CEF5F}"/>
              </a:ext>
            </a:extLst>
          </p:cNvPr>
          <p:cNvPicPr>
            <a:picLocks noChangeAspect="1"/>
          </p:cNvPicPr>
          <p:nvPr/>
        </p:nvPicPr>
        <p:blipFill>
          <a:blip r:embed="rId2"/>
          <a:stretch>
            <a:fillRect/>
          </a:stretch>
        </p:blipFill>
        <p:spPr>
          <a:xfrm>
            <a:off x="2438400" y="1814513"/>
            <a:ext cx="7315200" cy="3657600"/>
          </a:xfrm>
          <a:prstGeom prst="rect">
            <a:avLst/>
          </a:prstGeom>
        </p:spPr>
      </p:pic>
      <p:sp>
        <p:nvSpPr>
          <p:cNvPr id="8" name="Content Placeholder 2">
            <a:extLst>
              <a:ext uri="{FF2B5EF4-FFF2-40B4-BE49-F238E27FC236}">
                <a16:creationId xmlns:a16="http://schemas.microsoft.com/office/drawing/2014/main" id="{8E214C27-3E9A-5647-80C8-EBBD2BFEB429}"/>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unweighted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=4.1016 , </a:t>
            </a:r>
            <a:r>
              <a:rPr lang="en-US" sz="2000" dirty="0" err="1"/>
              <a:t>df</a:t>
            </a:r>
            <a:r>
              <a:rPr lang="en-US" sz="2000" dirty="0"/>
              <a:t>=1, P =0.001).</a:t>
            </a:r>
          </a:p>
        </p:txBody>
      </p:sp>
    </p:spTree>
    <p:extLst>
      <p:ext uri="{BB962C8B-B14F-4D97-AF65-F5344CB8AC3E}">
        <p14:creationId xmlns:p14="http://schemas.microsoft.com/office/powerpoint/2010/main" val="11235835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7BAD4-EB8D-1D49-B8F3-F6E08E43BE87}"/>
              </a:ext>
            </a:extLst>
          </p:cNvPr>
          <p:cNvSpPr>
            <a:spLocks noGrp="1"/>
          </p:cNvSpPr>
          <p:nvPr>
            <p:ph type="title"/>
          </p:nvPr>
        </p:nvSpPr>
        <p:spPr>
          <a:solidFill>
            <a:srgbClr val="FFC003"/>
          </a:solidFill>
        </p:spPr>
        <p:txBody>
          <a:bodyPr/>
          <a:lstStyle/>
          <a:p>
            <a:r>
              <a:rPr lang="en-US" dirty="0">
                <a:solidFill>
                  <a:schemeClr val="bg1"/>
                </a:solidFill>
              </a:rPr>
              <a:t>Beta Diversity &amp; Ordination: Bray-Curtis</a:t>
            </a:r>
            <a:endParaRPr lang="en-US" dirty="0"/>
          </a:p>
        </p:txBody>
      </p:sp>
      <p:pic>
        <p:nvPicPr>
          <p:cNvPr id="5" name="Picture 4">
            <a:extLst>
              <a:ext uri="{FF2B5EF4-FFF2-40B4-BE49-F238E27FC236}">
                <a16:creationId xmlns:a16="http://schemas.microsoft.com/office/drawing/2014/main" id="{3A4996FB-FA8A-7849-A8D3-509ABB27E24F}"/>
              </a:ext>
            </a:extLst>
          </p:cNvPr>
          <p:cNvPicPr>
            <a:picLocks noChangeAspect="1"/>
          </p:cNvPicPr>
          <p:nvPr/>
        </p:nvPicPr>
        <p:blipFill>
          <a:blip r:embed="rId2"/>
          <a:stretch>
            <a:fillRect/>
          </a:stretch>
        </p:blipFill>
        <p:spPr>
          <a:xfrm>
            <a:off x="2438400" y="1828800"/>
            <a:ext cx="7315200" cy="3657600"/>
          </a:xfrm>
          <a:prstGeom prst="rect">
            <a:avLst/>
          </a:prstGeom>
        </p:spPr>
      </p:pic>
      <p:sp>
        <p:nvSpPr>
          <p:cNvPr id="6" name="Content Placeholder 2">
            <a:extLst>
              <a:ext uri="{FF2B5EF4-FFF2-40B4-BE49-F238E27FC236}">
                <a16:creationId xmlns:a16="http://schemas.microsoft.com/office/drawing/2014/main" id="{5F112A52-1E3F-7A4C-B8CA-E64A9B6E0D02}"/>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Bray-Curtis distances, visualized use NMDS plot (blue is Taylor Glacier and orange is Canada Glacier). This plot shows significant beta diversity variation between glaciers (PERMANOVA: F =8.3412 , </a:t>
            </a:r>
            <a:r>
              <a:rPr lang="en-US" sz="2000" dirty="0" err="1"/>
              <a:t>df</a:t>
            </a:r>
            <a:r>
              <a:rPr lang="en-US" sz="2000" dirty="0"/>
              <a:t>=1, P =0.001).</a:t>
            </a:r>
          </a:p>
        </p:txBody>
      </p:sp>
    </p:spTree>
    <p:extLst>
      <p:ext uri="{BB962C8B-B14F-4D97-AF65-F5344CB8AC3E}">
        <p14:creationId xmlns:p14="http://schemas.microsoft.com/office/powerpoint/2010/main" val="20132938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5D3B-A455-EF48-91C3-A3250798EA64}"/>
              </a:ext>
            </a:extLst>
          </p:cNvPr>
          <p:cNvSpPr>
            <a:spLocks noGrp="1"/>
          </p:cNvSpPr>
          <p:nvPr>
            <p:ph type="title"/>
          </p:nvPr>
        </p:nvSpPr>
        <p:spPr>
          <a:solidFill>
            <a:srgbClr val="FFC000"/>
          </a:solidFill>
        </p:spPr>
        <p:txBody>
          <a:bodyPr/>
          <a:lstStyle/>
          <a:p>
            <a:r>
              <a:rPr lang="en-US" dirty="0">
                <a:solidFill>
                  <a:schemeClr val="bg1"/>
                </a:solidFill>
              </a:rPr>
              <a:t>Alpha Non-Phylogenetic Diversity</a:t>
            </a:r>
          </a:p>
        </p:txBody>
      </p:sp>
      <p:sp>
        <p:nvSpPr>
          <p:cNvPr id="3" name="Content Placeholder 2">
            <a:extLst>
              <a:ext uri="{FF2B5EF4-FFF2-40B4-BE49-F238E27FC236}">
                <a16:creationId xmlns:a16="http://schemas.microsoft.com/office/drawing/2014/main" id="{2049920E-B358-7147-8331-3683EC758770}"/>
              </a:ext>
            </a:extLst>
          </p:cNvPr>
          <p:cNvSpPr>
            <a:spLocks noGrp="1"/>
          </p:cNvSpPr>
          <p:nvPr>
            <p:ph idx="1"/>
          </p:nvPr>
        </p:nvSpPr>
        <p:spPr/>
        <p:txBody>
          <a:bodyPr/>
          <a:lstStyle/>
          <a:p>
            <a:r>
              <a:rPr lang="en-US" dirty="0"/>
              <a:t>ASV richness</a:t>
            </a:r>
          </a:p>
          <a:p>
            <a:r>
              <a:rPr lang="en-US" dirty="0"/>
              <a:t>Shannon Diversity</a:t>
            </a:r>
          </a:p>
          <a:p>
            <a:r>
              <a:rPr lang="en-US" dirty="0"/>
              <a:t>Simpsons Diversity</a:t>
            </a:r>
          </a:p>
          <a:p>
            <a:r>
              <a:rPr lang="en-US" dirty="0"/>
              <a:t>Inverted Simpsons Diversity</a:t>
            </a:r>
          </a:p>
          <a:p>
            <a:r>
              <a:rPr lang="en-US" dirty="0" err="1"/>
              <a:t>Pilou</a:t>
            </a:r>
            <a:r>
              <a:rPr lang="en-US" dirty="0"/>
              <a:t> Evenness</a:t>
            </a:r>
          </a:p>
        </p:txBody>
      </p:sp>
      <p:pic>
        <p:nvPicPr>
          <p:cNvPr id="7" name="Picture 6">
            <a:extLst>
              <a:ext uri="{FF2B5EF4-FFF2-40B4-BE49-F238E27FC236}">
                <a16:creationId xmlns:a16="http://schemas.microsoft.com/office/drawing/2014/main" id="{532DAA6A-1BA6-784C-8346-66D74B337D63}"/>
              </a:ext>
            </a:extLst>
          </p:cNvPr>
          <p:cNvPicPr>
            <a:picLocks noChangeAspect="1"/>
          </p:cNvPicPr>
          <p:nvPr/>
        </p:nvPicPr>
        <p:blipFill>
          <a:blip r:embed="rId3"/>
          <a:stretch>
            <a:fillRect/>
          </a:stretch>
        </p:blipFill>
        <p:spPr>
          <a:xfrm>
            <a:off x="7543801" y="1825625"/>
            <a:ext cx="4014788" cy="2626636"/>
          </a:xfrm>
          <a:prstGeom prst="rect">
            <a:avLst/>
          </a:prstGeom>
        </p:spPr>
      </p:pic>
      <p:pic>
        <p:nvPicPr>
          <p:cNvPr id="9" name="Picture 8">
            <a:extLst>
              <a:ext uri="{FF2B5EF4-FFF2-40B4-BE49-F238E27FC236}">
                <a16:creationId xmlns:a16="http://schemas.microsoft.com/office/drawing/2014/main" id="{5B9B9A0C-CA89-F44A-BC6E-FEC9B7A6955E}"/>
              </a:ext>
            </a:extLst>
          </p:cNvPr>
          <p:cNvPicPr>
            <a:picLocks noChangeAspect="1"/>
          </p:cNvPicPr>
          <p:nvPr/>
        </p:nvPicPr>
        <p:blipFill>
          <a:blip r:embed="rId4"/>
          <a:stretch>
            <a:fillRect/>
          </a:stretch>
        </p:blipFill>
        <p:spPr>
          <a:xfrm>
            <a:off x="3595688" y="3961130"/>
            <a:ext cx="5876925" cy="2350770"/>
          </a:xfrm>
          <a:prstGeom prst="rect">
            <a:avLst/>
          </a:prstGeom>
        </p:spPr>
      </p:pic>
    </p:spTree>
    <p:extLst>
      <p:ext uri="{BB962C8B-B14F-4D97-AF65-F5344CB8AC3E}">
        <p14:creationId xmlns:p14="http://schemas.microsoft.com/office/powerpoint/2010/main" val="39876749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AF8D7-3E78-9144-9420-0CF314CC8A5D}"/>
              </a:ext>
            </a:extLst>
          </p:cNvPr>
          <p:cNvSpPr>
            <a:spLocks noGrp="1"/>
          </p:cNvSpPr>
          <p:nvPr>
            <p:ph type="title"/>
          </p:nvPr>
        </p:nvSpPr>
        <p:spPr>
          <a:solidFill>
            <a:srgbClr val="FFC003"/>
          </a:solidFill>
        </p:spPr>
        <p:txBody>
          <a:bodyPr/>
          <a:lstStyle/>
          <a:p>
            <a:r>
              <a:rPr lang="en-US" dirty="0">
                <a:solidFill>
                  <a:schemeClr val="bg1"/>
                </a:solidFill>
              </a:rPr>
              <a:t>Alpha Phylogenetic Diversity</a:t>
            </a:r>
          </a:p>
        </p:txBody>
      </p:sp>
      <p:pic>
        <p:nvPicPr>
          <p:cNvPr id="5" name="Picture 4">
            <a:extLst>
              <a:ext uri="{FF2B5EF4-FFF2-40B4-BE49-F238E27FC236}">
                <a16:creationId xmlns:a16="http://schemas.microsoft.com/office/drawing/2014/main" id="{216F0C48-ECD9-7D4B-B913-7CD1FABCCE0B}"/>
              </a:ext>
            </a:extLst>
          </p:cNvPr>
          <p:cNvPicPr>
            <a:picLocks noChangeAspect="1"/>
          </p:cNvPicPr>
          <p:nvPr/>
        </p:nvPicPr>
        <p:blipFill>
          <a:blip r:embed="rId3"/>
          <a:stretch>
            <a:fillRect/>
          </a:stretch>
        </p:blipFill>
        <p:spPr>
          <a:xfrm>
            <a:off x="1524000" y="2243138"/>
            <a:ext cx="9144000" cy="3657600"/>
          </a:xfrm>
          <a:prstGeom prst="rect">
            <a:avLst/>
          </a:prstGeom>
        </p:spPr>
      </p:pic>
    </p:spTree>
    <p:extLst>
      <p:ext uri="{BB962C8B-B14F-4D97-AF65-F5344CB8AC3E}">
        <p14:creationId xmlns:p14="http://schemas.microsoft.com/office/powerpoint/2010/main" val="35411016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5646AA-6E34-1841-AD06-37F9BCAFCAB3}"/>
              </a:ext>
            </a:extLst>
          </p:cNvPr>
          <p:cNvSpPr>
            <a:spLocks noGrp="1"/>
          </p:cNvSpPr>
          <p:nvPr>
            <p:ph type="title"/>
          </p:nvPr>
        </p:nvSpPr>
        <p:spPr>
          <a:solidFill>
            <a:srgbClr val="FFC003"/>
          </a:solidFill>
        </p:spPr>
        <p:txBody>
          <a:bodyPr/>
          <a:lstStyle/>
          <a:p>
            <a:r>
              <a:rPr lang="en-US" dirty="0">
                <a:solidFill>
                  <a:schemeClr val="bg1"/>
                </a:solidFill>
              </a:rPr>
              <a:t>Absolute Abundance Bar Plots</a:t>
            </a:r>
          </a:p>
        </p:txBody>
      </p:sp>
      <p:pic>
        <p:nvPicPr>
          <p:cNvPr id="4" name="Picture 3">
            <a:extLst>
              <a:ext uri="{FF2B5EF4-FFF2-40B4-BE49-F238E27FC236}">
                <a16:creationId xmlns:a16="http://schemas.microsoft.com/office/drawing/2014/main" id="{EDDA40F0-EFC7-4446-8619-F219D607915D}"/>
              </a:ext>
            </a:extLst>
          </p:cNvPr>
          <p:cNvPicPr>
            <a:picLocks noChangeAspect="1"/>
          </p:cNvPicPr>
          <p:nvPr/>
        </p:nvPicPr>
        <p:blipFill>
          <a:blip r:embed="rId2"/>
          <a:stretch>
            <a:fillRect/>
          </a:stretch>
        </p:blipFill>
        <p:spPr>
          <a:xfrm>
            <a:off x="1364082" y="1900237"/>
            <a:ext cx="3478199" cy="3478199"/>
          </a:xfrm>
          <a:prstGeom prst="rect">
            <a:avLst/>
          </a:prstGeom>
        </p:spPr>
      </p:pic>
      <p:sp>
        <p:nvSpPr>
          <p:cNvPr id="5" name="TextBox 4">
            <a:extLst>
              <a:ext uri="{FF2B5EF4-FFF2-40B4-BE49-F238E27FC236}">
                <a16:creationId xmlns:a16="http://schemas.microsoft.com/office/drawing/2014/main" id="{022071C3-C747-9349-B947-6E8B3F5B8DA7}"/>
              </a:ext>
            </a:extLst>
          </p:cNvPr>
          <p:cNvSpPr txBox="1"/>
          <p:nvPr/>
        </p:nvSpPr>
        <p:spPr>
          <a:xfrm>
            <a:off x="1910974" y="5589557"/>
            <a:ext cx="1935166" cy="830997"/>
          </a:xfrm>
          <a:prstGeom prst="rect">
            <a:avLst/>
          </a:prstGeom>
          <a:noFill/>
        </p:spPr>
        <p:txBody>
          <a:bodyPr wrap="square" rtlCol="0">
            <a:spAutoFit/>
          </a:bodyPr>
          <a:lstStyle/>
          <a:p>
            <a:r>
              <a:rPr lang="en-US" sz="1200" dirty="0"/>
              <a:t>Figure 1. Bar chart of Hellinger transformed ASV data with agglomerated Phyla </a:t>
            </a:r>
          </a:p>
        </p:txBody>
      </p:sp>
      <p:pic>
        <p:nvPicPr>
          <p:cNvPr id="7" name="Picture 6">
            <a:extLst>
              <a:ext uri="{FF2B5EF4-FFF2-40B4-BE49-F238E27FC236}">
                <a16:creationId xmlns:a16="http://schemas.microsoft.com/office/drawing/2014/main" id="{5E6D3764-8808-7C4C-8644-1B9812C4F4C8}"/>
              </a:ext>
            </a:extLst>
          </p:cNvPr>
          <p:cNvPicPr>
            <a:picLocks noChangeAspect="1"/>
          </p:cNvPicPr>
          <p:nvPr/>
        </p:nvPicPr>
        <p:blipFill>
          <a:blip r:embed="rId3"/>
          <a:stretch>
            <a:fillRect/>
          </a:stretch>
        </p:blipFill>
        <p:spPr>
          <a:xfrm>
            <a:off x="5574103" y="1729558"/>
            <a:ext cx="4541448" cy="2270724"/>
          </a:xfrm>
          <a:prstGeom prst="rect">
            <a:avLst/>
          </a:prstGeom>
        </p:spPr>
      </p:pic>
      <p:pic>
        <p:nvPicPr>
          <p:cNvPr id="9" name="Picture 8">
            <a:extLst>
              <a:ext uri="{FF2B5EF4-FFF2-40B4-BE49-F238E27FC236}">
                <a16:creationId xmlns:a16="http://schemas.microsoft.com/office/drawing/2014/main" id="{D900526A-1EB2-154A-9ED5-0666585227DE}"/>
              </a:ext>
            </a:extLst>
          </p:cNvPr>
          <p:cNvPicPr>
            <a:picLocks noChangeAspect="1"/>
          </p:cNvPicPr>
          <p:nvPr/>
        </p:nvPicPr>
        <p:blipFill>
          <a:blip r:embed="rId4"/>
          <a:stretch>
            <a:fillRect/>
          </a:stretch>
        </p:blipFill>
        <p:spPr>
          <a:xfrm>
            <a:off x="5574103" y="4277249"/>
            <a:ext cx="4283465" cy="2141733"/>
          </a:xfrm>
          <a:prstGeom prst="rect">
            <a:avLst/>
          </a:prstGeom>
        </p:spPr>
      </p:pic>
    </p:spTree>
    <p:extLst>
      <p:ext uri="{BB962C8B-B14F-4D97-AF65-F5344CB8AC3E}">
        <p14:creationId xmlns:p14="http://schemas.microsoft.com/office/powerpoint/2010/main" val="13562468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91A7E-3582-1F45-81B4-40F9D6A0731D}"/>
              </a:ext>
            </a:extLst>
          </p:cNvPr>
          <p:cNvSpPr>
            <a:spLocks noGrp="1"/>
          </p:cNvSpPr>
          <p:nvPr>
            <p:ph type="title"/>
          </p:nvPr>
        </p:nvSpPr>
        <p:spPr>
          <a:solidFill>
            <a:srgbClr val="FFC003"/>
          </a:solidFill>
        </p:spPr>
        <p:txBody>
          <a:bodyPr/>
          <a:lstStyle/>
          <a:p>
            <a:r>
              <a:rPr lang="en-US" dirty="0">
                <a:solidFill>
                  <a:schemeClr val="bg1"/>
                </a:solidFill>
              </a:rPr>
              <a:t>Relative Abundance Bar Plots</a:t>
            </a:r>
          </a:p>
        </p:txBody>
      </p:sp>
      <p:pic>
        <p:nvPicPr>
          <p:cNvPr id="13" name="Picture 12">
            <a:extLst>
              <a:ext uri="{FF2B5EF4-FFF2-40B4-BE49-F238E27FC236}">
                <a16:creationId xmlns:a16="http://schemas.microsoft.com/office/drawing/2014/main" id="{625ED448-45D4-B046-86B2-8A8A85125618}"/>
              </a:ext>
            </a:extLst>
          </p:cNvPr>
          <p:cNvPicPr>
            <a:picLocks noChangeAspect="1"/>
          </p:cNvPicPr>
          <p:nvPr/>
        </p:nvPicPr>
        <p:blipFill>
          <a:blip r:embed="rId3"/>
          <a:stretch>
            <a:fillRect/>
          </a:stretch>
        </p:blipFill>
        <p:spPr>
          <a:xfrm>
            <a:off x="2338387" y="1768474"/>
            <a:ext cx="7077076" cy="4718051"/>
          </a:xfrm>
          <a:prstGeom prst="rect">
            <a:avLst/>
          </a:prstGeom>
        </p:spPr>
      </p:pic>
    </p:spTree>
    <p:extLst>
      <p:ext uri="{BB962C8B-B14F-4D97-AF65-F5344CB8AC3E}">
        <p14:creationId xmlns:p14="http://schemas.microsoft.com/office/powerpoint/2010/main" val="35743118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494F5-10D0-884B-B137-A4BBC10A30F4}"/>
              </a:ext>
            </a:extLst>
          </p:cNvPr>
          <p:cNvSpPr>
            <a:spLocks noGrp="1"/>
          </p:cNvSpPr>
          <p:nvPr>
            <p:ph type="title"/>
          </p:nvPr>
        </p:nvSpPr>
        <p:spPr>
          <a:solidFill>
            <a:srgbClr val="FFC003"/>
          </a:solidFill>
        </p:spPr>
        <p:txBody>
          <a:bodyPr/>
          <a:lstStyle/>
          <a:p>
            <a:r>
              <a:rPr lang="en-US" dirty="0">
                <a:solidFill>
                  <a:schemeClr val="bg1"/>
                </a:solidFill>
              </a:rPr>
              <a:t>Beta Phylogenetic Diversity &amp; Ordination</a:t>
            </a:r>
          </a:p>
        </p:txBody>
      </p:sp>
      <p:pic>
        <p:nvPicPr>
          <p:cNvPr id="4" name="Picture 3">
            <a:extLst>
              <a:ext uri="{FF2B5EF4-FFF2-40B4-BE49-F238E27FC236}">
                <a16:creationId xmlns:a16="http://schemas.microsoft.com/office/drawing/2014/main" id="{B754F5CF-C190-8442-A426-157B3C2BEA92}"/>
              </a:ext>
            </a:extLst>
          </p:cNvPr>
          <p:cNvPicPr>
            <a:picLocks noChangeAspect="1"/>
          </p:cNvPicPr>
          <p:nvPr/>
        </p:nvPicPr>
        <p:blipFill>
          <a:blip r:embed="rId3"/>
          <a:stretch>
            <a:fillRect/>
          </a:stretch>
        </p:blipFill>
        <p:spPr>
          <a:xfrm>
            <a:off x="7270355" y="902699"/>
            <a:ext cx="3595686" cy="3595686"/>
          </a:xfrm>
          <a:prstGeom prst="rect">
            <a:avLst/>
          </a:prstGeom>
        </p:spPr>
      </p:pic>
      <p:pic>
        <p:nvPicPr>
          <p:cNvPr id="5" name="Picture 4">
            <a:extLst>
              <a:ext uri="{FF2B5EF4-FFF2-40B4-BE49-F238E27FC236}">
                <a16:creationId xmlns:a16="http://schemas.microsoft.com/office/drawing/2014/main" id="{AEEDACE5-D8FE-974B-A660-558C61ABB317}"/>
              </a:ext>
            </a:extLst>
          </p:cNvPr>
          <p:cNvPicPr>
            <a:picLocks noChangeAspect="1"/>
          </p:cNvPicPr>
          <p:nvPr/>
        </p:nvPicPr>
        <p:blipFill rotWithShape="1">
          <a:blip r:embed="rId4"/>
          <a:srcRect t="29431" b="27144"/>
          <a:stretch/>
        </p:blipFill>
        <p:spPr>
          <a:xfrm>
            <a:off x="2167335" y="1919814"/>
            <a:ext cx="3595686" cy="1561456"/>
          </a:xfrm>
          <a:prstGeom prst="rect">
            <a:avLst/>
          </a:prstGeom>
        </p:spPr>
      </p:pic>
      <p:sp>
        <p:nvSpPr>
          <p:cNvPr id="6" name="TextBox 5">
            <a:extLst>
              <a:ext uri="{FF2B5EF4-FFF2-40B4-BE49-F238E27FC236}">
                <a16:creationId xmlns:a16="http://schemas.microsoft.com/office/drawing/2014/main" id="{2DD247B3-370D-CD40-85B1-0BF00CC925FF}"/>
              </a:ext>
            </a:extLst>
          </p:cNvPr>
          <p:cNvSpPr txBox="1"/>
          <p:nvPr/>
        </p:nvSpPr>
        <p:spPr>
          <a:xfrm>
            <a:off x="588170" y="3461725"/>
            <a:ext cx="3186113" cy="461665"/>
          </a:xfrm>
          <a:prstGeom prst="rect">
            <a:avLst/>
          </a:prstGeom>
          <a:noFill/>
        </p:spPr>
        <p:txBody>
          <a:bodyPr wrap="square" rtlCol="0">
            <a:spAutoFit/>
          </a:bodyPr>
          <a:lstStyle/>
          <a:p>
            <a:r>
              <a:rPr lang="en-US" sz="1200" dirty="0"/>
              <a:t>Figure 3. Unweighted </a:t>
            </a:r>
            <a:r>
              <a:rPr lang="en-US" sz="1200" dirty="0" err="1"/>
              <a:t>UniFrac</a:t>
            </a:r>
            <a:r>
              <a:rPr lang="en-US" sz="1200" dirty="0"/>
              <a:t> </a:t>
            </a:r>
            <a:r>
              <a:rPr lang="en-US" sz="1200" dirty="0" err="1"/>
              <a:t>PCoA</a:t>
            </a:r>
            <a:r>
              <a:rPr lang="en-US" sz="1200" dirty="0"/>
              <a:t>, scaled by eigenvalues</a:t>
            </a:r>
          </a:p>
        </p:txBody>
      </p:sp>
      <p:sp>
        <p:nvSpPr>
          <p:cNvPr id="7" name="TextBox 6">
            <a:extLst>
              <a:ext uri="{FF2B5EF4-FFF2-40B4-BE49-F238E27FC236}">
                <a16:creationId xmlns:a16="http://schemas.microsoft.com/office/drawing/2014/main" id="{86C25D41-2396-E34E-8ED9-757C5826FCD5}"/>
              </a:ext>
            </a:extLst>
          </p:cNvPr>
          <p:cNvSpPr txBox="1"/>
          <p:nvPr/>
        </p:nvSpPr>
        <p:spPr>
          <a:xfrm>
            <a:off x="7475141" y="3413021"/>
            <a:ext cx="3186113" cy="461665"/>
          </a:xfrm>
          <a:prstGeom prst="rect">
            <a:avLst/>
          </a:prstGeom>
          <a:noFill/>
        </p:spPr>
        <p:txBody>
          <a:bodyPr wrap="square" rtlCol="0">
            <a:spAutoFit/>
          </a:bodyPr>
          <a:lstStyle/>
          <a:p>
            <a:r>
              <a:rPr lang="en-US" sz="1200" dirty="0"/>
              <a:t>Figure 4. Weighted </a:t>
            </a:r>
            <a:r>
              <a:rPr lang="en-US" sz="1200" dirty="0" err="1"/>
              <a:t>UniFrac</a:t>
            </a:r>
            <a:r>
              <a:rPr lang="en-US" sz="1200" dirty="0"/>
              <a:t> </a:t>
            </a:r>
            <a:r>
              <a:rPr lang="en-US" sz="1200" dirty="0" err="1"/>
              <a:t>PCoA</a:t>
            </a:r>
            <a:r>
              <a:rPr lang="en-US" sz="1200" dirty="0"/>
              <a:t>, scaled by eigenvalues</a:t>
            </a:r>
          </a:p>
        </p:txBody>
      </p:sp>
      <p:pic>
        <p:nvPicPr>
          <p:cNvPr id="9" name="Picture 8">
            <a:extLst>
              <a:ext uri="{FF2B5EF4-FFF2-40B4-BE49-F238E27FC236}">
                <a16:creationId xmlns:a16="http://schemas.microsoft.com/office/drawing/2014/main" id="{64DCED99-8D7A-4141-97F5-B78AC9679478}"/>
              </a:ext>
            </a:extLst>
          </p:cNvPr>
          <p:cNvPicPr>
            <a:picLocks noChangeAspect="1"/>
          </p:cNvPicPr>
          <p:nvPr/>
        </p:nvPicPr>
        <p:blipFill>
          <a:blip r:embed="rId5"/>
          <a:stretch>
            <a:fillRect/>
          </a:stretch>
        </p:blipFill>
        <p:spPr>
          <a:xfrm>
            <a:off x="838200" y="4034249"/>
            <a:ext cx="2410619" cy="1607080"/>
          </a:xfrm>
          <a:prstGeom prst="rect">
            <a:avLst/>
          </a:prstGeom>
        </p:spPr>
      </p:pic>
      <p:pic>
        <p:nvPicPr>
          <p:cNvPr id="11" name="Picture 10">
            <a:extLst>
              <a:ext uri="{FF2B5EF4-FFF2-40B4-BE49-F238E27FC236}">
                <a16:creationId xmlns:a16="http://schemas.microsoft.com/office/drawing/2014/main" id="{70B7CFF2-FC1E-DD48-9DA2-0FAC7296E2EF}"/>
              </a:ext>
            </a:extLst>
          </p:cNvPr>
          <p:cNvPicPr>
            <a:picLocks noChangeAspect="1"/>
          </p:cNvPicPr>
          <p:nvPr/>
        </p:nvPicPr>
        <p:blipFill>
          <a:blip r:embed="rId6"/>
          <a:stretch>
            <a:fillRect/>
          </a:stretch>
        </p:blipFill>
        <p:spPr>
          <a:xfrm>
            <a:off x="3774283" y="4034249"/>
            <a:ext cx="2588021" cy="1725347"/>
          </a:xfrm>
          <a:prstGeom prst="rect">
            <a:avLst/>
          </a:prstGeom>
        </p:spPr>
      </p:pic>
      <p:sp>
        <p:nvSpPr>
          <p:cNvPr id="12" name="Rectangle 11">
            <a:extLst>
              <a:ext uri="{FF2B5EF4-FFF2-40B4-BE49-F238E27FC236}">
                <a16:creationId xmlns:a16="http://schemas.microsoft.com/office/drawing/2014/main" id="{876F1C34-901F-4944-8493-4E1AA38A143E}"/>
              </a:ext>
            </a:extLst>
          </p:cNvPr>
          <p:cNvSpPr/>
          <p:nvPr/>
        </p:nvSpPr>
        <p:spPr>
          <a:xfrm>
            <a:off x="418660" y="5870455"/>
            <a:ext cx="2830160"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filtered data, not scaled by eigenvalues (using microbiome package)</a:t>
            </a:r>
          </a:p>
        </p:txBody>
      </p:sp>
      <p:sp>
        <p:nvSpPr>
          <p:cNvPr id="13" name="Rectangle 12">
            <a:extLst>
              <a:ext uri="{FF2B5EF4-FFF2-40B4-BE49-F238E27FC236}">
                <a16:creationId xmlns:a16="http://schemas.microsoft.com/office/drawing/2014/main" id="{EAB90C3D-87DD-C944-802E-05EE5EDAB09C}"/>
              </a:ext>
            </a:extLst>
          </p:cNvPr>
          <p:cNvSpPr/>
          <p:nvPr/>
        </p:nvSpPr>
        <p:spPr>
          <a:xfrm>
            <a:off x="3645872" y="5897619"/>
            <a:ext cx="2844842" cy="954107"/>
          </a:xfrm>
          <a:prstGeom prst="rect">
            <a:avLst/>
          </a:prstGeom>
        </p:spPr>
        <p:txBody>
          <a:bodyPr wrap="square">
            <a:spAutoFit/>
          </a:bodyPr>
          <a:lstStyle/>
          <a:p>
            <a:r>
              <a:rPr lang="en-US" sz="1400" dirty="0"/>
              <a:t>Figure. Unweighted </a:t>
            </a:r>
            <a:r>
              <a:rPr lang="en-US" sz="1400" dirty="0" err="1"/>
              <a:t>UniFrac</a:t>
            </a:r>
            <a:r>
              <a:rPr lang="en-US" sz="1400" dirty="0"/>
              <a:t> </a:t>
            </a:r>
            <a:r>
              <a:rPr lang="en-US" sz="1400" dirty="0" err="1"/>
              <a:t>PCoA</a:t>
            </a:r>
            <a:r>
              <a:rPr lang="en-US" sz="1400" dirty="0"/>
              <a:t> with unfiltered data, not scaled by eigenvalues (using microbiome package)</a:t>
            </a:r>
          </a:p>
        </p:txBody>
      </p:sp>
      <p:pic>
        <p:nvPicPr>
          <p:cNvPr id="15" name="Picture 14">
            <a:extLst>
              <a:ext uri="{FF2B5EF4-FFF2-40B4-BE49-F238E27FC236}">
                <a16:creationId xmlns:a16="http://schemas.microsoft.com/office/drawing/2014/main" id="{60FB934E-516A-4F4E-8467-25B70C57D2DA}"/>
              </a:ext>
            </a:extLst>
          </p:cNvPr>
          <p:cNvPicPr>
            <a:picLocks noChangeAspect="1"/>
          </p:cNvPicPr>
          <p:nvPr/>
        </p:nvPicPr>
        <p:blipFill>
          <a:blip r:embed="rId7"/>
          <a:stretch>
            <a:fillRect/>
          </a:stretch>
        </p:blipFill>
        <p:spPr>
          <a:xfrm>
            <a:off x="7217216" y="4034249"/>
            <a:ext cx="3893126" cy="1946563"/>
          </a:xfrm>
          <a:prstGeom prst="rect">
            <a:avLst/>
          </a:prstGeom>
        </p:spPr>
      </p:pic>
      <p:sp>
        <p:nvSpPr>
          <p:cNvPr id="16" name="Rectangle 15">
            <a:extLst>
              <a:ext uri="{FF2B5EF4-FFF2-40B4-BE49-F238E27FC236}">
                <a16:creationId xmlns:a16="http://schemas.microsoft.com/office/drawing/2014/main" id="{59515EFA-54BA-3941-BE80-896D8B95BA4A}"/>
              </a:ext>
            </a:extLst>
          </p:cNvPr>
          <p:cNvSpPr/>
          <p:nvPr/>
        </p:nvSpPr>
        <p:spPr>
          <a:xfrm>
            <a:off x="7228508" y="6018024"/>
            <a:ext cx="3881834" cy="461665"/>
          </a:xfrm>
          <a:prstGeom prst="rect">
            <a:avLst/>
          </a:prstGeom>
        </p:spPr>
        <p:txBody>
          <a:bodyPr wrap="square">
            <a:spAutoFit/>
          </a:bodyPr>
          <a:lstStyle/>
          <a:p>
            <a:r>
              <a:rPr lang="en-US" sz="1200" dirty="0"/>
              <a:t>Figure. Weighted </a:t>
            </a:r>
            <a:r>
              <a:rPr lang="en-US" sz="1200" dirty="0" err="1"/>
              <a:t>UniFrac</a:t>
            </a:r>
            <a:r>
              <a:rPr lang="en-US" sz="1200" dirty="0"/>
              <a:t> </a:t>
            </a:r>
            <a:r>
              <a:rPr lang="en-US" sz="1200" dirty="0" err="1"/>
              <a:t>PCoA</a:t>
            </a:r>
            <a:r>
              <a:rPr lang="en-US" sz="1200" dirty="0"/>
              <a:t> with unfiltered data, not scaled by eigenvalues (using microbiome package)</a:t>
            </a:r>
          </a:p>
        </p:txBody>
      </p:sp>
    </p:spTree>
    <p:extLst>
      <p:ext uri="{BB962C8B-B14F-4D97-AF65-F5344CB8AC3E}">
        <p14:creationId xmlns:p14="http://schemas.microsoft.com/office/powerpoint/2010/main" val="26176756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452339-2F8F-5348-A13F-AA14DB8160AF}"/>
              </a:ext>
            </a:extLst>
          </p:cNvPr>
          <p:cNvSpPr>
            <a:spLocks noGrp="1"/>
          </p:cNvSpPr>
          <p:nvPr>
            <p:ph type="title"/>
          </p:nvPr>
        </p:nvSpPr>
        <p:spPr>
          <a:solidFill>
            <a:srgbClr val="FFC003"/>
          </a:solidFill>
        </p:spPr>
        <p:txBody>
          <a:bodyPr/>
          <a:lstStyle/>
          <a:p>
            <a:r>
              <a:rPr lang="en-US" dirty="0">
                <a:solidFill>
                  <a:schemeClr val="bg1"/>
                </a:solidFill>
              </a:rPr>
              <a:t>Beta Non-Phylogenetic Diversity &amp; Ordination</a:t>
            </a:r>
          </a:p>
        </p:txBody>
      </p:sp>
      <p:pic>
        <p:nvPicPr>
          <p:cNvPr id="4" name="Picture 3">
            <a:extLst>
              <a:ext uri="{FF2B5EF4-FFF2-40B4-BE49-F238E27FC236}">
                <a16:creationId xmlns:a16="http://schemas.microsoft.com/office/drawing/2014/main" id="{69FAD212-9692-394C-9F0C-4A139B22BE75}"/>
              </a:ext>
            </a:extLst>
          </p:cNvPr>
          <p:cNvPicPr>
            <a:picLocks noChangeAspect="1"/>
          </p:cNvPicPr>
          <p:nvPr/>
        </p:nvPicPr>
        <p:blipFill rotWithShape="1">
          <a:blip r:embed="rId2"/>
          <a:srcRect l="-1707" t="21631" r="1707" b="24114"/>
          <a:stretch/>
        </p:blipFill>
        <p:spPr>
          <a:xfrm>
            <a:off x="3289298" y="1829507"/>
            <a:ext cx="3581400" cy="1943100"/>
          </a:xfrm>
          <a:prstGeom prst="rect">
            <a:avLst/>
          </a:prstGeom>
        </p:spPr>
      </p:pic>
      <p:sp>
        <p:nvSpPr>
          <p:cNvPr id="5" name="TextBox 4">
            <a:extLst>
              <a:ext uri="{FF2B5EF4-FFF2-40B4-BE49-F238E27FC236}">
                <a16:creationId xmlns:a16="http://schemas.microsoft.com/office/drawing/2014/main" id="{4F980DB2-EFCB-A640-A6E4-4B79C3B2FB9D}"/>
              </a:ext>
            </a:extLst>
          </p:cNvPr>
          <p:cNvSpPr txBox="1"/>
          <p:nvPr/>
        </p:nvSpPr>
        <p:spPr>
          <a:xfrm>
            <a:off x="3486941" y="3911427"/>
            <a:ext cx="3186113" cy="461665"/>
          </a:xfrm>
          <a:prstGeom prst="rect">
            <a:avLst/>
          </a:prstGeom>
          <a:noFill/>
        </p:spPr>
        <p:txBody>
          <a:bodyPr wrap="square" rtlCol="0">
            <a:spAutoFit/>
          </a:bodyPr>
          <a:lstStyle/>
          <a:p>
            <a:r>
              <a:rPr lang="en-US" sz="1200" dirty="0"/>
              <a:t>Figure 2. Bray-Curtis </a:t>
            </a:r>
            <a:r>
              <a:rPr lang="en-US" sz="1200" dirty="0" err="1"/>
              <a:t>PCoA</a:t>
            </a:r>
            <a:r>
              <a:rPr lang="en-US" sz="1200" dirty="0"/>
              <a:t>, scaled by eigenvalues</a:t>
            </a:r>
          </a:p>
        </p:txBody>
      </p:sp>
      <p:pic>
        <p:nvPicPr>
          <p:cNvPr id="6" name="Picture 5">
            <a:extLst>
              <a:ext uri="{FF2B5EF4-FFF2-40B4-BE49-F238E27FC236}">
                <a16:creationId xmlns:a16="http://schemas.microsoft.com/office/drawing/2014/main" id="{5E0CB574-F731-4E49-8A73-FF63430261E6}"/>
              </a:ext>
            </a:extLst>
          </p:cNvPr>
          <p:cNvPicPr>
            <a:picLocks noChangeAspect="1"/>
          </p:cNvPicPr>
          <p:nvPr/>
        </p:nvPicPr>
        <p:blipFill>
          <a:blip r:embed="rId3"/>
          <a:stretch>
            <a:fillRect/>
          </a:stretch>
        </p:blipFill>
        <p:spPr>
          <a:xfrm>
            <a:off x="552167" y="1868015"/>
            <a:ext cx="2505077" cy="2505077"/>
          </a:xfrm>
          <a:prstGeom prst="rect">
            <a:avLst/>
          </a:prstGeom>
        </p:spPr>
      </p:pic>
      <p:sp>
        <p:nvSpPr>
          <p:cNvPr id="7" name="TextBox 6">
            <a:extLst>
              <a:ext uri="{FF2B5EF4-FFF2-40B4-BE49-F238E27FC236}">
                <a16:creationId xmlns:a16="http://schemas.microsoft.com/office/drawing/2014/main" id="{EBF882E9-9AE8-7949-A919-FED329D5812E}"/>
              </a:ext>
            </a:extLst>
          </p:cNvPr>
          <p:cNvSpPr txBox="1"/>
          <p:nvPr/>
        </p:nvSpPr>
        <p:spPr>
          <a:xfrm>
            <a:off x="552167" y="4550419"/>
            <a:ext cx="1935166" cy="461665"/>
          </a:xfrm>
          <a:prstGeom prst="rect">
            <a:avLst/>
          </a:prstGeom>
          <a:noFill/>
        </p:spPr>
        <p:txBody>
          <a:bodyPr wrap="square" rtlCol="0">
            <a:spAutoFit/>
          </a:bodyPr>
          <a:lstStyle/>
          <a:p>
            <a:r>
              <a:rPr lang="en-US" sz="1200" dirty="0"/>
              <a:t>Figure 5. Bray-Curtis NMDS plot</a:t>
            </a:r>
          </a:p>
        </p:txBody>
      </p:sp>
      <p:pic>
        <p:nvPicPr>
          <p:cNvPr id="9" name="Picture 8">
            <a:extLst>
              <a:ext uri="{FF2B5EF4-FFF2-40B4-BE49-F238E27FC236}">
                <a16:creationId xmlns:a16="http://schemas.microsoft.com/office/drawing/2014/main" id="{B60432EE-ED05-334F-B135-159C1DB31D98}"/>
              </a:ext>
            </a:extLst>
          </p:cNvPr>
          <p:cNvPicPr>
            <a:picLocks noChangeAspect="1"/>
          </p:cNvPicPr>
          <p:nvPr/>
        </p:nvPicPr>
        <p:blipFill>
          <a:blip r:embed="rId4"/>
          <a:stretch>
            <a:fillRect/>
          </a:stretch>
        </p:blipFill>
        <p:spPr>
          <a:xfrm>
            <a:off x="6673054" y="3911426"/>
            <a:ext cx="5091113" cy="2545557"/>
          </a:xfrm>
          <a:prstGeom prst="rect">
            <a:avLst/>
          </a:prstGeom>
        </p:spPr>
      </p:pic>
      <p:sp>
        <p:nvSpPr>
          <p:cNvPr id="10" name="TextBox 9">
            <a:extLst>
              <a:ext uri="{FF2B5EF4-FFF2-40B4-BE49-F238E27FC236}">
                <a16:creationId xmlns:a16="http://schemas.microsoft.com/office/drawing/2014/main" id="{F8863A8B-C075-824C-B97E-B938DBFCE3CA}"/>
              </a:ext>
            </a:extLst>
          </p:cNvPr>
          <p:cNvSpPr txBox="1"/>
          <p:nvPr/>
        </p:nvSpPr>
        <p:spPr>
          <a:xfrm>
            <a:off x="8551342" y="3541774"/>
            <a:ext cx="1935166" cy="461665"/>
          </a:xfrm>
          <a:prstGeom prst="rect">
            <a:avLst/>
          </a:prstGeom>
          <a:noFill/>
        </p:spPr>
        <p:txBody>
          <a:bodyPr wrap="square" rtlCol="0">
            <a:spAutoFit/>
          </a:bodyPr>
          <a:lstStyle/>
          <a:p>
            <a:r>
              <a:rPr lang="en-US" sz="1200" dirty="0"/>
              <a:t>Figure. Bray-Curtis NMDS plot</a:t>
            </a:r>
          </a:p>
        </p:txBody>
      </p:sp>
    </p:spTree>
    <p:extLst>
      <p:ext uri="{BB962C8B-B14F-4D97-AF65-F5344CB8AC3E}">
        <p14:creationId xmlns:p14="http://schemas.microsoft.com/office/powerpoint/2010/main" val="12447536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9B615-6302-3749-9C9D-450854A7B4FC}"/>
              </a:ext>
            </a:extLst>
          </p:cNvPr>
          <p:cNvSpPr>
            <a:spLocks noGrp="1"/>
          </p:cNvSpPr>
          <p:nvPr>
            <p:ph type="title"/>
          </p:nvPr>
        </p:nvSpPr>
        <p:spPr>
          <a:solidFill>
            <a:srgbClr val="FFC000"/>
          </a:solidFill>
        </p:spPr>
        <p:txBody>
          <a:bodyPr/>
          <a:lstStyle/>
          <a:p>
            <a:r>
              <a:rPr lang="en-US" dirty="0">
                <a:solidFill>
                  <a:schemeClr val="bg1"/>
                </a:solidFill>
              </a:rPr>
              <a:t>Beta Non-Phylogenetic Diversity &amp; Ordination</a:t>
            </a:r>
          </a:p>
        </p:txBody>
      </p:sp>
      <p:pic>
        <p:nvPicPr>
          <p:cNvPr id="5" name="Picture 4">
            <a:extLst>
              <a:ext uri="{FF2B5EF4-FFF2-40B4-BE49-F238E27FC236}">
                <a16:creationId xmlns:a16="http://schemas.microsoft.com/office/drawing/2014/main" id="{A581D335-DFFC-1143-BF29-2688477FDA3F}"/>
              </a:ext>
            </a:extLst>
          </p:cNvPr>
          <p:cNvPicPr>
            <a:picLocks noChangeAspect="1"/>
          </p:cNvPicPr>
          <p:nvPr/>
        </p:nvPicPr>
        <p:blipFill>
          <a:blip r:embed="rId3"/>
          <a:stretch>
            <a:fillRect/>
          </a:stretch>
        </p:blipFill>
        <p:spPr>
          <a:xfrm>
            <a:off x="416723" y="1976484"/>
            <a:ext cx="1800222" cy="1800222"/>
          </a:xfrm>
          <a:prstGeom prst="rect">
            <a:avLst/>
          </a:prstGeom>
        </p:spPr>
      </p:pic>
      <p:sp>
        <p:nvSpPr>
          <p:cNvPr id="6" name="TextBox 5">
            <a:extLst>
              <a:ext uri="{FF2B5EF4-FFF2-40B4-BE49-F238E27FC236}">
                <a16:creationId xmlns:a16="http://schemas.microsoft.com/office/drawing/2014/main" id="{268B9DD7-F3E0-2244-8A36-B5372EF07E88}"/>
              </a:ext>
            </a:extLst>
          </p:cNvPr>
          <p:cNvSpPr txBox="1"/>
          <p:nvPr/>
        </p:nvSpPr>
        <p:spPr>
          <a:xfrm>
            <a:off x="2240761" y="2200050"/>
            <a:ext cx="1414467" cy="1200329"/>
          </a:xfrm>
          <a:prstGeom prst="rect">
            <a:avLst/>
          </a:prstGeom>
          <a:noFill/>
        </p:spPr>
        <p:txBody>
          <a:bodyPr wrap="square" rtlCol="0">
            <a:spAutoFit/>
          </a:bodyPr>
          <a:lstStyle/>
          <a:p>
            <a:r>
              <a:rPr lang="en-US" sz="1200" dirty="0"/>
              <a:t>Figure 6. Bar plot of Principal Component Analysis on Log-Ratio Transformed Data</a:t>
            </a:r>
          </a:p>
        </p:txBody>
      </p:sp>
      <p:pic>
        <p:nvPicPr>
          <p:cNvPr id="8" name="Picture 7">
            <a:extLst>
              <a:ext uri="{FF2B5EF4-FFF2-40B4-BE49-F238E27FC236}">
                <a16:creationId xmlns:a16="http://schemas.microsoft.com/office/drawing/2014/main" id="{964FDF21-A5BE-9341-8006-35983884743F}"/>
              </a:ext>
            </a:extLst>
          </p:cNvPr>
          <p:cNvPicPr>
            <a:picLocks noChangeAspect="1"/>
          </p:cNvPicPr>
          <p:nvPr/>
        </p:nvPicPr>
        <p:blipFill>
          <a:blip r:embed="rId4"/>
          <a:stretch>
            <a:fillRect/>
          </a:stretch>
        </p:blipFill>
        <p:spPr>
          <a:xfrm>
            <a:off x="416723" y="3685427"/>
            <a:ext cx="2009776" cy="2009776"/>
          </a:xfrm>
          <a:prstGeom prst="rect">
            <a:avLst/>
          </a:prstGeom>
        </p:spPr>
      </p:pic>
      <p:sp>
        <p:nvSpPr>
          <p:cNvPr id="9" name="TextBox 8">
            <a:extLst>
              <a:ext uri="{FF2B5EF4-FFF2-40B4-BE49-F238E27FC236}">
                <a16:creationId xmlns:a16="http://schemas.microsoft.com/office/drawing/2014/main" id="{D4162294-5278-9A49-89DF-B3EB29407B06}"/>
              </a:ext>
            </a:extLst>
          </p:cNvPr>
          <p:cNvSpPr txBox="1"/>
          <p:nvPr/>
        </p:nvSpPr>
        <p:spPr>
          <a:xfrm>
            <a:off x="2345541" y="4097381"/>
            <a:ext cx="1309687" cy="830997"/>
          </a:xfrm>
          <a:prstGeom prst="rect">
            <a:avLst/>
          </a:prstGeom>
          <a:noFill/>
        </p:spPr>
        <p:txBody>
          <a:bodyPr wrap="square" rtlCol="0">
            <a:spAutoFit/>
          </a:bodyPr>
          <a:lstStyle/>
          <a:p>
            <a:r>
              <a:rPr lang="en-US" sz="1200" dirty="0"/>
              <a:t>Figure 7. Log-Ratio PCA ordination of 16S sequence data</a:t>
            </a:r>
          </a:p>
        </p:txBody>
      </p:sp>
      <p:pic>
        <p:nvPicPr>
          <p:cNvPr id="11" name="Picture 10">
            <a:extLst>
              <a:ext uri="{FF2B5EF4-FFF2-40B4-BE49-F238E27FC236}">
                <a16:creationId xmlns:a16="http://schemas.microsoft.com/office/drawing/2014/main" id="{4605CCF0-0A32-B349-AEBC-DB7EDA4D7984}"/>
              </a:ext>
            </a:extLst>
          </p:cNvPr>
          <p:cNvPicPr>
            <a:picLocks noChangeAspect="1"/>
          </p:cNvPicPr>
          <p:nvPr/>
        </p:nvPicPr>
        <p:blipFill>
          <a:blip r:embed="rId5"/>
          <a:stretch>
            <a:fillRect/>
          </a:stretch>
        </p:blipFill>
        <p:spPr>
          <a:xfrm>
            <a:off x="3994544" y="2969462"/>
            <a:ext cx="1614488" cy="1614488"/>
          </a:xfrm>
          <a:prstGeom prst="rect">
            <a:avLst/>
          </a:prstGeom>
        </p:spPr>
      </p:pic>
      <p:sp>
        <p:nvSpPr>
          <p:cNvPr id="12" name="TextBox 11">
            <a:extLst>
              <a:ext uri="{FF2B5EF4-FFF2-40B4-BE49-F238E27FC236}">
                <a16:creationId xmlns:a16="http://schemas.microsoft.com/office/drawing/2014/main" id="{BA970433-457A-2646-90DA-835914F430E1}"/>
              </a:ext>
            </a:extLst>
          </p:cNvPr>
          <p:cNvSpPr txBox="1"/>
          <p:nvPr/>
        </p:nvSpPr>
        <p:spPr>
          <a:xfrm>
            <a:off x="5928127" y="3327540"/>
            <a:ext cx="1281105" cy="830997"/>
          </a:xfrm>
          <a:prstGeom prst="rect">
            <a:avLst/>
          </a:prstGeom>
          <a:noFill/>
        </p:spPr>
        <p:txBody>
          <a:bodyPr wrap="square" rtlCol="0">
            <a:spAutoFit/>
          </a:bodyPr>
          <a:lstStyle/>
          <a:p>
            <a:r>
              <a:rPr lang="en-US" sz="1200" dirty="0"/>
              <a:t>Figure 8. Log-Ratio </a:t>
            </a:r>
            <a:r>
              <a:rPr lang="en-US" sz="1200" dirty="0" err="1"/>
              <a:t>PCoA</a:t>
            </a:r>
            <a:r>
              <a:rPr lang="en-US" sz="1200" dirty="0"/>
              <a:t> </a:t>
            </a:r>
            <a:r>
              <a:rPr lang="en-US" sz="1200" dirty="0" err="1"/>
              <a:t>screenplot</a:t>
            </a:r>
            <a:r>
              <a:rPr lang="en-US" sz="1200" dirty="0"/>
              <a:t> using Jaccard variances</a:t>
            </a:r>
          </a:p>
        </p:txBody>
      </p:sp>
      <p:pic>
        <p:nvPicPr>
          <p:cNvPr id="14" name="Picture 13">
            <a:extLst>
              <a:ext uri="{FF2B5EF4-FFF2-40B4-BE49-F238E27FC236}">
                <a16:creationId xmlns:a16="http://schemas.microsoft.com/office/drawing/2014/main" id="{9FD4A4FA-ABC9-114E-9C37-FAFEEB008796}"/>
              </a:ext>
            </a:extLst>
          </p:cNvPr>
          <p:cNvPicPr>
            <a:picLocks noChangeAspect="1"/>
          </p:cNvPicPr>
          <p:nvPr/>
        </p:nvPicPr>
        <p:blipFill>
          <a:blip r:embed="rId6"/>
          <a:stretch>
            <a:fillRect/>
          </a:stretch>
        </p:blipFill>
        <p:spPr>
          <a:xfrm>
            <a:off x="3994545" y="4714177"/>
            <a:ext cx="1614488" cy="1614488"/>
          </a:xfrm>
          <a:prstGeom prst="rect">
            <a:avLst/>
          </a:prstGeom>
        </p:spPr>
      </p:pic>
      <p:sp>
        <p:nvSpPr>
          <p:cNvPr id="15" name="TextBox 14">
            <a:extLst>
              <a:ext uri="{FF2B5EF4-FFF2-40B4-BE49-F238E27FC236}">
                <a16:creationId xmlns:a16="http://schemas.microsoft.com/office/drawing/2014/main" id="{0ABFC3FC-2783-5547-B4E1-1560B5AAA389}"/>
              </a:ext>
            </a:extLst>
          </p:cNvPr>
          <p:cNvSpPr txBox="1"/>
          <p:nvPr/>
        </p:nvSpPr>
        <p:spPr>
          <a:xfrm>
            <a:off x="5562604" y="5055910"/>
            <a:ext cx="1419225" cy="830997"/>
          </a:xfrm>
          <a:prstGeom prst="rect">
            <a:avLst/>
          </a:prstGeom>
          <a:noFill/>
        </p:spPr>
        <p:txBody>
          <a:bodyPr wrap="square" rtlCol="0">
            <a:spAutoFit/>
          </a:bodyPr>
          <a:lstStyle/>
          <a:p>
            <a:r>
              <a:rPr lang="en-US" sz="1200" dirty="0"/>
              <a:t>Figure 9. Log-Ratio </a:t>
            </a:r>
            <a:r>
              <a:rPr lang="en-US" sz="1200" dirty="0" err="1"/>
              <a:t>PCoA</a:t>
            </a:r>
            <a:r>
              <a:rPr lang="en-US" sz="1200" dirty="0"/>
              <a:t> </a:t>
            </a:r>
            <a:r>
              <a:rPr lang="en-US" sz="1200" dirty="0" err="1"/>
              <a:t>screenplot</a:t>
            </a:r>
            <a:r>
              <a:rPr lang="en-US" sz="1200" dirty="0"/>
              <a:t> using Euclidean variances</a:t>
            </a:r>
          </a:p>
        </p:txBody>
      </p:sp>
      <p:pic>
        <p:nvPicPr>
          <p:cNvPr id="17" name="Picture 16">
            <a:extLst>
              <a:ext uri="{FF2B5EF4-FFF2-40B4-BE49-F238E27FC236}">
                <a16:creationId xmlns:a16="http://schemas.microsoft.com/office/drawing/2014/main" id="{4D9C7E1B-89CB-B545-9585-D367C09BEF54}"/>
              </a:ext>
            </a:extLst>
          </p:cNvPr>
          <p:cNvPicPr>
            <a:picLocks noChangeAspect="1"/>
          </p:cNvPicPr>
          <p:nvPr/>
        </p:nvPicPr>
        <p:blipFill>
          <a:blip r:embed="rId7"/>
          <a:stretch>
            <a:fillRect/>
          </a:stretch>
        </p:blipFill>
        <p:spPr>
          <a:xfrm>
            <a:off x="7829550" y="4464053"/>
            <a:ext cx="1690688" cy="1690688"/>
          </a:xfrm>
          <a:prstGeom prst="rect">
            <a:avLst/>
          </a:prstGeom>
        </p:spPr>
      </p:pic>
      <p:sp>
        <p:nvSpPr>
          <p:cNvPr id="18" name="TextBox 17">
            <a:extLst>
              <a:ext uri="{FF2B5EF4-FFF2-40B4-BE49-F238E27FC236}">
                <a16:creationId xmlns:a16="http://schemas.microsoft.com/office/drawing/2014/main" id="{FD559CBB-9EEF-9E43-8A4C-650168FCAA36}"/>
              </a:ext>
            </a:extLst>
          </p:cNvPr>
          <p:cNvSpPr txBox="1"/>
          <p:nvPr/>
        </p:nvSpPr>
        <p:spPr>
          <a:xfrm>
            <a:off x="7415223" y="6265867"/>
            <a:ext cx="2600315" cy="276999"/>
          </a:xfrm>
          <a:prstGeom prst="rect">
            <a:avLst/>
          </a:prstGeom>
          <a:noFill/>
        </p:spPr>
        <p:txBody>
          <a:bodyPr wrap="square" rtlCol="0">
            <a:spAutoFit/>
          </a:bodyPr>
          <a:lstStyle/>
          <a:p>
            <a:r>
              <a:rPr lang="en-US" sz="1200" dirty="0"/>
              <a:t>Figure 10. Euclidean NMDS plot</a:t>
            </a:r>
          </a:p>
        </p:txBody>
      </p:sp>
      <p:pic>
        <p:nvPicPr>
          <p:cNvPr id="20" name="Picture 19">
            <a:extLst>
              <a:ext uri="{FF2B5EF4-FFF2-40B4-BE49-F238E27FC236}">
                <a16:creationId xmlns:a16="http://schemas.microsoft.com/office/drawing/2014/main" id="{2E61C60F-7113-D34B-94CE-7E15E097A968}"/>
              </a:ext>
            </a:extLst>
          </p:cNvPr>
          <p:cNvPicPr>
            <a:picLocks noChangeAspect="1"/>
          </p:cNvPicPr>
          <p:nvPr/>
        </p:nvPicPr>
        <p:blipFill>
          <a:blip r:embed="rId8"/>
          <a:stretch>
            <a:fillRect/>
          </a:stretch>
        </p:blipFill>
        <p:spPr>
          <a:xfrm>
            <a:off x="10159608" y="4385482"/>
            <a:ext cx="1769259" cy="1769259"/>
          </a:xfrm>
          <a:prstGeom prst="rect">
            <a:avLst/>
          </a:prstGeom>
        </p:spPr>
      </p:pic>
      <p:sp>
        <p:nvSpPr>
          <p:cNvPr id="21" name="TextBox 20">
            <a:extLst>
              <a:ext uri="{FF2B5EF4-FFF2-40B4-BE49-F238E27FC236}">
                <a16:creationId xmlns:a16="http://schemas.microsoft.com/office/drawing/2014/main" id="{0E50DB5E-F8A6-D141-8857-79EDA9C03512}"/>
              </a:ext>
            </a:extLst>
          </p:cNvPr>
          <p:cNvSpPr txBox="1"/>
          <p:nvPr/>
        </p:nvSpPr>
        <p:spPr>
          <a:xfrm>
            <a:off x="9767896" y="6258110"/>
            <a:ext cx="2600315" cy="276999"/>
          </a:xfrm>
          <a:prstGeom prst="rect">
            <a:avLst/>
          </a:prstGeom>
          <a:noFill/>
        </p:spPr>
        <p:txBody>
          <a:bodyPr wrap="square" rtlCol="0">
            <a:spAutoFit/>
          </a:bodyPr>
          <a:lstStyle/>
          <a:p>
            <a:r>
              <a:rPr lang="en-US" sz="1200" dirty="0"/>
              <a:t>Figure 11. Jaccard NMDS plot</a:t>
            </a:r>
          </a:p>
        </p:txBody>
      </p:sp>
    </p:spTree>
    <p:extLst>
      <p:ext uri="{BB962C8B-B14F-4D97-AF65-F5344CB8AC3E}">
        <p14:creationId xmlns:p14="http://schemas.microsoft.com/office/powerpoint/2010/main" val="13142413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B15C2-352D-7244-8523-A17BAA6CB11A}"/>
              </a:ext>
            </a:extLst>
          </p:cNvPr>
          <p:cNvSpPr>
            <a:spLocks noGrp="1"/>
          </p:cNvSpPr>
          <p:nvPr>
            <p:ph type="title"/>
          </p:nvPr>
        </p:nvSpPr>
        <p:spPr>
          <a:solidFill>
            <a:srgbClr val="FFC000"/>
          </a:solidFill>
        </p:spPr>
        <p:txBody>
          <a:bodyPr/>
          <a:lstStyle/>
          <a:p>
            <a:r>
              <a:rPr lang="en-US" dirty="0">
                <a:solidFill>
                  <a:schemeClr val="bg1"/>
                </a:solidFill>
              </a:rPr>
              <a:t>Linear Models</a:t>
            </a:r>
          </a:p>
        </p:txBody>
      </p:sp>
      <p:pic>
        <p:nvPicPr>
          <p:cNvPr id="7" name="Picture 6">
            <a:extLst>
              <a:ext uri="{FF2B5EF4-FFF2-40B4-BE49-F238E27FC236}">
                <a16:creationId xmlns:a16="http://schemas.microsoft.com/office/drawing/2014/main" id="{C390D8F2-FE6B-9D47-9E22-2349F978CFF2}"/>
              </a:ext>
            </a:extLst>
          </p:cNvPr>
          <p:cNvPicPr>
            <a:picLocks noChangeAspect="1"/>
          </p:cNvPicPr>
          <p:nvPr/>
        </p:nvPicPr>
        <p:blipFill>
          <a:blip r:embed="rId3"/>
          <a:stretch>
            <a:fillRect/>
          </a:stretch>
        </p:blipFill>
        <p:spPr>
          <a:xfrm>
            <a:off x="9553800" y="1743519"/>
            <a:ext cx="1800000" cy="1800000"/>
          </a:xfrm>
          <a:prstGeom prst="rect">
            <a:avLst/>
          </a:prstGeom>
        </p:spPr>
      </p:pic>
      <p:pic>
        <p:nvPicPr>
          <p:cNvPr id="9" name="Picture 8">
            <a:extLst>
              <a:ext uri="{FF2B5EF4-FFF2-40B4-BE49-F238E27FC236}">
                <a16:creationId xmlns:a16="http://schemas.microsoft.com/office/drawing/2014/main" id="{4FF54945-6BCE-4E47-BF8A-AF25A8E40D90}"/>
              </a:ext>
            </a:extLst>
          </p:cNvPr>
          <p:cNvPicPr>
            <a:picLocks noChangeAspect="1"/>
          </p:cNvPicPr>
          <p:nvPr/>
        </p:nvPicPr>
        <p:blipFill>
          <a:blip r:embed="rId4"/>
          <a:stretch>
            <a:fillRect/>
          </a:stretch>
        </p:blipFill>
        <p:spPr>
          <a:xfrm>
            <a:off x="7403583" y="1774451"/>
            <a:ext cx="1800000" cy="1800000"/>
          </a:xfrm>
          <a:prstGeom prst="rect">
            <a:avLst/>
          </a:prstGeom>
        </p:spPr>
      </p:pic>
      <p:pic>
        <p:nvPicPr>
          <p:cNvPr id="11" name="Picture 10">
            <a:extLst>
              <a:ext uri="{FF2B5EF4-FFF2-40B4-BE49-F238E27FC236}">
                <a16:creationId xmlns:a16="http://schemas.microsoft.com/office/drawing/2014/main" id="{6527A7FD-FEEC-2D42-8379-AF823768FF64}"/>
              </a:ext>
            </a:extLst>
          </p:cNvPr>
          <p:cNvPicPr>
            <a:picLocks noChangeAspect="1"/>
          </p:cNvPicPr>
          <p:nvPr/>
        </p:nvPicPr>
        <p:blipFill>
          <a:blip r:embed="rId5"/>
          <a:stretch>
            <a:fillRect/>
          </a:stretch>
        </p:blipFill>
        <p:spPr>
          <a:xfrm>
            <a:off x="3007238" y="1796761"/>
            <a:ext cx="1800000" cy="1800000"/>
          </a:xfrm>
          <a:prstGeom prst="rect">
            <a:avLst/>
          </a:prstGeom>
        </p:spPr>
      </p:pic>
      <p:pic>
        <p:nvPicPr>
          <p:cNvPr id="13" name="Picture 12">
            <a:extLst>
              <a:ext uri="{FF2B5EF4-FFF2-40B4-BE49-F238E27FC236}">
                <a16:creationId xmlns:a16="http://schemas.microsoft.com/office/drawing/2014/main" id="{756C24B0-18AF-804C-9C45-0B501074A7DC}"/>
              </a:ext>
            </a:extLst>
          </p:cNvPr>
          <p:cNvPicPr>
            <a:picLocks noChangeAspect="1"/>
          </p:cNvPicPr>
          <p:nvPr/>
        </p:nvPicPr>
        <p:blipFill>
          <a:blip r:embed="rId6"/>
          <a:stretch>
            <a:fillRect/>
          </a:stretch>
        </p:blipFill>
        <p:spPr>
          <a:xfrm>
            <a:off x="5196000" y="1761726"/>
            <a:ext cx="1800000" cy="1800000"/>
          </a:xfrm>
          <a:prstGeom prst="rect">
            <a:avLst/>
          </a:prstGeom>
        </p:spPr>
      </p:pic>
      <p:pic>
        <p:nvPicPr>
          <p:cNvPr id="15" name="Picture 14">
            <a:extLst>
              <a:ext uri="{FF2B5EF4-FFF2-40B4-BE49-F238E27FC236}">
                <a16:creationId xmlns:a16="http://schemas.microsoft.com/office/drawing/2014/main" id="{77B286B0-164B-BB4E-9DF8-4A9DDFBDF723}"/>
              </a:ext>
            </a:extLst>
          </p:cNvPr>
          <p:cNvPicPr>
            <a:picLocks noChangeAspect="1"/>
          </p:cNvPicPr>
          <p:nvPr/>
        </p:nvPicPr>
        <p:blipFill>
          <a:blip r:embed="rId7"/>
          <a:stretch>
            <a:fillRect/>
          </a:stretch>
        </p:blipFill>
        <p:spPr>
          <a:xfrm>
            <a:off x="838200" y="1796761"/>
            <a:ext cx="1800000" cy="1800000"/>
          </a:xfrm>
          <a:prstGeom prst="rect">
            <a:avLst/>
          </a:prstGeom>
        </p:spPr>
      </p:pic>
      <p:pic>
        <p:nvPicPr>
          <p:cNvPr id="17" name="Picture 16">
            <a:extLst>
              <a:ext uri="{FF2B5EF4-FFF2-40B4-BE49-F238E27FC236}">
                <a16:creationId xmlns:a16="http://schemas.microsoft.com/office/drawing/2014/main" id="{38C7DD22-EC25-1044-853A-C17F7F38BD4E}"/>
              </a:ext>
            </a:extLst>
          </p:cNvPr>
          <p:cNvPicPr>
            <a:picLocks noChangeAspect="1"/>
          </p:cNvPicPr>
          <p:nvPr/>
        </p:nvPicPr>
        <p:blipFill>
          <a:blip r:embed="rId8"/>
          <a:stretch>
            <a:fillRect/>
          </a:stretch>
        </p:blipFill>
        <p:spPr>
          <a:xfrm>
            <a:off x="9553800" y="4330044"/>
            <a:ext cx="1800000" cy="1800000"/>
          </a:xfrm>
          <a:prstGeom prst="rect">
            <a:avLst/>
          </a:prstGeom>
        </p:spPr>
      </p:pic>
      <p:pic>
        <p:nvPicPr>
          <p:cNvPr id="21" name="Picture 20">
            <a:extLst>
              <a:ext uri="{FF2B5EF4-FFF2-40B4-BE49-F238E27FC236}">
                <a16:creationId xmlns:a16="http://schemas.microsoft.com/office/drawing/2014/main" id="{C39A86B3-C4B8-B64A-B7D9-5030E34D4D4A}"/>
              </a:ext>
            </a:extLst>
          </p:cNvPr>
          <p:cNvPicPr>
            <a:picLocks noChangeAspect="1"/>
          </p:cNvPicPr>
          <p:nvPr/>
        </p:nvPicPr>
        <p:blipFill>
          <a:blip r:embed="rId9"/>
          <a:stretch>
            <a:fillRect/>
          </a:stretch>
        </p:blipFill>
        <p:spPr>
          <a:xfrm>
            <a:off x="5196000" y="4330044"/>
            <a:ext cx="1800000" cy="1800000"/>
          </a:xfrm>
          <a:prstGeom prst="rect">
            <a:avLst/>
          </a:prstGeom>
        </p:spPr>
      </p:pic>
      <p:pic>
        <p:nvPicPr>
          <p:cNvPr id="25" name="Picture 24">
            <a:extLst>
              <a:ext uri="{FF2B5EF4-FFF2-40B4-BE49-F238E27FC236}">
                <a16:creationId xmlns:a16="http://schemas.microsoft.com/office/drawing/2014/main" id="{0BFB303C-02A5-B544-B34B-A6F36B3801DF}"/>
              </a:ext>
            </a:extLst>
          </p:cNvPr>
          <p:cNvPicPr>
            <a:picLocks noChangeAspect="1"/>
          </p:cNvPicPr>
          <p:nvPr/>
        </p:nvPicPr>
        <p:blipFill>
          <a:blip r:embed="rId10"/>
          <a:stretch>
            <a:fillRect/>
          </a:stretch>
        </p:blipFill>
        <p:spPr>
          <a:xfrm>
            <a:off x="7238274" y="4330044"/>
            <a:ext cx="1800000" cy="1800000"/>
          </a:xfrm>
          <a:prstGeom prst="rect">
            <a:avLst/>
          </a:prstGeom>
        </p:spPr>
      </p:pic>
      <p:pic>
        <p:nvPicPr>
          <p:cNvPr id="29" name="Picture 28">
            <a:extLst>
              <a:ext uri="{FF2B5EF4-FFF2-40B4-BE49-F238E27FC236}">
                <a16:creationId xmlns:a16="http://schemas.microsoft.com/office/drawing/2014/main" id="{8AC5CD21-BF3C-D64F-AE15-E1717AD46B46}"/>
              </a:ext>
            </a:extLst>
          </p:cNvPr>
          <p:cNvPicPr>
            <a:picLocks noChangeAspect="1"/>
          </p:cNvPicPr>
          <p:nvPr/>
        </p:nvPicPr>
        <p:blipFill>
          <a:blip r:embed="rId11"/>
          <a:stretch>
            <a:fillRect/>
          </a:stretch>
        </p:blipFill>
        <p:spPr>
          <a:xfrm>
            <a:off x="761111" y="4330044"/>
            <a:ext cx="1800000" cy="1800000"/>
          </a:xfrm>
          <a:prstGeom prst="rect">
            <a:avLst/>
          </a:prstGeom>
        </p:spPr>
      </p:pic>
      <p:pic>
        <p:nvPicPr>
          <p:cNvPr id="33" name="Picture 32">
            <a:extLst>
              <a:ext uri="{FF2B5EF4-FFF2-40B4-BE49-F238E27FC236}">
                <a16:creationId xmlns:a16="http://schemas.microsoft.com/office/drawing/2014/main" id="{2AAC71C9-1DDD-D346-9BC4-A459C98EE3EA}"/>
              </a:ext>
            </a:extLst>
          </p:cNvPr>
          <p:cNvPicPr>
            <a:picLocks noChangeAspect="1"/>
          </p:cNvPicPr>
          <p:nvPr/>
        </p:nvPicPr>
        <p:blipFill>
          <a:blip r:embed="rId12"/>
          <a:stretch>
            <a:fillRect/>
          </a:stretch>
        </p:blipFill>
        <p:spPr>
          <a:xfrm>
            <a:off x="2961739" y="4330044"/>
            <a:ext cx="1800000" cy="1800000"/>
          </a:xfrm>
          <a:prstGeom prst="rect">
            <a:avLst/>
          </a:prstGeom>
        </p:spPr>
      </p:pic>
      <p:sp>
        <p:nvSpPr>
          <p:cNvPr id="34" name="TextBox 33">
            <a:extLst>
              <a:ext uri="{FF2B5EF4-FFF2-40B4-BE49-F238E27FC236}">
                <a16:creationId xmlns:a16="http://schemas.microsoft.com/office/drawing/2014/main" id="{EFB48590-676E-D24C-9954-B8281B91DEAF}"/>
              </a:ext>
            </a:extLst>
          </p:cNvPr>
          <p:cNvSpPr txBox="1"/>
          <p:nvPr/>
        </p:nvSpPr>
        <p:spPr>
          <a:xfrm>
            <a:off x="761111" y="3605383"/>
            <a:ext cx="10592689" cy="646331"/>
          </a:xfrm>
          <a:prstGeom prst="rect">
            <a:avLst/>
          </a:prstGeom>
          <a:noFill/>
        </p:spPr>
        <p:txBody>
          <a:bodyPr wrap="square" rtlCol="0">
            <a:spAutoFit/>
          </a:bodyPr>
          <a:lstStyle/>
          <a:p>
            <a:r>
              <a:rPr lang="en-US" dirty="0"/>
              <a:t>Figures 12-16: Boxplots showing medians, 25</a:t>
            </a:r>
            <a:r>
              <a:rPr lang="en-US" baseline="30000" dirty="0"/>
              <a:t>th</a:t>
            </a:r>
            <a:r>
              <a:rPr lang="en-US" dirty="0"/>
              <a:t>, 75th percentiles and outlying data points for ASV richness, hole area, hole depth, chlorophyll and DNA content, between the two glaciers</a:t>
            </a:r>
          </a:p>
        </p:txBody>
      </p:sp>
      <p:sp>
        <p:nvSpPr>
          <p:cNvPr id="35" name="TextBox 34">
            <a:extLst>
              <a:ext uri="{FF2B5EF4-FFF2-40B4-BE49-F238E27FC236}">
                <a16:creationId xmlns:a16="http://schemas.microsoft.com/office/drawing/2014/main" id="{AC8322CB-50FC-D04E-80D9-08868385A3B5}"/>
              </a:ext>
            </a:extLst>
          </p:cNvPr>
          <p:cNvSpPr txBox="1"/>
          <p:nvPr/>
        </p:nvSpPr>
        <p:spPr>
          <a:xfrm>
            <a:off x="799655" y="6155450"/>
            <a:ext cx="10592689" cy="646331"/>
          </a:xfrm>
          <a:prstGeom prst="rect">
            <a:avLst/>
          </a:prstGeom>
          <a:noFill/>
        </p:spPr>
        <p:txBody>
          <a:bodyPr wrap="square" rtlCol="0">
            <a:spAutoFit/>
          </a:bodyPr>
          <a:lstStyle/>
          <a:p>
            <a:r>
              <a:rPr lang="en-US" dirty="0"/>
              <a:t>Figures 17-21: Boxplots showing medians, 25</a:t>
            </a:r>
            <a:r>
              <a:rPr lang="en-US" baseline="30000" dirty="0"/>
              <a:t>th</a:t>
            </a:r>
            <a:r>
              <a:rPr lang="en-US" dirty="0"/>
              <a:t>, 75th percentiles and outlying data points for Shannon, Simpson, Inverse Simpson Diversity, </a:t>
            </a:r>
            <a:r>
              <a:rPr lang="en-US" dirty="0" err="1"/>
              <a:t>Pilou</a:t>
            </a:r>
            <a:r>
              <a:rPr lang="en-US" dirty="0"/>
              <a:t> Evenness and Faith’s PD, between the two glaciers</a:t>
            </a:r>
          </a:p>
        </p:txBody>
      </p:sp>
    </p:spTree>
    <p:extLst>
      <p:ext uri="{BB962C8B-B14F-4D97-AF65-F5344CB8AC3E}">
        <p14:creationId xmlns:p14="http://schemas.microsoft.com/office/powerpoint/2010/main" val="8479132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D80F-EB70-6C4E-8A1D-52448A861CC4}"/>
              </a:ext>
            </a:extLst>
          </p:cNvPr>
          <p:cNvSpPr>
            <a:spLocks noGrp="1"/>
          </p:cNvSpPr>
          <p:nvPr>
            <p:ph type="title"/>
          </p:nvPr>
        </p:nvSpPr>
        <p:spPr>
          <a:solidFill>
            <a:srgbClr val="FFC000"/>
          </a:solidFill>
        </p:spPr>
        <p:txBody>
          <a:bodyPr/>
          <a:lstStyle/>
          <a:p>
            <a:r>
              <a:rPr lang="en-US" dirty="0">
                <a:solidFill>
                  <a:schemeClr val="bg1"/>
                </a:solidFill>
              </a:rPr>
              <a:t>General Statistics: Linear Regression Analysis</a:t>
            </a:r>
          </a:p>
        </p:txBody>
      </p:sp>
      <p:pic>
        <p:nvPicPr>
          <p:cNvPr id="5" name="Picture 4">
            <a:extLst>
              <a:ext uri="{FF2B5EF4-FFF2-40B4-BE49-F238E27FC236}">
                <a16:creationId xmlns:a16="http://schemas.microsoft.com/office/drawing/2014/main" id="{F33065BA-F614-7C4B-B087-6683F2BAF588}"/>
              </a:ext>
            </a:extLst>
          </p:cNvPr>
          <p:cNvPicPr>
            <a:picLocks noChangeAspect="1"/>
          </p:cNvPicPr>
          <p:nvPr/>
        </p:nvPicPr>
        <p:blipFill>
          <a:blip r:embed="rId3"/>
          <a:stretch>
            <a:fillRect/>
          </a:stretch>
        </p:blipFill>
        <p:spPr>
          <a:xfrm>
            <a:off x="838200" y="1690688"/>
            <a:ext cx="4981575" cy="3074343"/>
          </a:xfrm>
          <a:prstGeom prst="rect">
            <a:avLst/>
          </a:prstGeom>
        </p:spPr>
      </p:pic>
      <p:sp>
        <p:nvSpPr>
          <p:cNvPr id="14" name="TextBox 13">
            <a:extLst>
              <a:ext uri="{FF2B5EF4-FFF2-40B4-BE49-F238E27FC236}">
                <a16:creationId xmlns:a16="http://schemas.microsoft.com/office/drawing/2014/main" id="{2D6A8C39-986A-1242-93B9-01CC36029E62}"/>
              </a:ext>
            </a:extLst>
          </p:cNvPr>
          <p:cNvSpPr txBox="1"/>
          <p:nvPr/>
        </p:nvSpPr>
        <p:spPr>
          <a:xfrm>
            <a:off x="1042988" y="5014913"/>
            <a:ext cx="4672012" cy="646331"/>
          </a:xfrm>
          <a:prstGeom prst="rect">
            <a:avLst/>
          </a:prstGeom>
          <a:noFill/>
        </p:spPr>
        <p:txBody>
          <a:bodyPr wrap="square" rtlCol="0">
            <a:spAutoFit/>
          </a:bodyPr>
          <a:lstStyle/>
          <a:p>
            <a:r>
              <a:rPr lang="en-US" dirty="0"/>
              <a:t>Figure 22: Linear regression plot of ASV richness against cryoconite hole area</a:t>
            </a:r>
          </a:p>
        </p:txBody>
      </p:sp>
    </p:spTree>
    <p:extLst>
      <p:ext uri="{BB962C8B-B14F-4D97-AF65-F5344CB8AC3E}">
        <p14:creationId xmlns:p14="http://schemas.microsoft.com/office/powerpoint/2010/main" val="36542806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3173D-92A9-A142-88D2-12113C65FC43}"/>
              </a:ext>
            </a:extLst>
          </p:cNvPr>
          <p:cNvSpPr>
            <a:spLocks noGrp="1"/>
          </p:cNvSpPr>
          <p:nvPr>
            <p:ph type="title"/>
          </p:nvPr>
        </p:nvSpPr>
        <p:spPr>
          <a:solidFill>
            <a:srgbClr val="FFC000"/>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F9E2B9F6-D3F8-6F45-9AB8-A0B941544B0C}"/>
              </a:ext>
            </a:extLst>
          </p:cNvPr>
          <p:cNvSpPr>
            <a:spLocks noGrp="1"/>
          </p:cNvSpPr>
          <p:nvPr>
            <p:ph idx="1"/>
          </p:nvPr>
        </p:nvSpPr>
        <p:spPr/>
        <p:txBody>
          <a:bodyPr/>
          <a:lstStyle/>
          <a:p>
            <a:r>
              <a:rPr lang="en-US" dirty="0"/>
              <a:t>Canonical Analysis of Principal Coordinates (CAP) used to identify the variation in community composition explained by pH, cryoconite hole area, cryoconite hole depth, water content and chlorophyll</a:t>
            </a:r>
          </a:p>
          <a:p>
            <a:endParaRPr lang="en-US" dirty="0"/>
          </a:p>
        </p:txBody>
      </p:sp>
    </p:spTree>
    <p:extLst>
      <p:ext uri="{BB962C8B-B14F-4D97-AF65-F5344CB8AC3E}">
        <p14:creationId xmlns:p14="http://schemas.microsoft.com/office/powerpoint/2010/main" val="41680002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2"/>
          <a:stretch>
            <a:fillRect/>
          </a:stretch>
        </p:blipFill>
        <p:spPr>
          <a:xfrm>
            <a:off x="4095750" y="45120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3"/>
          <a:stretch>
            <a:fillRect/>
          </a:stretch>
        </p:blipFill>
        <p:spPr>
          <a:xfrm>
            <a:off x="3706018" y="1825625"/>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4"/>
          <a:stretch>
            <a:fillRect/>
          </a:stretch>
        </p:blipFill>
        <p:spPr>
          <a:xfrm>
            <a:off x="6534150" y="45120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3890963" y="6340348"/>
            <a:ext cx="5657850" cy="369332"/>
          </a:xfrm>
          <a:prstGeom prst="rect">
            <a:avLst/>
          </a:prstGeom>
          <a:noFill/>
        </p:spPr>
        <p:txBody>
          <a:bodyPr wrap="square" rtlCol="0">
            <a:spAutoFit/>
          </a:bodyPr>
          <a:lstStyle/>
          <a:p>
            <a:r>
              <a:rPr lang="en-US" dirty="0"/>
              <a:t>Figure. Results graphs from my analyses (16S only)</a:t>
            </a:r>
          </a:p>
        </p:txBody>
      </p:sp>
    </p:spTree>
    <p:extLst>
      <p:ext uri="{BB962C8B-B14F-4D97-AF65-F5344CB8AC3E}">
        <p14:creationId xmlns:p14="http://schemas.microsoft.com/office/powerpoint/2010/main" val="29251788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847024"/>
            <a:ext cx="1616826" cy="1754326"/>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7610397" y="1348724"/>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1" y="2601350"/>
            <a:ext cx="844635"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500231" y="12476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078182" y="5785658"/>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078182" y="5785658"/>
                <a:ext cx="8296102" cy="369332"/>
              </a:xfrm>
              <a:prstGeom prst="rect">
                <a:avLst/>
              </a:prstGeom>
              <a:blipFill>
                <a:blip r:embed="rId4"/>
                <a:stretch>
                  <a:fillRect t="-10345" b="-24138"/>
                </a:stretch>
              </a:blipFill>
            </p:spPr>
            <p:txBody>
              <a:bodyPr/>
              <a:lstStyle/>
              <a:p>
                <a:r>
                  <a:rPr lang="en-US">
                    <a:noFill/>
                  </a:rPr>
                  <a:t> </a:t>
                </a:r>
              </a:p>
            </p:txBody>
          </p:sp>
        </mc:Fallback>
      </mc:AlternateContent>
    </p:spTree>
    <p:extLst>
      <p:ext uri="{BB962C8B-B14F-4D97-AF65-F5344CB8AC3E}">
        <p14:creationId xmlns:p14="http://schemas.microsoft.com/office/powerpoint/2010/main" val="21021822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755050813"/>
              </p:ext>
            </p:extLst>
          </p:nvPr>
        </p:nvGraphicFramePr>
        <p:xfrm>
          <a:off x="3200400" y="623359"/>
          <a:ext cx="84582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(2013)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69368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2"/>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Tree>
    <p:extLst>
      <p:ext uri="{BB962C8B-B14F-4D97-AF65-F5344CB8AC3E}">
        <p14:creationId xmlns:p14="http://schemas.microsoft.com/office/powerpoint/2010/main" val="18046988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08ED6-3AC3-C74A-BC09-4ACE99BE8CEA}"/>
              </a:ext>
            </a:extLst>
          </p:cNvPr>
          <p:cNvSpPr>
            <a:spLocks noGrp="1"/>
          </p:cNvSpPr>
          <p:nvPr>
            <p:ph type="title"/>
          </p:nvPr>
        </p:nvSpPr>
        <p:spPr>
          <a:solidFill>
            <a:srgbClr val="5C9BD5"/>
          </a:solidFill>
        </p:spPr>
        <p:txBody>
          <a:bodyPr/>
          <a:lstStyle/>
          <a:p>
            <a:r>
              <a:rPr lang="en-US" dirty="0">
                <a:solidFill>
                  <a:schemeClr val="bg1"/>
                </a:solidFill>
              </a:rPr>
              <a:t>Centrality and Clustering</a:t>
            </a:r>
          </a:p>
        </p:txBody>
      </p:sp>
      <p:sp>
        <p:nvSpPr>
          <p:cNvPr id="3" name="Content Placeholder 2">
            <a:extLst>
              <a:ext uri="{FF2B5EF4-FFF2-40B4-BE49-F238E27FC236}">
                <a16:creationId xmlns:a16="http://schemas.microsoft.com/office/drawing/2014/main" id="{AE5C1FCC-630C-704F-9B87-76F833E6EB7A}"/>
              </a:ext>
            </a:extLst>
          </p:cNvPr>
          <p:cNvSpPr>
            <a:spLocks noGrp="1"/>
          </p:cNvSpPr>
          <p:nvPr>
            <p:ph idx="1"/>
          </p:nvPr>
        </p:nvSpPr>
        <p:spPr/>
        <p:txBody>
          <a:bodyPr/>
          <a:lstStyle/>
          <a:p>
            <a:r>
              <a:rPr lang="en-US" dirty="0"/>
              <a:t>Degree Centrality</a:t>
            </a:r>
          </a:p>
          <a:p>
            <a:r>
              <a:rPr lang="en-US" dirty="0"/>
              <a:t>Closeness Centrality</a:t>
            </a:r>
          </a:p>
          <a:p>
            <a:r>
              <a:rPr lang="en-US" dirty="0"/>
              <a:t>Betweenness Centrality</a:t>
            </a:r>
          </a:p>
          <a:p>
            <a:r>
              <a:rPr lang="en-US" dirty="0"/>
              <a:t>Clustering coefficient</a:t>
            </a:r>
          </a:p>
          <a:p>
            <a:endParaRPr lang="en-US" dirty="0"/>
          </a:p>
        </p:txBody>
      </p:sp>
    </p:spTree>
    <p:extLst>
      <p:ext uri="{BB962C8B-B14F-4D97-AF65-F5344CB8AC3E}">
        <p14:creationId xmlns:p14="http://schemas.microsoft.com/office/powerpoint/2010/main" val="37486874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D2BF3-8D20-3347-8C3A-FC5C22DAA765}"/>
              </a:ext>
            </a:extLst>
          </p:cNvPr>
          <p:cNvSpPr>
            <a:spLocks noGrp="1"/>
          </p:cNvSpPr>
          <p:nvPr>
            <p:ph type="title"/>
          </p:nvPr>
        </p:nvSpPr>
        <p:spPr>
          <a:solidFill>
            <a:srgbClr val="5C9BD5"/>
          </a:solidFill>
          <a:ln>
            <a:solidFill>
              <a:schemeClr val="accent1"/>
            </a:solidFill>
          </a:ln>
        </p:spPr>
        <p:txBody>
          <a:bodyPr/>
          <a:lstStyle/>
          <a:p>
            <a:r>
              <a:rPr lang="en-US" dirty="0"/>
              <a:t>Results</a:t>
            </a:r>
          </a:p>
        </p:txBody>
      </p:sp>
      <p:sp>
        <p:nvSpPr>
          <p:cNvPr id="3" name="Content Placeholder 2">
            <a:extLst>
              <a:ext uri="{FF2B5EF4-FFF2-40B4-BE49-F238E27FC236}">
                <a16:creationId xmlns:a16="http://schemas.microsoft.com/office/drawing/2014/main" id="{F9534A9C-B446-AB47-AFCB-FC722EBB3F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290056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EBC78-4FE8-2C4B-B3E9-180A5A12FE77}"/>
              </a:ext>
            </a:extLst>
          </p:cNvPr>
          <p:cNvSpPr>
            <a:spLocks noGrp="1"/>
          </p:cNvSpPr>
          <p:nvPr>
            <p:ph type="title"/>
          </p:nvPr>
        </p:nvSpPr>
        <p:spPr>
          <a:solidFill>
            <a:srgbClr val="5C9BD5"/>
          </a:solidFill>
        </p:spPr>
        <p:txBody>
          <a:bodyPr/>
          <a:lstStyle/>
          <a:p>
            <a:r>
              <a:rPr lang="en-US" dirty="0" err="1">
                <a:solidFill>
                  <a:schemeClr val="bg1"/>
                </a:solidFill>
              </a:rPr>
              <a:t>Gephi</a:t>
            </a:r>
            <a:endParaRPr lang="en-US" dirty="0">
              <a:solidFill>
                <a:schemeClr val="bg1"/>
              </a:solidFill>
            </a:endParaRPr>
          </a:p>
        </p:txBody>
      </p:sp>
      <p:pic>
        <p:nvPicPr>
          <p:cNvPr id="6" name="Picture 5">
            <a:extLst>
              <a:ext uri="{FF2B5EF4-FFF2-40B4-BE49-F238E27FC236}">
                <a16:creationId xmlns:a16="http://schemas.microsoft.com/office/drawing/2014/main" id="{D3ECF695-8101-B148-9E3A-CBC46B2DCD81}"/>
              </a:ext>
            </a:extLst>
          </p:cNvPr>
          <p:cNvPicPr>
            <a:picLocks noChangeAspect="1"/>
          </p:cNvPicPr>
          <p:nvPr/>
        </p:nvPicPr>
        <p:blipFill>
          <a:blip r:embed="rId3"/>
          <a:stretch>
            <a:fillRect/>
          </a:stretch>
        </p:blipFill>
        <p:spPr>
          <a:xfrm>
            <a:off x="1788318" y="1858395"/>
            <a:ext cx="8615363" cy="4735774"/>
          </a:xfrm>
          <a:prstGeom prst="rect">
            <a:avLst/>
          </a:prstGeom>
        </p:spPr>
      </p:pic>
    </p:spTree>
    <p:extLst>
      <p:ext uri="{BB962C8B-B14F-4D97-AF65-F5344CB8AC3E}">
        <p14:creationId xmlns:p14="http://schemas.microsoft.com/office/powerpoint/2010/main" val="41531860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D7E04-7C38-FB49-A0A0-EF5E49EDA455}"/>
              </a:ext>
            </a:extLst>
          </p:cNvPr>
          <p:cNvSpPr>
            <a:spLocks noGrp="1"/>
          </p:cNvSpPr>
          <p:nvPr>
            <p:ph type="title"/>
          </p:nvPr>
        </p:nvSpPr>
        <p:spPr>
          <a:solidFill>
            <a:srgbClr val="5C9BD5"/>
          </a:solidFill>
        </p:spPr>
        <p:txBody>
          <a:bodyPr>
            <a:noAutofit/>
          </a:bodyPr>
          <a:lstStyle/>
          <a:p>
            <a:r>
              <a:rPr lang="en-GB" sz="2800" b="1" dirty="0">
                <a:solidFill>
                  <a:schemeClr val="bg1"/>
                </a:solidFill>
              </a:rPr>
              <a:t>Hu et al., (2017) Strong impact of anthropogenic contamination on the co‐occurrence patterns of a riverine microbial community</a:t>
            </a:r>
            <a:br>
              <a:rPr lang="en-GB" sz="2800" b="1" dirty="0">
                <a:solidFill>
                  <a:schemeClr val="bg1"/>
                </a:solidFill>
              </a:rPr>
            </a:br>
            <a:endParaRPr lang="en-US" sz="2800" dirty="0">
              <a:solidFill>
                <a:schemeClr val="bg1"/>
              </a:solidFill>
            </a:endParaRPr>
          </a:p>
        </p:txBody>
      </p:sp>
    </p:spTree>
    <p:extLst>
      <p:ext uri="{BB962C8B-B14F-4D97-AF65-F5344CB8AC3E}">
        <p14:creationId xmlns:p14="http://schemas.microsoft.com/office/powerpoint/2010/main" val="21366076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DA027-B72B-4144-A731-E9B94EB5EDD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F9B51A7-07A9-CA41-AA95-F674E4BEFDE9}"/>
              </a:ext>
            </a:extLst>
          </p:cNvPr>
          <p:cNvSpPr>
            <a:spLocks noGrp="1"/>
          </p:cNvSpPr>
          <p:nvPr>
            <p:ph idx="1"/>
          </p:nvPr>
        </p:nvSpPr>
        <p:spPr/>
        <p:txBody>
          <a:bodyPr/>
          <a:lstStyle/>
          <a:p>
            <a:pPr marL="514350" indent="-514350">
              <a:buFont typeface="+mj-lt"/>
              <a:buAutoNum type="arabicPeriod"/>
            </a:pPr>
            <a:r>
              <a:rPr lang="en-US" dirty="0"/>
              <a:t>Transpose </a:t>
            </a:r>
            <a:r>
              <a:rPr lang="en-US" dirty="0" err="1"/>
              <a:t>asv</a:t>
            </a:r>
            <a:r>
              <a:rPr lang="en-US" dirty="0"/>
              <a:t> table (</a:t>
            </a:r>
            <a:r>
              <a:rPr lang="en-US" dirty="0" err="1"/>
              <a:t>asv</a:t>
            </a:r>
            <a:r>
              <a:rPr lang="en-US" dirty="0"/>
              <a:t> = rows, samples = columns) and compute a matrix of Spearman’s rho rank correlation coefficients for all possible pairs of columns (</a:t>
            </a:r>
            <a:r>
              <a:rPr lang="en-US" dirty="0" err="1"/>
              <a:t>asvs</a:t>
            </a:r>
            <a:r>
              <a:rPr lang="en-US" dirty="0"/>
              <a:t>).</a:t>
            </a:r>
          </a:p>
          <a:p>
            <a:pPr marL="514350" indent="-514350">
              <a:buFont typeface="+mj-lt"/>
              <a:buAutoNum type="arabicPeriod"/>
            </a:pPr>
            <a:endParaRPr lang="en-US" dirty="0"/>
          </a:p>
        </p:txBody>
      </p:sp>
    </p:spTree>
    <p:extLst>
      <p:ext uri="{BB962C8B-B14F-4D97-AF65-F5344CB8AC3E}">
        <p14:creationId xmlns:p14="http://schemas.microsoft.com/office/powerpoint/2010/main" val="10574709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7595</TotalTime>
  <Words>4233</Words>
  <Application>Microsoft Macintosh PowerPoint</Application>
  <PresentationFormat>Widescreen</PresentationFormat>
  <Paragraphs>365</Paragraphs>
  <Slides>40</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Why are they different? Why should we care?</vt:lpstr>
      <vt:lpstr>Community Assembly Processes</vt:lpstr>
      <vt:lpstr>Supraglacial deterministic processes</vt:lpstr>
      <vt:lpstr>Supraglacial stochastic processes</vt:lpstr>
      <vt:lpstr>Hypotheses</vt:lpstr>
      <vt:lpstr>Analysis Workflow</vt:lpstr>
      <vt:lpstr>Sommers et al., (2020) ﻿Microbial Species–Area Relationships in Antarctic Cryoconite Holes Depend on Productivity</vt:lpstr>
      <vt:lpstr>QIIME2 &amp; DADA2</vt:lpstr>
      <vt:lpstr>Data Prep</vt:lpstr>
      <vt:lpstr>Multivariate Analysis</vt:lpstr>
      <vt:lpstr>Alpha Diversity</vt:lpstr>
      <vt:lpstr>Beta Diversity &amp; Ordination: Weighted UniFrac</vt:lpstr>
      <vt:lpstr>Beta Diversity &amp; Ordination: Unweighted UniFrac</vt:lpstr>
      <vt:lpstr>Beta Diversity &amp; Ordination: Bray-Curtis</vt:lpstr>
      <vt:lpstr>Alpha Non-Phylogenetic Diversity</vt:lpstr>
      <vt:lpstr>Alpha Phylogenetic Diversity</vt:lpstr>
      <vt:lpstr>Absolute Abundance Bar Plots</vt:lpstr>
      <vt:lpstr>Relative Abundance Bar Plots</vt:lpstr>
      <vt:lpstr>Beta Phylogenetic Diversity &amp; Ordination</vt:lpstr>
      <vt:lpstr>Beta Non-Phylogenetic Diversity &amp; Ordination</vt:lpstr>
      <vt:lpstr>Beta Non-Phylogenetic Diversity &amp; Ordination</vt:lpstr>
      <vt:lpstr>Linear Models</vt:lpstr>
      <vt:lpstr>General Statistics: Linear Regression Analysis</vt:lpstr>
      <vt:lpstr>Multivariate Analysis</vt:lpstr>
      <vt:lpstr>Island Species-Area Relationship (ISAR)</vt:lpstr>
      <vt:lpstr>Distance-Decay Relationship (DDR)</vt:lpstr>
      <vt:lpstr>Sloan’s Neutral Model</vt:lpstr>
      <vt:lpstr>Code</vt:lpstr>
      <vt:lpstr>Results</vt:lpstr>
      <vt:lpstr>Phylogenetic Signal</vt:lpstr>
      <vt:lpstr>Phylogenetic Signal</vt:lpstr>
      <vt:lpstr>Stegen et al., (2013) Phylogenetic Null Model</vt:lpstr>
      <vt:lpstr>Phylogenetic Null Model</vt:lpstr>
      <vt:lpstr>Co-Occurrence Network Analysis</vt:lpstr>
      <vt:lpstr>Centrality and Clustering</vt:lpstr>
      <vt:lpstr>Results</vt:lpstr>
      <vt:lpstr>Gephi</vt:lpstr>
      <vt:lpstr>Hu et al., (2017) Strong impact of anthropogenic contamination on the co‐occurrence patterns of a riverine microbial community </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109</cp:revision>
  <dcterms:created xsi:type="dcterms:W3CDTF">2021-04-15T08:49:25Z</dcterms:created>
  <dcterms:modified xsi:type="dcterms:W3CDTF">2021-04-21T15:15:38Z</dcterms:modified>
</cp:coreProperties>
</file>