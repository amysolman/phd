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79" r:id="rId3"/>
    <p:sldId id="264" r:id="rId4"/>
    <p:sldId id="268" r:id="rId5"/>
    <p:sldId id="269" r:id="rId6"/>
    <p:sldId id="270" r:id="rId7"/>
    <p:sldId id="280" r:id="rId8"/>
    <p:sldId id="281" r:id="rId9"/>
    <p:sldId id="283" r:id="rId10"/>
    <p:sldId id="282" r:id="rId11"/>
    <p:sldId id="287" r:id="rId12"/>
    <p:sldId id="274" r:id="rId13"/>
    <p:sldId id="288" r:id="rId14"/>
    <p:sldId id="289" r:id="rId15"/>
    <p:sldId id="290" r:id="rId16"/>
    <p:sldId id="291" r:id="rId17"/>
    <p:sldId id="292" r:id="rId18"/>
    <p:sldId id="284" r:id="rId19"/>
    <p:sldId id="285" r:id="rId20"/>
    <p:sldId id="286" r:id="rId21"/>
    <p:sldId id="263" r:id="rId22"/>
    <p:sldId id="258" r:id="rId23"/>
    <p:sldId id="259" r:id="rId24"/>
    <p:sldId id="261" r:id="rId25"/>
    <p:sldId id="277" r:id="rId26"/>
    <p:sldId id="278" r:id="rId27"/>
    <p:sldId id="293" r:id="rId28"/>
    <p:sldId id="271" r:id="rId29"/>
    <p:sldId id="265" r:id="rId30"/>
    <p:sldId id="260" r:id="rId31"/>
    <p:sldId id="262"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C9BD5"/>
    <a:srgbClr val="FFC003"/>
    <a:srgbClr val="3CE29B"/>
    <a:srgbClr val="7A81FF"/>
    <a:srgbClr val="909090"/>
    <a:srgbClr val="76D6FF"/>
    <a:srgbClr val="0096FF"/>
    <a:srgbClr val="00FB92"/>
    <a:srgbClr val="00FDFF"/>
    <a:srgbClr val="8EF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51"/>
    <p:restoredTop sz="83266"/>
  </p:normalViewPr>
  <p:slideViewPr>
    <p:cSldViewPr snapToGrid="0" snapToObjects="1">
      <p:cViewPr>
        <p:scale>
          <a:sx n="90" d="100"/>
          <a:sy n="90" d="100"/>
        </p:scale>
        <p:origin x="536"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F4A8053-4923-A24E-AEC5-81BF6014CBC8}" type="doc">
      <dgm:prSet loTypeId="urn:microsoft.com/office/officeart/2005/8/layout/venn1" loCatId="" qsTypeId="urn:microsoft.com/office/officeart/2005/8/quickstyle/simple1" qsCatId="simple" csTypeId="urn:microsoft.com/office/officeart/2005/8/colors/colorful4" csCatId="colorful" phldr="1"/>
      <dgm:spPr/>
    </dgm:pt>
    <dgm:pt modelId="{7F8359A3-B9CF-6D4B-8037-57FE1863EDF2}">
      <dgm:prSet phldrT="[Text]"/>
      <dgm:spPr/>
      <dgm:t>
        <a:bodyPr/>
        <a:lstStyle/>
        <a:p>
          <a:r>
            <a:rPr lang="en-US" dirty="0"/>
            <a:t>Selection</a:t>
          </a:r>
        </a:p>
      </dgm:t>
    </dgm:pt>
    <dgm:pt modelId="{B0B7F09A-A873-7049-9697-5CF8A7964645}" type="parTrans" cxnId="{22E0002F-3AB5-A944-A9A5-20F9CD6BC590}">
      <dgm:prSet/>
      <dgm:spPr/>
      <dgm:t>
        <a:bodyPr/>
        <a:lstStyle/>
        <a:p>
          <a:endParaRPr lang="en-US"/>
        </a:p>
      </dgm:t>
    </dgm:pt>
    <dgm:pt modelId="{B699ECE7-0CE4-8B41-A16C-D2DA25295E5A}" type="sibTrans" cxnId="{22E0002F-3AB5-A944-A9A5-20F9CD6BC590}">
      <dgm:prSet/>
      <dgm:spPr/>
      <dgm:t>
        <a:bodyPr/>
        <a:lstStyle/>
        <a:p>
          <a:endParaRPr lang="en-US"/>
        </a:p>
      </dgm:t>
    </dgm:pt>
    <dgm:pt modelId="{0475E55C-BC76-CC49-A6EA-4425DC97CB71}">
      <dgm:prSet phldrT="[Text]"/>
      <dgm:spPr/>
      <dgm:t>
        <a:bodyPr/>
        <a:lstStyle/>
        <a:p>
          <a:r>
            <a:rPr lang="en-US" dirty="0"/>
            <a:t>Dispersal</a:t>
          </a:r>
        </a:p>
      </dgm:t>
    </dgm:pt>
    <dgm:pt modelId="{CAC93909-FC75-1A4A-AC6C-8A176D84B327}" type="parTrans" cxnId="{6C7751D4-1294-EB42-9CAD-B69CD70ABD32}">
      <dgm:prSet/>
      <dgm:spPr/>
      <dgm:t>
        <a:bodyPr/>
        <a:lstStyle/>
        <a:p>
          <a:endParaRPr lang="en-US"/>
        </a:p>
      </dgm:t>
    </dgm:pt>
    <dgm:pt modelId="{6589743F-27BF-6740-9E4C-996261639427}" type="sibTrans" cxnId="{6C7751D4-1294-EB42-9CAD-B69CD70ABD32}">
      <dgm:prSet/>
      <dgm:spPr/>
      <dgm:t>
        <a:bodyPr/>
        <a:lstStyle/>
        <a:p>
          <a:endParaRPr lang="en-US"/>
        </a:p>
      </dgm:t>
    </dgm:pt>
    <dgm:pt modelId="{C77A4A92-8829-554D-A202-9E33F357FC68}">
      <dgm:prSet phldrT="[Text]"/>
      <dgm:spPr/>
      <dgm:t>
        <a:bodyPr/>
        <a:lstStyle/>
        <a:p>
          <a:r>
            <a:rPr lang="en-US" dirty="0"/>
            <a:t>Ecological Drift</a:t>
          </a:r>
        </a:p>
      </dgm:t>
    </dgm:pt>
    <dgm:pt modelId="{CD6B9D5D-8787-D348-92EC-DD8D371AAF2D}" type="parTrans" cxnId="{E16A4536-2D03-6141-932B-DB32ABF87EDF}">
      <dgm:prSet/>
      <dgm:spPr/>
      <dgm:t>
        <a:bodyPr/>
        <a:lstStyle/>
        <a:p>
          <a:endParaRPr lang="en-US"/>
        </a:p>
      </dgm:t>
    </dgm:pt>
    <dgm:pt modelId="{DE11C94D-1CAD-B04E-8F8C-6BD6380124BA}" type="sibTrans" cxnId="{E16A4536-2D03-6141-932B-DB32ABF87EDF}">
      <dgm:prSet/>
      <dgm:spPr/>
      <dgm:t>
        <a:bodyPr/>
        <a:lstStyle/>
        <a:p>
          <a:endParaRPr lang="en-US"/>
        </a:p>
      </dgm:t>
    </dgm:pt>
    <dgm:pt modelId="{99849F71-D68B-6349-82AD-85F23C18C551}" type="pres">
      <dgm:prSet presAssocID="{8F4A8053-4923-A24E-AEC5-81BF6014CBC8}" presName="compositeShape" presStyleCnt="0">
        <dgm:presLayoutVars>
          <dgm:chMax val="7"/>
          <dgm:dir/>
          <dgm:resizeHandles val="exact"/>
        </dgm:presLayoutVars>
      </dgm:prSet>
      <dgm:spPr/>
    </dgm:pt>
    <dgm:pt modelId="{25E2C31A-9C32-8244-A94C-1A921F1582B3}" type="pres">
      <dgm:prSet presAssocID="{7F8359A3-B9CF-6D4B-8037-57FE1863EDF2}" presName="circ1" presStyleLbl="vennNode1" presStyleIdx="0" presStyleCnt="3"/>
      <dgm:spPr/>
    </dgm:pt>
    <dgm:pt modelId="{12CDB55E-5DD0-DE4F-96C4-703F4165CACE}" type="pres">
      <dgm:prSet presAssocID="{7F8359A3-B9CF-6D4B-8037-57FE1863EDF2}" presName="circ1Tx" presStyleLbl="revTx" presStyleIdx="0" presStyleCnt="0">
        <dgm:presLayoutVars>
          <dgm:chMax val="0"/>
          <dgm:chPref val="0"/>
          <dgm:bulletEnabled val="1"/>
        </dgm:presLayoutVars>
      </dgm:prSet>
      <dgm:spPr/>
    </dgm:pt>
    <dgm:pt modelId="{7DAC2FF7-8C69-8544-B207-8AD8ED8CC18E}" type="pres">
      <dgm:prSet presAssocID="{0475E55C-BC76-CC49-A6EA-4425DC97CB71}" presName="circ2" presStyleLbl="vennNode1" presStyleIdx="1" presStyleCnt="3"/>
      <dgm:spPr/>
    </dgm:pt>
    <dgm:pt modelId="{76DE5FBD-4E39-D141-A1C7-AC8C1D7BAF55}" type="pres">
      <dgm:prSet presAssocID="{0475E55C-BC76-CC49-A6EA-4425DC97CB71}" presName="circ2Tx" presStyleLbl="revTx" presStyleIdx="0" presStyleCnt="0">
        <dgm:presLayoutVars>
          <dgm:chMax val="0"/>
          <dgm:chPref val="0"/>
          <dgm:bulletEnabled val="1"/>
        </dgm:presLayoutVars>
      </dgm:prSet>
      <dgm:spPr/>
    </dgm:pt>
    <dgm:pt modelId="{C13988BE-4667-2C42-B802-C07898FB496F}" type="pres">
      <dgm:prSet presAssocID="{C77A4A92-8829-554D-A202-9E33F357FC68}" presName="circ3" presStyleLbl="vennNode1" presStyleIdx="2" presStyleCnt="3"/>
      <dgm:spPr/>
    </dgm:pt>
    <dgm:pt modelId="{63B1BA92-5CBD-5D43-B807-32F00F93F4C2}" type="pres">
      <dgm:prSet presAssocID="{C77A4A92-8829-554D-A202-9E33F357FC68}" presName="circ3Tx" presStyleLbl="revTx" presStyleIdx="0" presStyleCnt="0">
        <dgm:presLayoutVars>
          <dgm:chMax val="0"/>
          <dgm:chPref val="0"/>
          <dgm:bulletEnabled val="1"/>
        </dgm:presLayoutVars>
      </dgm:prSet>
      <dgm:spPr/>
    </dgm:pt>
  </dgm:ptLst>
  <dgm:cxnLst>
    <dgm:cxn modelId="{22E0002F-3AB5-A944-A9A5-20F9CD6BC590}" srcId="{8F4A8053-4923-A24E-AEC5-81BF6014CBC8}" destId="{7F8359A3-B9CF-6D4B-8037-57FE1863EDF2}" srcOrd="0" destOrd="0" parTransId="{B0B7F09A-A873-7049-9697-5CF8A7964645}" sibTransId="{B699ECE7-0CE4-8B41-A16C-D2DA25295E5A}"/>
    <dgm:cxn modelId="{E16A4536-2D03-6141-932B-DB32ABF87EDF}" srcId="{8F4A8053-4923-A24E-AEC5-81BF6014CBC8}" destId="{C77A4A92-8829-554D-A202-9E33F357FC68}" srcOrd="2" destOrd="0" parTransId="{CD6B9D5D-8787-D348-92EC-DD8D371AAF2D}" sibTransId="{DE11C94D-1CAD-B04E-8F8C-6BD6380124BA}"/>
    <dgm:cxn modelId="{30926E4F-908A-2648-A053-9920F727B0EC}" type="presOf" srcId="{0475E55C-BC76-CC49-A6EA-4425DC97CB71}" destId="{76DE5FBD-4E39-D141-A1C7-AC8C1D7BAF55}" srcOrd="1" destOrd="0" presId="urn:microsoft.com/office/officeart/2005/8/layout/venn1"/>
    <dgm:cxn modelId="{1CE78F51-CC2E-DD49-9AB8-215DB2E3873F}" type="presOf" srcId="{7F8359A3-B9CF-6D4B-8037-57FE1863EDF2}" destId="{25E2C31A-9C32-8244-A94C-1A921F1582B3}" srcOrd="0" destOrd="0" presId="urn:microsoft.com/office/officeart/2005/8/layout/venn1"/>
    <dgm:cxn modelId="{77AD5456-ADF9-5144-901C-53774063F956}" type="presOf" srcId="{7F8359A3-B9CF-6D4B-8037-57FE1863EDF2}" destId="{12CDB55E-5DD0-DE4F-96C4-703F4165CACE}" srcOrd="1" destOrd="0" presId="urn:microsoft.com/office/officeart/2005/8/layout/venn1"/>
    <dgm:cxn modelId="{43CD5461-142A-BC4E-90AB-21C84DA1623D}" type="presOf" srcId="{C77A4A92-8829-554D-A202-9E33F357FC68}" destId="{63B1BA92-5CBD-5D43-B807-32F00F93F4C2}" srcOrd="1" destOrd="0" presId="urn:microsoft.com/office/officeart/2005/8/layout/venn1"/>
    <dgm:cxn modelId="{903EFF63-DF67-514E-8054-8C572B8FB92F}" type="presOf" srcId="{C77A4A92-8829-554D-A202-9E33F357FC68}" destId="{C13988BE-4667-2C42-B802-C07898FB496F}" srcOrd="0" destOrd="0" presId="urn:microsoft.com/office/officeart/2005/8/layout/venn1"/>
    <dgm:cxn modelId="{01B8258E-F57E-024C-9034-8CCCDFC3C0BF}" type="presOf" srcId="{0475E55C-BC76-CC49-A6EA-4425DC97CB71}" destId="{7DAC2FF7-8C69-8544-B207-8AD8ED8CC18E}" srcOrd="0" destOrd="0" presId="urn:microsoft.com/office/officeart/2005/8/layout/venn1"/>
    <dgm:cxn modelId="{E502D9AF-D72C-8E4E-B145-ADD72D368CFD}" type="presOf" srcId="{8F4A8053-4923-A24E-AEC5-81BF6014CBC8}" destId="{99849F71-D68B-6349-82AD-85F23C18C551}" srcOrd="0" destOrd="0" presId="urn:microsoft.com/office/officeart/2005/8/layout/venn1"/>
    <dgm:cxn modelId="{6C7751D4-1294-EB42-9CAD-B69CD70ABD32}" srcId="{8F4A8053-4923-A24E-AEC5-81BF6014CBC8}" destId="{0475E55C-BC76-CC49-A6EA-4425DC97CB71}" srcOrd="1" destOrd="0" parTransId="{CAC93909-FC75-1A4A-AC6C-8A176D84B327}" sibTransId="{6589743F-27BF-6740-9E4C-996261639427}"/>
    <dgm:cxn modelId="{D16D97F3-DFAD-144F-84C9-FD14C1B6A643}" type="presParOf" srcId="{99849F71-D68B-6349-82AD-85F23C18C551}" destId="{25E2C31A-9C32-8244-A94C-1A921F1582B3}" srcOrd="0" destOrd="0" presId="urn:microsoft.com/office/officeart/2005/8/layout/venn1"/>
    <dgm:cxn modelId="{68F31C22-3EB3-7546-80D3-71255CEF552E}" type="presParOf" srcId="{99849F71-D68B-6349-82AD-85F23C18C551}" destId="{12CDB55E-5DD0-DE4F-96C4-703F4165CACE}" srcOrd="1" destOrd="0" presId="urn:microsoft.com/office/officeart/2005/8/layout/venn1"/>
    <dgm:cxn modelId="{ED19B7B3-6FAE-BD49-9E19-A1C4E1D85B26}" type="presParOf" srcId="{99849F71-D68B-6349-82AD-85F23C18C551}" destId="{7DAC2FF7-8C69-8544-B207-8AD8ED8CC18E}" srcOrd="2" destOrd="0" presId="urn:microsoft.com/office/officeart/2005/8/layout/venn1"/>
    <dgm:cxn modelId="{B964DD3B-9CC4-174F-A633-FBFB58832294}" type="presParOf" srcId="{99849F71-D68B-6349-82AD-85F23C18C551}" destId="{76DE5FBD-4E39-D141-A1C7-AC8C1D7BAF55}" srcOrd="3" destOrd="0" presId="urn:microsoft.com/office/officeart/2005/8/layout/venn1"/>
    <dgm:cxn modelId="{720B36BF-859B-B64D-8DC5-26567BAA7DE8}" type="presParOf" srcId="{99849F71-D68B-6349-82AD-85F23C18C551}" destId="{C13988BE-4667-2C42-B802-C07898FB496F}" srcOrd="4" destOrd="0" presId="urn:microsoft.com/office/officeart/2005/8/layout/venn1"/>
    <dgm:cxn modelId="{43A3809A-FA93-8346-91EF-D786EBA2C43D}" type="presParOf" srcId="{99849F71-D68B-6349-82AD-85F23C18C551}" destId="{63B1BA92-5CBD-5D43-B807-32F00F93F4C2}"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4" csCatId="colorful" phldr="1"/>
      <dgm:spPr/>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B5958D73-7CAF-0C4E-93E6-55A6971A912F}">
      <dgm:prSet/>
      <dgm:spPr/>
      <dgm:t>
        <a:bodyPr/>
        <a:lstStyle/>
        <a:p>
          <a:r>
            <a:rPr lang="en-US" dirty="0"/>
            <a:t>Neutral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Null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DBC67D4B-288C-C941-9948-4D7CB11DC5C5}" type="pres">
      <dgm:prSet presAssocID="{85A8E8F9-220E-2E4B-BD17-17B84BAFCEE3}" presName="parTxOnly" presStyleLbl="node1" presStyleIdx="0" presStyleCnt="4">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27C5A505-81DC-A445-992D-1BC4566AB6F2}" type="pres">
      <dgm:prSet presAssocID="{B5958D73-7CAF-0C4E-93E6-55A6971A912F}" presName="parTxOnly" presStyleLbl="node1" presStyleIdx="1" presStyleCnt="4">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2" presStyleCnt="4">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3" presStyleCnt="4">
        <dgm:presLayoutVars>
          <dgm:chMax val="0"/>
          <dgm:chPref val="0"/>
          <dgm:bulletEnabled val="1"/>
        </dgm:presLayoutVars>
      </dgm:prSet>
      <dgm:spPr/>
    </dgm:pt>
  </dgm:ptLst>
  <dgm:cxnLst>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2" destOrd="0" parTransId="{B1290F56-1B2F-A84E-A54F-60F5DA1B7882}" sibTransId="{C2B5D443-1AEA-284F-B1EB-11FBB145377B}"/>
    <dgm:cxn modelId="{3502BEA6-6CBA-2447-A2DA-5FA519569872}" srcId="{633B4054-FB37-8840-90AB-98D7FF6893B3}" destId="{7EFDD187-55F0-6147-A8DE-A95F6FE37D83}" srcOrd="3" destOrd="0" parTransId="{9A7ECF4C-1FDC-4241-AD73-239FB1D43CF9}" sibTransId="{16FE4422-765B-2144-99EA-F3FECE73A4D8}"/>
    <dgm:cxn modelId="{F6E6DCDC-089A-6B43-B024-03C361F43633}" srcId="{633B4054-FB37-8840-90AB-98D7FF6893B3}" destId="{B5958D73-7CAF-0C4E-93E6-55A6971A912F}" srcOrd="1" destOrd="0" parTransId="{9B3B1D5C-9D31-F94E-BD16-E7D062719ED5}" sibTransId="{84D8F0DF-497A-B248-B6BD-53C772326452}"/>
    <dgm:cxn modelId="{3B2C89EA-8598-A44E-8425-4DFD9B15F114}" srcId="{633B4054-FB37-8840-90AB-98D7FF6893B3}" destId="{85A8E8F9-220E-2E4B-BD17-17B84BAFCEE3}" srcOrd="0" destOrd="0" parTransId="{2F98D148-B91A-6C4F-955D-7EF70029142A}" sibTransId="{774C9424-02F2-6340-9585-68BEEC283337}"/>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50D51D1-30B7-6E48-8815-41564E7AB669}" type="presParOf" srcId="{8B93FFDE-05A5-1545-8E2F-A0B473160679}" destId="{DBC67D4B-288C-C941-9948-4D7CB11DC5C5}" srcOrd="0" destOrd="0" presId="urn:microsoft.com/office/officeart/2005/8/layout/chevron1"/>
    <dgm:cxn modelId="{11F89015-2AF5-3544-B5F4-9D2993813F3A}" type="presParOf" srcId="{8B93FFDE-05A5-1545-8E2F-A0B473160679}" destId="{D10A12CF-7369-5641-88E3-F51093964655}" srcOrd="1" destOrd="0" presId="urn:microsoft.com/office/officeart/2005/8/layout/chevron1"/>
    <dgm:cxn modelId="{EFAF16B3-B0A3-2841-86AD-17CF0028B934}" type="presParOf" srcId="{8B93FFDE-05A5-1545-8E2F-A0B473160679}" destId="{27C5A505-81DC-A445-992D-1BC4566AB6F2}" srcOrd="2" destOrd="0" presId="urn:microsoft.com/office/officeart/2005/8/layout/chevron1"/>
    <dgm:cxn modelId="{42DF9720-F235-6748-8AF6-FB220F535113}" type="presParOf" srcId="{8B93FFDE-05A5-1545-8E2F-A0B473160679}" destId="{7864293B-1409-F449-B4CF-BF9CB218EB2D}" srcOrd="3" destOrd="0" presId="urn:microsoft.com/office/officeart/2005/8/layout/chevron1"/>
    <dgm:cxn modelId="{FB251CEA-D66E-F940-A69E-6683039EB759}" type="presParOf" srcId="{8B93FFDE-05A5-1545-8E2F-A0B473160679}" destId="{CF60189A-F0BD-1B41-89D2-307F1DA955E7}" srcOrd="4" destOrd="0" presId="urn:microsoft.com/office/officeart/2005/8/layout/chevron1"/>
    <dgm:cxn modelId="{D3FAC9EE-20AF-1C46-A3B9-E26F2ECCCDDF}" type="presParOf" srcId="{8B93FFDE-05A5-1545-8E2F-A0B473160679}" destId="{EEAAC419-0981-234A-943A-98901572F4FF}" srcOrd="5" destOrd="0" presId="urn:microsoft.com/office/officeart/2005/8/layout/chevron1"/>
    <dgm:cxn modelId="{179A5595-00EA-3144-B2DC-EA82F593D236}" type="presParOf" srcId="{8B93FFDE-05A5-1545-8E2F-A0B473160679}" destId="{4C6D95A5-AC6D-914C-B774-93CD0C61E4A3}"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35"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6D80D72C-DBB2-D94A-BCBD-1B0C1C35E98A}">
      <dgm:prSet phldrT="[Text]"/>
      <dgm:spPr/>
      <dgm:t>
        <a:bodyPr/>
        <a:lstStyle/>
        <a:p>
          <a:r>
            <a:rPr lang="en-US" dirty="0"/>
            <a:t>Wrangle metadata</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Identify and remove contaminant ASVs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Remove singletons</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Re-root phylogenetic tree</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Remove ambiguous annotations and low abundance phyla</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Construct </a:t>
          </a:r>
          <a:r>
            <a:rPr lang="en-US" dirty="0" err="1"/>
            <a:t>phyloseq</a:t>
          </a:r>
          <a:r>
            <a:rPr lang="en-US" dirty="0"/>
            <a:t> object and export </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B5498DE5-7CDC-0347-BA87-FB91FE15E435}">
      <dgm:prSet phldrT="[Text]"/>
      <dgm:spPr/>
      <dgm:t>
        <a:bodyPr/>
        <a:lstStyle/>
        <a:p>
          <a:r>
            <a:rPr lang="en-US" dirty="0"/>
            <a:t>Load in data from QIIME2 step</a:t>
          </a:r>
        </a:p>
      </dgm:t>
    </dgm:pt>
    <dgm:pt modelId="{30256DA3-2063-6145-A40C-3F213F51F903}" type="sibTrans" cxnId="{6F8A8218-A43D-754D-AC34-7D7A44CB7D31}">
      <dgm:prSet/>
      <dgm:spPr/>
      <dgm:t>
        <a:bodyPr/>
        <a:lstStyle/>
        <a:p>
          <a:endParaRPr lang="en-US"/>
        </a:p>
      </dgm:t>
    </dgm:pt>
    <dgm:pt modelId="{A4B182FE-28CF-CC4A-A857-D974481A212A}" type="parTrans" cxnId="{6F8A8218-A43D-754D-AC34-7D7A44CB7D31}">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7"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6"/>
      <dgm:spPr/>
    </dgm:pt>
    <dgm:pt modelId="{93A03A25-0C23-0B49-A801-B6DF4800FF1C}" type="pres">
      <dgm:prSet presAssocID="{30256DA3-2063-6145-A40C-3F213F51F903}" presName="connectorText" presStyleLbl="sibTrans2D1" presStyleIdx="0" presStyleCnt="6"/>
      <dgm:spPr/>
    </dgm:pt>
    <dgm:pt modelId="{43D2067A-91F6-8745-98BA-D6A10B24950A}" type="pres">
      <dgm:prSet presAssocID="{6D80D72C-DBB2-D94A-BCBD-1B0C1C35E98A}" presName="node" presStyleLbl="node1" presStyleIdx="1" presStyleCnt="7"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6"/>
      <dgm:spPr/>
    </dgm:pt>
    <dgm:pt modelId="{5030DE2C-F3D5-7E44-98C9-D5A5317CA56C}" type="pres">
      <dgm:prSet presAssocID="{ECF5917A-5A86-4945-92ED-C3A30B725FE7}" presName="connectorText" presStyleLbl="sibTrans2D1" presStyleIdx="1" presStyleCnt="6"/>
      <dgm:spPr/>
    </dgm:pt>
    <dgm:pt modelId="{80C05A4E-2A0A-294C-8DDC-052E97D834DA}" type="pres">
      <dgm:prSet presAssocID="{3AAD80AB-86BA-354D-A91B-40CE06269A51}" presName="node" presStyleLbl="node1" presStyleIdx="2" presStyleCnt="7"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6"/>
      <dgm:spPr/>
    </dgm:pt>
    <dgm:pt modelId="{14D2D5CD-E619-2C4C-83EC-B8786FE7D09C}" type="pres">
      <dgm:prSet presAssocID="{C215D862-A291-E848-A659-5797AEF6E6A2}" presName="connectorText" presStyleLbl="sibTrans2D1" presStyleIdx="2" presStyleCnt="6"/>
      <dgm:spPr/>
    </dgm:pt>
    <dgm:pt modelId="{6F6C8E07-FBAD-3F4D-A906-27ECCF26E70E}" type="pres">
      <dgm:prSet presAssocID="{99CAAEDC-6392-D343-9A6F-7F5A17C79600}" presName="node" presStyleLbl="node1" presStyleIdx="3" presStyleCnt="7"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6"/>
      <dgm:spPr/>
    </dgm:pt>
    <dgm:pt modelId="{3C8009BD-6E6B-AA43-B36E-EB048E42CE59}" type="pres">
      <dgm:prSet presAssocID="{E9E523D2-25B5-CD4B-9629-508B4D79D50B}" presName="connectorText" presStyleLbl="sibTrans2D1" presStyleIdx="3" presStyleCnt="6"/>
      <dgm:spPr/>
    </dgm:pt>
    <dgm:pt modelId="{BEBB65BD-4B92-BC44-96A8-BAAA586B7BF5}" type="pres">
      <dgm:prSet presAssocID="{AF485B0E-A33B-9844-9210-9C1E1BDA0205}" presName="node" presStyleLbl="node1" presStyleIdx="4" presStyleCnt="7"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6"/>
      <dgm:spPr/>
    </dgm:pt>
    <dgm:pt modelId="{7F333F59-D690-B24C-ABEB-6EE4EB2A6CE1}" type="pres">
      <dgm:prSet presAssocID="{F898BA7A-4505-614F-B67E-8FA6BAB686B5}" presName="connectorText" presStyleLbl="sibTrans2D1" presStyleIdx="4" presStyleCnt="6"/>
      <dgm:spPr/>
    </dgm:pt>
    <dgm:pt modelId="{80377AF5-BC76-FB40-840E-12C9D1BDB641}" type="pres">
      <dgm:prSet presAssocID="{7FA26DE3-9601-BF47-AC3A-1976221D9FF7}" presName="node" presStyleLbl="node1" presStyleIdx="5" presStyleCnt="7"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6"/>
      <dgm:spPr/>
    </dgm:pt>
    <dgm:pt modelId="{B372B6F6-AA4E-0A43-A234-81DA0BBCD8AB}" type="pres">
      <dgm:prSet presAssocID="{6BBB6159-CF03-854D-ADAC-23CBD22E850F}" presName="connectorText" presStyleLbl="sibTrans2D1" presStyleIdx="5" presStyleCnt="6"/>
      <dgm:spPr/>
    </dgm:pt>
    <dgm:pt modelId="{77F0190E-9B2D-0449-9A36-A264480F521F}" type="pres">
      <dgm:prSet presAssocID="{015830E8-F665-B44B-9DB8-53596A8F4B44}" presName="node" presStyleLbl="node1" presStyleIdx="6" presStyleCnt="7" custScaleX="349941" custScaleY="53000">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the size of the metacommunity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Find phylogenetic distances between ASVs</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99CAAEDC-6392-D343-9A6F-7F5A17C79600}">
      <dgm:prSet/>
      <dgm:spPr/>
      <dgm:t>
        <a:bodyPr/>
        <a:lstStyle/>
        <a:p>
          <a:r>
            <a:rPr lang="en-US" dirty="0"/>
            <a:t>Plot results of the mantel correlograms against phylogenetic distance classes for each environmental parameter to check for significant relationships</a:t>
          </a:r>
        </a:p>
      </dgm:t>
    </dgm:pt>
    <dgm:pt modelId="{E9E523D2-25B5-CD4B-9629-508B4D79D50B}" type="sibTrans" cxnId="{850E1FA5-AA48-724C-8558-F11B12C530EE}">
      <dgm:prSet/>
      <dgm:spPr/>
      <dgm:t>
        <a:bodyPr/>
        <a:lstStyle/>
        <a:p>
          <a:endParaRPr lang="en-US"/>
        </a:p>
      </dgm:t>
    </dgm:pt>
    <dgm:pt modelId="{C17FB67C-707B-D74A-80D6-94F7481B177D}" type="parTrans" cxnId="{850E1FA5-AA48-724C-8558-F11B12C530EE}">
      <dgm:prSet/>
      <dgm:spPr/>
      <dgm:t>
        <a:bodyPr/>
        <a:lstStyle/>
        <a:p>
          <a:endParaRPr lang="en-US"/>
        </a:p>
      </dgm:t>
    </dgm:pt>
    <dgm:pt modelId="{3AAD80AB-86BA-354D-A91B-40CE06269A51}">
      <dgm:prSet phldrT="[Text]"/>
      <dgm:spPr/>
      <dgm:t>
        <a:bodyPr/>
        <a:lstStyle/>
        <a:p>
          <a:r>
            <a:rPr lang="en-US" dirty="0"/>
            <a:t>Calculate mantel correlograms for each environmental parameter </a:t>
          </a:r>
        </a:p>
      </dgm:t>
    </dgm:pt>
    <dgm:pt modelId="{C215D862-A291-E848-A659-5797AEF6E6A2}" type="sibTrans" cxnId="{6CC7BC8F-A4DC-3E43-A468-7FE509ECF895}">
      <dgm:prSet/>
      <dgm:spPr/>
      <dgm:t>
        <a:bodyPr/>
        <a:lstStyle/>
        <a:p>
          <a:endParaRPr lang="en-US"/>
        </a:p>
      </dgm:t>
    </dgm:pt>
    <dgm:pt modelId="{3035F67B-CB08-4446-AE7D-48C039F6D2DF}" type="parTrans" cxnId="{6CC7BC8F-A4DC-3E43-A468-7FE509ECF895}">
      <dgm:prSet/>
      <dgm:spPr/>
      <dgm:t>
        <a:bodyPr/>
        <a:lstStyle/>
        <a:p>
          <a:endParaRPr lang="en-US"/>
        </a:p>
      </dgm:t>
    </dgm:pt>
    <dgm:pt modelId="{6D80D72C-DBB2-D94A-BCBD-1B0C1C35E98A}">
      <dgm:prSet phldrT="[Text]"/>
      <dgm:spPr/>
      <dgm:t>
        <a:bodyPr/>
        <a:lstStyle/>
        <a:p>
          <a:r>
            <a:rPr lang="en-US" dirty="0"/>
            <a:t>Find the weighted mean environmental parameters for each ASV = niche preferences </a:t>
          </a:r>
          <a:endParaRPr lang="en-US" i="1" dirty="0"/>
        </a:p>
      </dgm:t>
    </dgm:pt>
    <dgm:pt modelId="{ECF5917A-5A86-4945-92ED-C3A30B725FE7}" type="sibTrans" cxnId="{A399560D-2686-BB49-BEC8-16E0E59F898C}">
      <dgm:prSet/>
      <dgm:spPr/>
      <dgm:t>
        <a:bodyPr/>
        <a:lstStyle/>
        <a:p>
          <a:endParaRPr lang="en-US"/>
        </a:p>
      </dgm:t>
    </dgm:pt>
    <dgm:pt modelId="{7A0A85DE-826D-F943-B70A-C309B2E35E00}" type="parTrans" cxnId="{A399560D-2686-BB49-BEC8-16E0E59F898C}">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4" custScaleX="266769">
        <dgm:presLayoutVars>
          <dgm:bulletEnabled val="1"/>
        </dgm:presLayoutVars>
      </dgm:prSet>
      <dgm:spPr/>
    </dgm:pt>
    <dgm:pt modelId="{91DA19BA-A0AB-564A-8A9E-322DF18B64CF}" type="pres">
      <dgm:prSet presAssocID="{30256DA3-2063-6145-A40C-3F213F51F903}" presName="sibTrans" presStyleLbl="sibTrans2D1" presStyleIdx="0" presStyleCnt="3"/>
      <dgm:spPr/>
    </dgm:pt>
    <dgm:pt modelId="{93A03A25-0C23-0B49-A801-B6DF4800FF1C}" type="pres">
      <dgm:prSet presAssocID="{30256DA3-2063-6145-A40C-3F213F51F903}" presName="connectorText" presStyleLbl="sibTrans2D1" presStyleIdx="0" presStyleCnt="3"/>
      <dgm:spPr/>
    </dgm:pt>
    <dgm:pt modelId="{43D2067A-91F6-8745-98BA-D6A10B24950A}" type="pres">
      <dgm:prSet presAssocID="{6D80D72C-DBB2-D94A-BCBD-1B0C1C35E98A}" presName="node" presStyleLbl="node1" presStyleIdx="1" presStyleCnt="4" custScaleX="264923" custLinFactNeighborX="1148">
        <dgm:presLayoutVars>
          <dgm:bulletEnabled val="1"/>
        </dgm:presLayoutVars>
      </dgm:prSet>
      <dgm:spPr/>
    </dgm:pt>
    <dgm:pt modelId="{D067C965-9057-9C4A-A1D2-4912C14C50F7}" type="pres">
      <dgm:prSet presAssocID="{ECF5917A-5A86-4945-92ED-C3A30B725FE7}" presName="sibTrans" presStyleLbl="sibTrans2D1" presStyleIdx="1" presStyleCnt="3"/>
      <dgm:spPr/>
    </dgm:pt>
    <dgm:pt modelId="{5030DE2C-F3D5-7E44-98C9-D5A5317CA56C}" type="pres">
      <dgm:prSet presAssocID="{ECF5917A-5A86-4945-92ED-C3A30B725FE7}" presName="connectorText" presStyleLbl="sibTrans2D1" presStyleIdx="1" presStyleCnt="3"/>
      <dgm:spPr/>
    </dgm:pt>
    <dgm:pt modelId="{80C05A4E-2A0A-294C-8DDC-052E97D834DA}" type="pres">
      <dgm:prSet presAssocID="{3AAD80AB-86BA-354D-A91B-40CE06269A51}" presName="node" presStyleLbl="node1" presStyleIdx="2" presStyleCnt="4" custScaleX="263077">
        <dgm:presLayoutVars>
          <dgm:bulletEnabled val="1"/>
        </dgm:presLayoutVars>
      </dgm:prSet>
      <dgm:spPr/>
    </dgm:pt>
    <dgm:pt modelId="{B3C2DB7A-EC33-6544-A09D-B1205728770A}" type="pres">
      <dgm:prSet presAssocID="{C215D862-A291-E848-A659-5797AEF6E6A2}" presName="sibTrans" presStyleLbl="sibTrans2D1" presStyleIdx="2" presStyleCnt="3"/>
      <dgm:spPr/>
    </dgm:pt>
    <dgm:pt modelId="{14D2D5CD-E619-2C4C-83EC-B8786FE7D09C}" type="pres">
      <dgm:prSet presAssocID="{C215D862-A291-E848-A659-5797AEF6E6A2}" presName="connectorText" presStyleLbl="sibTrans2D1" presStyleIdx="2" presStyleCnt="3"/>
      <dgm:spPr/>
    </dgm:pt>
    <dgm:pt modelId="{6F6C8E07-FBAD-3F4D-A906-27ECCF26E70E}" type="pres">
      <dgm:prSet presAssocID="{99CAAEDC-6392-D343-9A6F-7F5A17C79600}" presName="node" presStyleLbl="node1" presStyleIdx="3" presStyleCnt="4" custScaleX="262154">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26577B4F-8805-7F47-9A82-2379E9B73B62}" type="doc">
      <dgm:prSet loTypeId="urn:microsoft.com/office/officeart/2005/8/layout/orgChart1" loCatId="" qsTypeId="urn:microsoft.com/office/officeart/2005/8/quickstyle/simple1" qsCatId="simple" csTypeId="urn:microsoft.com/office/officeart/2005/8/colors/accent4_1" csCatId="accent4" phldr="1"/>
      <dgm:spPr/>
      <dgm:t>
        <a:bodyPr/>
        <a:lstStyle/>
        <a:p>
          <a:endParaRPr lang="en-US"/>
        </a:p>
      </dgm:t>
    </dgm:pt>
    <dgm:pt modelId="{9F219289-8A31-1148-82D4-265246F22380}">
      <dgm:prSet phldrT="[Text]"/>
      <dgm:spPr>
        <a:solidFill>
          <a:srgbClr val="FFC003"/>
        </a:solidFill>
      </dgm:spPr>
      <dgm:t>
        <a:bodyPr/>
        <a:lstStyle/>
        <a:p>
          <a:r>
            <a:rPr lang="en-US" dirty="0"/>
            <a:t>βNTI</a:t>
          </a:r>
        </a:p>
      </dgm:t>
    </dgm:pt>
    <dgm:pt modelId="{F362B115-4CD8-8B4D-9409-2AFAC68C8D1F}" type="parTrans" cxnId="{4591B814-B223-9141-AC55-85ABD811F7E9}">
      <dgm:prSet/>
      <dgm:spPr/>
      <dgm:t>
        <a:bodyPr/>
        <a:lstStyle/>
        <a:p>
          <a:endParaRPr lang="en-US"/>
        </a:p>
      </dgm:t>
    </dgm:pt>
    <dgm:pt modelId="{7EF8A899-D412-0041-8F9F-A7A14C6F32C7}" type="sibTrans" cxnId="{4591B814-B223-9141-AC55-85ABD811F7E9}">
      <dgm:prSet/>
      <dgm:spPr/>
      <dgm:t>
        <a:bodyPr/>
        <a:lstStyle/>
        <a:p>
          <a:endParaRPr lang="en-US"/>
        </a:p>
      </dgm:t>
    </dgm:pt>
    <dgm:pt modelId="{F2DEA3D8-413E-E445-ADF0-FB442F8477B0}">
      <dgm:prSet phldrT="[Text]"/>
      <dgm:spPr>
        <a:solidFill>
          <a:srgbClr val="FFC003"/>
        </a:solidFill>
      </dgm:spPr>
      <dgm:t>
        <a:bodyPr/>
        <a:lstStyle/>
        <a:p>
          <a:r>
            <a:rPr lang="en-US" dirty="0"/>
            <a:t>&lt; -2</a:t>
          </a:r>
        </a:p>
      </dgm:t>
    </dgm:pt>
    <dgm:pt modelId="{4093BDEC-923F-864F-852B-06048A81EC9F}" type="parTrans" cxnId="{6B0342B9-B648-BC43-AA75-F0389220DD82}">
      <dgm:prSet/>
      <dgm:spPr/>
      <dgm:t>
        <a:bodyPr/>
        <a:lstStyle/>
        <a:p>
          <a:endParaRPr lang="en-US"/>
        </a:p>
      </dgm:t>
    </dgm:pt>
    <dgm:pt modelId="{42279889-3E72-1C48-AD74-87DD02ACDC56}" type="sibTrans" cxnId="{6B0342B9-B648-BC43-AA75-F0389220DD82}">
      <dgm:prSet/>
      <dgm:spPr/>
      <dgm:t>
        <a:bodyPr/>
        <a:lstStyle/>
        <a:p>
          <a:endParaRPr lang="en-US"/>
        </a:p>
      </dgm:t>
    </dgm:pt>
    <dgm:pt modelId="{EA384603-0039-6F45-A265-EDF9A1260AD6}">
      <dgm:prSet phldrT="[Text]"/>
      <dgm:spPr>
        <a:solidFill>
          <a:srgbClr val="FFC003"/>
        </a:solidFill>
      </dgm:spPr>
      <dgm:t>
        <a:bodyPr/>
        <a:lstStyle/>
        <a:p>
          <a:r>
            <a:rPr lang="en-US" dirty="0"/>
            <a:t>&gt; 2</a:t>
          </a:r>
        </a:p>
      </dgm:t>
    </dgm:pt>
    <dgm:pt modelId="{995B1156-958E-9D4A-A7B0-0B8F04E31EC6}" type="parTrans" cxnId="{CC76CFF2-6B95-4B47-8AB4-63AEA2DAA34E}">
      <dgm:prSet/>
      <dgm:spPr/>
      <dgm:t>
        <a:bodyPr/>
        <a:lstStyle/>
        <a:p>
          <a:endParaRPr lang="en-US"/>
        </a:p>
      </dgm:t>
    </dgm:pt>
    <dgm:pt modelId="{D402C9A6-A407-F843-9F39-D99AA757C169}" type="sibTrans" cxnId="{CC76CFF2-6B95-4B47-8AB4-63AEA2DAA34E}">
      <dgm:prSet/>
      <dgm:spPr/>
      <dgm:t>
        <a:bodyPr/>
        <a:lstStyle/>
        <a:p>
          <a:endParaRPr lang="en-US"/>
        </a:p>
      </dgm:t>
    </dgm:pt>
    <dgm:pt modelId="{9DBF051C-8233-FB4D-A0A3-D55F08CCB5BD}">
      <dgm:prSet phldrT="[Text]"/>
      <dgm:spPr>
        <a:solidFill>
          <a:srgbClr val="FFC003"/>
        </a:solidFill>
      </dgm:spPr>
      <dgm:t>
        <a:bodyPr/>
        <a:lstStyle/>
        <a:p>
          <a:r>
            <a:rPr lang="en-US" dirty="0"/>
            <a:t>|βNTI| &lt; 2</a:t>
          </a:r>
        </a:p>
      </dgm:t>
    </dgm:pt>
    <dgm:pt modelId="{707933C0-A3C9-7A45-A47C-79B8ACCA5805}" type="parTrans" cxnId="{129CDAE4-0190-F049-B8AC-B33AC0A2DE7B}">
      <dgm:prSet/>
      <dgm:spPr/>
      <dgm:t>
        <a:bodyPr/>
        <a:lstStyle/>
        <a:p>
          <a:endParaRPr lang="en-US"/>
        </a:p>
      </dgm:t>
    </dgm:pt>
    <dgm:pt modelId="{8FB02D23-FA8E-4843-9D9A-59FF96DFB85B}" type="sibTrans" cxnId="{129CDAE4-0190-F049-B8AC-B33AC0A2DE7B}">
      <dgm:prSet/>
      <dgm:spPr/>
      <dgm:t>
        <a:bodyPr/>
        <a:lstStyle/>
        <a:p>
          <a:endParaRPr lang="en-US"/>
        </a:p>
      </dgm:t>
    </dgm:pt>
    <dgm:pt modelId="{2DE1791E-70DD-F74B-8334-5D40841D4B87}">
      <dgm:prSet/>
      <dgm:spPr>
        <a:solidFill>
          <a:srgbClr val="FFC003"/>
        </a:solidFill>
      </dgm:spPr>
      <dgm:t>
        <a:bodyPr/>
        <a:lstStyle/>
        <a:p>
          <a:r>
            <a:rPr lang="en-US" dirty="0"/>
            <a:t>Homogenizing Selection</a:t>
          </a:r>
        </a:p>
      </dgm:t>
    </dgm:pt>
    <dgm:pt modelId="{C8F7C944-DC05-E546-96BD-3A7E566AF139}" type="parTrans" cxnId="{73D87C48-373A-F44E-ADEB-D4E945740264}">
      <dgm:prSet/>
      <dgm:spPr/>
      <dgm:t>
        <a:bodyPr/>
        <a:lstStyle/>
        <a:p>
          <a:endParaRPr lang="en-US"/>
        </a:p>
      </dgm:t>
    </dgm:pt>
    <dgm:pt modelId="{993608DD-162B-5A4A-9275-D0EFC7914127}" type="sibTrans" cxnId="{73D87C48-373A-F44E-ADEB-D4E945740264}">
      <dgm:prSet/>
      <dgm:spPr/>
      <dgm:t>
        <a:bodyPr/>
        <a:lstStyle/>
        <a:p>
          <a:endParaRPr lang="en-US"/>
        </a:p>
      </dgm:t>
    </dgm:pt>
    <dgm:pt modelId="{F1EB112A-8472-7E4E-ABB4-F90EAFE06B71}">
      <dgm:prSet/>
      <dgm:spPr>
        <a:solidFill>
          <a:srgbClr val="FFC003"/>
        </a:solidFill>
      </dgm:spPr>
      <dgm:t>
        <a:bodyPr/>
        <a:lstStyle/>
        <a:p>
          <a:r>
            <a:rPr lang="en-US" dirty="0"/>
            <a:t>Variable Selection</a:t>
          </a:r>
        </a:p>
      </dgm:t>
    </dgm:pt>
    <dgm:pt modelId="{77467C19-AE36-A642-B0A7-0B5561A0D582}" type="parTrans" cxnId="{1B378008-DA23-7146-AC2B-58AE5A6D9C92}">
      <dgm:prSet/>
      <dgm:spPr/>
      <dgm:t>
        <a:bodyPr/>
        <a:lstStyle/>
        <a:p>
          <a:endParaRPr lang="en-US"/>
        </a:p>
      </dgm:t>
    </dgm:pt>
    <dgm:pt modelId="{CB16C8CE-AECE-F748-A547-B824CBA53E7B}" type="sibTrans" cxnId="{1B378008-DA23-7146-AC2B-58AE5A6D9C92}">
      <dgm:prSet/>
      <dgm:spPr/>
      <dgm:t>
        <a:bodyPr/>
        <a:lstStyle/>
        <a:p>
          <a:endParaRPr lang="en-US"/>
        </a:p>
      </dgm:t>
    </dgm:pt>
    <dgm:pt modelId="{C0896CDA-28ED-324E-8617-E101D2F52AEC}">
      <dgm:prSet/>
      <dgm:spPr>
        <a:solidFill>
          <a:srgbClr val="FFC003"/>
        </a:solidFill>
      </dgm:spPr>
      <dgm:t>
        <a:bodyPr/>
        <a:lstStyle/>
        <a:p>
          <a:r>
            <a:rPr lang="en-US" dirty="0"/>
            <a:t>Stochastic Processes</a:t>
          </a:r>
        </a:p>
      </dgm:t>
    </dgm:pt>
    <dgm:pt modelId="{A6576F62-06B3-2B4B-B613-EEBB9B4ACAE0}" type="parTrans" cxnId="{471294A8-786E-9D48-B025-174649422CA1}">
      <dgm:prSet/>
      <dgm:spPr/>
      <dgm:t>
        <a:bodyPr/>
        <a:lstStyle/>
        <a:p>
          <a:endParaRPr lang="en-US"/>
        </a:p>
      </dgm:t>
    </dgm:pt>
    <dgm:pt modelId="{CEBFEC90-B655-A946-8B9A-9A60C022A3C7}" type="sibTrans" cxnId="{471294A8-786E-9D48-B025-174649422CA1}">
      <dgm:prSet/>
      <dgm:spPr/>
      <dgm:t>
        <a:bodyPr/>
        <a:lstStyle/>
        <a:p>
          <a:endParaRPr lang="en-US"/>
        </a:p>
      </dgm:t>
    </dgm:pt>
    <dgm:pt modelId="{FB12D5D1-C56D-7243-82DA-48CCC92EC674}">
      <dgm:prSet/>
      <dgm:spPr>
        <a:solidFill>
          <a:srgbClr val="5C9BD5"/>
        </a:solidFill>
        <a:ln>
          <a:solidFill>
            <a:schemeClr val="accent1"/>
          </a:solidFill>
        </a:ln>
      </dgm:spPr>
      <dgm:t>
        <a:bodyPr/>
        <a:lstStyle/>
        <a:p>
          <a:r>
            <a:rPr lang="en-US" dirty="0" err="1"/>
            <a:t>Raup</a:t>
          </a:r>
          <a:r>
            <a:rPr lang="en-US" dirty="0"/>
            <a:t>-Crick</a:t>
          </a:r>
        </a:p>
      </dgm:t>
    </dgm:pt>
    <dgm:pt modelId="{A544D4FF-9089-4D46-9611-91F620A4236E}" type="parTrans" cxnId="{00E91DDD-6D75-A24A-9A48-74381ED20914}">
      <dgm:prSet/>
      <dgm:spPr/>
      <dgm:t>
        <a:bodyPr/>
        <a:lstStyle/>
        <a:p>
          <a:endParaRPr lang="en-US"/>
        </a:p>
      </dgm:t>
    </dgm:pt>
    <dgm:pt modelId="{0D766AF6-7D4E-464C-839F-A3210BFCB511}" type="sibTrans" cxnId="{00E91DDD-6D75-A24A-9A48-74381ED20914}">
      <dgm:prSet/>
      <dgm:spPr/>
      <dgm:t>
        <a:bodyPr/>
        <a:lstStyle/>
        <a:p>
          <a:endParaRPr lang="en-US"/>
        </a:p>
      </dgm:t>
    </dgm:pt>
    <dgm:pt modelId="{32FDB694-380F-9E45-8B63-6DAA15DEAF01}">
      <dgm:prSet/>
      <dgm:spPr>
        <a:solidFill>
          <a:srgbClr val="5C9BD5"/>
        </a:solidFill>
        <a:ln>
          <a:solidFill>
            <a:schemeClr val="accent1"/>
          </a:solidFill>
        </a:ln>
      </dgm:spPr>
      <dgm:t>
        <a:bodyPr/>
        <a:lstStyle/>
        <a:p>
          <a:r>
            <a:rPr lang="en-US" dirty="0"/>
            <a:t>&lt; - 0.95</a:t>
          </a:r>
        </a:p>
      </dgm:t>
    </dgm:pt>
    <dgm:pt modelId="{E1F08455-1935-544B-B4BD-C2E10279FCB1}" type="parTrans" cxnId="{F175B1F3-FC5B-284F-811D-25CF08403E40}">
      <dgm:prSet/>
      <dgm:spPr/>
      <dgm:t>
        <a:bodyPr/>
        <a:lstStyle/>
        <a:p>
          <a:endParaRPr lang="en-US"/>
        </a:p>
      </dgm:t>
    </dgm:pt>
    <dgm:pt modelId="{BE9084F2-4653-1145-8721-C888F8DC3006}" type="sibTrans" cxnId="{F175B1F3-FC5B-284F-811D-25CF08403E40}">
      <dgm:prSet/>
      <dgm:spPr/>
      <dgm:t>
        <a:bodyPr/>
        <a:lstStyle/>
        <a:p>
          <a:endParaRPr lang="en-US"/>
        </a:p>
      </dgm:t>
    </dgm:pt>
    <dgm:pt modelId="{CE3287B3-59B6-A841-A8F4-4AA48547EE06}">
      <dgm:prSet/>
      <dgm:spPr>
        <a:solidFill>
          <a:srgbClr val="5C9BD5"/>
        </a:solidFill>
        <a:ln>
          <a:solidFill>
            <a:schemeClr val="accent1"/>
          </a:solidFill>
        </a:ln>
      </dgm:spPr>
      <dgm:t>
        <a:bodyPr/>
        <a:lstStyle/>
        <a:p>
          <a:r>
            <a:rPr lang="en-US" dirty="0"/>
            <a:t>Homogenizing Dispersal</a:t>
          </a:r>
        </a:p>
      </dgm:t>
    </dgm:pt>
    <dgm:pt modelId="{A5323AFE-4A12-624F-B685-FC12976F72DB}" type="parTrans" cxnId="{E94B89E0-58E0-1D4A-AA51-75B168E0A8E0}">
      <dgm:prSet/>
      <dgm:spPr/>
      <dgm:t>
        <a:bodyPr/>
        <a:lstStyle/>
        <a:p>
          <a:endParaRPr lang="en-US"/>
        </a:p>
      </dgm:t>
    </dgm:pt>
    <dgm:pt modelId="{48E67B0B-9CF2-FC4D-86E6-CF9E4161DAA1}" type="sibTrans" cxnId="{E94B89E0-58E0-1D4A-AA51-75B168E0A8E0}">
      <dgm:prSet/>
      <dgm:spPr/>
      <dgm:t>
        <a:bodyPr/>
        <a:lstStyle/>
        <a:p>
          <a:endParaRPr lang="en-US"/>
        </a:p>
      </dgm:t>
    </dgm:pt>
    <dgm:pt modelId="{C7A2A054-3937-A44C-AC27-834C4A416E85}">
      <dgm:prSet/>
      <dgm:spPr>
        <a:solidFill>
          <a:srgbClr val="5C9BD5"/>
        </a:solidFill>
        <a:ln>
          <a:solidFill>
            <a:schemeClr val="accent1"/>
          </a:solidFill>
        </a:ln>
      </dgm:spPr>
      <dgm:t>
        <a:bodyPr/>
        <a:lstStyle/>
        <a:p>
          <a:r>
            <a:rPr lang="en-US" dirty="0"/>
            <a:t>&gt; 0.95</a:t>
          </a:r>
        </a:p>
      </dgm:t>
    </dgm:pt>
    <dgm:pt modelId="{2B62E002-EC79-7B45-BF66-51AB729219E1}" type="parTrans" cxnId="{CD224385-F7C0-0D43-96C7-451704515913}">
      <dgm:prSet/>
      <dgm:spPr/>
      <dgm:t>
        <a:bodyPr/>
        <a:lstStyle/>
        <a:p>
          <a:endParaRPr lang="en-US"/>
        </a:p>
      </dgm:t>
    </dgm:pt>
    <dgm:pt modelId="{83BD9989-2687-B442-891D-1A4A1E4534BC}" type="sibTrans" cxnId="{CD224385-F7C0-0D43-96C7-451704515913}">
      <dgm:prSet/>
      <dgm:spPr/>
      <dgm:t>
        <a:bodyPr/>
        <a:lstStyle/>
        <a:p>
          <a:endParaRPr lang="en-US"/>
        </a:p>
      </dgm:t>
    </dgm:pt>
    <dgm:pt modelId="{89E453BE-3108-F942-BAAC-239B0D444B37}">
      <dgm:prSet/>
      <dgm:spPr>
        <a:solidFill>
          <a:srgbClr val="5C9BD5"/>
        </a:solidFill>
        <a:ln>
          <a:solidFill>
            <a:schemeClr val="accent1"/>
          </a:solidFill>
        </a:ln>
      </dgm:spPr>
      <dgm:t>
        <a:bodyPr/>
        <a:lstStyle/>
        <a:p>
          <a:r>
            <a:rPr lang="en-US" dirty="0"/>
            <a:t>Dispersal Limitation</a:t>
          </a:r>
        </a:p>
      </dgm:t>
    </dgm:pt>
    <dgm:pt modelId="{C1C61CF1-EC99-E940-8ADC-FF8309DADC90}" type="parTrans" cxnId="{192BA078-1274-654B-904E-7CAA00A8C330}">
      <dgm:prSet/>
      <dgm:spPr/>
      <dgm:t>
        <a:bodyPr/>
        <a:lstStyle/>
        <a:p>
          <a:endParaRPr lang="en-US"/>
        </a:p>
      </dgm:t>
    </dgm:pt>
    <dgm:pt modelId="{BA3DE453-79CF-2348-8689-13A5C5C3AF22}" type="sibTrans" cxnId="{192BA078-1274-654B-904E-7CAA00A8C330}">
      <dgm:prSet/>
      <dgm:spPr/>
      <dgm:t>
        <a:bodyPr/>
        <a:lstStyle/>
        <a:p>
          <a:endParaRPr lang="en-US"/>
        </a:p>
      </dgm:t>
    </dgm:pt>
    <dgm:pt modelId="{E915863B-29F3-9645-AAEE-79BFA9C00F1C}">
      <dgm:prSet/>
      <dgm:spPr>
        <a:solidFill>
          <a:srgbClr val="5C9BD5"/>
        </a:solidFill>
        <a:ln>
          <a:solidFill>
            <a:schemeClr val="accent1"/>
          </a:solidFill>
        </a:ln>
      </dgm:spPr>
      <dgm:t>
        <a:bodyPr/>
        <a:lstStyle/>
        <a:p>
          <a:r>
            <a:rPr lang="en-US" dirty="0"/>
            <a:t>|</a:t>
          </a:r>
          <a:r>
            <a:rPr lang="en-US" dirty="0" err="1"/>
            <a:t>Raup</a:t>
          </a:r>
          <a:r>
            <a:rPr lang="en-US" dirty="0"/>
            <a:t>-Crip| &lt; 0.95</a:t>
          </a:r>
        </a:p>
      </dgm:t>
    </dgm:pt>
    <dgm:pt modelId="{FA064C62-8AF7-CA4F-B1A2-B7A7F6123235}" type="parTrans" cxnId="{AA6DD423-23BF-8745-A917-3848066F8D57}">
      <dgm:prSet/>
      <dgm:spPr/>
      <dgm:t>
        <a:bodyPr/>
        <a:lstStyle/>
        <a:p>
          <a:endParaRPr lang="en-US"/>
        </a:p>
      </dgm:t>
    </dgm:pt>
    <dgm:pt modelId="{6F2132A3-6A2E-E647-A567-66B90E99A8EB}" type="sibTrans" cxnId="{AA6DD423-23BF-8745-A917-3848066F8D57}">
      <dgm:prSet/>
      <dgm:spPr/>
      <dgm:t>
        <a:bodyPr/>
        <a:lstStyle/>
        <a:p>
          <a:endParaRPr lang="en-US"/>
        </a:p>
      </dgm:t>
    </dgm:pt>
    <dgm:pt modelId="{F30E8B79-A38B-7D46-BE17-CC6155E89F5A}">
      <dgm:prSet/>
      <dgm:spPr>
        <a:solidFill>
          <a:srgbClr val="5C9BD5"/>
        </a:solidFill>
        <a:ln>
          <a:solidFill>
            <a:schemeClr val="accent1"/>
          </a:solidFill>
        </a:ln>
      </dgm:spPr>
      <dgm:t>
        <a:bodyPr/>
        <a:lstStyle/>
        <a:p>
          <a:r>
            <a:rPr lang="en-US"/>
            <a:t>Ecological Drift or Weak Selection</a:t>
          </a:r>
          <a:endParaRPr lang="en-US" dirty="0"/>
        </a:p>
      </dgm:t>
    </dgm:pt>
    <dgm:pt modelId="{31BFB5A6-5134-CF4A-A047-532A9A37732D}" type="parTrans" cxnId="{E0C54CDC-FA6B-AA40-9E22-83BA7C9C2022}">
      <dgm:prSet/>
      <dgm:spPr/>
      <dgm:t>
        <a:bodyPr/>
        <a:lstStyle/>
        <a:p>
          <a:endParaRPr lang="en-US"/>
        </a:p>
      </dgm:t>
    </dgm:pt>
    <dgm:pt modelId="{CB236E88-32D0-1D41-B41C-649367ADF163}" type="sibTrans" cxnId="{E0C54CDC-FA6B-AA40-9E22-83BA7C9C2022}">
      <dgm:prSet/>
      <dgm:spPr/>
      <dgm:t>
        <a:bodyPr/>
        <a:lstStyle/>
        <a:p>
          <a:endParaRPr lang="en-US"/>
        </a:p>
      </dgm:t>
    </dgm:pt>
    <dgm:pt modelId="{4F0F6BFD-666C-D64A-92A7-2DD64DC71A9A}" type="pres">
      <dgm:prSet presAssocID="{26577B4F-8805-7F47-9A82-2379E9B73B62}" presName="hierChild1" presStyleCnt="0">
        <dgm:presLayoutVars>
          <dgm:orgChart val="1"/>
          <dgm:chPref val="1"/>
          <dgm:dir/>
          <dgm:animOne val="branch"/>
          <dgm:animLvl val="lvl"/>
          <dgm:resizeHandles/>
        </dgm:presLayoutVars>
      </dgm:prSet>
      <dgm:spPr/>
    </dgm:pt>
    <dgm:pt modelId="{261554AA-493B-614B-9A4C-07302A2D4587}" type="pres">
      <dgm:prSet presAssocID="{9F219289-8A31-1148-82D4-265246F22380}" presName="hierRoot1" presStyleCnt="0">
        <dgm:presLayoutVars>
          <dgm:hierBranch val="init"/>
        </dgm:presLayoutVars>
      </dgm:prSet>
      <dgm:spPr/>
    </dgm:pt>
    <dgm:pt modelId="{A6B43CE7-3DC6-AF42-A161-F346571D48AC}" type="pres">
      <dgm:prSet presAssocID="{9F219289-8A31-1148-82D4-265246F22380}" presName="rootComposite1" presStyleCnt="0"/>
      <dgm:spPr/>
    </dgm:pt>
    <dgm:pt modelId="{C1CC36B6-BA4D-A641-B415-0E1EE07590C6}" type="pres">
      <dgm:prSet presAssocID="{9F219289-8A31-1148-82D4-265246F22380}" presName="rootText1" presStyleLbl="node0" presStyleIdx="0" presStyleCnt="1">
        <dgm:presLayoutVars>
          <dgm:chPref val="3"/>
        </dgm:presLayoutVars>
      </dgm:prSet>
      <dgm:spPr/>
    </dgm:pt>
    <dgm:pt modelId="{2403C819-5E8E-174D-B6AF-46EDB55FFADF}" type="pres">
      <dgm:prSet presAssocID="{9F219289-8A31-1148-82D4-265246F22380}" presName="rootConnector1" presStyleLbl="node1" presStyleIdx="0" presStyleCnt="0"/>
      <dgm:spPr/>
    </dgm:pt>
    <dgm:pt modelId="{4B0DF92B-4D0C-F544-956D-23ABA4E21F8F}" type="pres">
      <dgm:prSet presAssocID="{9F219289-8A31-1148-82D4-265246F22380}" presName="hierChild2" presStyleCnt="0"/>
      <dgm:spPr/>
    </dgm:pt>
    <dgm:pt modelId="{C8E42A8B-2C64-9B45-84EC-0C2265CC9A45}" type="pres">
      <dgm:prSet presAssocID="{4093BDEC-923F-864F-852B-06048A81EC9F}" presName="Name37" presStyleLbl="parChTrans1D2" presStyleIdx="0" presStyleCnt="3"/>
      <dgm:spPr/>
    </dgm:pt>
    <dgm:pt modelId="{199D1AFE-14AE-8C4A-818A-220142661603}" type="pres">
      <dgm:prSet presAssocID="{F2DEA3D8-413E-E445-ADF0-FB442F8477B0}" presName="hierRoot2" presStyleCnt="0">
        <dgm:presLayoutVars>
          <dgm:hierBranch val="init"/>
        </dgm:presLayoutVars>
      </dgm:prSet>
      <dgm:spPr/>
    </dgm:pt>
    <dgm:pt modelId="{33E6186C-AB0D-9D4B-A629-CA5BC1D90EAE}" type="pres">
      <dgm:prSet presAssocID="{F2DEA3D8-413E-E445-ADF0-FB442F8477B0}" presName="rootComposite" presStyleCnt="0"/>
      <dgm:spPr/>
    </dgm:pt>
    <dgm:pt modelId="{4A63361A-8AFA-2F4C-90B5-FAD7E6F7A3DD}" type="pres">
      <dgm:prSet presAssocID="{F2DEA3D8-413E-E445-ADF0-FB442F8477B0}" presName="rootText" presStyleLbl="node2" presStyleIdx="0" presStyleCnt="3">
        <dgm:presLayoutVars>
          <dgm:chPref val="3"/>
        </dgm:presLayoutVars>
      </dgm:prSet>
      <dgm:spPr/>
    </dgm:pt>
    <dgm:pt modelId="{1A1A0821-D2B4-BF49-9E6C-78A09FE3CA03}" type="pres">
      <dgm:prSet presAssocID="{F2DEA3D8-413E-E445-ADF0-FB442F8477B0}" presName="rootConnector" presStyleLbl="node2" presStyleIdx="0" presStyleCnt="3"/>
      <dgm:spPr/>
    </dgm:pt>
    <dgm:pt modelId="{CA4BCEB8-BC59-2948-B61B-E9C0116FFDB5}" type="pres">
      <dgm:prSet presAssocID="{F2DEA3D8-413E-E445-ADF0-FB442F8477B0}" presName="hierChild4" presStyleCnt="0"/>
      <dgm:spPr/>
    </dgm:pt>
    <dgm:pt modelId="{A27FEB45-0B57-E047-A4DC-4F93C6AAAF17}" type="pres">
      <dgm:prSet presAssocID="{C8F7C944-DC05-E546-96BD-3A7E566AF139}" presName="Name37" presStyleLbl="parChTrans1D3" presStyleIdx="0" presStyleCnt="3"/>
      <dgm:spPr/>
    </dgm:pt>
    <dgm:pt modelId="{0A66F28E-4B05-8D48-8A41-6F3528948617}" type="pres">
      <dgm:prSet presAssocID="{2DE1791E-70DD-F74B-8334-5D40841D4B87}" presName="hierRoot2" presStyleCnt="0">
        <dgm:presLayoutVars>
          <dgm:hierBranch val="init"/>
        </dgm:presLayoutVars>
      </dgm:prSet>
      <dgm:spPr/>
    </dgm:pt>
    <dgm:pt modelId="{6C1F1AB5-6652-0E4B-86E8-0E4C25AEA87D}" type="pres">
      <dgm:prSet presAssocID="{2DE1791E-70DD-F74B-8334-5D40841D4B87}" presName="rootComposite" presStyleCnt="0"/>
      <dgm:spPr/>
    </dgm:pt>
    <dgm:pt modelId="{1926695E-91AE-0542-B3EC-E69772DC1DC7}" type="pres">
      <dgm:prSet presAssocID="{2DE1791E-70DD-F74B-8334-5D40841D4B87}" presName="rootText" presStyleLbl="node3" presStyleIdx="0" presStyleCnt="3">
        <dgm:presLayoutVars>
          <dgm:chPref val="3"/>
        </dgm:presLayoutVars>
      </dgm:prSet>
      <dgm:spPr/>
    </dgm:pt>
    <dgm:pt modelId="{7D7A67F6-E1EE-5D46-B0BC-8DBED0BBDDAB}" type="pres">
      <dgm:prSet presAssocID="{2DE1791E-70DD-F74B-8334-5D40841D4B87}" presName="rootConnector" presStyleLbl="node3" presStyleIdx="0" presStyleCnt="3"/>
      <dgm:spPr/>
    </dgm:pt>
    <dgm:pt modelId="{BD99CE9E-021A-E44E-9364-30ED7FB845A6}" type="pres">
      <dgm:prSet presAssocID="{2DE1791E-70DD-F74B-8334-5D40841D4B87}" presName="hierChild4" presStyleCnt="0"/>
      <dgm:spPr/>
    </dgm:pt>
    <dgm:pt modelId="{8017A869-85CB-C746-BBE2-446B037E0816}" type="pres">
      <dgm:prSet presAssocID="{2DE1791E-70DD-F74B-8334-5D40841D4B87}" presName="hierChild5" presStyleCnt="0"/>
      <dgm:spPr/>
    </dgm:pt>
    <dgm:pt modelId="{48B6D4BC-C2FC-6444-BDE4-1B73337FA1F1}" type="pres">
      <dgm:prSet presAssocID="{F2DEA3D8-413E-E445-ADF0-FB442F8477B0}" presName="hierChild5" presStyleCnt="0"/>
      <dgm:spPr/>
    </dgm:pt>
    <dgm:pt modelId="{365BD677-2E0D-8648-9D43-610DB8DB5B68}" type="pres">
      <dgm:prSet presAssocID="{995B1156-958E-9D4A-A7B0-0B8F04E31EC6}" presName="Name37" presStyleLbl="parChTrans1D2" presStyleIdx="1" presStyleCnt="3"/>
      <dgm:spPr/>
    </dgm:pt>
    <dgm:pt modelId="{3A7150D0-D931-F046-A2AA-541D72AAB0AF}" type="pres">
      <dgm:prSet presAssocID="{EA384603-0039-6F45-A265-EDF9A1260AD6}" presName="hierRoot2" presStyleCnt="0">
        <dgm:presLayoutVars>
          <dgm:hierBranch val="init"/>
        </dgm:presLayoutVars>
      </dgm:prSet>
      <dgm:spPr/>
    </dgm:pt>
    <dgm:pt modelId="{A808265A-90FD-584B-B161-E71B7931F625}" type="pres">
      <dgm:prSet presAssocID="{EA384603-0039-6F45-A265-EDF9A1260AD6}" presName="rootComposite" presStyleCnt="0"/>
      <dgm:spPr/>
    </dgm:pt>
    <dgm:pt modelId="{5DB92BC0-ECCF-1647-98F2-A4BAD5B73C91}" type="pres">
      <dgm:prSet presAssocID="{EA384603-0039-6F45-A265-EDF9A1260AD6}" presName="rootText" presStyleLbl="node2" presStyleIdx="1" presStyleCnt="3">
        <dgm:presLayoutVars>
          <dgm:chPref val="3"/>
        </dgm:presLayoutVars>
      </dgm:prSet>
      <dgm:spPr/>
    </dgm:pt>
    <dgm:pt modelId="{0B6A0A62-E777-1C43-81F8-3843B5C3CE69}" type="pres">
      <dgm:prSet presAssocID="{EA384603-0039-6F45-A265-EDF9A1260AD6}" presName="rootConnector" presStyleLbl="node2" presStyleIdx="1" presStyleCnt="3"/>
      <dgm:spPr/>
    </dgm:pt>
    <dgm:pt modelId="{DB52A068-81A3-F94F-A1E1-57E3A1F772DB}" type="pres">
      <dgm:prSet presAssocID="{EA384603-0039-6F45-A265-EDF9A1260AD6}" presName="hierChild4" presStyleCnt="0"/>
      <dgm:spPr/>
    </dgm:pt>
    <dgm:pt modelId="{F66987EC-151A-764D-9F5F-DAD13DFA210F}" type="pres">
      <dgm:prSet presAssocID="{77467C19-AE36-A642-B0A7-0B5561A0D582}" presName="Name37" presStyleLbl="parChTrans1D3" presStyleIdx="1" presStyleCnt="3"/>
      <dgm:spPr/>
    </dgm:pt>
    <dgm:pt modelId="{A493CD10-9699-BB4B-9798-9313286E05BF}" type="pres">
      <dgm:prSet presAssocID="{F1EB112A-8472-7E4E-ABB4-F90EAFE06B71}" presName="hierRoot2" presStyleCnt="0">
        <dgm:presLayoutVars>
          <dgm:hierBranch val="init"/>
        </dgm:presLayoutVars>
      </dgm:prSet>
      <dgm:spPr/>
    </dgm:pt>
    <dgm:pt modelId="{12C8081E-BBDD-3E45-BCC4-0D05EC2E1472}" type="pres">
      <dgm:prSet presAssocID="{F1EB112A-8472-7E4E-ABB4-F90EAFE06B71}" presName="rootComposite" presStyleCnt="0"/>
      <dgm:spPr/>
    </dgm:pt>
    <dgm:pt modelId="{6B1FF1C0-13E9-8544-AF41-637E038824D7}" type="pres">
      <dgm:prSet presAssocID="{F1EB112A-8472-7E4E-ABB4-F90EAFE06B71}" presName="rootText" presStyleLbl="node3" presStyleIdx="1" presStyleCnt="3">
        <dgm:presLayoutVars>
          <dgm:chPref val="3"/>
        </dgm:presLayoutVars>
      </dgm:prSet>
      <dgm:spPr/>
    </dgm:pt>
    <dgm:pt modelId="{B6F7D033-73DC-B744-8C8D-E702F004A83C}" type="pres">
      <dgm:prSet presAssocID="{F1EB112A-8472-7E4E-ABB4-F90EAFE06B71}" presName="rootConnector" presStyleLbl="node3" presStyleIdx="1" presStyleCnt="3"/>
      <dgm:spPr/>
    </dgm:pt>
    <dgm:pt modelId="{448780AB-0479-4341-8495-ED186D8A005A}" type="pres">
      <dgm:prSet presAssocID="{F1EB112A-8472-7E4E-ABB4-F90EAFE06B71}" presName="hierChild4" presStyleCnt="0"/>
      <dgm:spPr/>
    </dgm:pt>
    <dgm:pt modelId="{EE70936C-4E5A-4F49-9FA1-40696B4EAAF7}" type="pres">
      <dgm:prSet presAssocID="{F1EB112A-8472-7E4E-ABB4-F90EAFE06B71}" presName="hierChild5" presStyleCnt="0"/>
      <dgm:spPr/>
    </dgm:pt>
    <dgm:pt modelId="{2B6A2B99-719E-C04C-9B8D-094887828A64}" type="pres">
      <dgm:prSet presAssocID="{EA384603-0039-6F45-A265-EDF9A1260AD6}" presName="hierChild5" presStyleCnt="0"/>
      <dgm:spPr/>
    </dgm:pt>
    <dgm:pt modelId="{AF294D60-9B72-9641-80C4-60237BEBC252}" type="pres">
      <dgm:prSet presAssocID="{707933C0-A3C9-7A45-A47C-79B8ACCA5805}" presName="Name37" presStyleLbl="parChTrans1D2" presStyleIdx="2" presStyleCnt="3"/>
      <dgm:spPr/>
    </dgm:pt>
    <dgm:pt modelId="{18F9806C-8688-E24D-92A2-25135D2EE0A7}" type="pres">
      <dgm:prSet presAssocID="{9DBF051C-8233-FB4D-A0A3-D55F08CCB5BD}" presName="hierRoot2" presStyleCnt="0">
        <dgm:presLayoutVars>
          <dgm:hierBranch val="init"/>
        </dgm:presLayoutVars>
      </dgm:prSet>
      <dgm:spPr/>
    </dgm:pt>
    <dgm:pt modelId="{E135D09B-66EE-2646-A510-CACA0FC24D49}" type="pres">
      <dgm:prSet presAssocID="{9DBF051C-8233-FB4D-A0A3-D55F08CCB5BD}" presName="rootComposite" presStyleCnt="0"/>
      <dgm:spPr/>
    </dgm:pt>
    <dgm:pt modelId="{AE62488F-B611-A844-8B8F-FD92D7733871}" type="pres">
      <dgm:prSet presAssocID="{9DBF051C-8233-FB4D-A0A3-D55F08CCB5BD}" presName="rootText" presStyleLbl="node2" presStyleIdx="2" presStyleCnt="3">
        <dgm:presLayoutVars>
          <dgm:chPref val="3"/>
        </dgm:presLayoutVars>
      </dgm:prSet>
      <dgm:spPr/>
    </dgm:pt>
    <dgm:pt modelId="{D5903FDF-A36C-5A4A-84BD-2642D156709B}" type="pres">
      <dgm:prSet presAssocID="{9DBF051C-8233-FB4D-A0A3-D55F08CCB5BD}" presName="rootConnector" presStyleLbl="node2" presStyleIdx="2" presStyleCnt="3"/>
      <dgm:spPr/>
    </dgm:pt>
    <dgm:pt modelId="{890C5310-8245-A946-962C-21B3CD11967F}" type="pres">
      <dgm:prSet presAssocID="{9DBF051C-8233-FB4D-A0A3-D55F08CCB5BD}" presName="hierChild4" presStyleCnt="0"/>
      <dgm:spPr/>
    </dgm:pt>
    <dgm:pt modelId="{46F7C25B-8A6B-9A4C-AEA5-79B511634C22}" type="pres">
      <dgm:prSet presAssocID="{A6576F62-06B3-2B4B-B613-EEBB9B4ACAE0}" presName="Name37" presStyleLbl="parChTrans1D3" presStyleIdx="2" presStyleCnt="3"/>
      <dgm:spPr/>
    </dgm:pt>
    <dgm:pt modelId="{9ECF6CD8-FC09-8642-A83A-F03AE2EBDBC1}" type="pres">
      <dgm:prSet presAssocID="{C0896CDA-28ED-324E-8617-E101D2F52AEC}" presName="hierRoot2" presStyleCnt="0">
        <dgm:presLayoutVars>
          <dgm:hierBranch val="init"/>
        </dgm:presLayoutVars>
      </dgm:prSet>
      <dgm:spPr/>
    </dgm:pt>
    <dgm:pt modelId="{4EDE2DF0-D923-9048-800B-DC5295E37D55}" type="pres">
      <dgm:prSet presAssocID="{C0896CDA-28ED-324E-8617-E101D2F52AEC}" presName="rootComposite" presStyleCnt="0"/>
      <dgm:spPr/>
    </dgm:pt>
    <dgm:pt modelId="{087B432B-A73B-7846-8B5A-25403EDAE7DC}" type="pres">
      <dgm:prSet presAssocID="{C0896CDA-28ED-324E-8617-E101D2F52AEC}" presName="rootText" presStyleLbl="node3" presStyleIdx="2" presStyleCnt="3">
        <dgm:presLayoutVars>
          <dgm:chPref val="3"/>
        </dgm:presLayoutVars>
      </dgm:prSet>
      <dgm:spPr/>
    </dgm:pt>
    <dgm:pt modelId="{10FFFC58-7EA2-F746-B467-E0051543092E}" type="pres">
      <dgm:prSet presAssocID="{C0896CDA-28ED-324E-8617-E101D2F52AEC}" presName="rootConnector" presStyleLbl="node3" presStyleIdx="2" presStyleCnt="3"/>
      <dgm:spPr/>
    </dgm:pt>
    <dgm:pt modelId="{B2F50107-C8CD-9E49-AA2A-90C7E875A119}" type="pres">
      <dgm:prSet presAssocID="{C0896CDA-28ED-324E-8617-E101D2F52AEC}" presName="hierChild4" presStyleCnt="0"/>
      <dgm:spPr/>
    </dgm:pt>
    <dgm:pt modelId="{2F5B253E-CAC3-7C48-A37C-FD28DF4E1921}" type="pres">
      <dgm:prSet presAssocID="{A544D4FF-9089-4D46-9611-91F620A4236E}" presName="Name37" presStyleLbl="parChTrans1D4" presStyleIdx="0" presStyleCnt="7"/>
      <dgm:spPr/>
    </dgm:pt>
    <dgm:pt modelId="{8E926447-DD46-BA49-B9AD-F10B0B6323BE}" type="pres">
      <dgm:prSet presAssocID="{FB12D5D1-C56D-7243-82DA-48CCC92EC674}" presName="hierRoot2" presStyleCnt="0">
        <dgm:presLayoutVars>
          <dgm:hierBranch val="init"/>
        </dgm:presLayoutVars>
      </dgm:prSet>
      <dgm:spPr/>
    </dgm:pt>
    <dgm:pt modelId="{AD465AE8-421C-5A4A-ACD1-9BE97AF73C9B}" type="pres">
      <dgm:prSet presAssocID="{FB12D5D1-C56D-7243-82DA-48CCC92EC674}" presName="rootComposite" presStyleCnt="0"/>
      <dgm:spPr/>
    </dgm:pt>
    <dgm:pt modelId="{955D6E37-AD6C-734D-A59C-17F7C8CCBF6E}" type="pres">
      <dgm:prSet presAssocID="{FB12D5D1-C56D-7243-82DA-48CCC92EC674}" presName="rootText" presStyleLbl="node4" presStyleIdx="0" presStyleCnt="7">
        <dgm:presLayoutVars>
          <dgm:chPref val="3"/>
        </dgm:presLayoutVars>
      </dgm:prSet>
      <dgm:spPr/>
    </dgm:pt>
    <dgm:pt modelId="{D58740E1-516B-CF47-92D9-7387FE462A89}" type="pres">
      <dgm:prSet presAssocID="{FB12D5D1-C56D-7243-82DA-48CCC92EC674}" presName="rootConnector" presStyleLbl="node4" presStyleIdx="0" presStyleCnt="7"/>
      <dgm:spPr/>
    </dgm:pt>
    <dgm:pt modelId="{B23CE2F2-F5E1-AB4B-BCE7-F27260B5CDA1}" type="pres">
      <dgm:prSet presAssocID="{FB12D5D1-C56D-7243-82DA-48CCC92EC674}" presName="hierChild4" presStyleCnt="0"/>
      <dgm:spPr/>
    </dgm:pt>
    <dgm:pt modelId="{28950DD6-701B-604E-A21E-09DDFA200060}" type="pres">
      <dgm:prSet presAssocID="{E1F08455-1935-544B-B4BD-C2E10279FCB1}" presName="Name37" presStyleLbl="parChTrans1D4" presStyleIdx="1" presStyleCnt="7"/>
      <dgm:spPr/>
    </dgm:pt>
    <dgm:pt modelId="{6A1F3F0F-4DAF-7C42-A524-30254598EAA3}" type="pres">
      <dgm:prSet presAssocID="{32FDB694-380F-9E45-8B63-6DAA15DEAF01}" presName="hierRoot2" presStyleCnt="0">
        <dgm:presLayoutVars>
          <dgm:hierBranch val="init"/>
        </dgm:presLayoutVars>
      </dgm:prSet>
      <dgm:spPr/>
    </dgm:pt>
    <dgm:pt modelId="{BDFAA52F-E24B-9A46-8230-F29FF867AD8D}" type="pres">
      <dgm:prSet presAssocID="{32FDB694-380F-9E45-8B63-6DAA15DEAF01}" presName="rootComposite" presStyleCnt="0"/>
      <dgm:spPr/>
    </dgm:pt>
    <dgm:pt modelId="{A8E99C39-923B-884F-AE10-80995E192317}" type="pres">
      <dgm:prSet presAssocID="{32FDB694-380F-9E45-8B63-6DAA15DEAF01}" presName="rootText" presStyleLbl="node4" presStyleIdx="1" presStyleCnt="7">
        <dgm:presLayoutVars>
          <dgm:chPref val="3"/>
        </dgm:presLayoutVars>
      </dgm:prSet>
      <dgm:spPr/>
    </dgm:pt>
    <dgm:pt modelId="{C4EDFE6C-296D-204F-BB4C-E0383AD6462D}" type="pres">
      <dgm:prSet presAssocID="{32FDB694-380F-9E45-8B63-6DAA15DEAF01}" presName="rootConnector" presStyleLbl="node4" presStyleIdx="1" presStyleCnt="7"/>
      <dgm:spPr/>
    </dgm:pt>
    <dgm:pt modelId="{48093C1D-4B04-784E-BBA1-E8742EC1B5D2}" type="pres">
      <dgm:prSet presAssocID="{32FDB694-380F-9E45-8B63-6DAA15DEAF01}" presName="hierChild4" presStyleCnt="0"/>
      <dgm:spPr/>
    </dgm:pt>
    <dgm:pt modelId="{B3BAC4AD-153B-1343-BCE5-6024ABCC6DE8}" type="pres">
      <dgm:prSet presAssocID="{A5323AFE-4A12-624F-B685-FC12976F72DB}" presName="Name37" presStyleLbl="parChTrans1D4" presStyleIdx="2" presStyleCnt="7"/>
      <dgm:spPr/>
    </dgm:pt>
    <dgm:pt modelId="{B530C9B4-A504-D840-B24B-BF0B3A956607}" type="pres">
      <dgm:prSet presAssocID="{CE3287B3-59B6-A841-A8F4-4AA48547EE06}" presName="hierRoot2" presStyleCnt="0">
        <dgm:presLayoutVars>
          <dgm:hierBranch val="init"/>
        </dgm:presLayoutVars>
      </dgm:prSet>
      <dgm:spPr/>
    </dgm:pt>
    <dgm:pt modelId="{EE710273-3FAA-D149-8B8A-D9F0E84BBFD9}" type="pres">
      <dgm:prSet presAssocID="{CE3287B3-59B6-A841-A8F4-4AA48547EE06}" presName="rootComposite" presStyleCnt="0"/>
      <dgm:spPr/>
    </dgm:pt>
    <dgm:pt modelId="{E183F606-1C96-4141-8ACB-48748EBBC1FA}" type="pres">
      <dgm:prSet presAssocID="{CE3287B3-59B6-A841-A8F4-4AA48547EE06}" presName="rootText" presStyleLbl="node4" presStyleIdx="2" presStyleCnt="7">
        <dgm:presLayoutVars>
          <dgm:chPref val="3"/>
        </dgm:presLayoutVars>
      </dgm:prSet>
      <dgm:spPr/>
    </dgm:pt>
    <dgm:pt modelId="{B5477C9E-3996-AF45-86DA-0AAA40C2EC22}" type="pres">
      <dgm:prSet presAssocID="{CE3287B3-59B6-A841-A8F4-4AA48547EE06}" presName="rootConnector" presStyleLbl="node4" presStyleIdx="2" presStyleCnt="7"/>
      <dgm:spPr/>
    </dgm:pt>
    <dgm:pt modelId="{594E86C5-878C-F849-A081-87DFB6B04F56}" type="pres">
      <dgm:prSet presAssocID="{CE3287B3-59B6-A841-A8F4-4AA48547EE06}" presName="hierChild4" presStyleCnt="0"/>
      <dgm:spPr/>
    </dgm:pt>
    <dgm:pt modelId="{057FD28B-4660-5B4C-B994-67C0D305B56D}" type="pres">
      <dgm:prSet presAssocID="{CE3287B3-59B6-A841-A8F4-4AA48547EE06}" presName="hierChild5" presStyleCnt="0"/>
      <dgm:spPr/>
    </dgm:pt>
    <dgm:pt modelId="{C19C0975-458B-C140-9A32-37EEC0E4FD03}" type="pres">
      <dgm:prSet presAssocID="{32FDB694-380F-9E45-8B63-6DAA15DEAF01}" presName="hierChild5" presStyleCnt="0"/>
      <dgm:spPr/>
    </dgm:pt>
    <dgm:pt modelId="{AC91ED32-A1FB-DB46-A178-565D051BB5E5}" type="pres">
      <dgm:prSet presAssocID="{2B62E002-EC79-7B45-BF66-51AB729219E1}" presName="Name37" presStyleLbl="parChTrans1D4" presStyleIdx="3" presStyleCnt="7"/>
      <dgm:spPr/>
    </dgm:pt>
    <dgm:pt modelId="{F4D0DCD9-B9A6-AB41-A457-3AA646F622A7}" type="pres">
      <dgm:prSet presAssocID="{C7A2A054-3937-A44C-AC27-834C4A416E85}" presName="hierRoot2" presStyleCnt="0">
        <dgm:presLayoutVars>
          <dgm:hierBranch val="init"/>
        </dgm:presLayoutVars>
      </dgm:prSet>
      <dgm:spPr/>
    </dgm:pt>
    <dgm:pt modelId="{705D8CF2-94BA-2C43-BC32-8E153DEF2CA4}" type="pres">
      <dgm:prSet presAssocID="{C7A2A054-3937-A44C-AC27-834C4A416E85}" presName="rootComposite" presStyleCnt="0"/>
      <dgm:spPr/>
    </dgm:pt>
    <dgm:pt modelId="{F30CE27B-3103-BF4D-8809-14F89566BA7A}" type="pres">
      <dgm:prSet presAssocID="{C7A2A054-3937-A44C-AC27-834C4A416E85}" presName="rootText" presStyleLbl="node4" presStyleIdx="3" presStyleCnt="7">
        <dgm:presLayoutVars>
          <dgm:chPref val="3"/>
        </dgm:presLayoutVars>
      </dgm:prSet>
      <dgm:spPr/>
    </dgm:pt>
    <dgm:pt modelId="{FE3C1292-2EE9-0D4F-BCCE-255B96D554DE}" type="pres">
      <dgm:prSet presAssocID="{C7A2A054-3937-A44C-AC27-834C4A416E85}" presName="rootConnector" presStyleLbl="node4" presStyleIdx="3" presStyleCnt="7"/>
      <dgm:spPr/>
    </dgm:pt>
    <dgm:pt modelId="{1EBF62AE-4F21-6844-B4BB-460168FEB89F}" type="pres">
      <dgm:prSet presAssocID="{C7A2A054-3937-A44C-AC27-834C4A416E85}" presName="hierChild4" presStyleCnt="0"/>
      <dgm:spPr/>
    </dgm:pt>
    <dgm:pt modelId="{20FCD94B-15CD-C74F-ABCC-2480E9F96D8C}" type="pres">
      <dgm:prSet presAssocID="{C1C61CF1-EC99-E940-8ADC-FF8309DADC90}" presName="Name37" presStyleLbl="parChTrans1D4" presStyleIdx="4" presStyleCnt="7"/>
      <dgm:spPr/>
    </dgm:pt>
    <dgm:pt modelId="{AD6AA469-CC78-F140-92BD-ADB208BE6909}" type="pres">
      <dgm:prSet presAssocID="{89E453BE-3108-F942-BAAC-239B0D444B37}" presName="hierRoot2" presStyleCnt="0">
        <dgm:presLayoutVars>
          <dgm:hierBranch val="init"/>
        </dgm:presLayoutVars>
      </dgm:prSet>
      <dgm:spPr/>
    </dgm:pt>
    <dgm:pt modelId="{618823E6-FBBD-9243-8A4C-ADAF7576E31E}" type="pres">
      <dgm:prSet presAssocID="{89E453BE-3108-F942-BAAC-239B0D444B37}" presName="rootComposite" presStyleCnt="0"/>
      <dgm:spPr/>
    </dgm:pt>
    <dgm:pt modelId="{3141EBE4-0F85-9949-AE3B-CA73549AF9B6}" type="pres">
      <dgm:prSet presAssocID="{89E453BE-3108-F942-BAAC-239B0D444B37}" presName="rootText" presStyleLbl="node4" presStyleIdx="4" presStyleCnt="7">
        <dgm:presLayoutVars>
          <dgm:chPref val="3"/>
        </dgm:presLayoutVars>
      </dgm:prSet>
      <dgm:spPr/>
    </dgm:pt>
    <dgm:pt modelId="{279CDE4C-F739-8E44-87EA-9D73FB6FAAA6}" type="pres">
      <dgm:prSet presAssocID="{89E453BE-3108-F942-BAAC-239B0D444B37}" presName="rootConnector" presStyleLbl="node4" presStyleIdx="4" presStyleCnt="7"/>
      <dgm:spPr/>
    </dgm:pt>
    <dgm:pt modelId="{A05150FF-30ED-0A46-A3CC-DF6198AC0ED8}" type="pres">
      <dgm:prSet presAssocID="{89E453BE-3108-F942-BAAC-239B0D444B37}" presName="hierChild4" presStyleCnt="0"/>
      <dgm:spPr/>
    </dgm:pt>
    <dgm:pt modelId="{2AD65E57-998A-8D43-8C8A-239030E4CC30}" type="pres">
      <dgm:prSet presAssocID="{89E453BE-3108-F942-BAAC-239B0D444B37}" presName="hierChild5" presStyleCnt="0"/>
      <dgm:spPr/>
    </dgm:pt>
    <dgm:pt modelId="{83711FD2-38D5-4645-815A-7182B2C232C7}" type="pres">
      <dgm:prSet presAssocID="{C7A2A054-3937-A44C-AC27-834C4A416E85}" presName="hierChild5" presStyleCnt="0"/>
      <dgm:spPr/>
    </dgm:pt>
    <dgm:pt modelId="{B0318548-0BA3-884A-BC27-61832F8DCC8D}" type="pres">
      <dgm:prSet presAssocID="{FA064C62-8AF7-CA4F-B1A2-B7A7F6123235}" presName="Name37" presStyleLbl="parChTrans1D4" presStyleIdx="5" presStyleCnt="7"/>
      <dgm:spPr/>
    </dgm:pt>
    <dgm:pt modelId="{CEFF4E65-222B-6E42-B136-D7A1C831FF39}" type="pres">
      <dgm:prSet presAssocID="{E915863B-29F3-9645-AAEE-79BFA9C00F1C}" presName="hierRoot2" presStyleCnt="0">
        <dgm:presLayoutVars>
          <dgm:hierBranch val="init"/>
        </dgm:presLayoutVars>
      </dgm:prSet>
      <dgm:spPr/>
    </dgm:pt>
    <dgm:pt modelId="{D646B421-3263-AA46-AA44-55074AA13097}" type="pres">
      <dgm:prSet presAssocID="{E915863B-29F3-9645-AAEE-79BFA9C00F1C}" presName="rootComposite" presStyleCnt="0"/>
      <dgm:spPr/>
    </dgm:pt>
    <dgm:pt modelId="{E58F5466-ED82-8B46-BAD2-35ED1FAACC6A}" type="pres">
      <dgm:prSet presAssocID="{E915863B-29F3-9645-AAEE-79BFA9C00F1C}" presName="rootText" presStyleLbl="node4" presStyleIdx="5" presStyleCnt="7">
        <dgm:presLayoutVars>
          <dgm:chPref val="3"/>
        </dgm:presLayoutVars>
      </dgm:prSet>
      <dgm:spPr/>
    </dgm:pt>
    <dgm:pt modelId="{A71BB2FB-9A2C-BF4C-8A5C-068BA32EDB9C}" type="pres">
      <dgm:prSet presAssocID="{E915863B-29F3-9645-AAEE-79BFA9C00F1C}" presName="rootConnector" presStyleLbl="node4" presStyleIdx="5" presStyleCnt="7"/>
      <dgm:spPr/>
    </dgm:pt>
    <dgm:pt modelId="{8663427C-5532-B046-A239-6EBAF671875E}" type="pres">
      <dgm:prSet presAssocID="{E915863B-29F3-9645-AAEE-79BFA9C00F1C}" presName="hierChild4" presStyleCnt="0"/>
      <dgm:spPr/>
    </dgm:pt>
    <dgm:pt modelId="{27AFB1F9-1B64-0848-BC8B-8BDD4637556A}" type="pres">
      <dgm:prSet presAssocID="{31BFB5A6-5134-CF4A-A047-532A9A37732D}" presName="Name37" presStyleLbl="parChTrans1D4" presStyleIdx="6" presStyleCnt="7"/>
      <dgm:spPr/>
    </dgm:pt>
    <dgm:pt modelId="{694D0BD6-FB70-A242-BD27-374B2AEA0D7D}" type="pres">
      <dgm:prSet presAssocID="{F30E8B79-A38B-7D46-BE17-CC6155E89F5A}" presName="hierRoot2" presStyleCnt="0">
        <dgm:presLayoutVars>
          <dgm:hierBranch val="init"/>
        </dgm:presLayoutVars>
      </dgm:prSet>
      <dgm:spPr/>
    </dgm:pt>
    <dgm:pt modelId="{52BB717A-6B5A-B04C-A22A-1F3A7AAF8109}" type="pres">
      <dgm:prSet presAssocID="{F30E8B79-A38B-7D46-BE17-CC6155E89F5A}" presName="rootComposite" presStyleCnt="0"/>
      <dgm:spPr/>
    </dgm:pt>
    <dgm:pt modelId="{10FD6445-05F3-1740-B3F6-23464BAFFA36}" type="pres">
      <dgm:prSet presAssocID="{F30E8B79-A38B-7D46-BE17-CC6155E89F5A}" presName="rootText" presStyleLbl="node4" presStyleIdx="6" presStyleCnt="7">
        <dgm:presLayoutVars>
          <dgm:chPref val="3"/>
        </dgm:presLayoutVars>
      </dgm:prSet>
      <dgm:spPr/>
    </dgm:pt>
    <dgm:pt modelId="{0D4172C9-A63E-AC47-B10E-553F52D47448}" type="pres">
      <dgm:prSet presAssocID="{F30E8B79-A38B-7D46-BE17-CC6155E89F5A}" presName="rootConnector" presStyleLbl="node4" presStyleIdx="6" presStyleCnt="7"/>
      <dgm:spPr/>
    </dgm:pt>
    <dgm:pt modelId="{11AA4700-4245-6040-8A9C-503FCFDA9651}" type="pres">
      <dgm:prSet presAssocID="{F30E8B79-A38B-7D46-BE17-CC6155E89F5A}" presName="hierChild4" presStyleCnt="0"/>
      <dgm:spPr/>
    </dgm:pt>
    <dgm:pt modelId="{11849661-222B-C244-829C-D3E22E09AFC6}" type="pres">
      <dgm:prSet presAssocID="{F30E8B79-A38B-7D46-BE17-CC6155E89F5A}" presName="hierChild5" presStyleCnt="0"/>
      <dgm:spPr/>
    </dgm:pt>
    <dgm:pt modelId="{D6D66BD3-B101-5443-BC65-7597D4057AB4}" type="pres">
      <dgm:prSet presAssocID="{E915863B-29F3-9645-AAEE-79BFA9C00F1C}" presName="hierChild5" presStyleCnt="0"/>
      <dgm:spPr/>
    </dgm:pt>
    <dgm:pt modelId="{895F966E-A273-DD48-993A-9AA8DD8C029E}" type="pres">
      <dgm:prSet presAssocID="{FB12D5D1-C56D-7243-82DA-48CCC92EC674}" presName="hierChild5" presStyleCnt="0"/>
      <dgm:spPr/>
    </dgm:pt>
    <dgm:pt modelId="{3A14CBD8-4AFF-BC44-B8F9-B648C9898142}" type="pres">
      <dgm:prSet presAssocID="{C0896CDA-28ED-324E-8617-E101D2F52AEC}" presName="hierChild5" presStyleCnt="0"/>
      <dgm:spPr/>
    </dgm:pt>
    <dgm:pt modelId="{92778392-B540-AB42-967F-E79FFA8A97F7}" type="pres">
      <dgm:prSet presAssocID="{9DBF051C-8233-FB4D-A0A3-D55F08CCB5BD}" presName="hierChild5" presStyleCnt="0"/>
      <dgm:spPr/>
    </dgm:pt>
    <dgm:pt modelId="{83603B0B-CCEB-6C4F-875F-951BF6E30502}" type="pres">
      <dgm:prSet presAssocID="{9F219289-8A31-1148-82D4-265246F22380}" presName="hierChild3" presStyleCnt="0"/>
      <dgm:spPr/>
    </dgm:pt>
  </dgm:ptLst>
  <dgm:cxnLst>
    <dgm:cxn modelId="{9B65B700-46DB-E543-9AE0-E5986BFFBA7B}" type="presOf" srcId="{F30E8B79-A38B-7D46-BE17-CC6155E89F5A}" destId="{10FD6445-05F3-1740-B3F6-23464BAFFA36}" srcOrd="0" destOrd="0" presId="urn:microsoft.com/office/officeart/2005/8/layout/orgChart1"/>
    <dgm:cxn modelId="{1A18CD02-58D0-1549-91D8-2EDD53BF2FA1}" type="presOf" srcId="{F1EB112A-8472-7E4E-ABB4-F90EAFE06B71}" destId="{6B1FF1C0-13E9-8544-AF41-637E038824D7}" srcOrd="0" destOrd="0" presId="urn:microsoft.com/office/officeart/2005/8/layout/orgChart1"/>
    <dgm:cxn modelId="{1B378008-DA23-7146-AC2B-58AE5A6D9C92}" srcId="{EA384603-0039-6F45-A265-EDF9A1260AD6}" destId="{F1EB112A-8472-7E4E-ABB4-F90EAFE06B71}" srcOrd="0" destOrd="0" parTransId="{77467C19-AE36-A642-B0A7-0B5561A0D582}" sibTransId="{CB16C8CE-AECE-F748-A547-B824CBA53E7B}"/>
    <dgm:cxn modelId="{0C5ACA08-2632-CA44-BE5D-82E856A86922}" type="presOf" srcId="{89E453BE-3108-F942-BAAC-239B0D444B37}" destId="{3141EBE4-0F85-9949-AE3B-CA73549AF9B6}" srcOrd="0" destOrd="0" presId="urn:microsoft.com/office/officeart/2005/8/layout/orgChart1"/>
    <dgm:cxn modelId="{33EFFD0A-D120-8345-8AE4-87873BDB8790}" type="presOf" srcId="{9F219289-8A31-1148-82D4-265246F22380}" destId="{2403C819-5E8E-174D-B6AF-46EDB55FFADF}" srcOrd="1" destOrd="0" presId="urn:microsoft.com/office/officeart/2005/8/layout/orgChart1"/>
    <dgm:cxn modelId="{4591B814-B223-9141-AC55-85ABD811F7E9}" srcId="{26577B4F-8805-7F47-9A82-2379E9B73B62}" destId="{9F219289-8A31-1148-82D4-265246F22380}" srcOrd="0" destOrd="0" parTransId="{F362B115-4CD8-8B4D-9409-2AFAC68C8D1F}" sibTransId="{7EF8A899-D412-0041-8F9F-A7A14C6F32C7}"/>
    <dgm:cxn modelId="{0A571F18-F7DC-B644-9C6A-2F7079EC7970}" type="presOf" srcId="{E915863B-29F3-9645-AAEE-79BFA9C00F1C}" destId="{E58F5466-ED82-8B46-BAD2-35ED1FAACC6A}" srcOrd="0" destOrd="0" presId="urn:microsoft.com/office/officeart/2005/8/layout/orgChart1"/>
    <dgm:cxn modelId="{69A4A41F-401B-244E-BBDB-391F0B494E37}" type="presOf" srcId="{F2DEA3D8-413E-E445-ADF0-FB442F8477B0}" destId="{1A1A0821-D2B4-BF49-9E6C-78A09FE3CA03}" srcOrd="1" destOrd="0" presId="urn:microsoft.com/office/officeart/2005/8/layout/orgChart1"/>
    <dgm:cxn modelId="{AA6DD423-23BF-8745-A917-3848066F8D57}" srcId="{FB12D5D1-C56D-7243-82DA-48CCC92EC674}" destId="{E915863B-29F3-9645-AAEE-79BFA9C00F1C}" srcOrd="2" destOrd="0" parTransId="{FA064C62-8AF7-CA4F-B1A2-B7A7F6123235}" sibTransId="{6F2132A3-6A2E-E647-A567-66B90E99A8EB}"/>
    <dgm:cxn modelId="{303E3A28-B01B-3B40-9870-F6076CE6C42B}" type="presOf" srcId="{C7A2A054-3937-A44C-AC27-834C4A416E85}" destId="{F30CE27B-3103-BF4D-8809-14F89566BA7A}" srcOrd="0" destOrd="0" presId="urn:microsoft.com/office/officeart/2005/8/layout/orgChart1"/>
    <dgm:cxn modelId="{DC582629-F8F9-DF46-9FE5-B9EE12CB80CD}" type="presOf" srcId="{707933C0-A3C9-7A45-A47C-79B8ACCA5805}" destId="{AF294D60-9B72-9641-80C4-60237BEBC252}" srcOrd="0" destOrd="0" presId="urn:microsoft.com/office/officeart/2005/8/layout/orgChart1"/>
    <dgm:cxn modelId="{65BA0B2C-09BA-414E-9802-81CB2EDC4D2B}" type="presOf" srcId="{C1C61CF1-EC99-E940-8ADC-FF8309DADC90}" destId="{20FCD94B-15CD-C74F-ABCC-2480E9F96D8C}" srcOrd="0" destOrd="0" presId="urn:microsoft.com/office/officeart/2005/8/layout/orgChart1"/>
    <dgm:cxn modelId="{1362EC2E-D594-EF45-9664-68DDB098258D}" type="presOf" srcId="{EA384603-0039-6F45-A265-EDF9A1260AD6}" destId="{0B6A0A62-E777-1C43-81F8-3843B5C3CE69}" srcOrd="1" destOrd="0" presId="urn:microsoft.com/office/officeart/2005/8/layout/orgChart1"/>
    <dgm:cxn modelId="{FEE31E40-1BEC-B541-B3E4-9FADB60857F2}" type="presOf" srcId="{2B62E002-EC79-7B45-BF66-51AB729219E1}" destId="{AC91ED32-A1FB-DB46-A178-565D051BB5E5}" srcOrd="0" destOrd="0" presId="urn:microsoft.com/office/officeart/2005/8/layout/orgChart1"/>
    <dgm:cxn modelId="{73D87C48-373A-F44E-ADEB-D4E945740264}" srcId="{F2DEA3D8-413E-E445-ADF0-FB442F8477B0}" destId="{2DE1791E-70DD-F74B-8334-5D40841D4B87}" srcOrd="0" destOrd="0" parTransId="{C8F7C944-DC05-E546-96BD-3A7E566AF139}" sibTransId="{993608DD-162B-5A4A-9275-D0EFC7914127}"/>
    <dgm:cxn modelId="{35868C59-70F4-5B4B-AD5D-AEC6262BAA0A}" type="presOf" srcId="{9DBF051C-8233-FB4D-A0A3-D55F08CCB5BD}" destId="{D5903FDF-A36C-5A4A-84BD-2642D156709B}" srcOrd="1" destOrd="0" presId="urn:microsoft.com/office/officeart/2005/8/layout/orgChart1"/>
    <dgm:cxn modelId="{1A343B5A-BB1F-9B47-9B31-3951DCBBE1ED}" type="presOf" srcId="{A6576F62-06B3-2B4B-B613-EEBB9B4ACAE0}" destId="{46F7C25B-8A6B-9A4C-AEA5-79B511634C22}" srcOrd="0" destOrd="0" presId="urn:microsoft.com/office/officeart/2005/8/layout/orgChart1"/>
    <dgm:cxn modelId="{4BEC895C-242C-C243-9EE7-BCCC6A8AFCBD}" type="presOf" srcId="{9F219289-8A31-1148-82D4-265246F22380}" destId="{C1CC36B6-BA4D-A641-B415-0E1EE07590C6}" srcOrd="0" destOrd="0" presId="urn:microsoft.com/office/officeart/2005/8/layout/orgChart1"/>
    <dgm:cxn modelId="{5C5ACA5D-57E5-5540-80BC-F4DC00F7255D}" type="presOf" srcId="{F1EB112A-8472-7E4E-ABB4-F90EAFE06B71}" destId="{B6F7D033-73DC-B744-8C8D-E702F004A83C}" srcOrd="1" destOrd="0" presId="urn:microsoft.com/office/officeart/2005/8/layout/orgChart1"/>
    <dgm:cxn modelId="{664CED63-83BD-AE44-AF30-60D65C1AF02B}" type="presOf" srcId="{E1F08455-1935-544B-B4BD-C2E10279FCB1}" destId="{28950DD6-701B-604E-A21E-09DDFA200060}" srcOrd="0" destOrd="0" presId="urn:microsoft.com/office/officeart/2005/8/layout/orgChart1"/>
    <dgm:cxn modelId="{9C33D868-A727-AA41-B3A7-93CB2EBC899C}" type="presOf" srcId="{E915863B-29F3-9645-AAEE-79BFA9C00F1C}" destId="{A71BB2FB-9A2C-BF4C-8A5C-068BA32EDB9C}" srcOrd="1" destOrd="0" presId="urn:microsoft.com/office/officeart/2005/8/layout/orgChart1"/>
    <dgm:cxn modelId="{2FDE8069-B5E9-EF45-A948-D88D0A2F30C9}" type="presOf" srcId="{4093BDEC-923F-864F-852B-06048A81EC9F}" destId="{C8E42A8B-2C64-9B45-84EC-0C2265CC9A45}" srcOrd="0" destOrd="0" presId="urn:microsoft.com/office/officeart/2005/8/layout/orgChart1"/>
    <dgm:cxn modelId="{3FA3A06D-54F5-7541-BB5F-0B363C4B81C6}" type="presOf" srcId="{2DE1791E-70DD-F74B-8334-5D40841D4B87}" destId="{1926695E-91AE-0542-B3EC-E69772DC1DC7}" srcOrd="0" destOrd="0" presId="urn:microsoft.com/office/officeart/2005/8/layout/orgChart1"/>
    <dgm:cxn modelId="{4A6A146E-87CE-8A40-B5B5-8DC8D321D760}" type="presOf" srcId="{FA064C62-8AF7-CA4F-B1A2-B7A7F6123235}" destId="{B0318548-0BA3-884A-BC27-61832F8DCC8D}" srcOrd="0" destOrd="0" presId="urn:microsoft.com/office/officeart/2005/8/layout/orgChart1"/>
    <dgm:cxn modelId="{59613078-CEBF-FD42-AE6A-BAF016044017}" type="presOf" srcId="{EA384603-0039-6F45-A265-EDF9A1260AD6}" destId="{5DB92BC0-ECCF-1647-98F2-A4BAD5B73C91}" srcOrd="0" destOrd="0" presId="urn:microsoft.com/office/officeart/2005/8/layout/orgChart1"/>
    <dgm:cxn modelId="{192BA078-1274-654B-904E-7CAA00A8C330}" srcId="{C7A2A054-3937-A44C-AC27-834C4A416E85}" destId="{89E453BE-3108-F942-BAAC-239B0D444B37}" srcOrd="0" destOrd="0" parTransId="{C1C61CF1-EC99-E940-8ADC-FF8309DADC90}" sibTransId="{BA3DE453-79CF-2348-8689-13A5C5C3AF22}"/>
    <dgm:cxn modelId="{92836181-FFB6-E042-8DC1-83768466D7F3}" type="presOf" srcId="{31BFB5A6-5134-CF4A-A047-532A9A37732D}" destId="{27AFB1F9-1B64-0848-BC8B-8BDD4637556A}" srcOrd="0" destOrd="0" presId="urn:microsoft.com/office/officeart/2005/8/layout/orgChart1"/>
    <dgm:cxn modelId="{CD224385-F7C0-0D43-96C7-451704515913}" srcId="{FB12D5D1-C56D-7243-82DA-48CCC92EC674}" destId="{C7A2A054-3937-A44C-AC27-834C4A416E85}" srcOrd="1" destOrd="0" parTransId="{2B62E002-EC79-7B45-BF66-51AB729219E1}" sibTransId="{83BD9989-2687-B442-891D-1A4A1E4534BC}"/>
    <dgm:cxn modelId="{FDC18F89-0525-0743-A619-219EC6CC3A69}" type="presOf" srcId="{F2DEA3D8-413E-E445-ADF0-FB442F8477B0}" destId="{4A63361A-8AFA-2F4C-90B5-FAD7E6F7A3DD}" srcOrd="0" destOrd="0" presId="urn:microsoft.com/office/officeart/2005/8/layout/orgChart1"/>
    <dgm:cxn modelId="{C55B7B8B-052D-7549-ADA2-DC721D736343}" type="presOf" srcId="{32FDB694-380F-9E45-8B63-6DAA15DEAF01}" destId="{C4EDFE6C-296D-204F-BB4C-E0383AD6462D}" srcOrd="1" destOrd="0" presId="urn:microsoft.com/office/officeart/2005/8/layout/orgChart1"/>
    <dgm:cxn modelId="{90E90690-9A6D-8946-83FB-C395C3C70B60}" type="presOf" srcId="{F30E8B79-A38B-7D46-BE17-CC6155E89F5A}" destId="{0D4172C9-A63E-AC47-B10E-553F52D47448}" srcOrd="1" destOrd="0" presId="urn:microsoft.com/office/officeart/2005/8/layout/orgChart1"/>
    <dgm:cxn modelId="{066C0790-84C6-8C49-8D86-0CF769EA24C7}" type="presOf" srcId="{26577B4F-8805-7F47-9A82-2379E9B73B62}" destId="{4F0F6BFD-666C-D64A-92A7-2DD64DC71A9A}" srcOrd="0" destOrd="0" presId="urn:microsoft.com/office/officeart/2005/8/layout/orgChart1"/>
    <dgm:cxn modelId="{16218590-6F32-0448-8DC2-8016C6BF44DD}" type="presOf" srcId="{C0896CDA-28ED-324E-8617-E101D2F52AEC}" destId="{087B432B-A73B-7846-8B5A-25403EDAE7DC}" srcOrd="0" destOrd="0" presId="urn:microsoft.com/office/officeart/2005/8/layout/orgChart1"/>
    <dgm:cxn modelId="{AC0D5E96-AB61-8A43-95EC-1BA1D54EAC52}" type="presOf" srcId="{32FDB694-380F-9E45-8B63-6DAA15DEAF01}" destId="{A8E99C39-923B-884F-AE10-80995E192317}" srcOrd="0" destOrd="0" presId="urn:microsoft.com/office/officeart/2005/8/layout/orgChart1"/>
    <dgm:cxn modelId="{BDB41498-4666-C042-AC52-B16CA384674A}" type="presOf" srcId="{CE3287B3-59B6-A841-A8F4-4AA48547EE06}" destId="{E183F606-1C96-4141-8ACB-48748EBBC1FA}" srcOrd="0" destOrd="0" presId="urn:microsoft.com/office/officeart/2005/8/layout/orgChart1"/>
    <dgm:cxn modelId="{EE234999-E521-0048-8907-EA9E41C10C82}" type="presOf" srcId="{995B1156-958E-9D4A-A7B0-0B8F04E31EC6}" destId="{365BD677-2E0D-8648-9D43-610DB8DB5B68}" srcOrd="0" destOrd="0" presId="urn:microsoft.com/office/officeart/2005/8/layout/orgChart1"/>
    <dgm:cxn modelId="{92E942A1-F47E-7741-9D54-98B3A3797C75}" type="presOf" srcId="{2DE1791E-70DD-F74B-8334-5D40841D4B87}" destId="{7D7A67F6-E1EE-5D46-B0BC-8DBED0BBDDAB}" srcOrd="1" destOrd="0" presId="urn:microsoft.com/office/officeart/2005/8/layout/orgChart1"/>
    <dgm:cxn modelId="{9D941DA2-21BA-0E42-965B-047CFAE7F9C1}" type="presOf" srcId="{FB12D5D1-C56D-7243-82DA-48CCC92EC674}" destId="{D58740E1-516B-CF47-92D9-7387FE462A89}" srcOrd="1" destOrd="0" presId="urn:microsoft.com/office/officeart/2005/8/layout/orgChart1"/>
    <dgm:cxn modelId="{471294A8-786E-9D48-B025-174649422CA1}" srcId="{9DBF051C-8233-FB4D-A0A3-D55F08CCB5BD}" destId="{C0896CDA-28ED-324E-8617-E101D2F52AEC}" srcOrd="0" destOrd="0" parTransId="{A6576F62-06B3-2B4B-B613-EEBB9B4ACAE0}" sibTransId="{CEBFEC90-B655-A946-8B9A-9A60C022A3C7}"/>
    <dgm:cxn modelId="{9F280FA9-9008-FB48-A585-C82D5E092074}" type="presOf" srcId="{C0896CDA-28ED-324E-8617-E101D2F52AEC}" destId="{10FFFC58-7EA2-F746-B467-E0051543092E}" srcOrd="1" destOrd="0" presId="urn:microsoft.com/office/officeart/2005/8/layout/orgChart1"/>
    <dgm:cxn modelId="{A1A476B1-971A-C34E-A8A0-171C7DA6A9E0}" type="presOf" srcId="{A5323AFE-4A12-624F-B685-FC12976F72DB}" destId="{B3BAC4AD-153B-1343-BCE5-6024ABCC6DE8}" srcOrd="0" destOrd="0" presId="urn:microsoft.com/office/officeart/2005/8/layout/orgChart1"/>
    <dgm:cxn modelId="{31D78BB7-2F9B-924D-840E-8B407BB4B22D}" type="presOf" srcId="{A544D4FF-9089-4D46-9611-91F620A4236E}" destId="{2F5B253E-CAC3-7C48-A37C-FD28DF4E1921}" srcOrd="0" destOrd="0" presId="urn:microsoft.com/office/officeart/2005/8/layout/orgChart1"/>
    <dgm:cxn modelId="{6B0342B9-B648-BC43-AA75-F0389220DD82}" srcId="{9F219289-8A31-1148-82D4-265246F22380}" destId="{F2DEA3D8-413E-E445-ADF0-FB442F8477B0}" srcOrd="0" destOrd="0" parTransId="{4093BDEC-923F-864F-852B-06048A81EC9F}" sibTransId="{42279889-3E72-1C48-AD74-87DD02ACDC56}"/>
    <dgm:cxn modelId="{B4DC7CC4-4154-1A46-BE32-93EFB4D57151}" type="presOf" srcId="{C8F7C944-DC05-E546-96BD-3A7E566AF139}" destId="{A27FEB45-0B57-E047-A4DC-4F93C6AAAF17}" srcOrd="0" destOrd="0" presId="urn:microsoft.com/office/officeart/2005/8/layout/orgChart1"/>
    <dgm:cxn modelId="{72C3E4C4-DDDD-084B-AAEA-5D802E0D1FA0}" type="presOf" srcId="{9DBF051C-8233-FB4D-A0A3-D55F08CCB5BD}" destId="{AE62488F-B611-A844-8B8F-FD92D7733871}" srcOrd="0" destOrd="0" presId="urn:microsoft.com/office/officeart/2005/8/layout/orgChart1"/>
    <dgm:cxn modelId="{8206DACA-DF13-0E4E-9ADC-481BFABB8D66}" type="presOf" srcId="{FB12D5D1-C56D-7243-82DA-48CCC92EC674}" destId="{955D6E37-AD6C-734D-A59C-17F7C8CCBF6E}" srcOrd="0" destOrd="0" presId="urn:microsoft.com/office/officeart/2005/8/layout/orgChart1"/>
    <dgm:cxn modelId="{D4B786CE-FB68-3A47-B6B9-B4671CEB0D45}" type="presOf" srcId="{89E453BE-3108-F942-BAAC-239B0D444B37}" destId="{279CDE4C-F739-8E44-87EA-9D73FB6FAAA6}" srcOrd="1" destOrd="0" presId="urn:microsoft.com/office/officeart/2005/8/layout/orgChart1"/>
    <dgm:cxn modelId="{F83464D0-8579-F945-807F-0050E49F8A94}" type="presOf" srcId="{77467C19-AE36-A642-B0A7-0B5561A0D582}" destId="{F66987EC-151A-764D-9F5F-DAD13DFA210F}" srcOrd="0" destOrd="0" presId="urn:microsoft.com/office/officeart/2005/8/layout/orgChart1"/>
    <dgm:cxn modelId="{E0C54CDC-FA6B-AA40-9E22-83BA7C9C2022}" srcId="{E915863B-29F3-9645-AAEE-79BFA9C00F1C}" destId="{F30E8B79-A38B-7D46-BE17-CC6155E89F5A}" srcOrd="0" destOrd="0" parTransId="{31BFB5A6-5134-CF4A-A047-532A9A37732D}" sibTransId="{CB236E88-32D0-1D41-B41C-649367ADF163}"/>
    <dgm:cxn modelId="{00E91DDD-6D75-A24A-9A48-74381ED20914}" srcId="{C0896CDA-28ED-324E-8617-E101D2F52AEC}" destId="{FB12D5D1-C56D-7243-82DA-48CCC92EC674}" srcOrd="0" destOrd="0" parTransId="{A544D4FF-9089-4D46-9611-91F620A4236E}" sibTransId="{0D766AF6-7D4E-464C-839F-A3210BFCB511}"/>
    <dgm:cxn modelId="{E94B89E0-58E0-1D4A-AA51-75B168E0A8E0}" srcId="{32FDB694-380F-9E45-8B63-6DAA15DEAF01}" destId="{CE3287B3-59B6-A841-A8F4-4AA48547EE06}" srcOrd="0" destOrd="0" parTransId="{A5323AFE-4A12-624F-B685-FC12976F72DB}" sibTransId="{48E67B0B-9CF2-FC4D-86E6-CF9E4161DAA1}"/>
    <dgm:cxn modelId="{129CDAE4-0190-F049-B8AC-B33AC0A2DE7B}" srcId="{9F219289-8A31-1148-82D4-265246F22380}" destId="{9DBF051C-8233-FB4D-A0A3-D55F08CCB5BD}" srcOrd="2" destOrd="0" parTransId="{707933C0-A3C9-7A45-A47C-79B8ACCA5805}" sibTransId="{8FB02D23-FA8E-4843-9D9A-59FF96DFB85B}"/>
    <dgm:cxn modelId="{CD3D51EE-0A0C-9449-B8AA-43A2CD0B201A}" type="presOf" srcId="{C7A2A054-3937-A44C-AC27-834C4A416E85}" destId="{FE3C1292-2EE9-0D4F-BCCE-255B96D554DE}" srcOrd="1" destOrd="0" presId="urn:microsoft.com/office/officeart/2005/8/layout/orgChart1"/>
    <dgm:cxn modelId="{AD42F3EF-56D9-A94D-A79A-1B2417FA2241}" type="presOf" srcId="{CE3287B3-59B6-A841-A8F4-4AA48547EE06}" destId="{B5477C9E-3996-AF45-86DA-0AAA40C2EC22}" srcOrd="1" destOrd="0" presId="urn:microsoft.com/office/officeart/2005/8/layout/orgChart1"/>
    <dgm:cxn modelId="{CC76CFF2-6B95-4B47-8AB4-63AEA2DAA34E}" srcId="{9F219289-8A31-1148-82D4-265246F22380}" destId="{EA384603-0039-6F45-A265-EDF9A1260AD6}" srcOrd="1" destOrd="0" parTransId="{995B1156-958E-9D4A-A7B0-0B8F04E31EC6}" sibTransId="{D402C9A6-A407-F843-9F39-D99AA757C169}"/>
    <dgm:cxn modelId="{F175B1F3-FC5B-284F-811D-25CF08403E40}" srcId="{FB12D5D1-C56D-7243-82DA-48CCC92EC674}" destId="{32FDB694-380F-9E45-8B63-6DAA15DEAF01}" srcOrd="0" destOrd="0" parTransId="{E1F08455-1935-544B-B4BD-C2E10279FCB1}" sibTransId="{BE9084F2-4653-1145-8721-C888F8DC3006}"/>
    <dgm:cxn modelId="{9BCB9EBB-1A01-624A-9714-4EA5022D2A38}" type="presParOf" srcId="{4F0F6BFD-666C-D64A-92A7-2DD64DC71A9A}" destId="{261554AA-493B-614B-9A4C-07302A2D4587}" srcOrd="0" destOrd="0" presId="urn:microsoft.com/office/officeart/2005/8/layout/orgChart1"/>
    <dgm:cxn modelId="{0454B525-96B0-E14C-8063-A96E8E4D7F36}" type="presParOf" srcId="{261554AA-493B-614B-9A4C-07302A2D4587}" destId="{A6B43CE7-3DC6-AF42-A161-F346571D48AC}" srcOrd="0" destOrd="0" presId="urn:microsoft.com/office/officeart/2005/8/layout/orgChart1"/>
    <dgm:cxn modelId="{C4F61C49-36A3-1744-94F8-F3D344536AC0}" type="presParOf" srcId="{A6B43CE7-3DC6-AF42-A161-F346571D48AC}" destId="{C1CC36B6-BA4D-A641-B415-0E1EE07590C6}" srcOrd="0" destOrd="0" presId="urn:microsoft.com/office/officeart/2005/8/layout/orgChart1"/>
    <dgm:cxn modelId="{97F7A8A7-24E7-9C4F-8F78-9DADB39DE37F}" type="presParOf" srcId="{A6B43CE7-3DC6-AF42-A161-F346571D48AC}" destId="{2403C819-5E8E-174D-B6AF-46EDB55FFADF}" srcOrd="1" destOrd="0" presId="urn:microsoft.com/office/officeart/2005/8/layout/orgChart1"/>
    <dgm:cxn modelId="{5EB316E6-7A90-324F-8815-35D0F9155D55}" type="presParOf" srcId="{261554AA-493B-614B-9A4C-07302A2D4587}" destId="{4B0DF92B-4D0C-F544-956D-23ABA4E21F8F}" srcOrd="1" destOrd="0" presId="urn:microsoft.com/office/officeart/2005/8/layout/orgChart1"/>
    <dgm:cxn modelId="{AD9043EA-278A-4845-83CE-390D3CD3BCCF}" type="presParOf" srcId="{4B0DF92B-4D0C-F544-956D-23ABA4E21F8F}" destId="{C8E42A8B-2C64-9B45-84EC-0C2265CC9A45}" srcOrd="0" destOrd="0" presId="urn:microsoft.com/office/officeart/2005/8/layout/orgChart1"/>
    <dgm:cxn modelId="{051DB52C-2AD2-3444-8885-85DB00134475}" type="presParOf" srcId="{4B0DF92B-4D0C-F544-956D-23ABA4E21F8F}" destId="{199D1AFE-14AE-8C4A-818A-220142661603}" srcOrd="1" destOrd="0" presId="urn:microsoft.com/office/officeart/2005/8/layout/orgChart1"/>
    <dgm:cxn modelId="{F4DF999F-9F4B-FA4F-A152-2553DC3230FF}" type="presParOf" srcId="{199D1AFE-14AE-8C4A-818A-220142661603}" destId="{33E6186C-AB0D-9D4B-A629-CA5BC1D90EAE}" srcOrd="0" destOrd="0" presId="urn:microsoft.com/office/officeart/2005/8/layout/orgChart1"/>
    <dgm:cxn modelId="{99082AD9-6817-E64F-AA69-EDE799E411FF}" type="presParOf" srcId="{33E6186C-AB0D-9D4B-A629-CA5BC1D90EAE}" destId="{4A63361A-8AFA-2F4C-90B5-FAD7E6F7A3DD}" srcOrd="0" destOrd="0" presId="urn:microsoft.com/office/officeart/2005/8/layout/orgChart1"/>
    <dgm:cxn modelId="{5FF66A52-5368-D746-87ED-AAEC55301A54}" type="presParOf" srcId="{33E6186C-AB0D-9D4B-A629-CA5BC1D90EAE}" destId="{1A1A0821-D2B4-BF49-9E6C-78A09FE3CA03}" srcOrd="1" destOrd="0" presId="urn:microsoft.com/office/officeart/2005/8/layout/orgChart1"/>
    <dgm:cxn modelId="{DB59050F-D3BB-3E41-91BF-22B5FBC9ED79}" type="presParOf" srcId="{199D1AFE-14AE-8C4A-818A-220142661603}" destId="{CA4BCEB8-BC59-2948-B61B-E9C0116FFDB5}" srcOrd="1" destOrd="0" presId="urn:microsoft.com/office/officeart/2005/8/layout/orgChart1"/>
    <dgm:cxn modelId="{B2D6EA45-18EE-D04E-AD75-C0DB40B44690}" type="presParOf" srcId="{CA4BCEB8-BC59-2948-B61B-E9C0116FFDB5}" destId="{A27FEB45-0B57-E047-A4DC-4F93C6AAAF17}" srcOrd="0" destOrd="0" presId="urn:microsoft.com/office/officeart/2005/8/layout/orgChart1"/>
    <dgm:cxn modelId="{37FB377C-15B8-814D-81B9-8DBF87284D81}" type="presParOf" srcId="{CA4BCEB8-BC59-2948-B61B-E9C0116FFDB5}" destId="{0A66F28E-4B05-8D48-8A41-6F3528948617}" srcOrd="1" destOrd="0" presId="urn:microsoft.com/office/officeart/2005/8/layout/orgChart1"/>
    <dgm:cxn modelId="{E43626BC-A97B-0340-BBE4-D71654BDD040}" type="presParOf" srcId="{0A66F28E-4B05-8D48-8A41-6F3528948617}" destId="{6C1F1AB5-6652-0E4B-86E8-0E4C25AEA87D}" srcOrd="0" destOrd="0" presId="urn:microsoft.com/office/officeart/2005/8/layout/orgChart1"/>
    <dgm:cxn modelId="{729B0540-BBF3-684D-93B1-F442875181DE}" type="presParOf" srcId="{6C1F1AB5-6652-0E4B-86E8-0E4C25AEA87D}" destId="{1926695E-91AE-0542-B3EC-E69772DC1DC7}" srcOrd="0" destOrd="0" presId="urn:microsoft.com/office/officeart/2005/8/layout/orgChart1"/>
    <dgm:cxn modelId="{FB37D224-ED8D-EF4E-A8E5-F202210F6234}" type="presParOf" srcId="{6C1F1AB5-6652-0E4B-86E8-0E4C25AEA87D}" destId="{7D7A67F6-E1EE-5D46-B0BC-8DBED0BBDDAB}" srcOrd="1" destOrd="0" presId="urn:microsoft.com/office/officeart/2005/8/layout/orgChart1"/>
    <dgm:cxn modelId="{902164AE-2ECF-2645-A69F-8772B4904763}" type="presParOf" srcId="{0A66F28E-4B05-8D48-8A41-6F3528948617}" destId="{BD99CE9E-021A-E44E-9364-30ED7FB845A6}" srcOrd="1" destOrd="0" presId="urn:microsoft.com/office/officeart/2005/8/layout/orgChart1"/>
    <dgm:cxn modelId="{A4058D17-A225-474C-80F8-ED9BE125D2CB}" type="presParOf" srcId="{0A66F28E-4B05-8D48-8A41-6F3528948617}" destId="{8017A869-85CB-C746-BBE2-446B037E0816}" srcOrd="2" destOrd="0" presId="urn:microsoft.com/office/officeart/2005/8/layout/orgChart1"/>
    <dgm:cxn modelId="{796889A1-A54B-3648-80D3-F81EBFD87BC2}" type="presParOf" srcId="{199D1AFE-14AE-8C4A-818A-220142661603}" destId="{48B6D4BC-C2FC-6444-BDE4-1B73337FA1F1}" srcOrd="2" destOrd="0" presId="urn:microsoft.com/office/officeart/2005/8/layout/orgChart1"/>
    <dgm:cxn modelId="{D9CE8201-30BC-0743-804B-9B37B70563AE}" type="presParOf" srcId="{4B0DF92B-4D0C-F544-956D-23ABA4E21F8F}" destId="{365BD677-2E0D-8648-9D43-610DB8DB5B68}" srcOrd="2" destOrd="0" presId="urn:microsoft.com/office/officeart/2005/8/layout/orgChart1"/>
    <dgm:cxn modelId="{54B0F316-3944-A54F-BFFE-770D37627F24}" type="presParOf" srcId="{4B0DF92B-4D0C-F544-956D-23ABA4E21F8F}" destId="{3A7150D0-D931-F046-A2AA-541D72AAB0AF}" srcOrd="3" destOrd="0" presId="urn:microsoft.com/office/officeart/2005/8/layout/orgChart1"/>
    <dgm:cxn modelId="{DEB592BE-E0D7-C04C-AC57-9F535BCB0917}" type="presParOf" srcId="{3A7150D0-D931-F046-A2AA-541D72AAB0AF}" destId="{A808265A-90FD-584B-B161-E71B7931F625}" srcOrd="0" destOrd="0" presId="urn:microsoft.com/office/officeart/2005/8/layout/orgChart1"/>
    <dgm:cxn modelId="{AE31FD83-56BD-124F-B5DE-A46BAE851EC4}" type="presParOf" srcId="{A808265A-90FD-584B-B161-E71B7931F625}" destId="{5DB92BC0-ECCF-1647-98F2-A4BAD5B73C91}" srcOrd="0" destOrd="0" presId="urn:microsoft.com/office/officeart/2005/8/layout/orgChart1"/>
    <dgm:cxn modelId="{01A9301D-A8B8-4D4F-9025-3B96700A8510}" type="presParOf" srcId="{A808265A-90FD-584B-B161-E71B7931F625}" destId="{0B6A0A62-E777-1C43-81F8-3843B5C3CE69}" srcOrd="1" destOrd="0" presId="urn:microsoft.com/office/officeart/2005/8/layout/orgChart1"/>
    <dgm:cxn modelId="{A8277F22-0C66-6343-9737-21C32D07A838}" type="presParOf" srcId="{3A7150D0-D931-F046-A2AA-541D72AAB0AF}" destId="{DB52A068-81A3-F94F-A1E1-57E3A1F772DB}" srcOrd="1" destOrd="0" presId="urn:microsoft.com/office/officeart/2005/8/layout/orgChart1"/>
    <dgm:cxn modelId="{BD38E99B-BB56-1348-8BA8-F8B757234FEB}" type="presParOf" srcId="{DB52A068-81A3-F94F-A1E1-57E3A1F772DB}" destId="{F66987EC-151A-764D-9F5F-DAD13DFA210F}" srcOrd="0" destOrd="0" presId="urn:microsoft.com/office/officeart/2005/8/layout/orgChart1"/>
    <dgm:cxn modelId="{2E67AA70-18F7-1245-8972-52013C571343}" type="presParOf" srcId="{DB52A068-81A3-F94F-A1E1-57E3A1F772DB}" destId="{A493CD10-9699-BB4B-9798-9313286E05BF}" srcOrd="1" destOrd="0" presId="urn:microsoft.com/office/officeart/2005/8/layout/orgChart1"/>
    <dgm:cxn modelId="{C2421C32-582F-4344-8809-F94B0CF965DD}" type="presParOf" srcId="{A493CD10-9699-BB4B-9798-9313286E05BF}" destId="{12C8081E-BBDD-3E45-BCC4-0D05EC2E1472}" srcOrd="0" destOrd="0" presId="urn:microsoft.com/office/officeart/2005/8/layout/orgChart1"/>
    <dgm:cxn modelId="{A3EFAE4D-5214-1D49-87D5-6723CE3AA1D5}" type="presParOf" srcId="{12C8081E-BBDD-3E45-BCC4-0D05EC2E1472}" destId="{6B1FF1C0-13E9-8544-AF41-637E038824D7}" srcOrd="0" destOrd="0" presId="urn:microsoft.com/office/officeart/2005/8/layout/orgChart1"/>
    <dgm:cxn modelId="{DFACAB1B-DB02-2B44-AF8A-69B30C7F7BC1}" type="presParOf" srcId="{12C8081E-BBDD-3E45-BCC4-0D05EC2E1472}" destId="{B6F7D033-73DC-B744-8C8D-E702F004A83C}" srcOrd="1" destOrd="0" presId="urn:microsoft.com/office/officeart/2005/8/layout/orgChart1"/>
    <dgm:cxn modelId="{419BFFE5-9B0B-E94B-8D2B-C5D4EAD192B4}" type="presParOf" srcId="{A493CD10-9699-BB4B-9798-9313286E05BF}" destId="{448780AB-0479-4341-8495-ED186D8A005A}" srcOrd="1" destOrd="0" presId="urn:microsoft.com/office/officeart/2005/8/layout/orgChart1"/>
    <dgm:cxn modelId="{8CBB84AE-2A55-B046-914E-2AE969983727}" type="presParOf" srcId="{A493CD10-9699-BB4B-9798-9313286E05BF}" destId="{EE70936C-4E5A-4F49-9FA1-40696B4EAAF7}" srcOrd="2" destOrd="0" presId="urn:microsoft.com/office/officeart/2005/8/layout/orgChart1"/>
    <dgm:cxn modelId="{3967969D-D71F-5649-BBE7-1AD209BF452F}" type="presParOf" srcId="{3A7150D0-D931-F046-A2AA-541D72AAB0AF}" destId="{2B6A2B99-719E-C04C-9B8D-094887828A64}" srcOrd="2" destOrd="0" presId="urn:microsoft.com/office/officeart/2005/8/layout/orgChart1"/>
    <dgm:cxn modelId="{19F1396B-F417-4D45-94CE-FA91D3C2FB02}" type="presParOf" srcId="{4B0DF92B-4D0C-F544-956D-23ABA4E21F8F}" destId="{AF294D60-9B72-9641-80C4-60237BEBC252}" srcOrd="4" destOrd="0" presId="urn:microsoft.com/office/officeart/2005/8/layout/orgChart1"/>
    <dgm:cxn modelId="{111E9D8E-7E54-BA4C-AE8D-2AD61C5E7242}" type="presParOf" srcId="{4B0DF92B-4D0C-F544-956D-23ABA4E21F8F}" destId="{18F9806C-8688-E24D-92A2-25135D2EE0A7}" srcOrd="5" destOrd="0" presId="urn:microsoft.com/office/officeart/2005/8/layout/orgChart1"/>
    <dgm:cxn modelId="{5E9D8175-7CA3-8E4B-9E45-503D91CFC369}" type="presParOf" srcId="{18F9806C-8688-E24D-92A2-25135D2EE0A7}" destId="{E135D09B-66EE-2646-A510-CACA0FC24D49}" srcOrd="0" destOrd="0" presId="urn:microsoft.com/office/officeart/2005/8/layout/orgChart1"/>
    <dgm:cxn modelId="{A32278A9-AACD-E147-A9C3-BCB8E6BB23D1}" type="presParOf" srcId="{E135D09B-66EE-2646-A510-CACA0FC24D49}" destId="{AE62488F-B611-A844-8B8F-FD92D7733871}" srcOrd="0" destOrd="0" presId="urn:microsoft.com/office/officeart/2005/8/layout/orgChart1"/>
    <dgm:cxn modelId="{AEED7180-D6AE-814D-AB3E-9A7F488A69B5}" type="presParOf" srcId="{E135D09B-66EE-2646-A510-CACA0FC24D49}" destId="{D5903FDF-A36C-5A4A-84BD-2642D156709B}" srcOrd="1" destOrd="0" presId="urn:microsoft.com/office/officeart/2005/8/layout/orgChart1"/>
    <dgm:cxn modelId="{63860C37-8A4E-FB4A-BB70-AD5A09FE96DC}" type="presParOf" srcId="{18F9806C-8688-E24D-92A2-25135D2EE0A7}" destId="{890C5310-8245-A946-962C-21B3CD11967F}" srcOrd="1" destOrd="0" presId="urn:microsoft.com/office/officeart/2005/8/layout/orgChart1"/>
    <dgm:cxn modelId="{1829A7C7-0AE6-A847-84AF-2F33D54CD844}" type="presParOf" srcId="{890C5310-8245-A946-962C-21B3CD11967F}" destId="{46F7C25B-8A6B-9A4C-AEA5-79B511634C22}" srcOrd="0" destOrd="0" presId="urn:microsoft.com/office/officeart/2005/8/layout/orgChart1"/>
    <dgm:cxn modelId="{D4C29CD5-3CC7-3D44-9C07-4148FCDCDD5F}" type="presParOf" srcId="{890C5310-8245-A946-962C-21B3CD11967F}" destId="{9ECF6CD8-FC09-8642-A83A-F03AE2EBDBC1}" srcOrd="1" destOrd="0" presId="urn:microsoft.com/office/officeart/2005/8/layout/orgChart1"/>
    <dgm:cxn modelId="{1D7B1180-45BA-1C43-BF4F-E615A4F4236C}" type="presParOf" srcId="{9ECF6CD8-FC09-8642-A83A-F03AE2EBDBC1}" destId="{4EDE2DF0-D923-9048-800B-DC5295E37D55}" srcOrd="0" destOrd="0" presId="urn:microsoft.com/office/officeart/2005/8/layout/orgChart1"/>
    <dgm:cxn modelId="{570B6883-EECB-884D-8030-FF0D3190A52A}" type="presParOf" srcId="{4EDE2DF0-D923-9048-800B-DC5295E37D55}" destId="{087B432B-A73B-7846-8B5A-25403EDAE7DC}" srcOrd="0" destOrd="0" presId="urn:microsoft.com/office/officeart/2005/8/layout/orgChart1"/>
    <dgm:cxn modelId="{6FB336CC-A604-A64A-8B06-B955917D4F54}" type="presParOf" srcId="{4EDE2DF0-D923-9048-800B-DC5295E37D55}" destId="{10FFFC58-7EA2-F746-B467-E0051543092E}" srcOrd="1" destOrd="0" presId="urn:microsoft.com/office/officeart/2005/8/layout/orgChart1"/>
    <dgm:cxn modelId="{A154C793-F8B3-D948-B3FD-07E9BC141E00}" type="presParOf" srcId="{9ECF6CD8-FC09-8642-A83A-F03AE2EBDBC1}" destId="{B2F50107-C8CD-9E49-AA2A-90C7E875A119}" srcOrd="1" destOrd="0" presId="urn:microsoft.com/office/officeart/2005/8/layout/orgChart1"/>
    <dgm:cxn modelId="{C1D09355-6DCA-3444-9E63-71F5F0565506}" type="presParOf" srcId="{B2F50107-C8CD-9E49-AA2A-90C7E875A119}" destId="{2F5B253E-CAC3-7C48-A37C-FD28DF4E1921}" srcOrd="0" destOrd="0" presId="urn:microsoft.com/office/officeart/2005/8/layout/orgChart1"/>
    <dgm:cxn modelId="{302C8472-4DD5-6F40-B0F1-C1EC8E590D34}" type="presParOf" srcId="{B2F50107-C8CD-9E49-AA2A-90C7E875A119}" destId="{8E926447-DD46-BA49-B9AD-F10B0B6323BE}" srcOrd="1" destOrd="0" presId="urn:microsoft.com/office/officeart/2005/8/layout/orgChart1"/>
    <dgm:cxn modelId="{FE223F91-31D7-5046-98E4-25E27221494F}" type="presParOf" srcId="{8E926447-DD46-BA49-B9AD-F10B0B6323BE}" destId="{AD465AE8-421C-5A4A-ACD1-9BE97AF73C9B}" srcOrd="0" destOrd="0" presId="urn:microsoft.com/office/officeart/2005/8/layout/orgChart1"/>
    <dgm:cxn modelId="{B10428AA-E1E1-5144-B4A3-5B61D364C603}" type="presParOf" srcId="{AD465AE8-421C-5A4A-ACD1-9BE97AF73C9B}" destId="{955D6E37-AD6C-734D-A59C-17F7C8CCBF6E}" srcOrd="0" destOrd="0" presId="urn:microsoft.com/office/officeart/2005/8/layout/orgChart1"/>
    <dgm:cxn modelId="{0DC59FE2-D4B7-C742-80F0-7DEDE2AAB759}" type="presParOf" srcId="{AD465AE8-421C-5A4A-ACD1-9BE97AF73C9B}" destId="{D58740E1-516B-CF47-92D9-7387FE462A89}" srcOrd="1" destOrd="0" presId="urn:microsoft.com/office/officeart/2005/8/layout/orgChart1"/>
    <dgm:cxn modelId="{6E74A1BB-7F0C-0544-AFB6-69F29FFB5926}" type="presParOf" srcId="{8E926447-DD46-BA49-B9AD-F10B0B6323BE}" destId="{B23CE2F2-F5E1-AB4B-BCE7-F27260B5CDA1}" srcOrd="1" destOrd="0" presId="urn:microsoft.com/office/officeart/2005/8/layout/orgChart1"/>
    <dgm:cxn modelId="{3D39F164-DBE4-3C4B-B88C-A0A947100821}" type="presParOf" srcId="{B23CE2F2-F5E1-AB4B-BCE7-F27260B5CDA1}" destId="{28950DD6-701B-604E-A21E-09DDFA200060}" srcOrd="0" destOrd="0" presId="urn:microsoft.com/office/officeart/2005/8/layout/orgChart1"/>
    <dgm:cxn modelId="{EB162B01-4D0D-5541-B0B5-58FD0212FCFD}" type="presParOf" srcId="{B23CE2F2-F5E1-AB4B-BCE7-F27260B5CDA1}" destId="{6A1F3F0F-4DAF-7C42-A524-30254598EAA3}" srcOrd="1" destOrd="0" presId="urn:microsoft.com/office/officeart/2005/8/layout/orgChart1"/>
    <dgm:cxn modelId="{F37C6E34-E6BC-BE4F-A55C-BC8E1521D1B6}" type="presParOf" srcId="{6A1F3F0F-4DAF-7C42-A524-30254598EAA3}" destId="{BDFAA52F-E24B-9A46-8230-F29FF867AD8D}" srcOrd="0" destOrd="0" presId="urn:microsoft.com/office/officeart/2005/8/layout/orgChart1"/>
    <dgm:cxn modelId="{AA6B71F7-A952-E143-9881-A2C1A7D09E10}" type="presParOf" srcId="{BDFAA52F-E24B-9A46-8230-F29FF867AD8D}" destId="{A8E99C39-923B-884F-AE10-80995E192317}" srcOrd="0" destOrd="0" presId="urn:microsoft.com/office/officeart/2005/8/layout/orgChart1"/>
    <dgm:cxn modelId="{9C007BF3-35FC-A540-A7A1-11283AFD05C0}" type="presParOf" srcId="{BDFAA52F-E24B-9A46-8230-F29FF867AD8D}" destId="{C4EDFE6C-296D-204F-BB4C-E0383AD6462D}" srcOrd="1" destOrd="0" presId="urn:microsoft.com/office/officeart/2005/8/layout/orgChart1"/>
    <dgm:cxn modelId="{110146BE-9E9E-2F4A-97B8-53C2B3351717}" type="presParOf" srcId="{6A1F3F0F-4DAF-7C42-A524-30254598EAA3}" destId="{48093C1D-4B04-784E-BBA1-E8742EC1B5D2}" srcOrd="1" destOrd="0" presId="urn:microsoft.com/office/officeart/2005/8/layout/orgChart1"/>
    <dgm:cxn modelId="{57BC536C-8A86-5E41-87D4-3E5506B0899A}" type="presParOf" srcId="{48093C1D-4B04-784E-BBA1-E8742EC1B5D2}" destId="{B3BAC4AD-153B-1343-BCE5-6024ABCC6DE8}" srcOrd="0" destOrd="0" presId="urn:microsoft.com/office/officeart/2005/8/layout/orgChart1"/>
    <dgm:cxn modelId="{AA1FF042-2D8A-9642-9A94-50E8A477393D}" type="presParOf" srcId="{48093C1D-4B04-784E-BBA1-E8742EC1B5D2}" destId="{B530C9B4-A504-D840-B24B-BF0B3A956607}" srcOrd="1" destOrd="0" presId="urn:microsoft.com/office/officeart/2005/8/layout/orgChart1"/>
    <dgm:cxn modelId="{7ABF6C71-7849-CB4A-90D3-41FFCC9FDA55}" type="presParOf" srcId="{B530C9B4-A504-D840-B24B-BF0B3A956607}" destId="{EE710273-3FAA-D149-8B8A-D9F0E84BBFD9}" srcOrd="0" destOrd="0" presId="urn:microsoft.com/office/officeart/2005/8/layout/orgChart1"/>
    <dgm:cxn modelId="{9D1AF3E2-63CB-FC4A-88E0-97F67A1B077D}" type="presParOf" srcId="{EE710273-3FAA-D149-8B8A-D9F0E84BBFD9}" destId="{E183F606-1C96-4141-8ACB-48748EBBC1FA}" srcOrd="0" destOrd="0" presId="urn:microsoft.com/office/officeart/2005/8/layout/orgChart1"/>
    <dgm:cxn modelId="{33EAE2FA-823F-334A-A4A4-3DC877D56BAF}" type="presParOf" srcId="{EE710273-3FAA-D149-8B8A-D9F0E84BBFD9}" destId="{B5477C9E-3996-AF45-86DA-0AAA40C2EC22}" srcOrd="1" destOrd="0" presId="urn:microsoft.com/office/officeart/2005/8/layout/orgChart1"/>
    <dgm:cxn modelId="{DB233EAA-567A-6C4A-A313-A84B49190B11}" type="presParOf" srcId="{B530C9B4-A504-D840-B24B-BF0B3A956607}" destId="{594E86C5-878C-F849-A081-87DFB6B04F56}" srcOrd="1" destOrd="0" presId="urn:microsoft.com/office/officeart/2005/8/layout/orgChart1"/>
    <dgm:cxn modelId="{A4CDC2FB-ACF5-8442-BC02-4BFEC042B903}" type="presParOf" srcId="{B530C9B4-A504-D840-B24B-BF0B3A956607}" destId="{057FD28B-4660-5B4C-B994-67C0D305B56D}" srcOrd="2" destOrd="0" presId="urn:microsoft.com/office/officeart/2005/8/layout/orgChart1"/>
    <dgm:cxn modelId="{4E6F6D8D-5306-CB41-A250-75D9BE3C7756}" type="presParOf" srcId="{6A1F3F0F-4DAF-7C42-A524-30254598EAA3}" destId="{C19C0975-458B-C140-9A32-37EEC0E4FD03}" srcOrd="2" destOrd="0" presId="urn:microsoft.com/office/officeart/2005/8/layout/orgChart1"/>
    <dgm:cxn modelId="{CDB67901-5C31-8348-A8DE-56E2B8758D95}" type="presParOf" srcId="{B23CE2F2-F5E1-AB4B-BCE7-F27260B5CDA1}" destId="{AC91ED32-A1FB-DB46-A178-565D051BB5E5}" srcOrd="2" destOrd="0" presId="urn:microsoft.com/office/officeart/2005/8/layout/orgChart1"/>
    <dgm:cxn modelId="{7C8E9BA2-A88C-794C-A799-D4353FA0DD09}" type="presParOf" srcId="{B23CE2F2-F5E1-AB4B-BCE7-F27260B5CDA1}" destId="{F4D0DCD9-B9A6-AB41-A457-3AA646F622A7}" srcOrd="3" destOrd="0" presId="urn:microsoft.com/office/officeart/2005/8/layout/orgChart1"/>
    <dgm:cxn modelId="{37DC703B-D1A1-054A-A4DA-52BAB20388CA}" type="presParOf" srcId="{F4D0DCD9-B9A6-AB41-A457-3AA646F622A7}" destId="{705D8CF2-94BA-2C43-BC32-8E153DEF2CA4}" srcOrd="0" destOrd="0" presId="urn:microsoft.com/office/officeart/2005/8/layout/orgChart1"/>
    <dgm:cxn modelId="{06DA20D9-78ED-1943-8649-EAA6DAF7E110}" type="presParOf" srcId="{705D8CF2-94BA-2C43-BC32-8E153DEF2CA4}" destId="{F30CE27B-3103-BF4D-8809-14F89566BA7A}" srcOrd="0" destOrd="0" presId="urn:microsoft.com/office/officeart/2005/8/layout/orgChart1"/>
    <dgm:cxn modelId="{94B81596-0B2C-5349-A65A-D8FAA72E7175}" type="presParOf" srcId="{705D8CF2-94BA-2C43-BC32-8E153DEF2CA4}" destId="{FE3C1292-2EE9-0D4F-BCCE-255B96D554DE}" srcOrd="1" destOrd="0" presId="urn:microsoft.com/office/officeart/2005/8/layout/orgChart1"/>
    <dgm:cxn modelId="{E143FC85-CCBE-6F4E-9C05-27DD90F1E186}" type="presParOf" srcId="{F4D0DCD9-B9A6-AB41-A457-3AA646F622A7}" destId="{1EBF62AE-4F21-6844-B4BB-460168FEB89F}" srcOrd="1" destOrd="0" presId="urn:microsoft.com/office/officeart/2005/8/layout/orgChart1"/>
    <dgm:cxn modelId="{865B1075-7EC3-964A-BEEB-8D5E81714859}" type="presParOf" srcId="{1EBF62AE-4F21-6844-B4BB-460168FEB89F}" destId="{20FCD94B-15CD-C74F-ABCC-2480E9F96D8C}" srcOrd="0" destOrd="0" presId="urn:microsoft.com/office/officeart/2005/8/layout/orgChart1"/>
    <dgm:cxn modelId="{31FF76F5-073A-1840-BD98-03063C7F45D0}" type="presParOf" srcId="{1EBF62AE-4F21-6844-B4BB-460168FEB89F}" destId="{AD6AA469-CC78-F140-92BD-ADB208BE6909}" srcOrd="1" destOrd="0" presId="urn:microsoft.com/office/officeart/2005/8/layout/orgChart1"/>
    <dgm:cxn modelId="{88911E02-4991-5948-817B-5545A0E6324C}" type="presParOf" srcId="{AD6AA469-CC78-F140-92BD-ADB208BE6909}" destId="{618823E6-FBBD-9243-8A4C-ADAF7576E31E}" srcOrd="0" destOrd="0" presId="urn:microsoft.com/office/officeart/2005/8/layout/orgChart1"/>
    <dgm:cxn modelId="{E8A7DB5F-91EE-924F-A12F-EA7342C33BA3}" type="presParOf" srcId="{618823E6-FBBD-9243-8A4C-ADAF7576E31E}" destId="{3141EBE4-0F85-9949-AE3B-CA73549AF9B6}" srcOrd="0" destOrd="0" presId="urn:microsoft.com/office/officeart/2005/8/layout/orgChart1"/>
    <dgm:cxn modelId="{A19116BC-4092-634B-96AC-B7FFDB614C16}" type="presParOf" srcId="{618823E6-FBBD-9243-8A4C-ADAF7576E31E}" destId="{279CDE4C-F739-8E44-87EA-9D73FB6FAAA6}" srcOrd="1" destOrd="0" presId="urn:microsoft.com/office/officeart/2005/8/layout/orgChart1"/>
    <dgm:cxn modelId="{60F3467F-D4D9-BA48-A645-9F3876AB6BF0}" type="presParOf" srcId="{AD6AA469-CC78-F140-92BD-ADB208BE6909}" destId="{A05150FF-30ED-0A46-A3CC-DF6198AC0ED8}" srcOrd="1" destOrd="0" presId="urn:microsoft.com/office/officeart/2005/8/layout/orgChart1"/>
    <dgm:cxn modelId="{2416DC42-257E-564D-903F-12AE303A0CC2}" type="presParOf" srcId="{AD6AA469-CC78-F140-92BD-ADB208BE6909}" destId="{2AD65E57-998A-8D43-8C8A-239030E4CC30}" srcOrd="2" destOrd="0" presId="urn:microsoft.com/office/officeart/2005/8/layout/orgChart1"/>
    <dgm:cxn modelId="{BA8AD4CF-4DCC-064B-BBBD-A8E8E6FA1974}" type="presParOf" srcId="{F4D0DCD9-B9A6-AB41-A457-3AA646F622A7}" destId="{83711FD2-38D5-4645-815A-7182B2C232C7}" srcOrd="2" destOrd="0" presId="urn:microsoft.com/office/officeart/2005/8/layout/orgChart1"/>
    <dgm:cxn modelId="{7BEA46C5-12CA-7341-A384-D471B1C07822}" type="presParOf" srcId="{B23CE2F2-F5E1-AB4B-BCE7-F27260B5CDA1}" destId="{B0318548-0BA3-884A-BC27-61832F8DCC8D}" srcOrd="4" destOrd="0" presId="urn:microsoft.com/office/officeart/2005/8/layout/orgChart1"/>
    <dgm:cxn modelId="{09BB8A18-9E06-044F-850F-437761402F43}" type="presParOf" srcId="{B23CE2F2-F5E1-AB4B-BCE7-F27260B5CDA1}" destId="{CEFF4E65-222B-6E42-B136-D7A1C831FF39}" srcOrd="5" destOrd="0" presId="urn:microsoft.com/office/officeart/2005/8/layout/orgChart1"/>
    <dgm:cxn modelId="{87C9E1E2-C226-4043-8E08-2C92F71A89F2}" type="presParOf" srcId="{CEFF4E65-222B-6E42-B136-D7A1C831FF39}" destId="{D646B421-3263-AA46-AA44-55074AA13097}" srcOrd="0" destOrd="0" presId="urn:microsoft.com/office/officeart/2005/8/layout/orgChart1"/>
    <dgm:cxn modelId="{E734926C-2A4F-B141-9951-E214AC7142F1}" type="presParOf" srcId="{D646B421-3263-AA46-AA44-55074AA13097}" destId="{E58F5466-ED82-8B46-BAD2-35ED1FAACC6A}" srcOrd="0" destOrd="0" presId="urn:microsoft.com/office/officeart/2005/8/layout/orgChart1"/>
    <dgm:cxn modelId="{56901EEE-F8C0-EC4F-B43B-07042EFCABF1}" type="presParOf" srcId="{D646B421-3263-AA46-AA44-55074AA13097}" destId="{A71BB2FB-9A2C-BF4C-8A5C-068BA32EDB9C}" srcOrd="1" destOrd="0" presId="urn:microsoft.com/office/officeart/2005/8/layout/orgChart1"/>
    <dgm:cxn modelId="{CE0314B9-3AD1-D74B-A8DA-73F985AFC82C}" type="presParOf" srcId="{CEFF4E65-222B-6E42-B136-D7A1C831FF39}" destId="{8663427C-5532-B046-A239-6EBAF671875E}" srcOrd="1" destOrd="0" presId="urn:microsoft.com/office/officeart/2005/8/layout/orgChart1"/>
    <dgm:cxn modelId="{FB9D244B-EC81-5048-BC8F-DE11A3EF0E0F}" type="presParOf" srcId="{8663427C-5532-B046-A239-6EBAF671875E}" destId="{27AFB1F9-1B64-0848-BC8B-8BDD4637556A}" srcOrd="0" destOrd="0" presId="urn:microsoft.com/office/officeart/2005/8/layout/orgChart1"/>
    <dgm:cxn modelId="{48EE5867-6537-034D-8B3C-F7D3B8D836F2}" type="presParOf" srcId="{8663427C-5532-B046-A239-6EBAF671875E}" destId="{694D0BD6-FB70-A242-BD27-374B2AEA0D7D}" srcOrd="1" destOrd="0" presId="urn:microsoft.com/office/officeart/2005/8/layout/orgChart1"/>
    <dgm:cxn modelId="{FC0D578A-F397-BB44-B2AE-EA86BA9D8FE0}" type="presParOf" srcId="{694D0BD6-FB70-A242-BD27-374B2AEA0D7D}" destId="{52BB717A-6B5A-B04C-A22A-1F3A7AAF8109}" srcOrd="0" destOrd="0" presId="urn:microsoft.com/office/officeart/2005/8/layout/orgChart1"/>
    <dgm:cxn modelId="{ED395445-E76E-B644-8265-E286780B39FF}" type="presParOf" srcId="{52BB717A-6B5A-B04C-A22A-1F3A7AAF8109}" destId="{10FD6445-05F3-1740-B3F6-23464BAFFA36}" srcOrd="0" destOrd="0" presId="urn:microsoft.com/office/officeart/2005/8/layout/orgChart1"/>
    <dgm:cxn modelId="{A17F6116-7C78-D846-A8C1-94E730C201A5}" type="presParOf" srcId="{52BB717A-6B5A-B04C-A22A-1F3A7AAF8109}" destId="{0D4172C9-A63E-AC47-B10E-553F52D47448}" srcOrd="1" destOrd="0" presId="urn:microsoft.com/office/officeart/2005/8/layout/orgChart1"/>
    <dgm:cxn modelId="{C6F3D227-2AC2-314C-8A33-763B3D8F4CDF}" type="presParOf" srcId="{694D0BD6-FB70-A242-BD27-374B2AEA0D7D}" destId="{11AA4700-4245-6040-8A9C-503FCFDA9651}" srcOrd="1" destOrd="0" presId="urn:microsoft.com/office/officeart/2005/8/layout/orgChart1"/>
    <dgm:cxn modelId="{1B0A327E-CF26-BC46-94B3-6BE22F466BD9}" type="presParOf" srcId="{694D0BD6-FB70-A242-BD27-374B2AEA0D7D}" destId="{11849661-222B-C244-829C-D3E22E09AFC6}" srcOrd="2" destOrd="0" presId="urn:microsoft.com/office/officeart/2005/8/layout/orgChart1"/>
    <dgm:cxn modelId="{9945DF4D-696B-F748-A788-C7D45E92421D}" type="presParOf" srcId="{CEFF4E65-222B-6E42-B136-D7A1C831FF39}" destId="{D6D66BD3-B101-5443-BC65-7597D4057AB4}" srcOrd="2" destOrd="0" presId="urn:microsoft.com/office/officeart/2005/8/layout/orgChart1"/>
    <dgm:cxn modelId="{1636EE34-276D-9A4B-9656-1FB5FD53F462}" type="presParOf" srcId="{8E926447-DD46-BA49-B9AD-F10B0B6323BE}" destId="{895F966E-A273-DD48-993A-9AA8DD8C029E}" srcOrd="2" destOrd="0" presId="urn:microsoft.com/office/officeart/2005/8/layout/orgChart1"/>
    <dgm:cxn modelId="{61CA2A49-FCE0-1741-AEDB-80C53517C70D}" type="presParOf" srcId="{9ECF6CD8-FC09-8642-A83A-F03AE2EBDBC1}" destId="{3A14CBD8-4AFF-BC44-B8F9-B648C9898142}" srcOrd="2" destOrd="0" presId="urn:microsoft.com/office/officeart/2005/8/layout/orgChart1"/>
    <dgm:cxn modelId="{61ADF048-19EA-744C-AA25-93A7745ADAF5}" type="presParOf" srcId="{18F9806C-8688-E24D-92A2-25135D2EE0A7}" destId="{92778392-B540-AB42-967F-E79FFA8A97F7}" srcOrd="2" destOrd="0" presId="urn:microsoft.com/office/officeart/2005/8/layout/orgChart1"/>
    <dgm:cxn modelId="{8BB84B95-D956-5B4F-95EB-63BC67BDEBCE}" type="presParOf" srcId="{261554AA-493B-614B-9A4C-07302A2D4587}" destId="{83603B0B-CCEB-6C4F-875F-951BF6E3050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E2C31A-9C32-8244-A94C-1A921F1582B3}">
      <dsp:nvSpPr>
        <dsp:cNvPr id="0" name=""/>
        <dsp:cNvSpPr/>
      </dsp:nvSpPr>
      <dsp:spPr>
        <a:xfrm>
          <a:off x="2163603" y="60100"/>
          <a:ext cx="2884805" cy="2884805"/>
        </a:xfrm>
        <a:prstGeom prst="ellipse">
          <a:avLst/>
        </a:prstGeom>
        <a:solidFill>
          <a:schemeClr val="accent4">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Selection</a:t>
          </a:r>
        </a:p>
      </dsp:txBody>
      <dsp:txXfrm>
        <a:off x="2548244" y="564941"/>
        <a:ext cx="2115523" cy="1298162"/>
      </dsp:txXfrm>
    </dsp:sp>
    <dsp:sp modelId="{7DAC2FF7-8C69-8544-B207-8AD8ED8CC18E}">
      <dsp:nvSpPr>
        <dsp:cNvPr id="0" name=""/>
        <dsp:cNvSpPr/>
      </dsp:nvSpPr>
      <dsp:spPr>
        <a:xfrm>
          <a:off x="3204537" y="1863103"/>
          <a:ext cx="2884805" cy="2884805"/>
        </a:xfrm>
        <a:prstGeom prst="ellipse">
          <a:avLst/>
        </a:prstGeom>
        <a:solidFill>
          <a:schemeClr val="accent4">
            <a:alpha val="50000"/>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Dispersal</a:t>
          </a:r>
        </a:p>
      </dsp:txBody>
      <dsp:txXfrm>
        <a:off x="4086807" y="2608344"/>
        <a:ext cx="1730883" cy="1586642"/>
      </dsp:txXfrm>
    </dsp:sp>
    <dsp:sp modelId="{C13988BE-4667-2C42-B802-C07898FB496F}">
      <dsp:nvSpPr>
        <dsp:cNvPr id="0" name=""/>
        <dsp:cNvSpPr/>
      </dsp:nvSpPr>
      <dsp:spPr>
        <a:xfrm>
          <a:off x="1122669" y="1863103"/>
          <a:ext cx="2884805" cy="2884805"/>
        </a:xfrm>
        <a:prstGeom prst="ellipse">
          <a:avLst/>
        </a:prstGeom>
        <a:solidFill>
          <a:schemeClr val="accent4">
            <a:alpha val="50000"/>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Ecological Drift</a:t>
          </a:r>
        </a:p>
      </dsp:txBody>
      <dsp:txXfrm>
        <a:off x="1394322" y="2608344"/>
        <a:ext cx="1730883" cy="1586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C67D4B-288C-C941-9948-4D7CB11DC5C5}">
      <dsp:nvSpPr>
        <dsp:cNvPr id="0" name=""/>
        <dsp:cNvSpPr/>
      </dsp:nvSpPr>
      <dsp:spPr>
        <a:xfrm>
          <a:off x="5155" y="2109108"/>
          <a:ext cx="3001123" cy="1200449"/>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Multivariate Analysis</a:t>
          </a:r>
        </a:p>
      </dsp:txBody>
      <dsp:txXfrm>
        <a:off x="605380" y="2109108"/>
        <a:ext cx="1800674" cy="1200449"/>
      </dsp:txXfrm>
    </dsp:sp>
    <dsp:sp modelId="{27C5A505-81DC-A445-992D-1BC4566AB6F2}">
      <dsp:nvSpPr>
        <dsp:cNvPr id="0" name=""/>
        <dsp:cNvSpPr/>
      </dsp:nvSpPr>
      <dsp:spPr>
        <a:xfrm>
          <a:off x="2706166" y="2109108"/>
          <a:ext cx="3001123" cy="1200449"/>
        </a:xfrm>
        <a:prstGeom prst="chevron">
          <a:avLst/>
        </a:prstGeom>
        <a:solidFill>
          <a:schemeClr val="accent4">
            <a:hueOff val="3266964"/>
            <a:satOff val="-13592"/>
            <a:lumOff val="320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Neutral Model</a:t>
          </a:r>
        </a:p>
      </dsp:txBody>
      <dsp:txXfrm>
        <a:off x="3306391" y="2109108"/>
        <a:ext cx="1800674" cy="1200449"/>
      </dsp:txXfrm>
    </dsp:sp>
    <dsp:sp modelId="{CF60189A-F0BD-1B41-89D2-307F1DA955E7}">
      <dsp:nvSpPr>
        <dsp:cNvPr id="0" name=""/>
        <dsp:cNvSpPr/>
      </dsp:nvSpPr>
      <dsp:spPr>
        <a:xfrm>
          <a:off x="5407177" y="2109108"/>
          <a:ext cx="3001123" cy="1200449"/>
        </a:xfrm>
        <a:prstGeom prst="chevron">
          <a:avLst/>
        </a:prstGeom>
        <a:solidFill>
          <a:schemeClr val="accent4">
            <a:hueOff val="6533927"/>
            <a:satOff val="-27185"/>
            <a:lumOff val="640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Null Model</a:t>
          </a:r>
        </a:p>
      </dsp:txBody>
      <dsp:txXfrm>
        <a:off x="6007402" y="2109108"/>
        <a:ext cx="1800674" cy="1200449"/>
      </dsp:txXfrm>
    </dsp:sp>
    <dsp:sp modelId="{4C6D95A5-AC6D-914C-B774-93CD0C61E4A3}">
      <dsp:nvSpPr>
        <dsp:cNvPr id="0" name=""/>
        <dsp:cNvSpPr/>
      </dsp:nvSpPr>
      <dsp:spPr>
        <a:xfrm>
          <a:off x="8108188" y="2109108"/>
          <a:ext cx="3001123" cy="1200449"/>
        </a:xfrm>
        <a:prstGeom prst="chevr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Network Analysis</a:t>
          </a:r>
        </a:p>
      </dsp:txBody>
      <dsp:txXfrm>
        <a:off x="8708413" y="2109108"/>
        <a:ext cx="1800674" cy="12004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8603" y="988"/>
          <a:ext cx="9507592"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9147" y="11532"/>
        <a:ext cx="9486504" cy="338909"/>
      </dsp:txXfrm>
    </dsp:sp>
    <dsp:sp modelId="{91DA19BA-A0AB-564A-8A9E-322DF18B64CF}">
      <dsp:nvSpPr>
        <dsp:cNvPr id="0" name=""/>
        <dsp:cNvSpPr/>
      </dsp:nvSpPr>
      <dsp:spPr>
        <a:xfrm rot="5400000">
          <a:off x="5575042"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03437"/>
        <a:ext cx="183395" cy="178300"/>
      </dsp:txXfrm>
    </dsp:sp>
    <dsp:sp modelId="{43D2067A-91F6-8745-98BA-D6A10B24950A}">
      <dsp:nvSpPr>
        <dsp:cNvPr id="0" name=""/>
        <dsp:cNvSpPr/>
      </dsp:nvSpPr>
      <dsp:spPr>
        <a:xfrm>
          <a:off x="948522"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9066" y="711149"/>
        <a:ext cx="9486667" cy="338909"/>
      </dsp:txXfrm>
    </dsp:sp>
    <dsp:sp modelId="{D067C965-9057-9C4A-A1D2-4912C14C50F7}">
      <dsp:nvSpPr>
        <dsp:cNvPr id="0" name=""/>
        <dsp:cNvSpPr/>
      </dsp:nvSpPr>
      <dsp:spPr>
        <a:xfrm rot="5400000">
          <a:off x="5575042"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103054"/>
        <a:ext cx="183395" cy="178300"/>
      </dsp:txXfrm>
    </dsp:sp>
    <dsp:sp modelId="{80C05A4E-2A0A-294C-8DDC-052E97D834DA}">
      <dsp:nvSpPr>
        <dsp:cNvPr id="0" name=""/>
        <dsp:cNvSpPr/>
      </dsp:nvSpPr>
      <dsp:spPr>
        <a:xfrm>
          <a:off x="948522"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9066" y="1410766"/>
        <a:ext cx="9486667" cy="338909"/>
      </dsp:txXfrm>
    </dsp:sp>
    <dsp:sp modelId="{B3C2DB7A-EC33-6544-A09D-B1205728770A}">
      <dsp:nvSpPr>
        <dsp:cNvPr id="0" name=""/>
        <dsp:cNvSpPr/>
      </dsp:nvSpPr>
      <dsp:spPr>
        <a:xfrm rot="5400000">
          <a:off x="5575042"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802671"/>
        <a:ext cx="183395" cy="178300"/>
      </dsp:txXfrm>
    </dsp:sp>
    <dsp:sp modelId="{6F6C8E07-FBAD-3F4D-A906-27ECCF26E70E}">
      <dsp:nvSpPr>
        <dsp:cNvPr id="0" name=""/>
        <dsp:cNvSpPr/>
      </dsp:nvSpPr>
      <dsp:spPr>
        <a:xfrm>
          <a:off x="948522"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9066" y="2110383"/>
        <a:ext cx="9486667" cy="338909"/>
      </dsp:txXfrm>
    </dsp:sp>
    <dsp:sp modelId="{48489AC1-89DA-0F48-B940-23505B5798FF}">
      <dsp:nvSpPr>
        <dsp:cNvPr id="0" name=""/>
        <dsp:cNvSpPr/>
      </dsp:nvSpPr>
      <dsp:spPr>
        <a:xfrm rot="5400000">
          <a:off x="5575042"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2502289"/>
        <a:ext cx="183395" cy="178300"/>
      </dsp:txXfrm>
    </dsp:sp>
    <dsp:sp modelId="{BEBB65BD-4B92-BC44-96A8-BAAA586B7BF5}">
      <dsp:nvSpPr>
        <dsp:cNvPr id="0" name=""/>
        <dsp:cNvSpPr/>
      </dsp:nvSpPr>
      <dsp:spPr>
        <a:xfrm>
          <a:off x="948522"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9066" y="2810000"/>
        <a:ext cx="9486667" cy="338909"/>
      </dsp:txXfrm>
    </dsp:sp>
    <dsp:sp modelId="{2839F08F-24F1-614A-A1A4-847F111C0482}">
      <dsp:nvSpPr>
        <dsp:cNvPr id="0" name=""/>
        <dsp:cNvSpPr/>
      </dsp:nvSpPr>
      <dsp:spPr>
        <a:xfrm rot="5400000">
          <a:off x="5575042"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201906"/>
        <a:ext cx="183395" cy="178300"/>
      </dsp:txXfrm>
    </dsp:sp>
    <dsp:sp modelId="{80377AF5-BC76-FB40-840E-12C9D1BDB641}">
      <dsp:nvSpPr>
        <dsp:cNvPr id="0" name=""/>
        <dsp:cNvSpPr/>
      </dsp:nvSpPr>
      <dsp:spPr>
        <a:xfrm>
          <a:off x="948522"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9066" y="3509618"/>
        <a:ext cx="9486667" cy="338909"/>
      </dsp:txXfrm>
    </dsp:sp>
    <dsp:sp modelId="{C9A34051-A77A-F049-83DF-B23743A74457}">
      <dsp:nvSpPr>
        <dsp:cNvPr id="0" name=""/>
        <dsp:cNvSpPr/>
      </dsp:nvSpPr>
      <dsp:spPr>
        <a:xfrm rot="5400000">
          <a:off x="5575042"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901523"/>
        <a:ext cx="183395" cy="178300"/>
      </dsp:txXfrm>
    </dsp:sp>
    <dsp:sp modelId="{77F0190E-9B2D-0449-9A36-A264480F521F}">
      <dsp:nvSpPr>
        <dsp:cNvPr id="0" name=""/>
        <dsp:cNvSpPr/>
      </dsp:nvSpPr>
      <dsp:spPr>
        <a:xfrm>
          <a:off x="948522"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9066" y="4209235"/>
        <a:ext cx="9486667" cy="338909"/>
      </dsp:txXfrm>
    </dsp:sp>
    <dsp:sp modelId="{26A17077-D919-4B4F-8DCF-A621A4F50A35}">
      <dsp:nvSpPr>
        <dsp:cNvPr id="0" name=""/>
        <dsp:cNvSpPr/>
      </dsp:nvSpPr>
      <dsp:spPr>
        <a:xfrm rot="5400000">
          <a:off x="5575042"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601140"/>
        <a:ext cx="183395" cy="178300"/>
      </dsp:txXfrm>
    </dsp:sp>
    <dsp:sp modelId="{218DEA2E-8D5B-8741-B88A-2B31902D6D39}">
      <dsp:nvSpPr>
        <dsp:cNvPr id="0" name=""/>
        <dsp:cNvSpPr/>
      </dsp:nvSpPr>
      <dsp:spPr>
        <a:xfrm>
          <a:off x="948522"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9066" y="4908852"/>
        <a:ext cx="9486667" cy="33890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413538" y="1861"/>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Load in data from QIIME2 step</a:t>
          </a:r>
        </a:p>
      </dsp:txBody>
      <dsp:txXfrm>
        <a:off x="425696" y="14019"/>
        <a:ext cx="10551712" cy="390803"/>
      </dsp:txXfrm>
    </dsp:sp>
    <dsp:sp modelId="{91DA19BA-A0AB-564A-8A9E-322DF18B64CF}">
      <dsp:nvSpPr>
        <dsp:cNvPr id="0" name=""/>
        <dsp:cNvSpPr/>
      </dsp:nvSpPr>
      <dsp:spPr>
        <a:xfrm rot="5400000">
          <a:off x="5554694" y="436562"/>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65934"/>
        <a:ext cx="211476" cy="205601"/>
      </dsp:txXfrm>
    </dsp:sp>
    <dsp:sp modelId="{43D2067A-91F6-8745-98BA-D6A10B24950A}">
      <dsp:nvSpPr>
        <dsp:cNvPr id="0" name=""/>
        <dsp:cNvSpPr/>
      </dsp:nvSpPr>
      <dsp:spPr>
        <a:xfrm>
          <a:off x="413538" y="808603"/>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Wrangle metadata</a:t>
          </a:r>
          <a:endParaRPr lang="en-US" sz="1700" i="1" kern="1200" dirty="0"/>
        </a:p>
      </dsp:txBody>
      <dsp:txXfrm>
        <a:off x="425696" y="820761"/>
        <a:ext cx="10551712" cy="390803"/>
      </dsp:txXfrm>
    </dsp:sp>
    <dsp:sp modelId="{D067C965-9057-9C4A-A1D2-4912C14C50F7}">
      <dsp:nvSpPr>
        <dsp:cNvPr id="0" name=""/>
        <dsp:cNvSpPr/>
      </dsp:nvSpPr>
      <dsp:spPr>
        <a:xfrm rot="5400000">
          <a:off x="5554694" y="1243304"/>
          <a:ext cx="293716" cy="3524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1272676"/>
        <a:ext cx="211476" cy="205601"/>
      </dsp:txXfrm>
    </dsp:sp>
    <dsp:sp modelId="{80C05A4E-2A0A-294C-8DDC-052E97D834DA}">
      <dsp:nvSpPr>
        <dsp:cNvPr id="0" name=""/>
        <dsp:cNvSpPr/>
      </dsp:nvSpPr>
      <dsp:spPr>
        <a:xfrm>
          <a:off x="413538" y="1615345"/>
          <a:ext cx="10576028" cy="41511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Identify and remove contaminant ASVs</a:t>
          </a:r>
        </a:p>
      </dsp:txBody>
      <dsp:txXfrm>
        <a:off x="425696" y="1627503"/>
        <a:ext cx="10551712" cy="390803"/>
      </dsp:txXfrm>
    </dsp:sp>
    <dsp:sp modelId="{B3C2DB7A-EC33-6544-A09D-B1205728770A}">
      <dsp:nvSpPr>
        <dsp:cNvPr id="0" name=""/>
        <dsp:cNvSpPr/>
      </dsp:nvSpPr>
      <dsp:spPr>
        <a:xfrm rot="5400000">
          <a:off x="5554694" y="2050046"/>
          <a:ext cx="293716" cy="3524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079418"/>
        <a:ext cx="211476" cy="205601"/>
      </dsp:txXfrm>
    </dsp:sp>
    <dsp:sp modelId="{6F6C8E07-FBAD-3F4D-A906-27ECCF26E70E}">
      <dsp:nvSpPr>
        <dsp:cNvPr id="0" name=""/>
        <dsp:cNvSpPr/>
      </dsp:nvSpPr>
      <dsp:spPr>
        <a:xfrm>
          <a:off x="413538" y="2422087"/>
          <a:ext cx="10576028" cy="41511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singletons</a:t>
          </a:r>
        </a:p>
      </dsp:txBody>
      <dsp:txXfrm>
        <a:off x="425696" y="2434245"/>
        <a:ext cx="10551712" cy="390803"/>
      </dsp:txXfrm>
    </dsp:sp>
    <dsp:sp modelId="{48489AC1-89DA-0F48-B940-23505B5798FF}">
      <dsp:nvSpPr>
        <dsp:cNvPr id="0" name=""/>
        <dsp:cNvSpPr/>
      </dsp:nvSpPr>
      <dsp:spPr>
        <a:xfrm rot="5400000">
          <a:off x="5554694" y="2856787"/>
          <a:ext cx="293716" cy="35246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886159"/>
        <a:ext cx="211476" cy="205601"/>
      </dsp:txXfrm>
    </dsp:sp>
    <dsp:sp modelId="{BEBB65BD-4B92-BC44-96A8-BAAA586B7BF5}">
      <dsp:nvSpPr>
        <dsp:cNvPr id="0" name=""/>
        <dsp:cNvSpPr/>
      </dsp:nvSpPr>
      <dsp:spPr>
        <a:xfrm>
          <a:off x="413538" y="3228829"/>
          <a:ext cx="10576028" cy="415119"/>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ambiguous annotations and low abundance phyla</a:t>
          </a:r>
        </a:p>
      </dsp:txBody>
      <dsp:txXfrm>
        <a:off x="425696" y="3240987"/>
        <a:ext cx="10551712" cy="390803"/>
      </dsp:txXfrm>
    </dsp:sp>
    <dsp:sp modelId="{2839F08F-24F1-614A-A1A4-847F111C0482}">
      <dsp:nvSpPr>
        <dsp:cNvPr id="0" name=""/>
        <dsp:cNvSpPr/>
      </dsp:nvSpPr>
      <dsp:spPr>
        <a:xfrm rot="5400000">
          <a:off x="5554694" y="3663529"/>
          <a:ext cx="293716" cy="352460"/>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3692901"/>
        <a:ext cx="211476" cy="205601"/>
      </dsp:txXfrm>
    </dsp:sp>
    <dsp:sp modelId="{80377AF5-BC76-FB40-840E-12C9D1BDB641}">
      <dsp:nvSpPr>
        <dsp:cNvPr id="0" name=""/>
        <dsp:cNvSpPr/>
      </dsp:nvSpPr>
      <dsp:spPr>
        <a:xfrm>
          <a:off x="413538" y="4035570"/>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Re-root phylogenetic tree</a:t>
          </a:r>
        </a:p>
      </dsp:txBody>
      <dsp:txXfrm>
        <a:off x="425696" y="4047728"/>
        <a:ext cx="10551712" cy="390803"/>
      </dsp:txXfrm>
    </dsp:sp>
    <dsp:sp modelId="{C9A34051-A77A-F049-83DF-B23743A74457}">
      <dsp:nvSpPr>
        <dsp:cNvPr id="0" name=""/>
        <dsp:cNvSpPr/>
      </dsp:nvSpPr>
      <dsp:spPr>
        <a:xfrm rot="5400000">
          <a:off x="5554694" y="4470271"/>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499643"/>
        <a:ext cx="211476" cy="205601"/>
      </dsp:txXfrm>
    </dsp:sp>
    <dsp:sp modelId="{77F0190E-9B2D-0449-9A36-A264480F521F}">
      <dsp:nvSpPr>
        <dsp:cNvPr id="0" name=""/>
        <dsp:cNvSpPr/>
      </dsp:nvSpPr>
      <dsp:spPr>
        <a:xfrm>
          <a:off x="413538" y="4842312"/>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Construct </a:t>
          </a:r>
          <a:r>
            <a:rPr lang="en-US" sz="1700" kern="1200" dirty="0" err="1"/>
            <a:t>phyloseq</a:t>
          </a:r>
          <a:r>
            <a:rPr lang="en-US" sz="1700" kern="1200" dirty="0"/>
            <a:t> object and export </a:t>
          </a:r>
        </a:p>
      </dsp:txBody>
      <dsp:txXfrm>
        <a:off x="425696" y="4854470"/>
        <a:ext cx="10551712" cy="39080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00015" y="661"/>
          <a:ext cx="8258168" cy="773906"/>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Extract ASV table from </a:t>
          </a:r>
          <a:r>
            <a:rPr lang="en-US" sz="1600" kern="1200" dirty="0" err="1"/>
            <a:t>phyloseq</a:t>
          </a:r>
          <a:r>
            <a:rPr lang="en-US" sz="1600" kern="1200" dirty="0"/>
            <a:t> object</a:t>
          </a:r>
        </a:p>
      </dsp:txBody>
      <dsp:txXfrm>
        <a:off x="122682" y="23328"/>
        <a:ext cx="8212834" cy="728572"/>
      </dsp:txXfrm>
    </dsp:sp>
    <dsp:sp modelId="{91DA19BA-A0AB-564A-8A9E-322DF18B64CF}">
      <dsp:nvSpPr>
        <dsp:cNvPr id="0" name=""/>
        <dsp:cNvSpPr/>
      </dsp:nvSpPr>
      <dsp:spPr>
        <a:xfrm rot="5400000">
          <a:off x="4083992" y="793915"/>
          <a:ext cx="290214" cy="3482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822936"/>
        <a:ext cx="208955" cy="203150"/>
      </dsp:txXfrm>
    </dsp:sp>
    <dsp:sp modelId="{43D2067A-91F6-8745-98BA-D6A10B24950A}">
      <dsp:nvSpPr>
        <dsp:cNvPr id="0" name=""/>
        <dsp:cNvSpPr/>
      </dsp:nvSpPr>
      <dsp:spPr>
        <a:xfrm>
          <a:off x="128588" y="1161520"/>
          <a:ext cx="8201023" cy="773906"/>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size of the metacommunity (</a:t>
          </a:r>
          <a:r>
            <a:rPr lang="en-US" sz="1600" i="1" kern="1200" dirty="0"/>
            <a:t>N</a:t>
          </a:r>
          <a:r>
            <a:rPr lang="en-US" sz="1600" kern="1200" dirty="0"/>
            <a:t>) by finding the mean number of reads per sample. We also find the limit of detection (</a:t>
          </a:r>
          <a:r>
            <a:rPr lang="en-US" sz="1600" i="1" kern="1200" dirty="0"/>
            <a:t>d</a:t>
          </a:r>
          <a:r>
            <a:rPr lang="en-US" sz="1600" kern="1200" dirty="0"/>
            <a:t>) = </a:t>
          </a:r>
          <a:r>
            <a:rPr lang="en-US" sz="1600" i="1" kern="1200" dirty="0"/>
            <a:t>1/N</a:t>
          </a:r>
        </a:p>
      </dsp:txBody>
      <dsp:txXfrm>
        <a:off x="151255" y="1184187"/>
        <a:ext cx="8155689" cy="728572"/>
      </dsp:txXfrm>
    </dsp:sp>
    <dsp:sp modelId="{D067C965-9057-9C4A-A1D2-4912C14C50F7}">
      <dsp:nvSpPr>
        <dsp:cNvPr id="0" name=""/>
        <dsp:cNvSpPr/>
      </dsp:nvSpPr>
      <dsp:spPr>
        <a:xfrm rot="5400000">
          <a:off x="4083992" y="1954774"/>
          <a:ext cx="290214" cy="3482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1983795"/>
        <a:ext cx="208955" cy="203150"/>
      </dsp:txXfrm>
    </dsp:sp>
    <dsp:sp modelId="{80C05A4E-2A0A-294C-8DDC-052E97D834DA}">
      <dsp:nvSpPr>
        <dsp:cNvPr id="0" name=""/>
        <dsp:cNvSpPr/>
      </dsp:nvSpPr>
      <dsp:spPr>
        <a:xfrm>
          <a:off x="157161" y="2322380"/>
          <a:ext cx="8143877" cy="77390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mean observed relative abundance and occurrence frequency of each ASV</a:t>
          </a:r>
        </a:p>
      </dsp:txBody>
      <dsp:txXfrm>
        <a:off x="179828" y="2345047"/>
        <a:ext cx="8098543" cy="728572"/>
      </dsp:txXfrm>
    </dsp:sp>
    <dsp:sp modelId="{B3C2DB7A-EC33-6544-A09D-B1205728770A}">
      <dsp:nvSpPr>
        <dsp:cNvPr id="0" name=""/>
        <dsp:cNvSpPr/>
      </dsp:nvSpPr>
      <dsp:spPr>
        <a:xfrm rot="5400000">
          <a:off x="4083992" y="3115634"/>
          <a:ext cx="290214" cy="3482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3144655"/>
        <a:ext cx="208955" cy="203150"/>
      </dsp:txXfrm>
    </dsp:sp>
    <dsp:sp modelId="{6F6C8E07-FBAD-3F4D-A906-27ECCF26E70E}">
      <dsp:nvSpPr>
        <dsp:cNvPr id="0" name=""/>
        <dsp:cNvSpPr/>
      </dsp:nvSpPr>
      <dsp:spPr>
        <a:xfrm>
          <a:off x="171447" y="3483239"/>
          <a:ext cx="8115305" cy="773906"/>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non-linear least squares fitting we fit the neutral model to our data to find, finding the probability of dispersal (</a:t>
          </a:r>
          <a:r>
            <a:rPr lang="en-US" sz="1600" i="1" kern="1200" dirty="0"/>
            <a:t>m</a:t>
          </a:r>
          <a:r>
            <a:rPr lang="en-US" sz="1600" kern="1200" dirty="0"/>
            <a:t>)</a:t>
          </a:r>
        </a:p>
      </dsp:txBody>
      <dsp:txXfrm>
        <a:off x="194114" y="3505906"/>
        <a:ext cx="8069971" cy="728572"/>
      </dsp:txXfrm>
    </dsp:sp>
    <dsp:sp modelId="{48489AC1-89DA-0F48-B940-23505B5798FF}">
      <dsp:nvSpPr>
        <dsp:cNvPr id="0" name=""/>
        <dsp:cNvSpPr/>
      </dsp:nvSpPr>
      <dsp:spPr>
        <a:xfrm rot="5400000">
          <a:off x="4083992" y="4276493"/>
          <a:ext cx="290214" cy="3482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4305514"/>
        <a:ext cx="208955" cy="203150"/>
      </dsp:txXfrm>
    </dsp:sp>
    <dsp:sp modelId="{80377AF5-BC76-FB40-840E-12C9D1BDB641}">
      <dsp:nvSpPr>
        <dsp:cNvPr id="0" name=""/>
        <dsp:cNvSpPr/>
      </dsp:nvSpPr>
      <dsp:spPr>
        <a:xfrm>
          <a:off x="157161" y="4644099"/>
          <a:ext cx="8143877" cy="77390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the estimated value of </a:t>
          </a:r>
          <a:r>
            <a:rPr lang="en-US" sz="1600" i="1" kern="1200" dirty="0"/>
            <a:t>m</a:t>
          </a:r>
          <a:r>
            <a:rPr lang="en-US" sz="1600" kern="1200" dirty="0"/>
            <a:t> we calculate predicted occurrence frequencies and plot predictions from the neutral model against observed frequencies</a:t>
          </a:r>
        </a:p>
      </dsp:txBody>
      <dsp:txXfrm>
        <a:off x="179828" y="4666766"/>
        <a:ext cx="8098543" cy="72857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0" y="2127"/>
          <a:ext cx="7248525" cy="791244"/>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phylogenetic distances between ASVs</a:t>
          </a:r>
        </a:p>
      </dsp:txBody>
      <dsp:txXfrm>
        <a:off x="23175" y="25302"/>
        <a:ext cx="7202175" cy="744894"/>
      </dsp:txXfrm>
    </dsp:sp>
    <dsp:sp modelId="{91DA19BA-A0AB-564A-8A9E-322DF18B64CF}">
      <dsp:nvSpPr>
        <dsp:cNvPr id="0" name=""/>
        <dsp:cNvSpPr/>
      </dsp:nvSpPr>
      <dsp:spPr>
        <a:xfrm rot="5327369">
          <a:off x="3488410" y="813153"/>
          <a:ext cx="296783" cy="3560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29043" y="842801"/>
        <a:ext cx="213636" cy="207748"/>
      </dsp:txXfrm>
    </dsp:sp>
    <dsp:sp modelId="{43D2067A-91F6-8745-98BA-D6A10B24950A}">
      <dsp:nvSpPr>
        <dsp:cNvPr id="0" name=""/>
        <dsp:cNvSpPr/>
      </dsp:nvSpPr>
      <dsp:spPr>
        <a:xfrm>
          <a:off x="50158" y="1188994"/>
          <a:ext cx="7198366" cy="79124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the weighted mean environmental parameters for each ASV = niche preferences </a:t>
          </a:r>
          <a:endParaRPr lang="en-US" sz="1600" i="1" kern="1200" dirty="0"/>
        </a:p>
      </dsp:txBody>
      <dsp:txXfrm>
        <a:off x="73333" y="1212169"/>
        <a:ext cx="7152016" cy="744894"/>
      </dsp:txXfrm>
    </dsp:sp>
    <dsp:sp modelId="{D067C965-9057-9C4A-A1D2-4912C14C50F7}">
      <dsp:nvSpPr>
        <dsp:cNvPr id="0" name=""/>
        <dsp:cNvSpPr/>
      </dsp:nvSpPr>
      <dsp:spPr>
        <a:xfrm rot="5472631">
          <a:off x="3488410" y="2000020"/>
          <a:ext cx="296783" cy="3560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30924" y="2029668"/>
        <a:ext cx="213636" cy="207748"/>
      </dsp:txXfrm>
    </dsp:sp>
    <dsp:sp modelId="{80C05A4E-2A0A-294C-8DDC-052E97D834DA}">
      <dsp:nvSpPr>
        <dsp:cNvPr id="0" name=""/>
        <dsp:cNvSpPr/>
      </dsp:nvSpPr>
      <dsp:spPr>
        <a:xfrm>
          <a:off x="50158" y="2375861"/>
          <a:ext cx="7148207" cy="791244"/>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mantel correlograms for each environmental parameter </a:t>
          </a:r>
        </a:p>
      </dsp:txBody>
      <dsp:txXfrm>
        <a:off x="73333" y="2399036"/>
        <a:ext cx="7101857" cy="744894"/>
      </dsp:txXfrm>
    </dsp:sp>
    <dsp:sp modelId="{B3C2DB7A-EC33-6544-A09D-B1205728770A}">
      <dsp:nvSpPr>
        <dsp:cNvPr id="0" name=""/>
        <dsp:cNvSpPr/>
      </dsp:nvSpPr>
      <dsp:spPr>
        <a:xfrm rot="5400000">
          <a:off x="3475904" y="3186887"/>
          <a:ext cx="296716" cy="3560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17445" y="3216559"/>
        <a:ext cx="213636" cy="207701"/>
      </dsp:txXfrm>
    </dsp:sp>
    <dsp:sp modelId="{6F6C8E07-FBAD-3F4D-A906-27ECCF26E70E}">
      <dsp:nvSpPr>
        <dsp:cNvPr id="0" name=""/>
        <dsp:cNvSpPr/>
      </dsp:nvSpPr>
      <dsp:spPr>
        <a:xfrm>
          <a:off x="62698" y="3562729"/>
          <a:ext cx="7123128" cy="791244"/>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Plot results of the mantel correlograms against phylogenetic distance classes for each environmental parameter to check for significant relationships</a:t>
          </a:r>
        </a:p>
      </dsp:txBody>
      <dsp:txXfrm>
        <a:off x="85873" y="3585904"/>
        <a:ext cx="7076778" cy="74489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AFB1F9-1B64-0848-BC8B-8BDD4637556A}">
      <dsp:nvSpPr>
        <dsp:cNvPr id="0" name=""/>
        <dsp:cNvSpPr/>
      </dsp:nvSpPr>
      <dsp:spPr>
        <a:xfrm>
          <a:off x="5678537"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318548-0BA3-884A-BC27-61832F8DCC8D}">
      <dsp:nvSpPr>
        <dsp:cNvPr id="0" name=""/>
        <dsp:cNvSpPr/>
      </dsp:nvSpPr>
      <dsp:spPr>
        <a:xfrm>
          <a:off x="4754314" y="3002243"/>
          <a:ext cx="1380628" cy="239613"/>
        </a:xfrm>
        <a:custGeom>
          <a:avLst/>
          <a:gdLst/>
          <a:ahLst/>
          <a:cxnLst/>
          <a:rect l="0" t="0" r="0" b="0"/>
          <a:pathLst>
            <a:path>
              <a:moveTo>
                <a:pt x="0" y="0"/>
              </a:moveTo>
              <a:lnTo>
                <a:pt x="0" y="119806"/>
              </a:lnTo>
              <a:lnTo>
                <a:pt x="1380628" y="119806"/>
              </a:lnTo>
              <a:lnTo>
                <a:pt x="1380628"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0FCD94B-15CD-C74F-ABCC-2480E9F96D8C}">
      <dsp:nvSpPr>
        <dsp:cNvPr id="0" name=""/>
        <dsp:cNvSpPr/>
      </dsp:nvSpPr>
      <dsp:spPr>
        <a:xfrm>
          <a:off x="4297908"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C91ED32-A1FB-DB46-A178-565D051BB5E5}">
      <dsp:nvSpPr>
        <dsp:cNvPr id="0" name=""/>
        <dsp:cNvSpPr/>
      </dsp:nvSpPr>
      <dsp:spPr>
        <a:xfrm>
          <a:off x="4708594" y="3002243"/>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3BAC4AD-153B-1343-BCE5-6024ABCC6DE8}">
      <dsp:nvSpPr>
        <dsp:cNvPr id="0" name=""/>
        <dsp:cNvSpPr/>
      </dsp:nvSpPr>
      <dsp:spPr>
        <a:xfrm>
          <a:off x="2917279"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8950DD6-701B-604E-A21E-09DDFA200060}">
      <dsp:nvSpPr>
        <dsp:cNvPr id="0" name=""/>
        <dsp:cNvSpPr/>
      </dsp:nvSpPr>
      <dsp:spPr>
        <a:xfrm>
          <a:off x="3373685" y="3002243"/>
          <a:ext cx="1380628" cy="239613"/>
        </a:xfrm>
        <a:custGeom>
          <a:avLst/>
          <a:gdLst/>
          <a:ahLst/>
          <a:cxnLst/>
          <a:rect l="0" t="0" r="0" b="0"/>
          <a:pathLst>
            <a:path>
              <a:moveTo>
                <a:pt x="1380628" y="0"/>
              </a:moveTo>
              <a:lnTo>
                <a:pt x="1380628" y="119806"/>
              </a:lnTo>
              <a:lnTo>
                <a:pt x="0" y="119806"/>
              </a:lnTo>
              <a:lnTo>
                <a:pt x="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5B253E-CAC3-7C48-A37C-FD28DF4E1921}">
      <dsp:nvSpPr>
        <dsp:cNvPr id="0" name=""/>
        <dsp:cNvSpPr/>
      </dsp:nvSpPr>
      <dsp:spPr>
        <a:xfrm>
          <a:off x="4708594" y="2192122"/>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F7C25B-8A6B-9A4C-AEA5-79B511634C22}">
      <dsp:nvSpPr>
        <dsp:cNvPr id="0" name=""/>
        <dsp:cNvSpPr/>
      </dsp:nvSpPr>
      <dsp:spPr>
        <a:xfrm>
          <a:off x="4708594" y="1382001"/>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294D60-9B72-9641-80C4-60237BEBC252}">
      <dsp:nvSpPr>
        <dsp:cNvPr id="0" name=""/>
        <dsp:cNvSpPr/>
      </dsp:nvSpPr>
      <dsp:spPr>
        <a:xfrm>
          <a:off x="3231058" y="571880"/>
          <a:ext cx="1523255" cy="239613"/>
        </a:xfrm>
        <a:custGeom>
          <a:avLst/>
          <a:gdLst/>
          <a:ahLst/>
          <a:cxnLst/>
          <a:rect l="0" t="0" r="0" b="0"/>
          <a:pathLst>
            <a:path>
              <a:moveTo>
                <a:pt x="0" y="0"/>
              </a:moveTo>
              <a:lnTo>
                <a:pt x="0" y="119806"/>
              </a:lnTo>
              <a:lnTo>
                <a:pt x="1523255" y="119806"/>
              </a:lnTo>
              <a:lnTo>
                <a:pt x="1523255"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66987EC-151A-764D-9F5F-DAD13DFA210F}">
      <dsp:nvSpPr>
        <dsp:cNvPr id="0" name=""/>
        <dsp:cNvSpPr/>
      </dsp:nvSpPr>
      <dsp:spPr>
        <a:xfrm>
          <a:off x="2632025"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5BD677-2E0D-8648-9D43-610DB8DB5B68}">
      <dsp:nvSpPr>
        <dsp:cNvPr id="0" name=""/>
        <dsp:cNvSpPr/>
      </dsp:nvSpPr>
      <dsp:spPr>
        <a:xfrm>
          <a:off x="3088431" y="571880"/>
          <a:ext cx="142626" cy="239613"/>
        </a:xfrm>
        <a:custGeom>
          <a:avLst/>
          <a:gdLst/>
          <a:ahLst/>
          <a:cxnLst/>
          <a:rect l="0" t="0" r="0" b="0"/>
          <a:pathLst>
            <a:path>
              <a:moveTo>
                <a:pt x="142626" y="0"/>
              </a:moveTo>
              <a:lnTo>
                <a:pt x="142626"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7FEB45-0B57-E047-A4DC-4F93C6AAAF17}">
      <dsp:nvSpPr>
        <dsp:cNvPr id="0" name=""/>
        <dsp:cNvSpPr/>
      </dsp:nvSpPr>
      <dsp:spPr>
        <a:xfrm>
          <a:off x="1251396"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8E42A8B-2C64-9B45-84EC-0C2265CC9A45}">
      <dsp:nvSpPr>
        <dsp:cNvPr id="0" name=""/>
        <dsp:cNvSpPr/>
      </dsp:nvSpPr>
      <dsp:spPr>
        <a:xfrm>
          <a:off x="1707802" y="571880"/>
          <a:ext cx="1523255" cy="239613"/>
        </a:xfrm>
        <a:custGeom>
          <a:avLst/>
          <a:gdLst/>
          <a:ahLst/>
          <a:cxnLst/>
          <a:rect l="0" t="0" r="0" b="0"/>
          <a:pathLst>
            <a:path>
              <a:moveTo>
                <a:pt x="1523255" y="0"/>
              </a:moveTo>
              <a:lnTo>
                <a:pt x="1523255"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1CC36B6-BA4D-A641-B415-0E1EE07590C6}">
      <dsp:nvSpPr>
        <dsp:cNvPr id="0" name=""/>
        <dsp:cNvSpPr/>
      </dsp:nvSpPr>
      <dsp:spPr>
        <a:xfrm>
          <a:off x="2660550" y="1372"/>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a:t>
          </a:r>
        </a:p>
      </dsp:txBody>
      <dsp:txXfrm>
        <a:off x="2660550" y="1372"/>
        <a:ext cx="1141015" cy="570507"/>
      </dsp:txXfrm>
    </dsp:sp>
    <dsp:sp modelId="{4A63361A-8AFA-2F4C-90B5-FAD7E6F7A3DD}">
      <dsp:nvSpPr>
        <dsp:cNvPr id="0" name=""/>
        <dsp:cNvSpPr/>
      </dsp:nvSpPr>
      <dsp:spPr>
        <a:xfrm>
          <a:off x="1137294"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-2</a:t>
          </a:r>
        </a:p>
      </dsp:txBody>
      <dsp:txXfrm>
        <a:off x="1137294" y="811493"/>
        <a:ext cx="1141015" cy="570507"/>
      </dsp:txXfrm>
    </dsp:sp>
    <dsp:sp modelId="{1926695E-91AE-0542-B3EC-E69772DC1DC7}">
      <dsp:nvSpPr>
        <dsp:cNvPr id="0" name=""/>
        <dsp:cNvSpPr/>
      </dsp:nvSpPr>
      <dsp:spPr>
        <a:xfrm>
          <a:off x="1422548"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Selection</a:t>
          </a:r>
        </a:p>
      </dsp:txBody>
      <dsp:txXfrm>
        <a:off x="1422548" y="1621614"/>
        <a:ext cx="1141015" cy="570507"/>
      </dsp:txXfrm>
    </dsp:sp>
    <dsp:sp modelId="{5DB92BC0-ECCF-1647-98F2-A4BAD5B73C91}">
      <dsp:nvSpPr>
        <dsp:cNvPr id="0" name=""/>
        <dsp:cNvSpPr/>
      </dsp:nvSpPr>
      <dsp:spPr>
        <a:xfrm>
          <a:off x="2517923"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2</a:t>
          </a:r>
        </a:p>
      </dsp:txBody>
      <dsp:txXfrm>
        <a:off x="2517923" y="811493"/>
        <a:ext cx="1141015" cy="570507"/>
      </dsp:txXfrm>
    </dsp:sp>
    <dsp:sp modelId="{6B1FF1C0-13E9-8544-AF41-637E038824D7}">
      <dsp:nvSpPr>
        <dsp:cNvPr id="0" name=""/>
        <dsp:cNvSpPr/>
      </dsp:nvSpPr>
      <dsp:spPr>
        <a:xfrm>
          <a:off x="2803177"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Variable Selection</a:t>
          </a:r>
        </a:p>
      </dsp:txBody>
      <dsp:txXfrm>
        <a:off x="2803177" y="1621614"/>
        <a:ext cx="1141015" cy="570507"/>
      </dsp:txXfrm>
    </dsp:sp>
    <dsp:sp modelId="{AE62488F-B611-A844-8B8F-FD92D7733871}">
      <dsp:nvSpPr>
        <dsp:cNvPr id="0" name=""/>
        <dsp:cNvSpPr/>
      </dsp:nvSpPr>
      <dsp:spPr>
        <a:xfrm>
          <a:off x="4183806"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 &lt; 2</a:t>
          </a:r>
        </a:p>
      </dsp:txBody>
      <dsp:txXfrm>
        <a:off x="4183806" y="811493"/>
        <a:ext cx="1141015" cy="570507"/>
      </dsp:txXfrm>
    </dsp:sp>
    <dsp:sp modelId="{087B432B-A73B-7846-8B5A-25403EDAE7DC}">
      <dsp:nvSpPr>
        <dsp:cNvPr id="0" name=""/>
        <dsp:cNvSpPr/>
      </dsp:nvSpPr>
      <dsp:spPr>
        <a:xfrm>
          <a:off x="4183806"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Stochastic Processes</a:t>
          </a:r>
        </a:p>
      </dsp:txBody>
      <dsp:txXfrm>
        <a:off x="4183806" y="1621614"/>
        <a:ext cx="1141015" cy="570507"/>
      </dsp:txXfrm>
    </dsp:sp>
    <dsp:sp modelId="{955D6E37-AD6C-734D-A59C-17F7C8CCBF6E}">
      <dsp:nvSpPr>
        <dsp:cNvPr id="0" name=""/>
        <dsp:cNvSpPr/>
      </dsp:nvSpPr>
      <dsp:spPr>
        <a:xfrm>
          <a:off x="4183806" y="2431735"/>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err="1"/>
            <a:t>Raup</a:t>
          </a:r>
          <a:r>
            <a:rPr lang="en-US" sz="1300" kern="1200" dirty="0"/>
            <a:t>-Crick</a:t>
          </a:r>
        </a:p>
      </dsp:txBody>
      <dsp:txXfrm>
        <a:off x="4183806" y="2431735"/>
        <a:ext cx="1141015" cy="570507"/>
      </dsp:txXfrm>
    </dsp:sp>
    <dsp:sp modelId="{A8E99C39-923B-884F-AE10-80995E192317}">
      <dsp:nvSpPr>
        <dsp:cNvPr id="0" name=""/>
        <dsp:cNvSpPr/>
      </dsp:nvSpPr>
      <dsp:spPr>
        <a:xfrm>
          <a:off x="2803177"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- 0.95</a:t>
          </a:r>
        </a:p>
      </dsp:txBody>
      <dsp:txXfrm>
        <a:off x="2803177" y="3241856"/>
        <a:ext cx="1141015" cy="570507"/>
      </dsp:txXfrm>
    </dsp:sp>
    <dsp:sp modelId="{E183F606-1C96-4141-8ACB-48748EBBC1FA}">
      <dsp:nvSpPr>
        <dsp:cNvPr id="0" name=""/>
        <dsp:cNvSpPr/>
      </dsp:nvSpPr>
      <dsp:spPr>
        <a:xfrm>
          <a:off x="3088431"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Dispersal</a:t>
          </a:r>
        </a:p>
      </dsp:txBody>
      <dsp:txXfrm>
        <a:off x="3088431" y="4051977"/>
        <a:ext cx="1141015" cy="570507"/>
      </dsp:txXfrm>
    </dsp:sp>
    <dsp:sp modelId="{F30CE27B-3103-BF4D-8809-14F89566BA7A}">
      <dsp:nvSpPr>
        <dsp:cNvPr id="0" name=""/>
        <dsp:cNvSpPr/>
      </dsp:nvSpPr>
      <dsp:spPr>
        <a:xfrm>
          <a:off x="4183806"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0.95</a:t>
          </a:r>
        </a:p>
      </dsp:txBody>
      <dsp:txXfrm>
        <a:off x="4183806" y="3241856"/>
        <a:ext cx="1141015" cy="570507"/>
      </dsp:txXfrm>
    </dsp:sp>
    <dsp:sp modelId="{3141EBE4-0F85-9949-AE3B-CA73549AF9B6}">
      <dsp:nvSpPr>
        <dsp:cNvPr id="0" name=""/>
        <dsp:cNvSpPr/>
      </dsp:nvSpPr>
      <dsp:spPr>
        <a:xfrm>
          <a:off x="4469060"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Dispersal Limitation</a:t>
          </a:r>
        </a:p>
      </dsp:txBody>
      <dsp:txXfrm>
        <a:off x="4469060" y="4051977"/>
        <a:ext cx="1141015" cy="570507"/>
      </dsp:txXfrm>
    </dsp:sp>
    <dsp:sp modelId="{E58F5466-ED82-8B46-BAD2-35ED1FAACC6A}">
      <dsp:nvSpPr>
        <dsp:cNvPr id="0" name=""/>
        <dsp:cNvSpPr/>
      </dsp:nvSpPr>
      <dsp:spPr>
        <a:xfrm>
          <a:off x="5564435"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a:t>
          </a:r>
          <a:r>
            <a:rPr lang="en-US" sz="1300" kern="1200" dirty="0" err="1"/>
            <a:t>Raup</a:t>
          </a:r>
          <a:r>
            <a:rPr lang="en-US" sz="1300" kern="1200" dirty="0"/>
            <a:t>-Crip| &lt; 0.95</a:t>
          </a:r>
        </a:p>
      </dsp:txBody>
      <dsp:txXfrm>
        <a:off x="5564435" y="3241856"/>
        <a:ext cx="1141015" cy="570507"/>
      </dsp:txXfrm>
    </dsp:sp>
    <dsp:sp modelId="{10FD6445-05F3-1740-B3F6-23464BAFFA36}">
      <dsp:nvSpPr>
        <dsp:cNvPr id="0" name=""/>
        <dsp:cNvSpPr/>
      </dsp:nvSpPr>
      <dsp:spPr>
        <a:xfrm>
          <a:off x="5849689"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Ecological Drift or Weak Selection</a:t>
          </a:r>
          <a:endParaRPr lang="en-US" sz="1300" kern="1200" dirty="0"/>
        </a:p>
      </dsp:txBody>
      <dsp:txXfrm>
        <a:off x="5849689" y="4051977"/>
        <a:ext cx="1141015" cy="570507"/>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Spatial turnover in community composition (that is, the difference in abundance and diversity of biological communities between locations) is shaped by ecological drift, selection and dispersal</a:t>
            </a:r>
          </a:p>
          <a:p>
            <a:endParaRPr lang="en-US" dirty="0"/>
          </a:p>
          <a:p>
            <a:r>
              <a:rPr lang="en-US" dirty="0"/>
              <a:t>Community assembly processes can be stochastic or deterministic.</a:t>
            </a:r>
          </a:p>
          <a:p>
            <a:r>
              <a:rPr lang="en-US" dirty="0"/>
              <a:t>Stochastic processes are random birth, death and dispersal events .</a:t>
            </a:r>
          </a:p>
          <a:p>
            <a:r>
              <a:rPr lang="en-US" dirty="0"/>
              <a:t>Deterministic processes arise from fitness differences between species, that drive their habitat preferences.</a:t>
            </a:r>
          </a:p>
          <a:p>
            <a:r>
              <a:rPr lang="en-US" dirty="0"/>
              <a:t>Adaptive traits (e.g. tolerance to low temperatures) define fitness differences (e.g. the greater reproductive success of one species in a cold habitat as compared to another, less reproductively successful species) and may be phylogenetically conserved (e.g. present in species with closer evolutionarily relationships – two species that have a more recent common ancestor may share tolerance to low temperatures that gives both greater reproductive success as compared to a third organism that has a more distance evolutionary relationship).</a:t>
            </a:r>
          </a:p>
          <a:p>
            <a:r>
              <a:rPr lang="en-US" dirty="0"/>
              <a:t>Closely evolutionarily related species will share adaptive traits that define their fitness differences and drive habitat preferences. So, the environmental constraints of habitat A may facilitate species with close evolutionary histories, while the community of habitat B may share close evolutionary histories with each other while the beta diversity (the change in community composition between habitat A and B) is driven deterministically by those environmental constrains. </a:t>
            </a:r>
          </a:p>
          <a:p>
            <a:r>
              <a:rPr lang="en-US" dirty="0"/>
              <a:t>Both stochastic (birth, death) and deterministic (fitness difference) processes are influenced by dispersal rates.</a:t>
            </a:r>
          </a:p>
          <a:p>
            <a:r>
              <a:rPr lang="en-US" dirty="0"/>
              <a:t>Dispersal = the replacement of a dead individual in the local community with a random individual from the regional species pool.</a:t>
            </a:r>
          </a:p>
          <a:p>
            <a:r>
              <a:rPr lang="en-US" dirty="0"/>
              <a:t>We don’t know much about the ecological factors influencing bacterial dispersal rates.</a:t>
            </a:r>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p:txBody>
      </p:sp>
      <p:sp>
        <p:nvSpPr>
          <p:cNvPr id="4" name="Slide Number Placeholder 3"/>
          <p:cNvSpPr>
            <a:spLocks noGrp="1"/>
          </p:cNvSpPr>
          <p:nvPr>
            <p:ph type="sldNum" sz="quarter" idx="5"/>
          </p:nvPr>
        </p:nvSpPr>
        <p:spPr/>
        <p:txBody>
          <a:bodyPr/>
          <a:lstStyle/>
          <a:p>
            <a:fld id="{91AE2140-D502-214A-B76B-E0784B2C949B}" type="slidenum">
              <a:rPr lang="en-US" smtClean="0"/>
              <a:t>3</a:t>
            </a:fld>
            <a:endParaRPr lang="en-US"/>
          </a:p>
        </p:txBody>
      </p:sp>
    </p:spTree>
    <p:extLst>
      <p:ext uri="{BB962C8B-B14F-4D97-AF65-F5344CB8AC3E}">
        <p14:creationId xmlns:p14="http://schemas.microsoft.com/office/powerpoint/2010/main" val="399017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8</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9</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10</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arenR"/>
            </a:pPr>
            <a:r>
              <a:rPr lang="en-US" dirty="0"/>
              <a:t>Used ‘vegan’ package to get Shannon, Simpsons, Inverted Simpsons Diversity Indexes of count data in each sample. Also </a:t>
            </a:r>
            <a:r>
              <a:rPr lang="en-US" dirty="0" err="1"/>
              <a:t>Pilou</a:t>
            </a:r>
            <a:r>
              <a:rPr lang="en-US" dirty="0"/>
              <a:t> evenness and Faith’s phylogenetic diversity. </a:t>
            </a:r>
          </a:p>
          <a:p>
            <a:pPr marL="228600" indent="-228600">
              <a:buAutoNum type="arabicParenR"/>
            </a:pPr>
            <a:endParaRPr lang="en-US" dirty="0"/>
          </a:p>
          <a:p>
            <a:pPr marL="228600" indent="-228600">
              <a:buAutoNum type="arabicParenR"/>
            </a:pPr>
            <a:r>
              <a:rPr lang="en-US" dirty="0"/>
              <a:t>Alternatively use alpha() function from microbiome package to calculate all indices at one!</a:t>
            </a:r>
          </a:p>
          <a:p>
            <a:pPr marL="228600" indent="-228600">
              <a:buAutoNum type="arabicParenR"/>
            </a:pPr>
            <a:endParaRPr lang="en-US" dirty="0"/>
          </a:p>
          <a:p>
            <a:pPr marL="228600" indent="-228600">
              <a:buAutoNum type="arabicParenR"/>
            </a:pPr>
            <a:r>
              <a:rPr lang="en-US" dirty="0"/>
              <a:t>Here we have boxplots comparing the diversity indices of the two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12</a:t>
            </a:fld>
            <a:endParaRPr lang="en-US"/>
          </a:p>
        </p:txBody>
      </p:sp>
    </p:spTree>
    <p:extLst>
      <p:ext uri="{BB962C8B-B14F-4D97-AF65-F5344CB8AC3E}">
        <p14:creationId xmlns:p14="http://schemas.microsoft.com/office/powerpoint/2010/main" val="30060708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 of phylogenetic diversities of the two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40339710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Relative abundance plots, agglomerated by Class</a:t>
            </a:r>
          </a:p>
        </p:txBody>
      </p:sp>
      <p:sp>
        <p:nvSpPr>
          <p:cNvPr id="4" name="Slide Number Placeholder 3"/>
          <p:cNvSpPr>
            <a:spLocks noGrp="1"/>
          </p:cNvSpPr>
          <p:nvPr>
            <p:ph type="sldNum" sz="quarter" idx="5"/>
          </p:nvPr>
        </p:nvSpPr>
        <p:spPr/>
        <p:txBody>
          <a:bodyPr/>
          <a:lstStyle/>
          <a:p>
            <a:fld id="{91AE2140-D502-214A-B76B-E0784B2C949B}" type="slidenum">
              <a:rPr lang="en-US" smtClean="0"/>
              <a:t>15</a:t>
            </a:fld>
            <a:endParaRPr lang="en-US"/>
          </a:p>
        </p:txBody>
      </p:sp>
    </p:spTree>
    <p:extLst>
      <p:ext uri="{BB962C8B-B14F-4D97-AF65-F5344CB8AC3E}">
        <p14:creationId xmlns:p14="http://schemas.microsoft.com/office/powerpoint/2010/main" val="7611708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#Unweighted </a:t>
            </a:r>
            <a:r>
              <a:rPr lang="en-US" dirty="0" err="1"/>
              <a:t>unifrac</a:t>
            </a:r>
            <a:r>
              <a:rPr lang="en-US" dirty="0"/>
              <a:t> is based on presence/absence not abundance - but it is sensitive to sequencing depth. So if a sample is of greater depth than other reads it may have more low abundance taxa and therefore effect the </a:t>
            </a:r>
            <a:r>
              <a:rPr lang="en-US" dirty="0" err="1"/>
              <a:t>unifrac</a:t>
            </a:r>
            <a:r>
              <a:rPr lang="en-US" dirty="0"/>
              <a:t> metric</a:t>
            </a:r>
          </a:p>
        </p:txBody>
      </p:sp>
      <p:sp>
        <p:nvSpPr>
          <p:cNvPr id="4" name="Slide Number Placeholder 3"/>
          <p:cNvSpPr>
            <a:spLocks noGrp="1"/>
          </p:cNvSpPr>
          <p:nvPr>
            <p:ph type="sldNum" sz="quarter" idx="5"/>
          </p:nvPr>
        </p:nvSpPr>
        <p:spPr/>
        <p:txBody>
          <a:bodyPr/>
          <a:lstStyle/>
          <a:p>
            <a:fld id="{91AE2140-D502-214A-B76B-E0784B2C949B}" type="slidenum">
              <a:rPr lang="en-US" smtClean="0"/>
              <a:t>16</a:t>
            </a:fld>
            <a:endParaRPr lang="en-US"/>
          </a:p>
        </p:txBody>
      </p:sp>
    </p:spTree>
    <p:extLst>
      <p:ext uri="{BB962C8B-B14F-4D97-AF65-F5344CB8AC3E}">
        <p14:creationId xmlns:p14="http://schemas.microsoft.com/office/powerpoint/2010/main" val="1274742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Looked for evidence of compositionality. By multiplying ASV table by itself we can look for evidence of covariance.</a:t>
            </a:r>
          </a:p>
          <a:p>
            <a:r>
              <a:rPr lang="en-US" dirty="0"/>
              <a:t>#We then find the determinant of the covariance matrix and if the answer is 0 we have evidence of compositionality in the data – the result was 0 so the data is compositional.</a:t>
            </a:r>
          </a:p>
          <a:p>
            <a:endParaRPr lang="en-US" dirty="0"/>
          </a:p>
          <a:p>
            <a:r>
              <a:rPr lang="en-US" dirty="0"/>
              <a:t>2) Because out data are compositional we then need to transform them for downstream analysis</a:t>
            </a:r>
          </a:p>
          <a:p>
            <a:r>
              <a:rPr lang="en-US" dirty="0"/>
              <a:t>#Step Four: Perform a Log-Ratio </a:t>
            </a:r>
            <a:r>
              <a:rPr lang="en-US" dirty="0" err="1"/>
              <a:t>trasnformation</a:t>
            </a:r>
            <a:endParaRPr lang="en-US" dirty="0"/>
          </a:p>
          <a:p>
            <a:r>
              <a:rPr lang="en-US" dirty="0"/>
              <a:t>#This will </a:t>
            </a:r>
            <a:r>
              <a:rPr lang="en-US" dirty="0" err="1"/>
              <a:t>normalise</a:t>
            </a:r>
            <a:r>
              <a:rPr lang="en-US" dirty="0"/>
              <a:t> the ASV data within each sample</a:t>
            </a:r>
          </a:p>
          <a:p>
            <a:endParaRPr lang="en-US" dirty="0"/>
          </a:p>
          <a:p>
            <a:r>
              <a:rPr lang="en-US" dirty="0"/>
              <a:t>3) Look at the difference the log-ratio transformation has made to the covariance of the data</a:t>
            </a:r>
          </a:p>
          <a:p>
            <a:endParaRPr lang="en-US" dirty="0"/>
          </a:p>
          <a:p>
            <a:r>
              <a:rPr lang="en-US" dirty="0"/>
              <a:t>4) Figure 6: Perform Principal Component Analysis on Log-Ratio Transformed Data, Create visual representation of PCA and plot</a:t>
            </a:r>
          </a:p>
          <a:p>
            <a:endParaRPr lang="en-US" dirty="0"/>
          </a:p>
          <a:p>
            <a:r>
              <a:rPr lang="en-US" dirty="0"/>
              <a:t>5) Figure 7: </a:t>
            </a:r>
            <a:r>
              <a:rPr lang="en-US" dirty="0" err="1"/>
              <a:t>Visualise</a:t>
            </a:r>
            <a:r>
              <a:rPr lang="en-US" dirty="0"/>
              <a:t> and plot the </a:t>
            </a:r>
            <a:r>
              <a:rPr lang="en-US" dirty="0" err="1"/>
              <a:t>pca</a:t>
            </a:r>
            <a:r>
              <a:rPr lang="en-US" dirty="0"/>
              <a:t> </a:t>
            </a:r>
          </a:p>
          <a:p>
            <a:endParaRPr lang="en-US" dirty="0"/>
          </a:p>
          <a:p>
            <a:r>
              <a:rPr lang="en-US" dirty="0"/>
              <a:t>6) Computed the </a:t>
            </a:r>
            <a:r>
              <a:rPr lang="en-US" dirty="0" err="1"/>
              <a:t>jaccard</a:t>
            </a:r>
            <a:r>
              <a:rPr lang="en-US" dirty="0"/>
              <a:t> distance metric</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18</a:t>
            </a:fld>
            <a:endParaRPr lang="en-US"/>
          </a:p>
        </p:txBody>
      </p:sp>
    </p:spTree>
    <p:extLst>
      <p:ext uri="{BB962C8B-B14F-4D97-AF65-F5344CB8AC3E}">
        <p14:creationId xmlns:p14="http://schemas.microsoft.com/office/powerpoint/2010/main" val="1719508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performed linear regressions between the explanatory variables (glaciers) and response variables (richness, depth, area, chlorophyll, </a:t>
            </a:r>
            <a:r>
              <a:rPr lang="en-US" dirty="0" err="1"/>
              <a:t>dna</a:t>
            </a:r>
            <a:r>
              <a:rPr lang="en-US" dirty="0"/>
              <a:t> per gram, diversity indices).</a:t>
            </a:r>
          </a:p>
          <a:p>
            <a:endParaRPr lang="en-US" dirty="0"/>
          </a:p>
          <a:p>
            <a:r>
              <a:rPr lang="en-US" dirty="0"/>
              <a:t>I then constructed ANOVA tables of the linear regression models to gauge their statistical significance. </a:t>
            </a:r>
          </a:p>
          <a:p>
            <a:endParaRPr lang="en-US" dirty="0"/>
          </a:p>
          <a:p>
            <a:r>
              <a:rPr lang="en-US" dirty="0"/>
              <a:t>#Analysis of Variance (ANOVA), a linear model analysis. We want to ask: is the ASV richness/chlorophyll/hole size/hole depth/DNA per gram between glaciers significantly different? Plot the data divided into glacier groups</a:t>
            </a:r>
          </a:p>
          <a:p>
            <a:r>
              <a:rPr lang="en-US" dirty="0"/>
              <a:t>#ANOVA quantifies the signal to noise ratio. How different are our groups in ratio to how spread out the data are? ANOVA will tell us how confident we can be that we are not being fooled by a type I error (a false positive difference between the groups)</a:t>
            </a:r>
          </a:p>
          <a:p>
            <a:r>
              <a:rPr lang="en-US" dirty="0"/>
              <a:t>#ANOVA will: 1) quantify the overall variability of the dataset. 2) Divide that variability into the variability between and within groups. More signal = more </a:t>
            </a:r>
            <a:r>
              <a:rPr lang="en-US" dirty="0" err="1"/>
              <a:t>condifent</a:t>
            </a:r>
            <a:r>
              <a:rPr lang="en-US" dirty="0"/>
              <a:t>. More noise = less confident.</a:t>
            </a:r>
          </a:p>
          <a:p>
            <a:endParaRPr lang="en-US" dirty="0"/>
          </a:p>
          <a:p>
            <a:r>
              <a:rPr lang="en-US" dirty="0"/>
              <a:t>The ANOVA tables showed there was significant difference between the glaciers in terms of ASV richness, cryoconite hole depth, the </a:t>
            </a:r>
            <a:r>
              <a:rPr lang="en-US" dirty="0" err="1"/>
              <a:t>dna</a:t>
            </a:r>
            <a:r>
              <a:rPr lang="en-US" dirty="0"/>
              <a:t> per gram of cryoconite and faith’s pd.</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19</a:t>
            </a:fld>
            <a:endParaRPr lang="en-US"/>
          </a:p>
        </p:txBody>
      </p:sp>
    </p:spTree>
    <p:extLst>
      <p:ext uri="{BB962C8B-B14F-4D97-AF65-F5344CB8AC3E}">
        <p14:creationId xmlns:p14="http://schemas.microsoft.com/office/powerpoint/2010/main" val="34193417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Linear Regression Analysis</a:t>
            </a:r>
          </a:p>
          <a:p>
            <a:r>
              <a:rPr lang="en-US" dirty="0"/>
              <a:t>#We use linear regression analysis if our explanatory variable is continuous </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20</a:t>
            </a:fld>
            <a:endParaRPr lang="en-US"/>
          </a:p>
        </p:txBody>
      </p:sp>
    </p:spTree>
    <p:extLst>
      <p:ext uri="{BB962C8B-B14F-4D97-AF65-F5344CB8AC3E}">
        <p14:creationId xmlns:p14="http://schemas.microsoft.com/office/powerpoint/2010/main" val="29761298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Multivariate analysis can allow us to look at the relationship between community composition and environmental characteristics – these are deterministic, non-random processes. </a:t>
            </a:r>
            <a:r>
              <a:rPr lang="en-US" dirty="0" err="1"/>
              <a:t>Investiagation</a:t>
            </a:r>
            <a:r>
              <a:rPr lang="en-US" dirty="0"/>
              <a:t> into deterministic processes of community assembly (e.g. relationship between community composition and environmental characteristics) dominate most studies of microbial community assembly, </a:t>
            </a:r>
            <a:r>
              <a:rPr lang="en-US" dirty="0" err="1"/>
              <a:t>howeber</a:t>
            </a:r>
            <a:r>
              <a:rPr lang="en-US" dirty="0"/>
              <a:t>, it is likely both deterministic and stochastic processes contribute to community assembly. This is why I combine multivariate and network analysis (deterministic) with phylogenetic null modelling (deterministic and stochastic) and neutral modelling (stochastic). </a:t>
            </a:r>
          </a:p>
          <a:p>
            <a:endParaRPr lang="en-US" dirty="0"/>
          </a:p>
          <a:p>
            <a:r>
              <a:rPr lang="en-US" dirty="0"/>
              <a:t>It has been suggested that initial community assembly is driven by stochastic processes, and deterministic processes shape the community through time. </a:t>
            </a:r>
          </a:p>
          <a:p>
            <a:endParaRPr lang="en-US" dirty="0"/>
          </a:p>
          <a:p>
            <a:r>
              <a:rPr lang="en-US" dirty="0"/>
              <a:t>What do we already know about deterministic processes on glaciers?</a:t>
            </a:r>
          </a:p>
          <a:p>
            <a:endParaRPr lang="en-US" dirty="0"/>
          </a:p>
          <a:p>
            <a:r>
              <a:rPr lang="en-US" dirty="0"/>
              <a:t>What do we already know about stochastic processes on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21</a:t>
            </a:fld>
            <a:endParaRPr lang="en-US"/>
          </a:p>
        </p:txBody>
      </p:sp>
    </p:spTree>
    <p:extLst>
      <p:ext uri="{BB962C8B-B14F-4D97-AF65-F5344CB8AC3E}">
        <p14:creationId xmlns:p14="http://schemas.microsoft.com/office/powerpoint/2010/main" val="28273279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DDR doesn’t work for this dataset as most of the holes are reported to have the same long </a:t>
            </a:r>
            <a:r>
              <a:rPr lang="en-US" dirty="0" err="1"/>
              <a:t>lat</a:t>
            </a:r>
            <a:r>
              <a:rPr lang="en-US" dirty="0"/>
              <a:t> coordinates.</a:t>
            </a:r>
          </a:p>
        </p:txBody>
      </p:sp>
      <p:sp>
        <p:nvSpPr>
          <p:cNvPr id="4" name="Slide Number Placeholder 3"/>
          <p:cNvSpPr>
            <a:spLocks noGrp="1"/>
          </p:cNvSpPr>
          <p:nvPr>
            <p:ph type="sldNum" sz="quarter" idx="5"/>
          </p:nvPr>
        </p:nvSpPr>
        <p:spPr/>
        <p:txBody>
          <a:bodyPr/>
          <a:lstStyle/>
          <a:p>
            <a:fld id="{91AE2140-D502-214A-B76B-E0784B2C949B}" type="slidenum">
              <a:rPr lang="en-US" smtClean="0"/>
              <a:t>23</a:t>
            </a:fld>
            <a:endParaRPr lang="en-US"/>
          </a:p>
        </p:txBody>
      </p:sp>
    </p:spTree>
    <p:extLst>
      <p:ext uri="{BB962C8B-B14F-4D97-AF65-F5344CB8AC3E}">
        <p14:creationId xmlns:p14="http://schemas.microsoft.com/office/powerpoint/2010/main" val="21760523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24</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p:txBody>
      </p:sp>
      <p:sp>
        <p:nvSpPr>
          <p:cNvPr id="4" name="Slide Number Placeholder 3"/>
          <p:cNvSpPr>
            <a:spLocks noGrp="1"/>
          </p:cNvSpPr>
          <p:nvPr>
            <p:ph type="sldNum" sz="quarter" idx="5"/>
          </p:nvPr>
        </p:nvSpPr>
        <p:spPr/>
        <p:txBody>
          <a:bodyPr/>
          <a:lstStyle/>
          <a:p>
            <a:fld id="{91AE2140-D502-214A-B76B-E0784B2C949B}" type="slidenum">
              <a:rPr lang="en-US" smtClean="0"/>
              <a:t>25</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r>
              <a:rPr lang="en-US" dirty="0"/>
              <a:t>X axis = log mean relative abundances of each ASV</a:t>
            </a:r>
          </a:p>
          <a:p>
            <a:r>
              <a:rPr lang="en-US" dirty="0"/>
              <a:t>Y axis = mean occurrence frequency of each ASV </a:t>
            </a:r>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26</a:t>
            </a:fld>
            <a:endParaRPr lang="en-US"/>
          </a:p>
        </p:txBody>
      </p:sp>
    </p:spTree>
    <p:extLst>
      <p:ext uri="{BB962C8B-B14F-4D97-AF65-F5344CB8AC3E}">
        <p14:creationId xmlns:p14="http://schemas.microsoft.com/office/powerpoint/2010/main" val="16695857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there is only one significant relationship between phylogenetic distance and environmental variable – so the null model may not be appropriate for this data – however, we must consider that this dataset was drastically reduced to allow the correlograms to process on my local computer. With that in mind, we continue with the null model analysis.</a:t>
            </a:r>
          </a:p>
        </p:txBody>
      </p:sp>
      <p:sp>
        <p:nvSpPr>
          <p:cNvPr id="4" name="Slide Number Placeholder 3"/>
          <p:cNvSpPr>
            <a:spLocks noGrp="1"/>
          </p:cNvSpPr>
          <p:nvPr>
            <p:ph type="sldNum" sz="quarter" idx="5"/>
          </p:nvPr>
        </p:nvSpPr>
        <p:spPr/>
        <p:txBody>
          <a:bodyPr/>
          <a:lstStyle/>
          <a:p>
            <a:fld id="{91AE2140-D502-214A-B76B-E0784B2C949B}" type="slidenum">
              <a:rPr lang="en-US" smtClean="0"/>
              <a:t>28</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29</a:t>
            </a:fld>
            <a:endParaRPr lang="en-US"/>
          </a:p>
        </p:txBody>
      </p:sp>
    </p:spTree>
    <p:extLst>
      <p:ext uri="{BB962C8B-B14F-4D97-AF65-F5344CB8AC3E}">
        <p14:creationId xmlns:p14="http://schemas.microsoft.com/office/powerpoint/2010/main" val="42701217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emf"/></Relationships>
</file>

<file path=ppt/slides/_rels/slide1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 Id="rId4" Type="http://schemas.openxmlformats.org/officeDocument/2006/relationships/image" Target="../media/image6.emf"/></Relationships>
</file>

<file path=ppt/slides/_rels/slide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emf"/><Relationship Id="rId7" Type="http://schemas.openxmlformats.org/officeDocument/2006/relationships/image" Target="../media/image12.emf"/><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1.emf"/><Relationship Id="rId5" Type="http://schemas.openxmlformats.org/officeDocument/2006/relationships/image" Target="../media/image10.emf"/><Relationship Id="rId4" Type="http://schemas.openxmlformats.org/officeDocument/2006/relationships/image" Target="../media/image9.emf"/></Relationships>
</file>

<file path=ppt/slides/_rels/slide17.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emf"/><Relationship Id="rId1" Type="http://schemas.openxmlformats.org/officeDocument/2006/relationships/slideLayout" Target="../slideLayouts/slideLayout2.xml"/><Relationship Id="rId4" Type="http://schemas.openxmlformats.org/officeDocument/2006/relationships/image" Target="../media/image15.emf"/></Relationships>
</file>

<file path=ppt/slides/_rels/slide18.xml.rels><?xml version="1.0" encoding="UTF-8" standalone="yes"?>
<Relationships xmlns="http://schemas.openxmlformats.org/package/2006/relationships"><Relationship Id="rId8" Type="http://schemas.openxmlformats.org/officeDocument/2006/relationships/image" Target="../media/image21.emf"/><Relationship Id="rId3" Type="http://schemas.openxmlformats.org/officeDocument/2006/relationships/image" Target="../media/image16.emf"/><Relationship Id="rId7" Type="http://schemas.openxmlformats.org/officeDocument/2006/relationships/image" Target="../media/image20.emf"/><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9.emf"/><Relationship Id="rId5" Type="http://schemas.openxmlformats.org/officeDocument/2006/relationships/image" Target="../media/image18.emf"/><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8" Type="http://schemas.openxmlformats.org/officeDocument/2006/relationships/image" Target="../media/image27.emf"/><Relationship Id="rId3" Type="http://schemas.openxmlformats.org/officeDocument/2006/relationships/image" Target="../media/image22.emf"/><Relationship Id="rId7" Type="http://schemas.openxmlformats.org/officeDocument/2006/relationships/image" Target="../media/image26.emf"/><Relationship Id="rId12" Type="http://schemas.openxmlformats.org/officeDocument/2006/relationships/image" Target="../media/image31.emf"/><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5.emf"/><Relationship Id="rId11" Type="http://schemas.openxmlformats.org/officeDocument/2006/relationships/image" Target="../media/image30.emf"/><Relationship Id="rId5" Type="http://schemas.openxmlformats.org/officeDocument/2006/relationships/image" Target="../media/image24.emf"/><Relationship Id="rId10" Type="http://schemas.openxmlformats.org/officeDocument/2006/relationships/image" Target="../media/image29.emf"/><Relationship Id="rId4" Type="http://schemas.openxmlformats.org/officeDocument/2006/relationships/image" Target="../media/image23.emf"/><Relationship Id="rId9" Type="http://schemas.openxmlformats.org/officeDocument/2006/relationships/image" Target="../media/image28.emf"/></Relationships>
</file>

<file path=ppt/slides/_rels/slide20.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emf"/><Relationship Id="rId1" Type="http://schemas.openxmlformats.org/officeDocument/2006/relationships/slideLayout" Target="../slideLayouts/slideLayout2.xml"/><Relationship Id="rId4" Type="http://schemas.openxmlformats.org/officeDocument/2006/relationships/image" Target="../media/image35.emf"/></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8.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31DA-B431-C54A-874F-C1236B9B36B8}"/>
              </a:ext>
            </a:extLst>
          </p:cNvPr>
          <p:cNvSpPr>
            <a:spLocks noGrp="1"/>
          </p:cNvSpPr>
          <p:nvPr>
            <p:ph type="title"/>
          </p:nvPr>
        </p:nvSpPr>
        <p:spPr/>
        <p:txBody>
          <a:bodyPr/>
          <a:lstStyle/>
          <a:p>
            <a:r>
              <a:rPr lang="en-US" dirty="0"/>
              <a:t>Why are they different? Why should we care?</a:t>
            </a:r>
          </a:p>
        </p:txBody>
      </p:sp>
      <p:sp>
        <p:nvSpPr>
          <p:cNvPr id="4" name="Oval 3">
            <a:extLst>
              <a:ext uri="{FF2B5EF4-FFF2-40B4-BE49-F238E27FC236}">
                <a16:creationId xmlns:a16="http://schemas.microsoft.com/office/drawing/2014/main" id="{4075A81A-7D11-9448-BF36-6D732E7F151C}"/>
              </a:ext>
            </a:extLst>
          </p:cNvPr>
          <p:cNvSpPr/>
          <p:nvPr/>
        </p:nvSpPr>
        <p:spPr>
          <a:xfrm>
            <a:off x="2600326" y="3014662"/>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E4516562-A1F7-4A44-B228-68531F4F81E8}"/>
              </a:ext>
            </a:extLst>
          </p:cNvPr>
          <p:cNvSpPr/>
          <p:nvPr/>
        </p:nvSpPr>
        <p:spPr>
          <a:xfrm>
            <a:off x="3467101" y="37528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BEA4FE-AD89-454B-989F-A777676B2DAB}"/>
              </a:ext>
            </a:extLst>
          </p:cNvPr>
          <p:cNvSpPr/>
          <p:nvPr/>
        </p:nvSpPr>
        <p:spPr>
          <a:xfrm>
            <a:off x="2586038" y="4410075"/>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4E83A67A-C00A-B342-BE75-24729CD2D02F}"/>
              </a:ext>
            </a:extLst>
          </p:cNvPr>
          <p:cNvSpPr/>
          <p:nvPr/>
        </p:nvSpPr>
        <p:spPr>
          <a:xfrm>
            <a:off x="4724401" y="4567237"/>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F55F405-3566-B348-BF65-58C69A1A867A}"/>
              </a:ext>
            </a:extLst>
          </p:cNvPr>
          <p:cNvSpPr/>
          <p:nvPr/>
        </p:nvSpPr>
        <p:spPr>
          <a:xfrm>
            <a:off x="3467101" y="5186360"/>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DD5ABE0-00B9-DD40-8C3A-A0CB5719BCBA}"/>
              </a:ext>
            </a:extLst>
          </p:cNvPr>
          <p:cNvSpPr/>
          <p:nvPr/>
        </p:nvSpPr>
        <p:spPr>
          <a:xfrm>
            <a:off x="4410075" y="2800349"/>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26DB84F-E78D-2A48-A3F2-63B628D47B3F}"/>
              </a:ext>
            </a:extLst>
          </p:cNvPr>
          <p:cNvSpPr/>
          <p:nvPr/>
        </p:nvSpPr>
        <p:spPr>
          <a:xfrm>
            <a:off x="3467100" y="3050382"/>
            <a:ext cx="314325" cy="314325"/>
          </a:xfrm>
          <a:prstGeom prst="ellipse">
            <a:avLst/>
          </a:prstGeom>
          <a:solidFill>
            <a:srgbClr val="92D050"/>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C502950-677E-3049-990E-AEC7AF21DD01}"/>
              </a:ext>
            </a:extLst>
          </p:cNvPr>
          <p:cNvSpPr/>
          <p:nvPr/>
        </p:nvSpPr>
        <p:spPr>
          <a:xfrm>
            <a:off x="3967164" y="4410074"/>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5A94771-F505-D14F-B441-07C73CD0D66B}"/>
              </a:ext>
            </a:extLst>
          </p:cNvPr>
          <p:cNvSpPr/>
          <p:nvPr/>
        </p:nvSpPr>
        <p:spPr>
          <a:xfrm>
            <a:off x="4567238" y="3752848"/>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A3A575E6-7D11-6844-B659-F1F931279368}"/>
              </a:ext>
            </a:extLst>
          </p:cNvPr>
          <p:cNvSpPr/>
          <p:nvPr/>
        </p:nvSpPr>
        <p:spPr>
          <a:xfrm>
            <a:off x="3119438" y="4710111"/>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D5E120C-A984-764E-B4EF-AA70BC53CD10}"/>
              </a:ext>
            </a:extLst>
          </p:cNvPr>
          <p:cNvSpPr/>
          <p:nvPr/>
        </p:nvSpPr>
        <p:spPr>
          <a:xfrm>
            <a:off x="2728912" y="38671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F4679495-EAA4-F64B-8588-1E9DEA49D4C8}"/>
              </a:ext>
            </a:extLst>
          </p:cNvPr>
          <p:cNvSpPr/>
          <p:nvPr/>
        </p:nvSpPr>
        <p:spPr>
          <a:xfrm>
            <a:off x="3967163" y="3378993"/>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F75227F-3BDA-534D-AC82-AA532C3B808A}"/>
              </a:ext>
            </a:extLst>
          </p:cNvPr>
          <p:cNvSpPr/>
          <p:nvPr/>
        </p:nvSpPr>
        <p:spPr>
          <a:xfrm>
            <a:off x="6524626" y="3014662"/>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C9855B0-6DB2-1749-A1D4-4B1B81587D5F}"/>
              </a:ext>
            </a:extLst>
          </p:cNvPr>
          <p:cNvSpPr/>
          <p:nvPr/>
        </p:nvSpPr>
        <p:spPr>
          <a:xfrm>
            <a:off x="7391401" y="3752849"/>
            <a:ext cx="314325" cy="314325"/>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9F5CB4E-153D-EF40-9DD1-4986310BA056}"/>
              </a:ext>
            </a:extLst>
          </p:cNvPr>
          <p:cNvSpPr/>
          <p:nvPr/>
        </p:nvSpPr>
        <p:spPr>
          <a:xfrm>
            <a:off x="6510338" y="4410075"/>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04877B3-DB5A-2E40-9762-5B3784FF014E}"/>
              </a:ext>
            </a:extLst>
          </p:cNvPr>
          <p:cNvSpPr/>
          <p:nvPr/>
        </p:nvSpPr>
        <p:spPr>
          <a:xfrm>
            <a:off x="8648701" y="4567237"/>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53C1F00-2970-264E-8F3C-13F5A89C374D}"/>
              </a:ext>
            </a:extLst>
          </p:cNvPr>
          <p:cNvSpPr/>
          <p:nvPr/>
        </p:nvSpPr>
        <p:spPr>
          <a:xfrm>
            <a:off x="7391401" y="5186360"/>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BE665D8-BD16-C443-A7DB-33C745F5F4C3}"/>
              </a:ext>
            </a:extLst>
          </p:cNvPr>
          <p:cNvSpPr/>
          <p:nvPr/>
        </p:nvSpPr>
        <p:spPr>
          <a:xfrm>
            <a:off x="8334375" y="2800349"/>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8716A6E8-5194-1843-8740-7CFE1E71AC8C}"/>
              </a:ext>
            </a:extLst>
          </p:cNvPr>
          <p:cNvSpPr/>
          <p:nvPr/>
        </p:nvSpPr>
        <p:spPr>
          <a:xfrm>
            <a:off x="7391400" y="3050382"/>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AC7232C0-D3C4-874D-B786-BB148BFF7049}"/>
              </a:ext>
            </a:extLst>
          </p:cNvPr>
          <p:cNvSpPr/>
          <p:nvPr/>
        </p:nvSpPr>
        <p:spPr>
          <a:xfrm>
            <a:off x="7891464" y="4410074"/>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CFB75B72-7751-E244-927A-357FEE2AD292}"/>
              </a:ext>
            </a:extLst>
          </p:cNvPr>
          <p:cNvSpPr/>
          <p:nvPr/>
        </p:nvSpPr>
        <p:spPr>
          <a:xfrm>
            <a:off x="8491538" y="3752848"/>
            <a:ext cx="314325" cy="314325"/>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A90B763-4A6C-AE44-B10A-CAC54BEA55F6}"/>
              </a:ext>
            </a:extLst>
          </p:cNvPr>
          <p:cNvSpPr/>
          <p:nvPr/>
        </p:nvSpPr>
        <p:spPr>
          <a:xfrm>
            <a:off x="7043738" y="4710111"/>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608D13B-D12C-924F-8139-3E7E8F9E180F}"/>
              </a:ext>
            </a:extLst>
          </p:cNvPr>
          <p:cNvSpPr/>
          <p:nvPr/>
        </p:nvSpPr>
        <p:spPr>
          <a:xfrm>
            <a:off x="6653212" y="3867149"/>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6549C0F0-8986-694D-A0BD-8647118E99FE}"/>
              </a:ext>
            </a:extLst>
          </p:cNvPr>
          <p:cNvSpPr/>
          <p:nvPr/>
        </p:nvSpPr>
        <p:spPr>
          <a:xfrm>
            <a:off x="7891463" y="3378993"/>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EA335B55-8B52-5644-A550-2710A16DB226}"/>
              </a:ext>
            </a:extLst>
          </p:cNvPr>
          <p:cNvSpPr txBox="1"/>
          <p:nvPr/>
        </p:nvSpPr>
        <p:spPr>
          <a:xfrm>
            <a:off x="2717006" y="1991378"/>
            <a:ext cx="2164558" cy="523220"/>
          </a:xfrm>
          <a:prstGeom prst="rect">
            <a:avLst/>
          </a:prstGeom>
          <a:noFill/>
        </p:spPr>
        <p:txBody>
          <a:bodyPr wrap="square" rtlCol="0">
            <a:spAutoFit/>
          </a:bodyPr>
          <a:lstStyle/>
          <a:p>
            <a:r>
              <a:rPr lang="en-US" sz="2800" dirty="0"/>
              <a:t>Community 1</a:t>
            </a:r>
          </a:p>
        </p:txBody>
      </p:sp>
      <p:sp>
        <p:nvSpPr>
          <p:cNvPr id="29" name="TextBox 28">
            <a:extLst>
              <a:ext uri="{FF2B5EF4-FFF2-40B4-BE49-F238E27FC236}">
                <a16:creationId xmlns:a16="http://schemas.microsoft.com/office/drawing/2014/main" id="{BC52BB93-C1D8-A04D-98AA-48CAD4AC9990}"/>
              </a:ext>
            </a:extLst>
          </p:cNvPr>
          <p:cNvSpPr txBox="1"/>
          <p:nvPr/>
        </p:nvSpPr>
        <p:spPr>
          <a:xfrm>
            <a:off x="6667500" y="2015520"/>
            <a:ext cx="2164558" cy="523220"/>
          </a:xfrm>
          <a:prstGeom prst="rect">
            <a:avLst/>
          </a:prstGeom>
          <a:noFill/>
        </p:spPr>
        <p:txBody>
          <a:bodyPr wrap="square" rtlCol="0">
            <a:spAutoFit/>
          </a:bodyPr>
          <a:lstStyle/>
          <a:p>
            <a:r>
              <a:rPr lang="en-US" sz="2800" dirty="0"/>
              <a:t>Community 2</a:t>
            </a:r>
          </a:p>
        </p:txBody>
      </p:sp>
    </p:spTree>
    <p:extLst>
      <p:ext uri="{BB962C8B-B14F-4D97-AF65-F5344CB8AC3E}">
        <p14:creationId xmlns:p14="http://schemas.microsoft.com/office/powerpoint/2010/main" val="3055002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B9FC6-0620-0A48-9F8C-295D1BC9A634}"/>
              </a:ext>
            </a:extLst>
          </p:cNvPr>
          <p:cNvSpPr>
            <a:spLocks noGrp="1"/>
          </p:cNvSpPr>
          <p:nvPr>
            <p:ph type="title"/>
          </p:nvPr>
        </p:nvSpPr>
        <p:spPr/>
        <p:txBody>
          <a:bodyPr/>
          <a:lstStyle/>
          <a:p>
            <a:r>
              <a:rPr lang="en-US" dirty="0"/>
              <a:t>Community Assembly Processes</a:t>
            </a:r>
          </a:p>
        </p:txBody>
      </p:sp>
      <p:graphicFrame>
        <p:nvGraphicFramePr>
          <p:cNvPr id="12" name="Diagram 11">
            <a:extLst>
              <a:ext uri="{FF2B5EF4-FFF2-40B4-BE49-F238E27FC236}">
                <a16:creationId xmlns:a16="http://schemas.microsoft.com/office/drawing/2014/main" id="{8B3002D7-459F-0B49-B4AD-4140562B12BC}"/>
              </a:ext>
            </a:extLst>
          </p:cNvPr>
          <p:cNvGraphicFramePr/>
          <p:nvPr>
            <p:extLst>
              <p:ext uri="{D42A27DB-BD31-4B8C-83A1-F6EECF244321}">
                <p14:modId xmlns:p14="http://schemas.microsoft.com/office/powerpoint/2010/main" val="662949717"/>
              </p:ext>
            </p:extLst>
          </p:nvPr>
        </p:nvGraphicFramePr>
        <p:xfrm>
          <a:off x="2489993" y="1690688"/>
          <a:ext cx="7212013" cy="48080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85572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CDC92-0661-1246-80A9-19D7E41E1F07}"/>
              </a:ext>
            </a:extLst>
          </p:cNvPr>
          <p:cNvSpPr>
            <a:spLocks noGrp="1"/>
          </p:cNvSpPr>
          <p:nvPr>
            <p:ph type="title"/>
          </p:nvPr>
        </p:nvSpPr>
        <p:spPr/>
        <p:txBody>
          <a:bodyPr/>
          <a:lstStyle/>
          <a:p>
            <a:r>
              <a:rPr lang="en-US" dirty="0"/>
              <a:t>Supraglacial deterministic processes</a:t>
            </a:r>
          </a:p>
        </p:txBody>
      </p:sp>
      <p:sp>
        <p:nvSpPr>
          <p:cNvPr id="3" name="Content Placeholder 2">
            <a:extLst>
              <a:ext uri="{FF2B5EF4-FFF2-40B4-BE49-F238E27FC236}">
                <a16:creationId xmlns:a16="http://schemas.microsoft.com/office/drawing/2014/main" id="{A3E183A2-E290-3C4B-A147-40B6288AB72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52230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B114-DB6E-AD4D-BFC4-FDB8D03A7251}"/>
              </a:ext>
            </a:extLst>
          </p:cNvPr>
          <p:cNvSpPr>
            <a:spLocks noGrp="1"/>
          </p:cNvSpPr>
          <p:nvPr>
            <p:ph type="title"/>
          </p:nvPr>
        </p:nvSpPr>
        <p:spPr/>
        <p:txBody>
          <a:bodyPr/>
          <a:lstStyle/>
          <a:p>
            <a:r>
              <a:rPr lang="en-US" dirty="0"/>
              <a:t>Supraglacial stochastic processes</a:t>
            </a:r>
          </a:p>
        </p:txBody>
      </p:sp>
      <p:sp>
        <p:nvSpPr>
          <p:cNvPr id="3" name="Content Placeholder 2">
            <a:extLst>
              <a:ext uri="{FF2B5EF4-FFF2-40B4-BE49-F238E27FC236}">
                <a16:creationId xmlns:a16="http://schemas.microsoft.com/office/drawing/2014/main" id="{6A23DFD4-9C55-9849-993C-859830355257}"/>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82039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20000"/>
          </a:bodyPr>
          <a:lstStyle/>
          <a:p>
            <a:r>
              <a:rPr lang="en-US" dirty="0"/>
              <a:t>Microbial community composition in the supraglacial environment is explained by both deterministic and stochastic processes.</a:t>
            </a:r>
          </a:p>
          <a:p>
            <a:r>
              <a:rPr lang="en-US" dirty="0"/>
              <a:t>Community assembly processes will differ between abundant and rare taxa. </a:t>
            </a:r>
          </a:p>
          <a:p>
            <a:r>
              <a:rPr lang="en-US" dirty="0"/>
              <a:t>Biogeographic patterns (ISAR, DDR) will differ between abundant and rare taxa.</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1082962232"/>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10184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176625177"/>
              </p:ext>
            </p:extLst>
          </p:nvPr>
        </p:nvGraphicFramePr>
        <p:xfrm>
          <a:off x="496700" y="1449387"/>
          <a:ext cx="11404800"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2036473356"/>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83892-3D96-014B-BA22-D3A4750E524A}"/>
              </a:ext>
            </a:extLst>
          </p:cNvPr>
          <p:cNvSpPr>
            <a:spLocks noGrp="1"/>
          </p:cNvSpPr>
          <p:nvPr>
            <p:ph type="title"/>
          </p:nvPr>
        </p:nvSpPr>
        <p:spPr>
          <a:solidFill>
            <a:srgbClr val="FFC003"/>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057D77B9-9D78-E74A-8AAE-82071815FD34}"/>
              </a:ext>
            </a:extLst>
          </p:cNvPr>
          <p:cNvSpPr>
            <a:spLocks noGrp="1"/>
          </p:cNvSpPr>
          <p:nvPr>
            <p:ph idx="1"/>
          </p:nvPr>
        </p:nvSpPr>
        <p:spPr/>
        <p:txBody>
          <a:bodyPr>
            <a:normAutofit/>
          </a:bodyPr>
          <a:lstStyle/>
          <a:p>
            <a:pPr marL="742950" indent="-742950">
              <a:buFont typeface="+mj-lt"/>
              <a:buAutoNum type="arabicPeriod"/>
            </a:pPr>
            <a:r>
              <a:rPr lang="en-US" sz="4000" dirty="0"/>
              <a:t>Alpha Diversity &amp; Abundance </a:t>
            </a:r>
            <a:r>
              <a:rPr lang="en-US" sz="4000" dirty="0" err="1"/>
              <a:t>Barplots</a:t>
            </a:r>
            <a:endParaRPr lang="en-US" sz="4000" dirty="0"/>
          </a:p>
          <a:p>
            <a:pPr marL="742950" indent="-742950">
              <a:buFont typeface="+mj-lt"/>
              <a:buAutoNum type="arabicPeriod"/>
            </a:pPr>
            <a:r>
              <a:rPr lang="en-US" sz="4000" dirty="0"/>
              <a:t>Beta Diversity &amp; Ordination</a:t>
            </a:r>
          </a:p>
          <a:p>
            <a:pPr marL="742950" indent="-742950">
              <a:buFont typeface="+mj-lt"/>
              <a:buAutoNum type="arabicPeriod"/>
            </a:pPr>
            <a:r>
              <a:rPr lang="en-US" sz="4000" dirty="0"/>
              <a:t>Linear Models (including ISAR and DDR)</a:t>
            </a:r>
          </a:p>
        </p:txBody>
      </p:sp>
    </p:spTree>
    <p:extLst>
      <p:ext uri="{BB962C8B-B14F-4D97-AF65-F5344CB8AC3E}">
        <p14:creationId xmlns:p14="http://schemas.microsoft.com/office/powerpoint/2010/main" val="542213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5D3B-A455-EF48-91C3-A3250798EA64}"/>
              </a:ext>
            </a:extLst>
          </p:cNvPr>
          <p:cNvSpPr>
            <a:spLocks noGrp="1"/>
          </p:cNvSpPr>
          <p:nvPr>
            <p:ph type="title"/>
          </p:nvPr>
        </p:nvSpPr>
        <p:spPr>
          <a:solidFill>
            <a:srgbClr val="FFC000"/>
          </a:solidFill>
        </p:spPr>
        <p:txBody>
          <a:bodyPr/>
          <a:lstStyle/>
          <a:p>
            <a:r>
              <a:rPr lang="en-US" dirty="0">
                <a:solidFill>
                  <a:schemeClr val="bg1"/>
                </a:solidFill>
              </a:rPr>
              <a:t>Alpha Non-Phylogenetic Diversity</a:t>
            </a:r>
          </a:p>
        </p:txBody>
      </p:sp>
      <p:sp>
        <p:nvSpPr>
          <p:cNvPr id="3" name="Content Placeholder 2">
            <a:extLst>
              <a:ext uri="{FF2B5EF4-FFF2-40B4-BE49-F238E27FC236}">
                <a16:creationId xmlns:a16="http://schemas.microsoft.com/office/drawing/2014/main" id="{2049920E-B358-7147-8331-3683EC758770}"/>
              </a:ext>
            </a:extLst>
          </p:cNvPr>
          <p:cNvSpPr>
            <a:spLocks noGrp="1"/>
          </p:cNvSpPr>
          <p:nvPr>
            <p:ph idx="1"/>
          </p:nvPr>
        </p:nvSpPr>
        <p:spPr/>
        <p:txBody>
          <a:bodyPr/>
          <a:lstStyle/>
          <a:p>
            <a:r>
              <a:rPr lang="en-US" dirty="0"/>
              <a:t>ASV richness</a:t>
            </a:r>
          </a:p>
          <a:p>
            <a:r>
              <a:rPr lang="en-US" dirty="0"/>
              <a:t>Shannon Diversity</a:t>
            </a:r>
          </a:p>
          <a:p>
            <a:r>
              <a:rPr lang="en-US" dirty="0"/>
              <a:t>Simpsons Diversity</a:t>
            </a:r>
          </a:p>
          <a:p>
            <a:r>
              <a:rPr lang="en-US" dirty="0"/>
              <a:t>Inverted Simpsons Diversity</a:t>
            </a:r>
          </a:p>
          <a:p>
            <a:r>
              <a:rPr lang="en-US" dirty="0" err="1"/>
              <a:t>Pilou</a:t>
            </a:r>
            <a:r>
              <a:rPr lang="en-US" dirty="0"/>
              <a:t> Evenness</a:t>
            </a:r>
          </a:p>
        </p:txBody>
      </p:sp>
      <p:pic>
        <p:nvPicPr>
          <p:cNvPr id="7" name="Picture 6">
            <a:extLst>
              <a:ext uri="{FF2B5EF4-FFF2-40B4-BE49-F238E27FC236}">
                <a16:creationId xmlns:a16="http://schemas.microsoft.com/office/drawing/2014/main" id="{532DAA6A-1BA6-784C-8346-66D74B337D63}"/>
              </a:ext>
            </a:extLst>
          </p:cNvPr>
          <p:cNvPicPr>
            <a:picLocks noChangeAspect="1"/>
          </p:cNvPicPr>
          <p:nvPr/>
        </p:nvPicPr>
        <p:blipFill>
          <a:blip r:embed="rId3"/>
          <a:stretch>
            <a:fillRect/>
          </a:stretch>
        </p:blipFill>
        <p:spPr>
          <a:xfrm>
            <a:off x="7543801" y="1825625"/>
            <a:ext cx="4014788" cy="2626636"/>
          </a:xfrm>
          <a:prstGeom prst="rect">
            <a:avLst/>
          </a:prstGeom>
        </p:spPr>
      </p:pic>
      <p:pic>
        <p:nvPicPr>
          <p:cNvPr id="9" name="Picture 8">
            <a:extLst>
              <a:ext uri="{FF2B5EF4-FFF2-40B4-BE49-F238E27FC236}">
                <a16:creationId xmlns:a16="http://schemas.microsoft.com/office/drawing/2014/main" id="{5B9B9A0C-CA89-F44A-BC6E-FEC9B7A6955E}"/>
              </a:ext>
            </a:extLst>
          </p:cNvPr>
          <p:cNvPicPr>
            <a:picLocks noChangeAspect="1"/>
          </p:cNvPicPr>
          <p:nvPr/>
        </p:nvPicPr>
        <p:blipFill>
          <a:blip r:embed="rId4"/>
          <a:stretch>
            <a:fillRect/>
          </a:stretch>
        </p:blipFill>
        <p:spPr>
          <a:xfrm>
            <a:off x="3595688" y="3961130"/>
            <a:ext cx="5876925" cy="2350770"/>
          </a:xfrm>
          <a:prstGeom prst="rect">
            <a:avLst/>
          </a:prstGeom>
        </p:spPr>
      </p:pic>
    </p:spTree>
    <p:extLst>
      <p:ext uri="{BB962C8B-B14F-4D97-AF65-F5344CB8AC3E}">
        <p14:creationId xmlns:p14="http://schemas.microsoft.com/office/powerpoint/2010/main" val="39876749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AF8D7-3E78-9144-9420-0CF314CC8A5D}"/>
              </a:ext>
            </a:extLst>
          </p:cNvPr>
          <p:cNvSpPr>
            <a:spLocks noGrp="1"/>
          </p:cNvSpPr>
          <p:nvPr>
            <p:ph type="title"/>
          </p:nvPr>
        </p:nvSpPr>
        <p:spPr>
          <a:solidFill>
            <a:srgbClr val="FFC003"/>
          </a:solidFill>
        </p:spPr>
        <p:txBody>
          <a:bodyPr/>
          <a:lstStyle/>
          <a:p>
            <a:r>
              <a:rPr lang="en-US" dirty="0">
                <a:solidFill>
                  <a:schemeClr val="bg1"/>
                </a:solidFill>
              </a:rPr>
              <a:t>Alpha Phylogenetic Diversity</a:t>
            </a:r>
          </a:p>
        </p:txBody>
      </p:sp>
      <p:pic>
        <p:nvPicPr>
          <p:cNvPr id="5" name="Picture 4">
            <a:extLst>
              <a:ext uri="{FF2B5EF4-FFF2-40B4-BE49-F238E27FC236}">
                <a16:creationId xmlns:a16="http://schemas.microsoft.com/office/drawing/2014/main" id="{216F0C48-ECD9-7D4B-B913-7CD1FABCCE0B}"/>
              </a:ext>
            </a:extLst>
          </p:cNvPr>
          <p:cNvPicPr>
            <a:picLocks noChangeAspect="1"/>
          </p:cNvPicPr>
          <p:nvPr/>
        </p:nvPicPr>
        <p:blipFill>
          <a:blip r:embed="rId3"/>
          <a:stretch>
            <a:fillRect/>
          </a:stretch>
        </p:blipFill>
        <p:spPr>
          <a:xfrm>
            <a:off x="1524000" y="2243138"/>
            <a:ext cx="9144000" cy="3657600"/>
          </a:xfrm>
          <a:prstGeom prst="rect">
            <a:avLst/>
          </a:prstGeom>
        </p:spPr>
      </p:pic>
    </p:spTree>
    <p:extLst>
      <p:ext uri="{BB962C8B-B14F-4D97-AF65-F5344CB8AC3E}">
        <p14:creationId xmlns:p14="http://schemas.microsoft.com/office/powerpoint/2010/main" val="35411016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646AA-6E34-1841-AD06-37F9BCAFCAB3}"/>
              </a:ext>
            </a:extLst>
          </p:cNvPr>
          <p:cNvSpPr>
            <a:spLocks noGrp="1"/>
          </p:cNvSpPr>
          <p:nvPr>
            <p:ph type="title"/>
          </p:nvPr>
        </p:nvSpPr>
        <p:spPr>
          <a:solidFill>
            <a:srgbClr val="FFC003"/>
          </a:solidFill>
        </p:spPr>
        <p:txBody>
          <a:bodyPr/>
          <a:lstStyle/>
          <a:p>
            <a:r>
              <a:rPr lang="en-US" dirty="0">
                <a:solidFill>
                  <a:schemeClr val="bg1"/>
                </a:solidFill>
              </a:rPr>
              <a:t>Absolute Abundance Bar Plots</a:t>
            </a:r>
          </a:p>
        </p:txBody>
      </p:sp>
      <p:pic>
        <p:nvPicPr>
          <p:cNvPr id="4" name="Picture 3">
            <a:extLst>
              <a:ext uri="{FF2B5EF4-FFF2-40B4-BE49-F238E27FC236}">
                <a16:creationId xmlns:a16="http://schemas.microsoft.com/office/drawing/2014/main" id="{EDDA40F0-EFC7-4446-8619-F219D607915D}"/>
              </a:ext>
            </a:extLst>
          </p:cNvPr>
          <p:cNvPicPr>
            <a:picLocks noChangeAspect="1"/>
          </p:cNvPicPr>
          <p:nvPr/>
        </p:nvPicPr>
        <p:blipFill>
          <a:blip r:embed="rId2"/>
          <a:stretch>
            <a:fillRect/>
          </a:stretch>
        </p:blipFill>
        <p:spPr>
          <a:xfrm>
            <a:off x="396499" y="1900237"/>
            <a:ext cx="3478199" cy="3478199"/>
          </a:xfrm>
          <a:prstGeom prst="rect">
            <a:avLst/>
          </a:prstGeom>
        </p:spPr>
      </p:pic>
      <p:sp>
        <p:nvSpPr>
          <p:cNvPr id="5" name="TextBox 4">
            <a:extLst>
              <a:ext uri="{FF2B5EF4-FFF2-40B4-BE49-F238E27FC236}">
                <a16:creationId xmlns:a16="http://schemas.microsoft.com/office/drawing/2014/main" id="{022071C3-C747-9349-B947-6E8B3F5B8DA7}"/>
              </a:ext>
            </a:extLst>
          </p:cNvPr>
          <p:cNvSpPr txBox="1"/>
          <p:nvPr/>
        </p:nvSpPr>
        <p:spPr>
          <a:xfrm>
            <a:off x="396499" y="5587985"/>
            <a:ext cx="1935166" cy="830997"/>
          </a:xfrm>
          <a:prstGeom prst="rect">
            <a:avLst/>
          </a:prstGeom>
          <a:noFill/>
        </p:spPr>
        <p:txBody>
          <a:bodyPr wrap="square" rtlCol="0">
            <a:spAutoFit/>
          </a:bodyPr>
          <a:lstStyle/>
          <a:p>
            <a:r>
              <a:rPr lang="en-US" sz="1200" dirty="0"/>
              <a:t>Figure 1. Bar chart of Hellinger transformed ASV data with agglomerated Phyla </a:t>
            </a:r>
          </a:p>
        </p:txBody>
      </p:sp>
      <p:pic>
        <p:nvPicPr>
          <p:cNvPr id="7" name="Picture 6">
            <a:extLst>
              <a:ext uri="{FF2B5EF4-FFF2-40B4-BE49-F238E27FC236}">
                <a16:creationId xmlns:a16="http://schemas.microsoft.com/office/drawing/2014/main" id="{5E6D3764-8808-7C4C-8644-1B9812C4F4C8}"/>
              </a:ext>
            </a:extLst>
          </p:cNvPr>
          <p:cNvPicPr>
            <a:picLocks noChangeAspect="1"/>
          </p:cNvPicPr>
          <p:nvPr/>
        </p:nvPicPr>
        <p:blipFill>
          <a:blip r:embed="rId3"/>
          <a:stretch>
            <a:fillRect/>
          </a:stretch>
        </p:blipFill>
        <p:spPr>
          <a:xfrm>
            <a:off x="5574103" y="1729558"/>
            <a:ext cx="4541448" cy="2270724"/>
          </a:xfrm>
          <a:prstGeom prst="rect">
            <a:avLst/>
          </a:prstGeom>
        </p:spPr>
      </p:pic>
      <p:pic>
        <p:nvPicPr>
          <p:cNvPr id="9" name="Picture 8">
            <a:extLst>
              <a:ext uri="{FF2B5EF4-FFF2-40B4-BE49-F238E27FC236}">
                <a16:creationId xmlns:a16="http://schemas.microsoft.com/office/drawing/2014/main" id="{D900526A-1EB2-154A-9ED5-0666585227DE}"/>
              </a:ext>
            </a:extLst>
          </p:cNvPr>
          <p:cNvPicPr>
            <a:picLocks noChangeAspect="1"/>
          </p:cNvPicPr>
          <p:nvPr/>
        </p:nvPicPr>
        <p:blipFill>
          <a:blip r:embed="rId4"/>
          <a:stretch>
            <a:fillRect/>
          </a:stretch>
        </p:blipFill>
        <p:spPr>
          <a:xfrm>
            <a:off x="5574103" y="4277249"/>
            <a:ext cx="4283465" cy="2141733"/>
          </a:xfrm>
          <a:prstGeom prst="rect">
            <a:avLst/>
          </a:prstGeom>
        </p:spPr>
      </p:pic>
    </p:spTree>
    <p:extLst>
      <p:ext uri="{BB962C8B-B14F-4D97-AF65-F5344CB8AC3E}">
        <p14:creationId xmlns:p14="http://schemas.microsoft.com/office/powerpoint/2010/main" val="13562468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91A7E-3582-1F45-81B4-40F9D6A0731D}"/>
              </a:ext>
            </a:extLst>
          </p:cNvPr>
          <p:cNvSpPr>
            <a:spLocks noGrp="1"/>
          </p:cNvSpPr>
          <p:nvPr>
            <p:ph type="title"/>
          </p:nvPr>
        </p:nvSpPr>
        <p:spPr>
          <a:solidFill>
            <a:srgbClr val="FFC003"/>
          </a:solidFill>
        </p:spPr>
        <p:txBody>
          <a:bodyPr/>
          <a:lstStyle/>
          <a:p>
            <a:r>
              <a:rPr lang="en-US" dirty="0">
                <a:solidFill>
                  <a:schemeClr val="bg1"/>
                </a:solidFill>
              </a:rPr>
              <a:t>Relative Abundance Bar Plots</a:t>
            </a:r>
          </a:p>
        </p:txBody>
      </p:sp>
      <p:pic>
        <p:nvPicPr>
          <p:cNvPr id="13" name="Picture 12">
            <a:extLst>
              <a:ext uri="{FF2B5EF4-FFF2-40B4-BE49-F238E27FC236}">
                <a16:creationId xmlns:a16="http://schemas.microsoft.com/office/drawing/2014/main" id="{625ED448-45D4-B046-86B2-8A8A85125618}"/>
              </a:ext>
            </a:extLst>
          </p:cNvPr>
          <p:cNvPicPr>
            <a:picLocks noChangeAspect="1"/>
          </p:cNvPicPr>
          <p:nvPr/>
        </p:nvPicPr>
        <p:blipFill>
          <a:blip r:embed="rId3"/>
          <a:stretch>
            <a:fillRect/>
          </a:stretch>
        </p:blipFill>
        <p:spPr>
          <a:xfrm>
            <a:off x="2338387" y="1768474"/>
            <a:ext cx="7077076" cy="4718051"/>
          </a:xfrm>
          <a:prstGeom prst="rect">
            <a:avLst/>
          </a:prstGeom>
        </p:spPr>
      </p:pic>
    </p:spTree>
    <p:extLst>
      <p:ext uri="{BB962C8B-B14F-4D97-AF65-F5344CB8AC3E}">
        <p14:creationId xmlns:p14="http://schemas.microsoft.com/office/powerpoint/2010/main" val="35743118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494F5-10D0-884B-B137-A4BBC10A30F4}"/>
              </a:ext>
            </a:extLst>
          </p:cNvPr>
          <p:cNvSpPr>
            <a:spLocks noGrp="1"/>
          </p:cNvSpPr>
          <p:nvPr>
            <p:ph type="title"/>
          </p:nvPr>
        </p:nvSpPr>
        <p:spPr>
          <a:solidFill>
            <a:srgbClr val="FFC003"/>
          </a:solidFill>
        </p:spPr>
        <p:txBody>
          <a:bodyPr/>
          <a:lstStyle/>
          <a:p>
            <a:r>
              <a:rPr lang="en-US" dirty="0">
                <a:solidFill>
                  <a:schemeClr val="bg1"/>
                </a:solidFill>
              </a:rPr>
              <a:t>Beta Phylogenetic Diversity &amp; Ordination</a:t>
            </a:r>
          </a:p>
        </p:txBody>
      </p:sp>
      <p:pic>
        <p:nvPicPr>
          <p:cNvPr id="4" name="Picture 3">
            <a:extLst>
              <a:ext uri="{FF2B5EF4-FFF2-40B4-BE49-F238E27FC236}">
                <a16:creationId xmlns:a16="http://schemas.microsoft.com/office/drawing/2014/main" id="{B754F5CF-C190-8442-A426-157B3C2BEA92}"/>
              </a:ext>
            </a:extLst>
          </p:cNvPr>
          <p:cNvPicPr>
            <a:picLocks noChangeAspect="1"/>
          </p:cNvPicPr>
          <p:nvPr/>
        </p:nvPicPr>
        <p:blipFill>
          <a:blip r:embed="rId3"/>
          <a:stretch>
            <a:fillRect/>
          </a:stretch>
        </p:blipFill>
        <p:spPr>
          <a:xfrm>
            <a:off x="7270355" y="902699"/>
            <a:ext cx="3595686" cy="3595686"/>
          </a:xfrm>
          <a:prstGeom prst="rect">
            <a:avLst/>
          </a:prstGeom>
        </p:spPr>
      </p:pic>
      <p:pic>
        <p:nvPicPr>
          <p:cNvPr id="5" name="Picture 4">
            <a:extLst>
              <a:ext uri="{FF2B5EF4-FFF2-40B4-BE49-F238E27FC236}">
                <a16:creationId xmlns:a16="http://schemas.microsoft.com/office/drawing/2014/main" id="{AEEDACE5-D8FE-974B-A660-558C61ABB317}"/>
              </a:ext>
            </a:extLst>
          </p:cNvPr>
          <p:cNvPicPr>
            <a:picLocks noChangeAspect="1"/>
          </p:cNvPicPr>
          <p:nvPr/>
        </p:nvPicPr>
        <p:blipFill rotWithShape="1">
          <a:blip r:embed="rId4"/>
          <a:srcRect t="29431" b="27144"/>
          <a:stretch/>
        </p:blipFill>
        <p:spPr>
          <a:xfrm>
            <a:off x="2167335" y="1919814"/>
            <a:ext cx="3595686" cy="1561456"/>
          </a:xfrm>
          <a:prstGeom prst="rect">
            <a:avLst/>
          </a:prstGeom>
        </p:spPr>
      </p:pic>
      <p:sp>
        <p:nvSpPr>
          <p:cNvPr id="6" name="TextBox 5">
            <a:extLst>
              <a:ext uri="{FF2B5EF4-FFF2-40B4-BE49-F238E27FC236}">
                <a16:creationId xmlns:a16="http://schemas.microsoft.com/office/drawing/2014/main" id="{2DD247B3-370D-CD40-85B1-0BF00CC925FF}"/>
              </a:ext>
            </a:extLst>
          </p:cNvPr>
          <p:cNvSpPr txBox="1"/>
          <p:nvPr/>
        </p:nvSpPr>
        <p:spPr>
          <a:xfrm>
            <a:off x="588170" y="3461725"/>
            <a:ext cx="3186113" cy="461665"/>
          </a:xfrm>
          <a:prstGeom prst="rect">
            <a:avLst/>
          </a:prstGeom>
          <a:noFill/>
        </p:spPr>
        <p:txBody>
          <a:bodyPr wrap="square" rtlCol="0">
            <a:spAutoFit/>
          </a:bodyPr>
          <a:lstStyle/>
          <a:p>
            <a:r>
              <a:rPr lang="en-US" sz="1200" dirty="0"/>
              <a:t>Figure 3. Unweighted </a:t>
            </a:r>
            <a:r>
              <a:rPr lang="en-US" sz="1200" dirty="0" err="1"/>
              <a:t>UniFrac</a:t>
            </a:r>
            <a:r>
              <a:rPr lang="en-US" sz="1200" dirty="0"/>
              <a:t> </a:t>
            </a:r>
            <a:r>
              <a:rPr lang="en-US" sz="1200" dirty="0" err="1"/>
              <a:t>PCoA</a:t>
            </a:r>
            <a:r>
              <a:rPr lang="en-US" sz="1200" dirty="0"/>
              <a:t>, scaled by eigenvalues</a:t>
            </a:r>
          </a:p>
        </p:txBody>
      </p:sp>
      <p:sp>
        <p:nvSpPr>
          <p:cNvPr id="7" name="TextBox 6">
            <a:extLst>
              <a:ext uri="{FF2B5EF4-FFF2-40B4-BE49-F238E27FC236}">
                <a16:creationId xmlns:a16="http://schemas.microsoft.com/office/drawing/2014/main" id="{86C25D41-2396-E34E-8ED9-757C5826FCD5}"/>
              </a:ext>
            </a:extLst>
          </p:cNvPr>
          <p:cNvSpPr txBox="1"/>
          <p:nvPr/>
        </p:nvSpPr>
        <p:spPr>
          <a:xfrm>
            <a:off x="7475141" y="3413021"/>
            <a:ext cx="3186113" cy="461665"/>
          </a:xfrm>
          <a:prstGeom prst="rect">
            <a:avLst/>
          </a:prstGeom>
          <a:noFill/>
        </p:spPr>
        <p:txBody>
          <a:bodyPr wrap="square" rtlCol="0">
            <a:spAutoFit/>
          </a:bodyPr>
          <a:lstStyle/>
          <a:p>
            <a:r>
              <a:rPr lang="en-US" sz="1200" dirty="0"/>
              <a:t>Figure 4. Weighted </a:t>
            </a:r>
            <a:r>
              <a:rPr lang="en-US" sz="1200" dirty="0" err="1"/>
              <a:t>UniFrac</a:t>
            </a:r>
            <a:r>
              <a:rPr lang="en-US" sz="1200" dirty="0"/>
              <a:t> </a:t>
            </a:r>
            <a:r>
              <a:rPr lang="en-US" sz="1200" dirty="0" err="1"/>
              <a:t>PCoA</a:t>
            </a:r>
            <a:r>
              <a:rPr lang="en-US" sz="1200" dirty="0"/>
              <a:t>, scaled by eigenvalues</a:t>
            </a:r>
          </a:p>
        </p:txBody>
      </p:sp>
      <p:pic>
        <p:nvPicPr>
          <p:cNvPr id="9" name="Picture 8">
            <a:extLst>
              <a:ext uri="{FF2B5EF4-FFF2-40B4-BE49-F238E27FC236}">
                <a16:creationId xmlns:a16="http://schemas.microsoft.com/office/drawing/2014/main" id="{64DCED99-8D7A-4141-97F5-B78AC9679478}"/>
              </a:ext>
            </a:extLst>
          </p:cNvPr>
          <p:cNvPicPr>
            <a:picLocks noChangeAspect="1"/>
          </p:cNvPicPr>
          <p:nvPr/>
        </p:nvPicPr>
        <p:blipFill>
          <a:blip r:embed="rId5"/>
          <a:stretch>
            <a:fillRect/>
          </a:stretch>
        </p:blipFill>
        <p:spPr>
          <a:xfrm>
            <a:off x="838200" y="4034249"/>
            <a:ext cx="2410619" cy="1607080"/>
          </a:xfrm>
          <a:prstGeom prst="rect">
            <a:avLst/>
          </a:prstGeom>
        </p:spPr>
      </p:pic>
      <p:pic>
        <p:nvPicPr>
          <p:cNvPr id="11" name="Picture 10">
            <a:extLst>
              <a:ext uri="{FF2B5EF4-FFF2-40B4-BE49-F238E27FC236}">
                <a16:creationId xmlns:a16="http://schemas.microsoft.com/office/drawing/2014/main" id="{70B7CFF2-FC1E-DD48-9DA2-0FAC7296E2EF}"/>
              </a:ext>
            </a:extLst>
          </p:cNvPr>
          <p:cNvPicPr>
            <a:picLocks noChangeAspect="1"/>
          </p:cNvPicPr>
          <p:nvPr/>
        </p:nvPicPr>
        <p:blipFill>
          <a:blip r:embed="rId6"/>
          <a:stretch>
            <a:fillRect/>
          </a:stretch>
        </p:blipFill>
        <p:spPr>
          <a:xfrm>
            <a:off x="3774283" y="4034249"/>
            <a:ext cx="2588021" cy="1725347"/>
          </a:xfrm>
          <a:prstGeom prst="rect">
            <a:avLst/>
          </a:prstGeom>
        </p:spPr>
      </p:pic>
      <p:sp>
        <p:nvSpPr>
          <p:cNvPr id="12" name="Rectangle 11">
            <a:extLst>
              <a:ext uri="{FF2B5EF4-FFF2-40B4-BE49-F238E27FC236}">
                <a16:creationId xmlns:a16="http://schemas.microsoft.com/office/drawing/2014/main" id="{876F1C34-901F-4944-8493-4E1AA38A143E}"/>
              </a:ext>
            </a:extLst>
          </p:cNvPr>
          <p:cNvSpPr/>
          <p:nvPr/>
        </p:nvSpPr>
        <p:spPr>
          <a:xfrm>
            <a:off x="418660" y="5870455"/>
            <a:ext cx="2830160" cy="954107"/>
          </a:xfrm>
          <a:prstGeom prst="rect">
            <a:avLst/>
          </a:prstGeom>
        </p:spPr>
        <p:txBody>
          <a:bodyPr wrap="square">
            <a:spAutoFit/>
          </a:bodyPr>
          <a:lstStyle/>
          <a:p>
            <a:r>
              <a:rPr lang="en-US" sz="1400" dirty="0"/>
              <a:t>Figure. Unweighted </a:t>
            </a:r>
            <a:r>
              <a:rPr lang="en-US" sz="1400" dirty="0" err="1"/>
              <a:t>UniFrac</a:t>
            </a:r>
            <a:r>
              <a:rPr lang="en-US" sz="1400" dirty="0"/>
              <a:t> </a:t>
            </a:r>
            <a:r>
              <a:rPr lang="en-US" sz="1400" dirty="0" err="1"/>
              <a:t>PCoA</a:t>
            </a:r>
            <a:r>
              <a:rPr lang="en-US" sz="1400" dirty="0"/>
              <a:t> with filtered data, not scaled by eigenvalues (using microbiome package)</a:t>
            </a:r>
          </a:p>
        </p:txBody>
      </p:sp>
      <p:sp>
        <p:nvSpPr>
          <p:cNvPr id="13" name="Rectangle 12">
            <a:extLst>
              <a:ext uri="{FF2B5EF4-FFF2-40B4-BE49-F238E27FC236}">
                <a16:creationId xmlns:a16="http://schemas.microsoft.com/office/drawing/2014/main" id="{EAB90C3D-87DD-C944-802E-05EE5EDAB09C}"/>
              </a:ext>
            </a:extLst>
          </p:cNvPr>
          <p:cNvSpPr/>
          <p:nvPr/>
        </p:nvSpPr>
        <p:spPr>
          <a:xfrm>
            <a:off x="3645872" y="5897619"/>
            <a:ext cx="2844842" cy="954107"/>
          </a:xfrm>
          <a:prstGeom prst="rect">
            <a:avLst/>
          </a:prstGeom>
        </p:spPr>
        <p:txBody>
          <a:bodyPr wrap="square">
            <a:spAutoFit/>
          </a:bodyPr>
          <a:lstStyle/>
          <a:p>
            <a:r>
              <a:rPr lang="en-US" sz="1400" dirty="0"/>
              <a:t>Figure. Unweighted </a:t>
            </a:r>
            <a:r>
              <a:rPr lang="en-US" sz="1400" dirty="0" err="1"/>
              <a:t>UniFrac</a:t>
            </a:r>
            <a:r>
              <a:rPr lang="en-US" sz="1400" dirty="0"/>
              <a:t> </a:t>
            </a:r>
            <a:r>
              <a:rPr lang="en-US" sz="1400" dirty="0" err="1"/>
              <a:t>PCoA</a:t>
            </a:r>
            <a:r>
              <a:rPr lang="en-US" sz="1400" dirty="0"/>
              <a:t> with unfiltered data, not scaled by eigenvalues (using microbiome package)</a:t>
            </a:r>
          </a:p>
        </p:txBody>
      </p:sp>
      <p:pic>
        <p:nvPicPr>
          <p:cNvPr id="15" name="Picture 14">
            <a:extLst>
              <a:ext uri="{FF2B5EF4-FFF2-40B4-BE49-F238E27FC236}">
                <a16:creationId xmlns:a16="http://schemas.microsoft.com/office/drawing/2014/main" id="{60FB934E-516A-4F4E-8467-25B70C57D2DA}"/>
              </a:ext>
            </a:extLst>
          </p:cNvPr>
          <p:cNvPicPr>
            <a:picLocks noChangeAspect="1"/>
          </p:cNvPicPr>
          <p:nvPr/>
        </p:nvPicPr>
        <p:blipFill>
          <a:blip r:embed="rId7"/>
          <a:stretch>
            <a:fillRect/>
          </a:stretch>
        </p:blipFill>
        <p:spPr>
          <a:xfrm>
            <a:off x="7217216" y="4034249"/>
            <a:ext cx="3893126" cy="1946563"/>
          </a:xfrm>
          <a:prstGeom prst="rect">
            <a:avLst/>
          </a:prstGeom>
        </p:spPr>
      </p:pic>
      <p:sp>
        <p:nvSpPr>
          <p:cNvPr id="16" name="Rectangle 15">
            <a:extLst>
              <a:ext uri="{FF2B5EF4-FFF2-40B4-BE49-F238E27FC236}">
                <a16:creationId xmlns:a16="http://schemas.microsoft.com/office/drawing/2014/main" id="{59515EFA-54BA-3941-BE80-896D8B95BA4A}"/>
              </a:ext>
            </a:extLst>
          </p:cNvPr>
          <p:cNvSpPr/>
          <p:nvPr/>
        </p:nvSpPr>
        <p:spPr>
          <a:xfrm>
            <a:off x="7228508" y="6018024"/>
            <a:ext cx="3881834" cy="461665"/>
          </a:xfrm>
          <a:prstGeom prst="rect">
            <a:avLst/>
          </a:prstGeom>
        </p:spPr>
        <p:txBody>
          <a:bodyPr wrap="square">
            <a:spAutoFit/>
          </a:bodyPr>
          <a:lstStyle/>
          <a:p>
            <a:r>
              <a:rPr lang="en-US" sz="1200" dirty="0"/>
              <a:t>Figure. Weighted </a:t>
            </a:r>
            <a:r>
              <a:rPr lang="en-US" sz="1200" dirty="0" err="1"/>
              <a:t>UniFrac</a:t>
            </a:r>
            <a:r>
              <a:rPr lang="en-US" sz="1200" dirty="0"/>
              <a:t> </a:t>
            </a:r>
            <a:r>
              <a:rPr lang="en-US" sz="1200" dirty="0" err="1"/>
              <a:t>PCoA</a:t>
            </a:r>
            <a:r>
              <a:rPr lang="en-US" sz="1200" dirty="0"/>
              <a:t> with unfiltered data, not scaled by eigenvalues (using microbiome package)</a:t>
            </a:r>
          </a:p>
        </p:txBody>
      </p:sp>
    </p:spTree>
    <p:extLst>
      <p:ext uri="{BB962C8B-B14F-4D97-AF65-F5344CB8AC3E}">
        <p14:creationId xmlns:p14="http://schemas.microsoft.com/office/powerpoint/2010/main" val="26176756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452339-2F8F-5348-A13F-AA14DB8160AF}"/>
              </a:ext>
            </a:extLst>
          </p:cNvPr>
          <p:cNvSpPr>
            <a:spLocks noGrp="1"/>
          </p:cNvSpPr>
          <p:nvPr>
            <p:ph type="title"/>
          </p:nvPr>
        </p:nvSpPr>
        <p:spPr>
          <a:solidFill>
            <a:srgbClr val="FFC003"/>
          </a:solidFill>
        </p:spPr>
        <p:txBody>
          <a:bodyPr/>
          <a:lstStyle/>
          <a:p>
            <a:r>
              <a:rPr lang="en-US" dirty="0">
                <a:solidFill>
                  <a:schemeClr val="bg1"/>
                </a:solidFill>
              </a:rPr>
              <a:t>Beta Non-Phylogenetic Diversity &amp; Ordination</a:t>
            </a:r>
          </a:p>
        </p:txBody>
      </p:sp>
      <p:pic>
        <p:nvPicPr>
          <p:cNvPr id="4" name="Picture 3">
            <a:extLst>
              <a:ext uri="{FF2B5EF4-FFF2-40B4-BE49-F238E27FC236}">
                <a16:creationId xmlns:a16="http://schemas.microsoft.com/office/drawing/2014/main" id="{69FAD212-9692-394C-9F0C-4A139B22BE75}"/>
              </a:ext>
            </a:extLst>
          </p:cNvPr>
          <p:cNvPicPr>
            <a:picLocks noChangeAspect="1"/>
          </p:cNvPicPr>
          <p:nvPr/>
        </p:nvPicPr>
        <p:blipFill rotWithShape="1">
          <a:blip r:embed="rId2"/>
          <a:srcRect l="-1707" t="21631" r="1707" b="24114"/>
          <a:stretch/>
        </p:blipFill>
        <p:spPr>
          <a:xfrm>
            <a:off x="3289298" y="1829507"/>
            <a:ext cx="3581400" cy="1943100"/>
          </a:xfrm>
          <a:prstGeom prst="rect">
            <a:avLst/>
          </a:prstGeom>
        </p:spPr>
      </p:pic>
      <p:sp>
        <p:nvSpPr>
          <p:cNvPr id="5" name="TextBox 4">
            <a:extLst>
              <a:ext uri="{FF2B5EF4-FFF2-40B4-BE49-F238E27FC236}">
                <a16:creationId xmlns:a16="http://schemas.microsoft.com/office/drawing/2014/main" id="{4F980DB2-EFCB-A640-A6E4-4B79C3B2FB9D}"/>
              </a:ext>
            </a:extLst>
          </p:cNvPr>
          <p:cNvSpPr txBox="1"/>
          <p:nvPr/>
        </p:nvSpPr>
        <p:spPr>
          <a:xfrm>
            <a:off x="3486941" y="3911427"/>
            <a:ext cx="3186113" cy="461665"/>
          </a:xfrm>
          <a:prstGeom prst="rect">
            <a:avLst/>
          </a:prstGeom>
          <a:noFill/>
        </p:spPr>
        <p:txBody>
          <a:bodyPr wrap="square" rtlCol="0">
            <a:spAutoFit/>
          </a:bodyPr>
          <a:lstStyle/>
          <a:p>
            <a:r>
              <a:rPr lang="en-US" sz="1200" dirty="0"/>
              <a:t>Figure 2. Bray-Curtis </a:t>
            </a:r>
            <a:r>
              <a:rPr lang="en-US" sz="1200" dirty="0" err="1"/>
              <a:t>PCoA</a:t>
            </a:r>
            <a:r>
              <a:rPr lang="en-US" sz="1200" dirty="0"/>
              <a:t>, scaled by eigenvalues</a:t>
            </a:r>
          </a:p>
        </p:txBody>
      </p:sp>
      <p:pic>
        <p:nvPicPr>
          <p:cNvPr id="6" name="Picture 5">
            <a:extLst>
              <a:ext uri="{FF2B5EF4-FFF2-40B4-BE49-F238E27FC236}">
                <a16:creationId xmlns:a16="http://schemas.microsoft.com/office/drawing/2014/main" id="{5E0CB574-F731-4E49-8A73-FF63430261E6}"/>
              </a:ext>
            </a:extLst>
          </p:cNvPr>
          <p:cNvPicPr>
            <a:picLocks noChangeAspect="1"/>
          </p:cNvPicPr>
          <p:nvPr/>
        </p:nvPicPr>
        <p:blipFill>
          <a:blip r:embed="rId3"/>
          <a:stretch>
            <a:fillRect/>
          </a:stretch>
        </p:blipFill>
        <p:spPr>
          <a:xfrm>
            <a:off x="552167" y="1868015"/>
            <a:ext cx="2505077" cy="2505077"/>
          </a:xfrm>
          <a:prstGeom prst="rect">
            <a:avLst/>
          </a:prstGeom>
        </p:spPr>
      </p:pic>
      <p:sp>
        <p:nvSpPr>
          <p:cNvPr id="7" name="TextBox 6">
            <a:extLst>
              <a:ext uri="{FF2B5EF4-FFF2-40B4-BE49-F238E27FC236}">
                <a16:creationId xmlns:a16="http://schemas.microsoft.com/office/drawing/2014/main" id="{EBF882E9-9AE8-7949-A919-FED329D5812E}"/>
              </a:ext>
            </a:extLst>
          </p:cNvPr>
          <p:cNvSpPr txBox="1"/>
          <p:nvPr/>
        </p:nvSpPr>
        <p:spPr>
          <a:xfrm>
            <a:off x="552167" y="4550419"/>
            <a:ext cx="1935166" cy="461665"/>
          </a:xfrm>
          <a:prstGeom prst="rect">
            <a:avLst/>
          </a:prstGeom>
          <a:noFill/>
        </p:spPr>
        <p:txBody>
          <a:bodyPr wrap="square" rtlCol="0">
            <a:spAutoFit/>
          </a:bodyPr>
          <a:lstStyle/>
          <a:p>
            <a:r>
              <a:rPr lang="en-US" sz="1200" dirty="0"/>
              <a:t>Figure 5. Bray-Curtis NMDS plot</a:t>
            </a:r>
          </a:p>
        </p:txBody>
      </p:sp>
      <p:pic>
        <p:nvPicPr>
          <p:cNvPr id="9" name="Picture 8">
            <a:extLst>
              <a:ext uri="{FF2B5EF4-FFF2-40B4-BE49-F238E27FC236}">
                <a16:creationId xmlns:a16="http://schemas.microsoft.com/office/drawing/2014/main" id="{B60432EE-ED05-334F-B135-159C1DB31D98}"/>
              </a:ext>
            </a:extLst>
          </p:cNvPr>
          <p:cNvPicPr>
            <a:picLocks noChangeAspect="1"/>
          </p:cNvPicPr>
          <p:nvPr/>
        </p:nvPicPr>
        <p:blipFill>
          <a:blip r:embed="rId4"/>
          <a:stretch>
            <a:fillRect/>
          </a:stretch>
        </p:blipFill>
        <p:spPr>
          <a:xfrm>
            <a:off x="6673054" y="3911426"/>
            <a:ext cx="5091113" cy="2545557"/>
          </a:xfrm>
          <a:prstGeom prst="rect">
            <a:avLst/>
          </a:prstGeom>
        </p:spPr>
      </p:pic>
      <p:sp>
        <p:nvSpPr>
          <p:cNvPr id="10" name="TextBox 9">
            <a:extLst>
              <a:ext uri="{FF2B5EF4-FFF2-40B4-BE49-F238E27FC236}">
                <a16:creationId xmlns:a16="http://schemas.microsoft.com/office/drawing/2014/main" id="{F8863A8B-C075-824C-B97E-B938DBFCE3CA}"/>
              </a:ext>
            </a:extLst>
          </p:cNvPr>
          <p:cNvSpPr txBox="1"/>
          <p:nvPr/>
        </p:nvSpPr>
        <p:spPr>
          <a:xfrm>
            <a:off x="8551342" y="3541774"/>
            <a:ext cx="1935166" cy="461665"/>
          </a:xfrm>
          <a:prstGeom prst="rect">
            <a:avLst/>
          </a:prstGeom>
          <a:noFill/>
        </p:spPr>
        <p:txBody>
          <a:bodyPr wrap="square" rtlCol="0">
            <a:spAutoFit/>
          </a:bodyPr>
          <a:lstStyle/>
          <a:p>
            <a:r>
              <a:rPr lang="en-US" sz="1200" dirty="0"/>
              <a:t>Figure. Bray-Curtis NMDS plot</a:t>
            </a:r>
          </a:p>
        </p:txBody>
      </p:sp>
    </p:spTree>
    <p:extLst>
      <p:ext uri="{BB962C8B-B14F-4D97-AF65-F5344CB8AC3E}">
        <p14:creationId xmlns:p14="http://schemas.microsoft.com/office/powerpoint/2010/main" val="12447536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9B615-6302-3749-9C9D-450854A7B4FC}"/>
              </a:ext>
            </a:extLst>
          </p:cNvPr>
          <p:cNvSpPr>
            <a:spLocks noGrp="1"/>
          </p:cNvSpPr>
          <p:nvPr>
            <p:ph type="title"/>
          </p:nvPr>
        </p:nvSpPr>
        <p:spPr>
          <a:solidFill>
            <a:srgbClr val="FFC000"/>
          </a:solidFill>
        </p:spPr>
        <p:txBody>
          <a:bodyPr/>
          <a:lstStyle/>
          <a:p>
            <a:r>
              <a:rPr lang="en-US" dirty="0">
                <a:solidFill>
                  <a:schemeClr val="bg1"/>
                </a:solidFill>
              </a:rPr>
              <a:t>Beta Non-Phylogenetic Diversity &amp; Ordination</a:t>
            </a:r>
          </a:p>
        </p:txBody>
      </p:sp>
      <p:pic>
        <p:nvPicPr>
          <p:cNvPr id="5" name="Picture 4">
            <a:extLst>
              <a:ext uri="{FF2B5EF4-FFF2-40B4-BE49-F238E27FC236}">
                <a16:creationId xmlns:a16="http://schemas.microsoft.com/office/drawing/2014/main" id="{A581D335-DFFC-1143-BF29-2688477FDA3F}"/>
              </a:ext>
            </a:extLst>
          </p:cNvPr>
          <p:cNvPicPr>
            <a:picLocks noChangeAspect="1"/>
          </p:cNvPicPr>
          <p:nvPr/>
        </p:nvPicPr>
        <p:blipFill>
          <a:blip r:embed="rId3"/>
          <a:stretch>
            <a:fillRect/>
          </a:stretch>
        </p:blipFill>
        <p:spPr>
          <a:xfrm>
            <a:off x="416723" y="1976484"/>
            <a:ext cx="1800222" cy="1800222"/>
          </a:xfrm>
          <a:prstGeom prst="rect">
            <a:avLst/>
          </a:prstGeom>
        </p:spPr>
      </p:pic>
      <p:sp>
        <p:nvSpPr>
          <p:cNvPr id="6" name="TextBox 5">
            <a:extLst>
              <a:ext uri="{FF2B5EF4-FFF2-40B4-BE49-F238E27FC236}">
                <a16:creationId xmlns:a16="http://schemas.microsoft.com/office/drawing/2014/main" id="{268B9DD7-F3E0-2244-8A36-B5372EF07E88}"/>
              </a:ext>
            </a:extLst>
          </p:cNvPr>
          <p:cNvSpPr txBox="1"/>
          <p:nvPr/>
        </p:nvSpPr>
        <p:spPr>
          <a:xfrm>
            <a:off x="2240761" y="2200050"/>
            <a:ext cx="1414467" cy="1200329"/>
          </a:xfrm>
          <a:prstGeom prst="rect">
            <a:avLst/>
          </a:prstGeom>
          <a:noFill/>
        </p:spPr>
        <p:txBody>
          <a:bodyPr wrap="square" rtlCol="0">
            <a:spAutoFit/>
          </a:bodyPr>
          <a:lstStyle/>
          <a:p>
            <a:r>
              <a:rPr lang="en-US" sz="1200" dirty="0"/>
              <a:t>Figure 6. Bar plot of Principal Component Analysis on Log-Ratio Transformed Data</a:t>
            </a:r>
          </a:p>
        </p:txBody>
      </p:sp>
      <p:pic>
        <p:nvPicPr>
          <p:cNvPr id="8" name="Picture 7">
            <a:extLst>
              <a:ext uri="{FF2B5EF4-FFF2-40B4-BE49-F238E27FC236}">
                <a16:creationId xmlns:a16="http://schemas.microsoft.com/office/drawing/2014/main" id="{964FDF21-A5BE-9341-8006-35983884743F}"/>
              </a:ext>
            </a:extLst>
          </p:cNvPr>
          <p:cNvPicPr>
            <a:picLocks noChangeAspect="1"/>
          </p:cNvPicPr>
          <p:nvPr/>
        </p:nvPicPr>
        <p:blipFill>
          <a:blip r:embed="rId4"/>
          <a:stretch>
            <a:fillRect/>
          </a:stretch>
        </p:blipFill>
        <p:spPr>
          <a:xfrm>
            <a:off x="416723" y="3685427"/>
            <a:ext cx="2009776" cy="2009776"/>
          </a:xfrm>
          <a:prstGeom prst="rect">
            <a:avLst/>
          </a:prstGeom>
        </p:spPr>
      </p:pic>
      <p:sp>
        <p:nvSpPr>
          <p:cNvPr id="9" name="TextBox 8">
            <a:extLst>
              <a:ext uri="{FF2B5EF4-FFF2-40B4-BE49-F238E27FC236}">
                <a16:creationId xmlns:a16="http://schemas.microsoft.com/office/drawing/2014/main" id="{D4162294-5278-9A49-89DF-B3EB29407B06}"/>
              </a:ext>
            </a:extLst>
          </p:cNvPr>
          <p:cNvSpPr txBox="1"/>
          <p:nvPr/>
        </p:nvSpPr>
        <p:spPr>
          <a:xfrm>
            <a:off x="2345541" y="4097381"/>
            <a:ext cx="1309687" cy="830997"/>
          </a:xfrm>
          <a:prstGeom prst="rect">
            <a:avLst/>
          </a:prstGeom>
          <a:noFill/>
        </p:spPr>
        <p:txBody>
          <a:bodyPr wrap="square" rtlCol="0">
            <a:spAutoFit/>
          </a:bodyPr>
          <a:lstStyle/>
          <a:p>
            <a:r>
              <a:rPr lang="en-US" sz="1200" dirty="0"/>
              <a:t>Figure 7. Log-Ratio PCA ordination of 16S sequence data</a:t>
            </a:r>
          </a:p>
        </p:txBody>
      </p:sp>
      <p:pic>
        <p:nvPicPr>
          <p:cNvPr id="11" name="Picture 10">
            <a:extLst>
              <a:ext uri="{FF2B5EF4-FFF2-40B4-BE49-F238E27FC236}">
                <a16:creationId xmlns:a16="http://schemas.microsoft.com/office/drawing/2014/main" id="{4605CCF0-0A32-B349-AEBC-DB7EDA4D7984}"/>
              </a:ext>
            </a:extLst>
          </p:cNvPr>
          <p:cNvPicPr>
            <a:picLocks noChangeAspect="1"/>
          </p:cNvPicPr>
          <p:nvPr/>
        </p:nvPicPr>
        <p:blipFill>
          <a:blip r:embed="rId5"/>
          <a:stretch>
            <a:fillRect/>
          </a:stretch>
        </p:blipFill>
        <p:spPr>
          <a:xfrm>
            <a:off x="3994544" y="2969462"/>
            <a:ext cx="1614488" cy="1614488"/>
          </a:xfrm>
          <a:prstGeom prst="rect">
            <a:avLst/>
          </a:prstGeom>
        </p:spPr>
      </p:pic>
      <p:sp>
        <p:nvSpPr>
          <p:cNvPr id="12" name="TextBox 11">
            <a:extLst>
              <a:ext uri="{FF2B5EF4-FFF2-40B4-BE49-F238E27FC236}">
                <a16:creationId xmlns:a16="http://schemas.microsoft.com/office/drawing/2014/main" id="{BA970433-457A-2646-90DA-835914F430E1}"/>
              </a:ext>
            </a:extLst>
          </p:cNvPr>
          <p:cNvSpPr txBox="1"/>
          <p:nvPr/>
        </p:nvSpPr>
        <p:spPr>
          <a:xfrm>
            <a:off x="5928127" y="3327540"/>
            <a:ext cx="1281105" cy="830997"/>
          </a:xfrm>
          <a:prstGeom prst="rect">
            <a:avLst/>
          </a:prstGeom>
          <a:noFill/>
        </p:spPr>
        <p:txBody>
          <a:bodyPr wrap="square" rtlCol="0">
            <a:spAutoFit/>
          </a:bodyPr>
          <a:lstStyle/>
          <a:p>
            <a:r>
              <a:rPr lang="en-US" sz="1200" dirty="0"/>
              <a:t>Figure 8. Log-Ratio </a:t>
            </a:r>
            <a:r>
              <a:rPr lang="en-US" sz="1200" dirty="0" err="1"/>
              <a:t>PCoA</a:t>
            </a:r>
            <a:r>
              <a:rPr lang="en-US" sz="1200" dirty="0"/>
              <a:t> </a:t>
            </a:r>
            <a:r>
              <a:rPr lang="en-US" sz="1200" dirty="0" err="1"/>
              <a:t>screenplot</a:t>
            </a:r>
            <a:r>
              <a:rPr lang="en-US" sz="1200" dirty="0"/>
              <a:t> using Jaccard variances</a:t>
            </a:r>
          </a:p>
        </p:txBody>
      </p:sp>
      <p:pic>
        <p:nvPicPr>
          <p:cNvPr id="14" name="Picture 13">
            <a:extLst>
              <a:ext uri="{FF2B5EF4-FFF2-40B4-BE49-F238E27FC236}">
                <a16:creationId xmlns:a16="http://schemas.microsoft.com/office/drawing/2014/main" id="{9FD4A4FA-ABC9-114E-9C37-FAFEEB008796}"/>
              </a:ext>
            </a:extLst>
          </p:cNvPr>
          <p:cNvPicPr>
            <a:picLocks noChangeAspect="1"/>
          </p:cNvPicPr>
          <p:nvPr/>
        </p:nvPicPr>
        <p:blipFill>
          <a:blip r:embed="rId6"/>
          <a:stretch>
            <a:fillRect/>
          </a:stretch>
        </p:blipFill>
        <p:spPr>
          <a:xfrm>
            <a:off x="3994545" y="4714177"/>
            <a:ext cx="1614488" cy="1614488"/>
          </a:xfrm>
          <a:prstGeom prst="rect">
            <a:avLst/>
          </a:prstGeom>
        </p:spPr>
      </p:pic>
      <p:sp>
        <p:nvSpPr>
          <p:cNvPr id="15" name="TextBox 14">
            <a:extLst>
              <a:ext uri="{FF2B5EF4-FFF2-40B4-BE49-F238E27FC236}">
                <a16:creationId xmlns:a16="http://schemas.microsoft.com/office/drawing/2014/main" id="{0ABFC3FC-2783-5547-B4E1-1560B5AAA389}"/>
              </a:ext>
            </a:extLst>
          </p:cNvPr>
          <p:cNvSpPr txBox="1"/>
          <p:nvPr/>
        </p:nvSpPr>
        <p:spPr>
          <a:xfrm>
            <a:off x="5562604" y="5055910"/>
            <a:ext cx="1419225" cy="830997"/>
          </a:xfrm>
          <a:prstGeom prst="rect">
            <a:avLst/>
          </a:prstGeom>
          <a:noFill/>
        </p:spPr>
        <p:txBody>
          <a:bodyPr wrap="square" rtlCol="0">
            <a:spAutoFit/>
          </a:bodyPr>
          <a:lstStyle/>
          <a:p>
            <a:r>
              <a:rPr lang="en-US" sz="1200" dirty="0"/>
              <a:t>Figure 9. Log-Ratio </a:t>
            </a:r>
            <a:r>
              <a:rPr lang="en-US" sz="1200" dirty="0" err="1"/>
              <a:t>PCoA</a:t>
            </a:r>
            <a:r>
              <a:rPr lang="en-US" sz="1200" dirty="0"/>
              <a:t> </a:t>
            </a:r>
            <a:r>
              <a:rPr lang="en-US" sz="1200" dirty="0" err="1"/>
              <a:t>screenplot</a:t>
            </a:r>
            <a:r>
              <a:rPr lang="en-US" sz="1200" dirty="0"/>
              <a:t> using Euclidean variances</a:t>
            </a:r>
          </a:p>
        </p:txBody>
      </p:sp>
      <p:pic>
        <p:nvPicPr>
          <p:cNvPr id="17" name="Picture 16">
            <a:extLst>
              <a:ext uri="{FF2B5EF4-FFF2-40B4-BE49-F238E27FC236}">
                <a16:creationId xmlns:a16="http://schemas.microsoft.com/office/drawing/2014/main" id="{4D9C7E1B-89CB-B545-9585-D367C09BEF54}"/>
              </a:ext>
            </a:extLst>
          </p:cNvPr>
          <p:cNvPicPr>
            <a:picLocks noChangeAspect="1"/>
          </p:cNvPicPr>
          <p:nvPr/>
        </p:nvPicPr>
        <p:blipFill>
          <a:blip r:embed="rId7"/>
          <a:stretch>
            <a:fillRect/>
          </a:stretch>
        </p:blipFill>
        <p:spPr>
          <a:xfrm>
            <a:off x="7829550" y="4464053"/>
            <a:ext cx="1690688" cy="1690688"/>
          </a:xfrm>
          <a:prstGeom prst="rect">
            <a:avLst/>
          </a:prstGeom>
        </p:spPr>
      </p:pic>
      <p:sp>
        <p:nvSpPr>
          <p:cNvPr id="18" name="TextBox 17">
            <a:extLst>
              <a:ext uri="{FF2B5EF4-FFF2-40B4-BE49-F238E27FC236}">
                <a16:creationId xmlns:a16="http://schemas.microsoft.com/office/drawing/2014/main" id="{FD559CBB-9EEF-9E43-8A4C-650168FCAA36}"/>
              </a:ext>
            </a:extLst>
          </p:cNvPr>
          <p:cNvSpPr txBox="1"/>
          <p:nvPr/>
        </p:nvSpPr>
        <p:spPr>
          <a:xfrm>
            <a:off x="7415223" y="6265867"/>
            <a:ext cx="2600315" cy="276999"/>
          </a:xfrm>
          <a:prstGeom prst="rect">
            <a:avLst/>
          </a:prstGeom>
          <a:noFill/>
        </p:spPr>
        <p:txBody>
          <a:bodyPr wrap="square" rtlCol="0">
            <a:spAutoFit/>
          </a:bodyPr>
          <a:lstStyle/>
          <a:p>
            <a:r>
              <a:rPr lang="en-US" sz="1200" dirty="0"/>
              <a:t>Figure 10. Euclidean NMDS plot</a:t>
            </a:r>
          </a:p>
        </p:txBody>
      </p:sp>
      <p:pic>
        <p:nvPicPr>
          <p:cNvPr id="20" name="Picture 19">
            <a:extLst>
              <a:ext uri="{FF2B5EF4-FFF2-40B4-BE49-F238E27FC236}">
                <a16:creationId xmlns:a16="http://schemas.microsoft.com/office/drawing/2014/main" id="{2E61C60F-7113-D34B-94CE-7E15E097A968}"/>
              </a:ext>
            </a:extLst>
          </p:cNvPr>
          <p:cNvPicPr>
            <a:picLocks noChangeAspect="1"/>
          </p:cNvPicPr>
          <p:nvPr/>
        </p:nvPicPr>
        <p:blipFill>
          <a:blip r:embed="rId8"/>
          <a:stretch>
            <a:fillRect/>
          </a:stretch>
        </p:blipFill>
        <p:spPr>
          <a:xfrm>
            <a:off x="10159608" y="4385482"/>
            <a:ext cx="1769259" cy="1769259"/>
          </a:xfrm>
          <a:prstGeom prst="rect">
            <a:avLst/>
          </a:prstGeom>
        </p:spPr>
      </p:pic>
      <p:sp>
        <p:nvSpPr>
          <p:cNvPr id="21" name="TextBox 20">
            <a:extLst>
              <a:ext uri="{FF2B5EF4-FFF2-40B4-BE49-F238E27FC236}">
                <a16:creationId xmlns:a16="http://schemas.microsoft.com/office/drawing/2014/main" id="{0E50DB5E-F8A6-D141-8857-79EDA9C03512}"/>
              </a:ext>
            </a:extLst>
          </p:cNvPr>
          <p:cNvSpPr txBox="1"/>
          <p:nvPr/>
        </p:nvSpPr>
        <p:spPr>
          <a:xfrm>
            <a:off x="9767896" y="6258110"/>
            <a:ext cx="2600315" cy="276999"/>
          </a:xfrm>
          <a:prstGeom prst="rect">
            <a:avLst/>
          </a:prstGeom>
          <a:noFill/>
        </p:spPr>
        <p:txBody>
          <a:bodyPr wrap="square" rtlCol="0">
            <a:spAutoFit/>
          </a:bodyPr>
          <a:lstStyle/>
          <a:p>
            <a:r>
              <a:rPr lang="en-US" sz="1200" dirty="0"/>
              <a:t>Figure 11. Jaccard NMDS plot</a:t>
            </a:r>
          </a:p>
        </p:txBody>
      </p:sp>
    </p:spTree>
    <p:extLst>
      <p:ext uri="{BB962C8B-B14F-4D97-AF65-F5344CB8AC3E}">
        <p14:creationId xmlns:p14="http://schemas.microsoft.com/office/powerpoint/2010/main" val="13142413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B15C2-352D-7244-8523-A17BAA6CB11A}"/>
              </a:ext>
            </a:extLst>
          </p:cNvPr>
          <p:cNvSpPr>
            <a:spLocks noGrp="1"/>
          </p:cNvSpPr>
          <p:nvPr>
            <p:ph type="title"/>
          </p:nvPr>
        </p:nvSpPr>
        <p:spPr>
          <a:solidFill>
            <a:srgbClr val="FFC000"/>
          </a:solidFill>
        </p:spPr>
        <p:txBody>
          <a:bodyPr/>
          <a:lstStyle/>
          <a:p>
            <a:r>
              <a:rPr lang="en-US" dirty="0">
                <a:solidFill>
                  <a:schemeClr val="bg1"/>
                </a:solidFill>
              </a:rPr>
              <a:t>Linear Models</a:t>
            </a:r>
          </a:p>
        </p:txBody>
      </p:sp>
      <p:pic>
        <p:nvPicPr>
          <p:cNvPr id="7" name="Picture 6">
            <a:extLst>
              <a:ext uri="{FF2B5EF4-FFF2-40B4-BE49-F238E27FC236}">
                <a16:creationId xmlns:a16="http://schemas.microsoft.com/office/drawing/2014/main" id="{C390D8F2-FE6B-9D47-9E22-2349F978CFF2}"/>
              </a:ext>
            </a:extLst>
          </p:cNvPr>
          <p:cNvPicPr>
            <a:picLocks noChangeAspect="1"/>
          </p:cNvPicPr>
          <p:nvPr/>
        </p:nvPicPr>
        <p:blipFill>
          <a:blip r:embed="rId3"/>
          <a:stretch>
            <a:fillRect/>
          </a:stretch>
        </p:blipFill>
        <p:spPr>
          <a:xfrm>
            <a:off x="9553800" y="1743519"/>
            <a:ext cx="1800000" cy="1800000"/>
          </a:xfrm>
          <a:prstGeom prst="rect">
            <a:avLst/>
          </a:prstGeom>
        </p:spPr>
      </p:pic>
      <p:pic>
        <p:nvPicPr>
          <p:cNvPr id="9" name="Picture 8">
            <a:extLst>
              <a:ext uri="{FF2B5EF4-FFF2-40B4-BE49-F238E27FC236}">
                <a16:creationId xmlns:a16="http://schemas.microsoft.com/office/drawing/2014/main" id="{4FF54945-6BCE-4E47-BF8A-AF25A8E40D90}"/>
              </a:ext>
            </a:extLst>
          </p:cNvPr>
          <p:cNvPicPr>
            <a:picLocks noChangeAspect="1"/>
          </p:cNvPicPr>
          <p:nvPr/>
        </p:nvPicPr>
        <p:blipFill>
          <a:blip r:embed="rId4"/>
          <a:stretch>
            <a:fillRect/>
          </a:stretch>
        </p:blipFill>
        <p:spPr>
          <a:xfrm>
            <a:off x="7403583" y="1774451"/>
            <a:ext cx="1800000" cy="1800000"/>
          </a:xfrm>
          <a:prstGeom prst="rect">
            <a:avLst/>
          </a:prstGeom>
        </p:spPr>
      </p:pic>
      <p:pic>
        <p:nvPicPr>
          <p:cNvPr id="11" name="Picture 10">
            <a:extLst>
              <a:ext uri="{FF2B5EF4-FFF2-40B4-BE49-F238E27FC236}">
                <a16:creationId xmlns:a16="http://schemas.microsoft.com/office/drawing/2014/main" id="{6527A7FD-FEEC-2D42-8379-AF823768FF64}"/>
              </a:ext>
            </a:extLst>
          </p:cNvPr>
          <p:cNvPicPr>
            <a:picLocks noChangeAspect="1"/>
          </p:cNvPicPr>
          <p:nvPr/>
        </p:nvPicPr>
        <p:blipFill>
          <a:blip r:embed="rId5"/>
          <a:stretch>
            <a:fillRect/>
          </a:stretch>
        </p:blipFill>
        <p:spPr>
          <a:xfrm>
            <a:off x="3007238" y="1796761"/>
            <a:ext cx="1800000" cy="1800000"/>
          </a:xfrm>
          <a:prstGeom prst="rect">
            <a:avLst/>
          </a:prstGeom>
        </p:spPr>
      </p:pic>
      <p:pic>
        <p:nvPicPr>
          <p:cNvPr id="13" name="Picture 12">
            <a:extLst>
              <a:ext uri="{FF2B5EF4-FFF2-40B4-BE49-F238E27FC236}">
                <a16:creationId xmlns:a16="http://schemas.microsoft.com/office/drawing/2014/main" id="{756C24B0-18AF-804C-9C45-0B501074A7DC}"/>
              </a:ext>
            </a:extLst>
          </p:cNvPr>
          <p:cNvPicPr>
            <a:picLocks noChangeAspect="1"/>
          </p:cNvPicPr>
          <p:nvPr/>
        </p:nvPicPr>
        <p:blipFill>
          <a:blip r:embed="rId6"/>
          <a:stretch>
            <a:fillRect/>
          </a:stretch>
        </p:blipFill>
        <p:spPr>
          <a:xfrm>
            <a:off x="5196000" y="1761726"/>
            <a:ext cx="1800000" cy="1800000"/>
          </a:xfrm>
          <a:prstGeom prst="rect">
            <a:avLst/>
          </a:prstGeom>
        </p:spPr>
      </p:pic>
      <p:pic>
        <p:nvPicPr>
          <p:cNvPr id="15" name="Picture 14">
            <a:extLst>
              <a:ext uri="{FF2B5EF4-FFF2-40B4-BE49-F238E27FC236}">
                <a16:creationId xmlns:a16="http://schemas.microsoft.com/office/drawing/2014/main" id="{77B286B0-164B-BB4E-9DF8-4A9DDFBDF723}"/>
              </a:ext>
            </a:extLst>
          </p:cNvPr>
          <p:cNvPicPr>
            <a:picLocks noChangeAspect="1"/>
          </p:cNvPicPr>
          <p:nvPr/>
        </p:nvPicPr>
        <p:blipFill>
          <a:blip r:embed="rId7"/>
          <a:stretch>
            <a:fillRect/>
          </a:stretch>
        </p:blipFill>
        <p:spPr>
          <a:xfrm>
            <a:off x="838200" y="1796761"/>
            <a:ext cx="1800000" cy="1800000"/>
          </a:xfrm>
          <a:prstGeom prst="rect">
            <a:avLst/>
          </a:prstGeom>
        </p:spPr>
      </p:pic>
      <p:pic>
        <p:nvPicPr>
          <p:cNvPr id="17" name="Picture 16">
            <a:extLst>
              <a:ext uri="{FF2B5EF4-FFF2-40B4-BE49-F238E27FC236}">
                <a16:creationId xmlns:a16="http://schemas.microsoft.com/office/drawing/2014/main" id="{38C7DD22-EC25-1044-853A-C17F7F38BD4E}"/>
              </a:ext>
            </a:extLst>
          </p:cNvPr>
          <p:cNvPicPr>
            <a:picLocks noChangeAspect="1"/>
          </p:cNvPicPr>
          <p:nvPr/>
        </p:nvPicPr>
        <p:blipFill>
          <a:blip r:embed="rId8"/>
          <a:stretch>
            <a:fillRect/>
          </a:stretch>
        </p:blipFill>
        <p:spPr>
          <a:xfrm>
            <a:off x="9553800" y="4330044"/>
            <a:ext cx="1800000" cy="1800000"/>
          </a:xfrm>
          <a:prstGeom prst="rect">
            <a:avLst/>
          </a:prstGeom>
        </p:spPr>
      </p:pic>
      <p:pic>
        <p:nvPicPr>
          <p:cNvPr id="21" name="Picture 20">
            <a:extLst>
              <a:ext uri="{FF2B5EF4-FFF2-40B4-BE49-F238E27FC236}">
                <a16:creationId xmlns:a16="http://schemas.microsoft.com/office/drawing/2014/main" id="{C39A86B3-C4B8-B64A-B7D9-5030E34D4D4A}"/>
              </a:ext>
            </a:extLst>
          </p:cNvPr>
          <p:cNvPicPr>
            <a:picLocks noChangeAspect="1"/>
          </p:cNvPicPr>
          <p:nvPr/>
        </p:nvPicPr>
        <p:blipFill>
          <a:blip r:embed="rId9"/>
          <a:stretch>
            <a:fillRect/>
          </a:stretch>
        </p:blipFill>
        <p:spPr>
          <a:xfrm>
            <a:off x="5196000" y="4330044"/>
            <a:ext cx="1800000" cy="1800000"/>
          </a:xfrm>
          <a:prstGeom prst="rect">
            <a:avLst/>
          </a:prstGeom>
        </p:spPr>
      </p:pic>
      <p:pic>
        <p:nvPicPr>
          <p:cNvPr id="25" name="Picture 24">
            <a:extLst>
              <a:ext uri="{FF2B5EF4-FFF2-40B4-BE49-F238E27FC236}">
                <a16:creationId xmlns:a16="http://schemas.microsoft.com/office/drawing/2014/main" id="{0BFB303C-02A5-B544-B34B-A6F36B3801DF}"/>
              </a:ext>
            </a:extLst>
          </p:cNvPr>
          <p:cNvPicPr>
            <a:picLocks noChangeAspect="1"/>
          </p:cNvPicPr>
          <p:nvPr/>
        </p:nvPicPr>
        <p:blipFill>
          <a:blip r:embed="rId10"/>
          <a:stretch>
            <a:fillRect/>
          </a:stretch>
        </p:blipFill>
        <p:spPr>
          <a:xfrm>
            <a:off x="7238274" y="4330044"/>
            <a:ext cx="1800000" cy="1800000"/>
          </a:xfrm>
          <a:prstGeom prst="rect">
            <a:avLst/>
          </a:prstGeom>
        </p:spPr>
      </p:pic>
      <p:pic>
        <p:nvPicPr>
          <p:cNvPr id="29" name="Picture 28">
            <a:extLst>
              <a:ext uri="{FF2B5EF4-FFF2-40B4-BE49-F238E27FC236}">
                <a16:creationId xmlns:a16="http://schemas.microsoft.com/office/drawing/2014/main" id="{8AC5CD21-BF3C-D64F-AE15-E1717AD46B46}"/>
              </a:ext>
            </a:extLst>
          </p:cNvPr>
          <p:cNvPicPr>
            <a:picLocks noChangeAspect="1"/>
          </p:cNvPicPr>
          <p:nvPr/>
        </p:nvPicPr>
        <p:blipFill>
          <a:blip r:embed="rId11"/>
          <a:stretch>
            <a:fillRect/>
          </a:stretch>
        </p:blipFill>
        <p:spPr>
          <a:xfrm>
            <a:off x="761111" y="4330044"/>
            <a:ext cx="1800000" cy="1800000"/>
          </a:xfrm>
          <a:prstGeom prst="rect">
            <a:avLst/>
          </a:prstGeom>
        </p:spPr>
      </p:pic>
      <p:pic>
        <p:nvPicPr>
          <p:cNvPr id="33" name="Picture 32">
            <a:extLst>
              <a:ext uri="{FF2B5EF4-FFF2-40B4-BE49-F238E27FC236}">
                <a16:creationId xmlns:a16="http://schemas.microsoft.com/office/drawing/2014/main" id="{2AAC71C9-1DDD-D346-9BC4-A459C98EE3EA}"/>
              </a:ext>
            </a:extLst>
          </p:cNvPr>
          <p:cNvPicPr>
            <a:picLocks noChangeAspect="1"/>
          </p:cNvPicPr>
          <p:nvPr/>
        </p:nvPicPr>
        <p:blipFill>
          <a:blip r:embed="rId12"/>
          <a:stretch>
            <a:fillRect/>
          </a:stretch>
        </p:blipFill>
        <p:spPr>
          <a:xfrm>
            <a:off x="2961739" y="4330044"/>
            <a:ext cx="1800000" cy="1800000"/>
          </a:xfrm>
          <a:prstGeom prst="rect">
            <a:avLst/>
          </a:prstGeom>
        </p:spPr>
      </p:pic>
      <p:sp>
        <p:nvSpPr>
          <p:cNvPr id="34" name="TextBox 33">
            <a:extLst>
              <a:ext uri="{FF2B5EF4-FFF2-40B4-BE49-F238E27FC236}">
                <a16:creationId xmlns:a16="http://schemas.microsoft.com/office/drawing/2014/main" id="{EFB48590-676E-D24C-9954-B8281B91DEAF}"/>
              </a:ext>
            </a:extLst>
          </p:cNvPr>
          <p:cNvSpPr txBox="1"/>
          <p:nvPr/>
        </p:nvSpPr>
        <p:spPr>
          <a:xfrm>
            <a:off x="761111" y="3605383"/>
            <a:ext cx="10592689" cy="646331"/>
          </a:xfrm>
          <a:prstGeom prst="rect">
            <a:avLst/>
          </a:prstGeom>
          <a:noFill/>
        </p:spPr>
        <p:txBody>
          <a:bodyPr wrap="square" rtlCol="0">
            <a:spAutoFit/>
          </a:bodyPr>
          <a:lstStyle/>
          <a:p>
            <a:r>
              <a:rPr lang="en-US" dirty="0"/>
              <a:t>Figures 12-16: Boxplots showing medians, 25</a:t>
            </a:r>
            <a:r>
              <a:rPr lang="en-US" baseline="30000" dirty="0"/>
              <a:t>th</a:t>
            </a:r>
            <a:r>
              <a:rPr lang="en-US" dirty="0"/>
              <a:t>, 75th percentiles and outlying data points for ASV richness, hole area, hole depth, chlorophyll and DNA content, between the two glaciers</a:t>
            </a:r>
          </a:p>
        </p:txBody>
      </p:sp>
      <p:sp>
        <p:nvSpPr>
          <p:cNvPr id="35" name="TextBox 34">
            <a:extLst>
              <a:ext uri="{FF2B5EF4-FFF2-40B4-BE49-F238E27FC236}">
                <a16:creationId xmlns:a16="http://schemas.microsoft.com/office/drawing/2014/main" id="{AC8322CB-50FC-D04E-80D9-08868385A3B5}"/>
              </a:ext>
            </a:extLst>
          </p:cNvPr>
          <p:cNvSpPr txBox="1"/>
          <p:nvPr/>
        </p:nvSpPr>
        <p:spPr>
          <a:xfrm>
            <a:off x="799655" y="6155450"/>
            <a:ext cx="10592689" cy="646331"/>
          </a:xfrm>
          <a:prstGeom prst="rect">
            <a:avLst/>
          </a:prstGeom>
          <a:noFill/>
        </p:spPr>
        <p:txBody>
          <a:bodyPr wrap="square" rtlCol="0">
            <a:spAutoFit/>
          </a:bodyPr>
          <a:lstStyle/>
          <a:p>
            <a:r>
              <a:rPr lang="en-US" dirty="0"/>
              <a:t>Figures 17-21: Boxplots showing medians, 25</a:t>
            </a:r>
            <a:r>
              <a:rPr lang="en-US" baseline="30000" dirty="0"/>
              <a:t>th</a:t>
            </a:r>
            <a:r>
              <a:rPr lang="en-US" dirty="0"/>
              <a:t>, 75th percentiles and outlying data points for Shannon, Simpson, Inverse Simpson Diversity, </a:t>
            </a:r>
            <a:r>
              <a:rPr lang="en-US" dirty="0" err="1"/>
              <a:t>Pilou</a:t>
            </a:r>
            <a:r>
              <a:rPr lang="en-US" dirty="0"/>
              <a:t> Evenness and Faith’s PD, between the two glaciers</a:t>
            </a:r>
          </a:p>
        </p:txBody>
      </p:sp>
    </p:spTree>
    <p:extLst>
      <p:ext uri="{BB962C8B-B14F-4D97-AF65-F5344CB8AC3E}">
        <p14:creationId xmlns:p14="http://schemas.microsoft.com/office/powerpoint/2010/main" val="8479132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D80F-EB70-6C4E-8A1D-52448A861CC4}"/>
              </a:ext>
            </a:extLst>
          </p:cNvPr>
          <p:cNvSpPr>
            <a:spLocks noGrp="1"/>
          </p:cNvSpPr>
          <p:nvPr>
            <p:ph type="title"/>
          </p:nvPr>
        </p:nvSpPr>
        <p:spPr>
          <a:solidFill>
            <a:srgbClr val="FFC000"/>
          </a:solidFill>
        </p:spPr>
        <p:txBody>
          <a:bodyPr/>
          <a:lstStyle/>
          <a:p>
            <a:r>
              <a:rPr lang="en-US" dirty="0">
                <a:solidFill>
                  <a:schemeClr val="bg1"/>
                </a:solidFill>
              </a:rPr>
              <a:t>General Statistics: Linear Regression Analysis</a:t>
            </a:r>
          </a:p>
        </p:txBody>
      </p:sp>
      <p:pic>
        <p:nvPicPr>
          <p:cNvPr id="5" name="Picture 4">
            <a:extLst>
              <a:ext uri="{FF2B5EF4-FFF2-40B4-BE49-F238E27FC236}">
                <a16:creationId xmlns:a16="http://schemas.microsoft.com/office/drawing/2014/main" id="{F33065BA-F614-7C4B-B087-6683F2BAF588}"/>
              </a:ext>
            </a:extLst>
          </p:cNvPr>
          <p:cNvPicPr>
            <a:picLocks noChangeAspect="1"/>
          </p:cNvPicPr>
          <p:nvPr/>
        </p:nvPicPr>
        <p:blipFill>
          <a:blip r:embed="rId3"/>
          <a:stretch>
            <a:fillRect/>
          </a:stretch>
        </p:blipFill>
        <p:spPr>
          <a:xfrm>
            <a:off x="838200" y="1690688"/>
            <a:ext cx="4981575" cy="3074343"/>
          </a:xfrm>
          <a:prstGeom prst="rect">
            <a:avLst/>
          </a:prstGeom>
        </p:spPr>
      </p:pic>
      <p:sp>
        <p:nvSpPr>
          <p:cNvPr id="14" name="TextBox 13">
            <a:extLst>
              <a:ext uri="{FF2B5EF4-FFF2-40B4-BE49-F238E27FC236}">
                <a16:creationId xmlns:a16="http://schemas.microsoft.com/office/drawing/2014/main" id="{2D6A8C39-986A-1242-93B9-01CC36029E62}"/>
              </a:ext>
            </a:extLst>
          </p:cNvPr>
          <p:cNvSpPr txBox="1"/>
          <p:nvPr/>
        </p:nvSpPr>
        <p:spPr>
          <a:xfrm>
            <a:off x="1042988" y="5014913"/>
            <a:ext cx="4672012" cy="646331"/>
          </a:xfrm>
          <a:prstGeom prst="rect">
            <a:avLst/>
          </a:prstGeom>
          <a:noFill/>
        </p:spPr>
        <p:txBody>
          <a:bodyPr wrap="square" rtlCol="0">
            <a:spAutoFit/>
          </a:bodyPr>
          <a:lstStyle/>
          <a:p>
            <a:r>
              <a:rPr lang="en-US" dirty="0"/>
              <a:t>Figure 22: Linear regression plot of ASV richness against cryoconite hole area</a:t>
            </a:r>
          </a:p>
        </p:txBody>
      </p:sp>
    </p:spTree>
    <p:extLst>
      <p:ext uri="{BB962C8B-B14F-4D97-AF65-F5344CB8AC3E}">
        <p14:creationId xmlns:p14="http://schemas.microsoft.com/office/powerpoint/2010/main" val="36542806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3173D-92A9-A142-88D2-12113C65FC43}"/>
              </a:ext>
            </a:extLst>
          </p:cNvPr>
          <p:cNvSpPr>
            <a:spLocks noGrp="1"/>
          </p:cNvSpPr>
          <p:nvPr>
            <p:ph type="title"/>
          </p:nvPr>
        </p:nvSpPr>
        <p:spPr>
          <a:solidFill>
            <a:srgbClr val="FFC000"/>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F9E2B9F6-D3F8-6F45-9AB8-A0B941544B0C}"/>
              </a:ext>
            </a:extLst>
          </p:cNvPr>
          <p:cNvSpPr>
            <a:spLocks noGrp="1"/>
          </p:cNvSpPr>
          <p:nvPr>
            <p:ph idx="1"/>
          </p:nvPr>
        </p:nvSpPr>
        <p:spPr/>
        <p:txBody>
          <a:bodyPr/>
          <a:lstStyle/>
          <a:p>
            <a:r>
              <a:rPr lang="en-US" dirty="0"/>
              <a:t>Kruskal-Wallis to compare alpha diversity between glaciers</a:t>
            </a:r>
          </a:p>
          <a:p>
            <a:r>
              <a:rPr lang="en-US" dirty="0"/>
              <a:t>Permutation Multivariate Analysis of Variance (PERMANOVA) to identify if community composition varied between glaciers</a:t>
            </a:r>
          </a:p>
          <a:p>
            <a:r>
              <a:rPr lang="en-US" dirty="0"/>
              <a:t>Canonical Analysis of Principal Coordinates (CAP) used to identify the variation in community composition explained by pH, cryoconite hole area, cryoconite hole depth, water content and chlorophyll</a:t>
            </a:r>
          </a:p>
          <a:p>
            <a:endParaRPr lang="en-US" dirty="0"/>
          </a:p>
        </p:txBody>
      </p:sp>
    </p:spTree>
    <p:extLst>
      <p:ext uri="{BB962C8B-B14F-4D97-AF65-F5344CB8AC3E}">
        <p14:creationId xmlns:p14="http://schemas.microsoft.com/office/powerpoint/2010/main" val="41680002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EEF58A7-A112-5842-9759-F437A676C5E6}"/>
              </a:ext>
            </a:extLst>
          </p:cNvPr>
          <p:cNvPicPr>
            <a:picLocks noChangeAspect="1"/>
          </p:cNvPicPr>
          <p:nvPr/>
        </p:nvPicPr>
        <p:blipFill>
          <a:blip r:embed="rId2"/>
          <a:stretch>
            <a:fillRect/>
          </a:stretch>
        </p:blipFill>
        <p:spPr>
          <a:xfrm>
            <a:off x="4095750" y="4512027"/>
            <a:ext cx="2438400" cy="1950720"/>
          </a:xfrm>
          <a:prstGeom prst="rect">
            <a:avLst/>
          </a:prstGeom>
        </p:spPr>
      </p:pic>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a:solidFill>
            <a:srgbClr val="FFC000"/>
          </a:solidFill>
        </p:spPr>
        <p:txBody>
          <a:bodyPr/>
          <a:lstStyle/>
          <a:p>
            <a:r>
              <a:rPr lang="en-US" dirty="0">
                <a:solidFill>
                  <a:schemeClr val="bg1"/>
                </a:solidFill>
              </a:rPr>
              <a:t>Island Species-Area Relationship (ISAR)</a:t>
            </a:r>
          </a:p>
        </p:txBody>
      </p:sp>
      <p:pic>
        <p:nvPicPr>
          <p:cNvPr id="5" name="Picture 4">
            <a:extLst>
              <a:ext uri="{FF2B5EF4-FFF2-40B4-BE49-F238E27FC236}">
                <a16:creationId xmlns:a16="http://schemas.microsoft.com/office/drawing/2014/main" id="{581C4810-1982-2F4C-8184-38BB8E7DB5BB}"/>
              </a:ext>
            </a:extLst>
          </p:cNvPr>
          <p:cNvPicPr>
            <a:picLocks noChangeAspect="1"/>
          </p:cNvPicPr>
          <p:nvPr/>
        </p:nvPicPr>
        <p:blipFill>
          <a:blip r:embed="rId3"/>
          <a:stretch>
            <a:fillRect/>
          </a:stretch>
        </p:blipFill>
        <p:spPr>
          <a:xfrm>
            <a:off x="3706018" y="1825625"/>
            <a:ext cx="4779964" cy="2247382"/>
          </a:xfrm>
          <a:prstGeom prst="rect">
            <a:avLst/>
          </a:prstGeom>
        </p:spPr>
      </p:pic>
      <p:sp>
        <p:nvSpPr>
          <p:cNvPr id="6" name="TextBox 5">
            <a:extLst>
              <a:ext uri="{FF2B5EF4-FFF2-40B4-BE49-F238E27FC236}">
                <a16:creationId xmlns:a16="http://schemas.microsoft.com/office/drawing/2014/main" id="{1C37C6DD-2215-A042-9ECE-D859726F329E}"/>
              </a:ext>
            </a:extLst>
          </p:cNvPr>
          <p:cNvSpPr txBox="1"/>
          <p:nvPr/>
        </p:nvSpPr>
        <p:spPr>
          <a:xfrm>
            <a:off x="3706018" y="4023278"/>
            <a:ext cx="5657850" cy="369332"/>
          </a:xfrm>
          <a:prstGeom prst="rect">
            <a:avLst/>
          </a:prstGeom>
          <a:noFill/>
        </p:spPr>
        <p:txBody>
          <a:bodyPr wrap="square" rtlCol="0">
            <a:spAutoFit/>
          </a:bodyPr>
          <a:lstStyle/>
          <a:p>
            <a:r>
              <a:rPr lang="en-US" dirty="0"/>
              <a:t>Figure. Results graphs taken from Sommers et al., (2020)</a:t>
            </a:r>
          </a:p>
        </p:txBody>
      </p:sp>
      <p:pic>
        <p:nvPicPr>
          <p:cNvPr id="10" name="Picture 9">
            <a:extLst>
              <a:ext uri="{FF2B5EF4-FFF2-40B4-BE49-F238E27FC236}">
                <a16:creationId xmlns:a16="http://schemas.microsoft.com/office/drawing/2014/main" id="{1892D78C-6519-9244-8941-B01A268BCCFD}"/>
              </a:ext>
            </a:extLst>
          </p:cNvPr>
          <p:cNvPicPr>
            <a:picLocks noChangeAspect="1"/>
          </p:cNvPicPr>
          <p:nvPr/>
        </p:nvPicPr>
        <p:blipFill>
          <a:blip r:embed="rId4"/>
          <a:stretch>
            <a:fillRect/>
          </a:stretch>
        </p:blipFill>
        <p:spPr>
          <a:xfrm>
            <a:off x="6534150" y="4512027"/>
            <a:ext cx="2366963" cy="1893570"/>
          </a:xfrm>
          <a:prstGeom prst="rect">
            <a:avLst/>
          </a:prstGeom>
        </p:spPr>
      </p:pic>
      <p:sp>
        <p:nvSpPr>
          <p:cNvPr id="11" name="TextBox 10">
            <a:extLst>
              <a:ext uri="{FF2B5EF4-FFF2-40B4-BE49-F238E27FC236}">
                <a16:creationId xmlns:a16="http://schemas.microsoft.com/office/drawing/2014/main" id="{0AD9F7E2-8D46-6548-81E6-834A66E4178E}"/>
              </a:ext>
            </a:extLst>
          </p:cNvPr>
          <p:cNvSpPr txBox="1"/>
          <p:nvPr/>
        </p:nvSpPr>
        <p:spPr>
          <a:xfrm>
            <a:off x="3890963" y="6340348"/>
            <a:ext cx="5657850" cy="369332"/>
          </a:xfrm>
          <a:prstGeom prst="rect">
            <a:avLst/>
          </a:prstGeom>
          <a:noFill/>
        </p:spPr>
        <p:txBody>
          <a:bodyPr wrap="square" rtlCol="0">
            <a:spAutoFit/>
          </a:bodyPr>
          <a:lstStyle/>
          <a:p>
            <a:r>
              <a:rPr lang="en-US" dirty="0"/>
              <a:t>Figure. Results graphs from my analyses (16S only)</a:t>
            </a:r>
          </a:p>
        </p:txBody>
      </p:sp>
    </p:spTree>
    <p:extLst>
      <p:ext uri="{BB962C8B-B14F-4D97-AF65-F5344CB8AC3E}">
        <p14:creationId xmlns:p14="http://schemas.microsoft.com/office/powerpoint/2010/main" val="29251788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a:solidFill>
            <a:srgbClr val="FFC000"/>
          </a:solidFill>
        </p:spPr>
        <p:txBody>
          <a:bodyPr/>
          <a:lstStyle/>
          <a:p>
            <a:r>
              <a:rPr lang="en-US" dirty="0">
                <a:solidFill>
                  <a:schemeClr val="bg1"/>
                </a:solidFill>
              </a:rPr>
              <a:t>Distance-Decay Relationship (DDR)</a:t>
            </a:r>
          </a:p>
        </p:txBody>
      </p:sp>
    </p:spTree>
    <p:extLst>
      <p:ext uri="{BB962C8B-B14F-4D97-AF65-F5344CB8AC3E}">
        <p14:creationId xmlns:p14="http://schemas.microsoft.com/office/powerpoint/2010/main" val="31031241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a:solidFill>
            <a:srgbClr val="8EFA00"/>
          </a:solidFill>
        </p:spPr>
        <p:txBody>
          <a:bodyPr/>
          <a:lstStyle/>
          <a:p>
            <a:r>
              <a:rPr lang="en-US" dirty="0">
                <a:solidFill>
                  <a:schemeClr val="bg1"/>
                </a:solidFill>
              </a:rPr>
              <a:t>Sloan’s Neutral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847024"/>
            <a:ext cx="1616826" cy="1754326"/>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7610397" y="1348724"/>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1" y="2601350"/>
            <a:ext cx="844635"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500231" y="12476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EDE13FD-762C-E645-B28E-EFAF1603682A}"/>
                  </a:ext>
                </a:extLst>
              </p:cNvPr>
              <p:cNvSpPr txBox="1"/>
              <p:nvPr/>
            </p:nvSpPr>
            <p:spPr>
              <a:xfrm>
                <a:off x="2078182" y="5785658"/>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xmlns="">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078182" y="5785658"/>
                <a:ext cx="8296102" cy="369332"/>
              </a:xfrm>
              <a:prstGeom prst="rect">
                <a:avLst/>
              </a:prstGeom>
              <a:blipFill>
                <a:blip r:embed="rId4"/>
                <a:stretch>
                  <a:fillRect t="-10345" b="-24138"/>
                </a:stretch>
              </a:blipFill>
            </p:spPr>
            <p:txBody>
              <a:bodyPr/>
              <a:lstStyle/>
              <a:p>
                <a:r>
                  <a:rPr lang="en-US">
                    <a:noFill/>
                  </a:rPr>
                  <a:t> </a:t>
                </a:r>
              </a:p>
            </p:txBody>
          </p:sp>
        </mc:Fallback>
      </mc:AlternateContent>
    </p:spTree>
    <p:extLst>
      <p:ext uri="{BB962C8B-B14F-4D97-AF65-F5344CB8AC3E}">
        <p14:creationId xmlns:p14="http://schemas.microsoft.com/office/powerpoint/2010/main" val="21021822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a:solidFill>
            <a:srgbClr val="8EFA00"/>
          </a:solidFill>
        </p:spPr>
        <p:txBody>
          <a:bodyPr/>
          <a:lstStyle/>
          <a:p>
            <a:r>
              <a:rPr lang="en-US" dirty="0">
                <a:solidFill>
                  <a:schemeClr val="bg1"/>
                </a:solidFill>
              </a:rPr>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755050813"/>
              </p:ext>
            </p:extLst>
          </p:nvPr>
        </p:nvGraphicFramePr>
        <p:xfrm>
          <a:off x="3200400" y="623359"/>
          <a:ext cx="84582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324101" y="1690688"/>
            <a:ext cx="7543798" cy="502919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a:solidFill>
            <a:srgbClr val="8EFA00"/>
          </a:solidFill>
        </p:spPr>
        <p:txBody>
          <a:bodyPr/>
          <a:lstStyle/>
          <a:p>
            <a:r>
              <a:rPr lang="en-US" dirty="0">
                <a:solidFill>
                  <a:schemeClr val="bg1"/>
                </a:solidFill>
              </a:rPr>
              <a:t>Results</a:t>
            </a:r>
          </a:p>
        </p:txBody>
      </p:sp>
    </p:spTree>
    <p:extLst>
      <p:ext uri="{BB962C8B-B14F-4D97-AF65-F5344CB8AC3E}">
        <p14:creationId xmlns:p14="http://schemas.microsoft.com/office/powerpoint/2010/main" val="9662271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DD1BCA-F609-E140-AFCA-AB4D5B428C49}"/>
              </a:ext>
            </a:extLst>
          </p:cNvPr>
          <p:cNvSpPr>
            <a:spLocks noGrp="1"/>
          </p:cNvSpPr>
          <p:nvPr>
            <p:ph type="title"/>
          </p:nvPr>
        </p:nvSpPr>
        <p:spPr>
          <a:xfrm>
            <a:off x="838200" y="365125"/>
            <a:ext cx="10515600" cy="1325563"/>
          </a:xfrm>
          <a:solidFill>
            <a:srgbClr val="3CE29B"/>
          </a:solidFill>
        </p:spPr>
        <p:txBody>
          <a:bodyPr/>
          <a:lstStyle/>
          <a:p>
            <a:r>
              <a:rPr lang="en-US" dirty="0">
                <a:solidFill>
                  <a:schemeClr val="bg1"/>
                </a:solidFill>
              </a:rPr>
              <a:t>Phylogenetic Signal</a:t>
            </a:r>
          </a:p>
        </p:txBody>
      </p:sp>
      <p:graphicFrame>
        <p:nvGraphicFramePr>
          <p:cNvPr id="5" name="Diagram 4">
            <a:extLst>
              <a:ext uri="{FF2B5EF4-FFF2-40B4-BE49-F238E27FC236}">
                <a16:creationId xmlns:a16="http://schemas.microsoft.com/office/drawing/2014/main" id="{4109EBBB-D17D-6C4F-A66C-CE43FE6D1EB0}"/>
              </a:ext>
            </a:extLst>
          </p:cNvPr>
          <p:cNvGraphicFramePr/>
          <p:nvPr>
            <p:extLst>
              <p:ext uri="{D42A27DB-BD31-4B8C-83A1-F6EECF244321}">
                <p14:modId xmlns:p14="http://schemas.microsoft.com/office/powerpoint/2010/main" val="313429120"/>
              </p:ext>
            </p:extLst>
          </p:nvPr>
        </p:nvGraphicFramePr>
        <p:xfrm>
          <a:off x="2471737" y="1871663"/>
          <a:ext cx="7248525" cy="43561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979161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a:solidFill>
            <a:srgbClr val="3CE29B"/>
          </a:solidFill>
        </p:spPr>
        <p:txBody>
          <a:bodyPr/>
          <a:lstStyle/>
          <a:p>
            <a:r>
              <a:rPr lang="en-US" dirty="0">
                <a:solidFill>
                  <a:schemeClr val="bg1"/>
                </a:solidFill>
              </a:rPr>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a:solidFill>
            <a:srgbClr val="3CE29B"/>
          </a:solidFill>
        </p:spPr>
        <p:txBody>
          <a:bodyPr/>
          <a:lstStyle/>
          <a:p>
            <a:r>
              <a:rPr lang="en-US" dirty="0" err="1">
                <a:solidFill>
                  <a:schemeClr val="bg1"/>
                </a:solidFill>
              </a:rPr>
              <a:t>Stegen</a:t>
            </a:r>
            <a:r>
              <a:rPr lang="en-US" dirty="0">
                <a:solidFill>
                  <a:schemeClr val="bg1"/>
                </a:solidFill>
              </a:rPr>
              <a:t> </a:t>
            </a:r>
            <a:r>
              <a:rPr lang="en-US" i="1" dirty="0">
                <a:solidFill>
                  <a:schemeClr val="bg1"/>
                </a:solidFill>
              </a:rPr>
              <a:t>et al., </a:t>
            </a:r>
            <a:r>
              <a:rPr lang="en-US" dirty="0">
                <a:solidFill>
                  <a:schemeClr val="bg1"/>
                </a:solidFill>
              </a:rPr>
              <a:t>(2013) Phylogenetic Null Model</a:t>
            </a:r>
          </a:p>
        </p:txBody>
      </p:sp>
      <p:graphicFrame>
        <p:nvGraphicFramePr>
          <p:cNvPr id="8" name="Diagram 7">
            <a:extLst>
              <a:ext uri="{FF2B5EF4-FFF2-40B4-BE49-F238E27FC236}">
                <a16:creationId xmlns:a16="http://schemas.microsoft.com/office/drawing/2014/main" id="{8AE007E0-E98F-624F-A585-6E129FB1664C}"/>
              </a:ext>
            </a:extLst>
          </p:cNvPr>
          <p:cNvGraphicFramePr/>
          <p:nvPr>
            <p:extLst>
              <p:ext uri="{D42A27DB-BD31-4B8C-83A1-F6EECF244321}">
                <p14:modId xmlns:p14="http://schemas.microsoft.com/office/powerpoint/2010/main" val="291247793"/>
              </p:ext>
            </p:extLst>
          </p:nvPr>
        </p:nvGraphicFramePr>
        <p:xfrm>
          <a:off x="2032000" y="1843087"/>
          <a:ext cx="8128000" cy="46238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69368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a:solidFill>
            <a:srgbClr val="3CE29B"/>
          </a:solidFill>
        </p:spPr>
        <p:txBody>
          <a:bodyPr/>
          <a:lstStyle/>
          <a:p>
            <a:r>
              <a:rPr lang="en-US" dirty="0">
                <a:solidFill>
                  <a:schemeClr val="bg1"/>
                </a:solidFill>
              </a:rPr>
              <a:t>Phylogenetic Null Model</a:t>
            </a:r>
          </a:p>
        </p:txBody>
      </p:sp>
      <p:pic>
        <p:nvPicPr>
          <p:cNvPr id="5" name="Picture 4">
            <a:extLst>
              <a:ext uri="{FF2B5EF4-FFF2-40B4-BE49-F238E27FC236}">
                <a16:creationId xmlns:a16="http://schemas.microsoft.com/office/drawing/2014/main" id="{A36CDF9A-2A20-2B4E-A28F-6A15C12DD210}"/>
              </a:ext>
            </a:extLst>
          </p:cNvPr>
          <p:cNvPicPr>
            <a:picLocks noChangeAspect="1"/>
          </p:cNvPicPr>
          <p:nvPr/>
        </p:nvPicPr>
        <p:blipFill>
          <a:blip r:embed="rId2"/>
          <a:stretch>
            <a:fillRect/>
          </a:stretch>
        </p:blipFill>
        <p:spPr>
          <a:xfrm>
            <a:off x="2709863" y="2300288"/>
            <a:ext cx="7315200" cy="3657600"/>
          </a:xfrm>
          <a:prstGeom prst="rect">
            <a:avLst/>
          </a:prstGeom>
        </p:spPr>
      </p:pic>
    </p:spTree>
    <p:extLst>
      <p:ext uri="{BB962C8B-B14F-4D97-AF65-F5344CB8AC3E}">
        <p14:creationId xmlns:p14="http://schemas.microsoft.com/office/powerpoint/2010/main" val="28389305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sp>
        <p:nvSpPr>
          <p:cNvPr id="3" name="Content Placeholder 2">
            <a:extLst>
              <a:ext uri="{FF2B5EF4-FFF2-40B4-BE49-F238E27FC236}">
                <a16:creationId xmlns:a16="http://schemas.microsoft.com/office/drawing/2014/main" id="{958C73FE-1CD3-9D4C-8447-A79ED529B7A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046988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6287</TotalTime>
  <Words>3397</Words>
  <Application>Microsoft Macintosh PowerPoint</Application>
  <PresentationFormat>Widescreen</PresentationFormat>
  <Paragraphs>303</Paragraphs>
  <Slides>31</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Why are they different? Why should we care?</vt:lpstr>
      <vt:lpstr>Community Assembly Processes</vt:lpstr>
      <vt:lpstr>Supraglacial deterministic processes</vt:lpstr>
      <vt:lpstr>Supraglacial stochastic processes</vt:lpstr>
      <vt:lpstr>Hypotheses</vt:lpstr>
      <vt:lpstr>Analysis Workflow</vt:lpstr>
      <vt:lpstr>Sommers et al., (2020) ﻿Microbial Species–Area Relationships in Antarctic Cryoconite Holes Depend on Productivity</vt:lpstr>
      <vt:lpstr>QIIME2 &amp; DADA2</vt:lpstr>
      <vt:lpstr>Data Prep</vt:lpstr>
      <vt:lpstr>Multivariate Analysis</vt:lpstr>
      <vt:lpstr>Alpha Non-Phylogenetic Diversity</vt:lpstr>
      <vt:lpstr>Alpha Phylogenetic Diversity</vt:lpstr>
      <vt:lpstr>Absolute Abundance Bar Plots</vt:lpstr>
      <vt:lpstr>Relative Abundance Bar Plots</vt:lpstr>
      <vt:lpstr>Beta Phylogenetic Diversity &amp; Ordination</vt:lpstr>
      <vt:lpstr>Beta Non-Phylogenetic Diversity &amp; Ordination</vt:lpstr>
      <vt:lpstr>Beta Non-Phylogenetic Diversity &amp; Ordination</vt:lpstr>
      <vt:lpstr>Linear Models</vt:lpstr>
      <vt:lpstr>General Statistics: Linear Regression Analysis</vt:lpstr>
      <vt:lpstr>Multivariate Analysis</vt:lpstr>
      <vt:lpstr>Island Species-Area Relationship (ISAR)</vt:lpstr>
      <vt:lpstr>Distance-Decay Relationship (DDR)</vt:lpstr>
      <vt:lpstr>Sloan’s Neutral Model</vt:lpstr>
      <vt:lpstr>Code</vt:lpstr>
      <vt:lpstr>Results</vt:lpstr>
      <vt:lpstr>Phylogenetic Signal</vt:lpstr>
      <vt:lpstr>Phylogenetic Signal</vt:lpstr>
      <vt:lpstr>Stegen et al., (2013) Phylogenetic Null Model</vt:lpstr>
      <vt:lpstr>Phylogenetic Null Model</vt:lpstr>
      <vt:lpstr>Co-Occurrence Network Analysis</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92</cp:revision>
  <dcterms:created xsi:type="dcterms:W3CDTF">2021-04-15T08:49:25Z</dcterms:created>
  <dcterms:modified xsi:type="dcterms:W3CDTF">2021-04-20T17:27:42Z</dcterms:modified>
</cp:coreProperties>
</file>