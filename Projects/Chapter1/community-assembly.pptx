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9" r:id="rId3"/>
    <p:sldId id="264" r:id="rId4"/>
    <p:sldId id="268" r:id="rId5"/>
    <p:sldId id="269" r:id="rId6"/>
    <p:sldId id="270" r:id="rId7"/>
    <p:sldId id="267" r:id="rId8"/>
    <p:sldId id="274" r:id="rId9"/>
    <p:sldId id="273" r:id="rId10"/>
    <p:sldId id="263" r:id="rId11"/>
    <p:sldId id="258" r:id="rId12"/>
    <p:sldId id="259" r:id="rId13"/>
    <p:sldId id="265" r:id="rId14"/>
    <p:sldId id="266" r:id="rId15"/>
    <p:sldId id="260" r:id="rId16"/>
    <p:sldId id="271" r:id="rId17"/>
    <p:sldId id="272" r:id="rId18"/>
    <p:sldId id="261" r:id="rId19"/>
    <p:sldId id="277" r:id="rId20"/>
    <p:sldId id="278" r:id="rId21"/>
    <p:sldId id="26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E5"/>
    <a:srgbClr val="FF00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4"/>
    <p:restoredTop sz="78523"/>
  </p:normalViewPr>
  <p:slideViewPr>
    <p:cSldViewPr snapToGrid="0" snapToObjects="1">
      <p:cViewPr>
        <p:scale>
          <a:sx n="90" d="100"/>
          <a:sy n="90" d="100"/>
        </p:scale>
        <p:origin x="1992"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4A8053-4923-A24E-AEC5-81BF6014CBC8}" type="doc">
      <dgm:prSet loTypeId="urn:microsoft.com/office/officeart/2005/8/layout/venn1" loCatId="" qsTypeId="urn:microsoft.com/office/officeart/2005/8/quickstyle/simple1" qsCatId="simple" csTypeId="urn:microsoft.com/office/officeart/2005/8/colors/colorful4" csCatId="colorful" phldr="1"/>
      <dgm:spPr/>
    </dgm:pt>
    <dgm:pt modelId="{7F8359A3-B9CF-6D4B-8037-57FE1863EDF2}">
      <dgm:prSet phldrT="[Text]"/>
      <dgm:spPr/>
      <dgm:t>
        <a:bodyPr/>
        <a:lstStyle/>
        <a:p>
          <a:r>
            <a:rPr lang="en-US" dirty="0"/>
            <a:t>Selection</a:t>
          </a:r>
        </a:p>
      </dgm:t>
    </dgm:pt>
    <dgm:pt modelId="{B0B7F09A-A873-7049-9697-5CF8A7964645}" type="parTrans" cxnId="{22E0002F-3AB5-A944-A9A5-20F9CD6BC590}">
      <dgm:prSet/>
      <dgm:spPr/>
      <dgm:t>
        <a:bodyPr/>
        <a:lstStyle/>
        <a:p>
          <a:endParaRPr lang="en-US"/>
        </a:p>
      </dgm:t>
    </dgm:pt>
    <dgm:pt modelId="{B699ECE7-0CE4-8B41-A16C-D2DA25295E5A}" type="sibTrans" cxnId="{22E0002F-3AB5-A944-A9A5-20F9CD6BC590}">
      <dgm:prSet/>
      <dgm:spPr/>
      <dgm:t>
        <a:bodyPr/>
        <a:lstStyle/>
        <a:p>
          <a:endParaRPr lang="en-US"/>
        </a:p>
      </dgm:t>
    </dgm:pt>
    <dgm:pt modelId="{0475E55C-BC76-CC49-A6EA-4425DC97CB71}">
      <dgm:prSet phldrT="[Text]"/>
      <dgm:spPr/>
      <dgm:t>
        <a:bodyPr/>
        <a:lstStyle/>
        <a:p>
          <a:r>
            <a:rPr lang="en-US" dirty="0"/>
            <a:t>Dispersal</a:t>
          </a:r>
        </a:p>
      </dgm:t>
    </dgm:pt>
    <dgm:pt modelId="{CAC93909-FC75-1A4A-AC6C-8A176D84B327}" type="parTrans" cxnId="{6C7751D4-1294-EB42-9CAD-B69CD70ABD32}">
      <dgm:prSet/>
      <dgm:spPr/>
      <dgm:t>
        <a:bodyPr/>
        <a:lstStyle/>
        <a:p>
          <a:endParaRPr lang="en-US"/>
        </a:p>
      </dgm:t>
    </dgm:pt>
    <dgm:pt modelId="{6589743F-27BF-6740-9E4C-996261639427}" type="sibTrans" cxnId="{6C7751D4-1294-EB42-9CAD-B69CD70ABD32}">
      <dgm:prSet/>
      <dgm:spPr/>
      <dgm:t>
        <a:bodyPr/>
        <a:lstStyle/>
        <a:p>
          <a:endParaRPr lang="en-US"/>
        </a:p>
      </dgm:t>
    </dgm:pt>
    <dgm:pt modelId="{C77A4A92-8829-554D-A202-9E33F357FC68}">
      <dgm:prSet phldrT="[Text]"/>
      <dgm:spPr/>
      <dgm:t>
        <a:bodyPr/>
        <a:lstStyle/>
        <a:p>
          <a:r>
            <a:rPr lang="en-US" dirty="0"/>
            <a:t>Ecological Drift</a:t>
          </a:r>
        </a:p>
      </dgm:t>
    </dgm:pt>
    <dgm:pt modelId="{CD6B9D5D-8787-D348-92EC-DD8D371AAF2D}" type="parTrans" cxnId="{E16A4536-2D03-6141-932B-DB32ABF87EDF}">
      <dgm:prSet/>
      <dgm:spPr/>
      <dgm:t>
        <a:bodyPr/>
        <a:lstStyle/>
        <a:p>
          <a:endParaRPr lang="en-US"/>
        </a:p>
      </dgm:t>
    </dgm:pt>
    <dgm:pt modelId="{DE11C94D-1CAD-B04E-8F8C-6BD6380124BA}" type="sibTrans" cxnId="{E16A4536-2D03-6141-932B-DB32ABF87EDF}">
      <dgm:prSet/>
      <dgm:spPr/>
      <dgm:t>
        <a:bodyPr/>
        <a:lstStyle/>
        <a:p>
          <a:endParaRPr lang="en-US"/>
        </a:p>
      </dgm:t>
    </dgm:pt>
    <dgm:pt modelId="{99849F71-D68B-6349-82AD-85F23C18C551}" type="pres">
      <dgm:prSet presAssocID="{8F4A8053-4923-A24E-AEC5-81BF6014CBC8}" presName="compositeShape" presStyleCnt="0">
        <dgm:presLayoutVars>
          <dgm:chMax val="7"/>
          <dgm:dir/>
          <dgm:resizeHandles val="exact"/>
        </dgm:presLayoutVars>
      </dgm:prSet>
      <dgm:spPr/>
    </dgm:pt>
    <dgm:pt modelId="{25E2C31A-9C32-8244-A94C-1A921F1582B3}" type="pres">
      <dgm:prSet presAssocID="{7F8359A3-B9CF-6D4B-8037-57FE1863EDF2}" presName="circ1" presStyleLbl="vennNode1" presStyleIdx="0" presStyleCnt="3"/>
      <dgm:spPr/>
    </dgm:pt>
    <dgm:pt modelId="{12CDB55E-5DD0-DE4F-96C4-703F4165CACE}" type="pres">
      <dgm:prSet presAssocID="{7F8359A3-B9CF-6D4B-8037-57FE1863EDF2}" presName="circ1Tx" presStyleLbl="revTx" presStyleIdx="0" presStyleCnt="0">
        <dgm:presLayoutVars>
          <dgm:chMax val="0"/>
          <dgm:chPref val="0"/>
          <dgm:bulletEnabled val="1"/>
        </dgm:presLayoutVars>
      </dgm:prSet>
      <dgm:spPr/>
    </dgm:pt>
    <dgm:pt modelId="{7DAC2FF7-8C69-8544-B207-8AD8ED8CC18E}" type="pres">
      <dgm:prSet presAssocID="{0475E55C-BC76-CC49-A6EA-4425DC97CB71}" presName="circ2" presStyleLbl="vennNode1" presStyleIdx="1" presStyleCnt="3"/>
      <dgm:spPr/>
    </dgm:pt>
    <dgm:pt modelId="{76DE5FBD-4E39-D141-A1C7-AC8C1D7BAF55}" type="pres">
      <dgm:prSet presAssocID="{0475E55C-BC76-CC49-A6EA-4425DC97CB71}" presName="circ2Tx" presStyleLbl="revTx" presStyleIdx="0" presStyleCnt="0">
        <dgm:presLayoutVars>
          <dgm:chMax val="0"/>
          <dgm:chPref val="0"/>
          <dgm:bulletEnabled val="1"/>
        </dgm:presLayoutVars>
      </dgm:prSet>
      <dgm:spPr/>
    </dgm:pt>
    <dgm:pt modelId="{C13988BE-4667-2C42-B802-C07898FB496F}" type="pres">
      <dgm:prSet presAssocID="{C77A4A92-8829-554D-A202-9E33F357FC68}" presName="circ3" presStyleLbl="vennNode1" presStyleIdx="2" presStyleCnt="3"/>
      <dgm:spPr/>
    </dgm:pt>
    <dgm:pt modelId="{63B1BA92-5CBD-5D43-B807-32F00F93F4C2}" type="pres">
      <dgm:prSet presAssocID="{C77A4A92-8829-554D-A202-9E33F357FC68}" presName="circ3Tx" presStyleLbl="revTx" presStyleIdx="0" presStyleCnt="0">
        <dgm:presLayoutVars>
          <dgm:chMax val="0"/>
          <dgm:chPref val="0"/>
          <dgm:bulletEnabled val="1"/>
        </dgm:presLayoutVars>
      </dgm:prSet>
      <dgm:spPr/>
    </dgm:pt>
  </dgm:ptLst>
  <dgm:cxnLst>
    <dgm:cxn modelId="{22E0002F-3AB5-A944-A9A5-20F9CD6BC590}" srcId="{8F4A8053-4923-A24E-AEC5-81BF6014CBC8}" destId="{7F8359A3-B9CF-6D4B-8037-57FE1863EDF2}" srcOrd="0" destOrd="0" parTransId="{B0B7F09A-A873-7049-9697-5CF8A7964645}" sibTransId="{B699ECE7-0CE4-8B41-A16C-D2DA25295E5A}"/>
    <dgm:cxn modelId="{E16A4536-2D03-6141-932B-DB32ABF87EDF}" srcId="{8F4A8053-4923-A24E-AEC5-81BF6014CBC8}" destId="{C77A4A92-8829-554D-A202-9E33F357FC68}" srcOrd="2" destOrd="0" parTransId="{CD6B9D5D-8787-D348-92EC-DD8D371AAF2D}" sibTransId="{DE11C94D-1CAD-B04E-8F8C-6BD6380124BA}"/>
    <dgm:cxn modelId="{30926E4F-908A-2648-A053-9920F727B0EC}" type="presOf" srcId="{0475E55C-BC76-CC49-A6EA-4425DC97CB71}" destId="{76DE5FBD-4E39-D141-A1C7-AC8C1D7BAF55}" srcOrd="1" destOrd="0" presId="urn:microsoft.com/office/officeart/2005/8/layout/venn1"/>
    <dgm:cxn modelId="{1CE78F51-CC2E-DD49-9AB8-215DB2E3873F}" type="presOf" srcId="{7F8359A3-B9CF-6D4B-8037-57FE1863EDF2}" destId="{25E2C31A-9C32-8244-A94C-1A921F1582B3}" srcOrd="0" destOrd="0" presId="urn:microsoft.com/office/officeart/2005/8/layout/venn1"/>
    <dgm:cxn modelId="{77AD5456-ADF9-5144-901C-53774063F956}" type="presOf" srcId="{7F8359A3-B9CF-6D4B-8037-57FE1863EDF2}" destId="{12CDB55E-5DD0-DE4F-96C4-703F4165CACE}" srcOrd="1" destOrd="0" presId="urn:microsoft.com/office/officeart/2005/8/layout/venn1"/>
    <dgm:cxn modelId="{43CD5461-142A-BC4E-90AB-21C84DA1623D}" type="presOf" srcId="{C77A4A92-8829-554D-A202-9E33F357FC68}" destId="{63B1BA92-5CBD-5D43-B807-32F00F93F4C2}" srcOrd="1" destOrd="0" presId="urn:microsoft.com/office/officeart/2005/8/layout/venn1"/>
    <dgm:cxn modelId="{903EFF63-DF67-514E-8054-8C572B8FB92F}" type="presOf" srcId="{C77A4A92-8829-554D-A202-9E33F357FC68}" destId="{C13988BE-4667-2C42-B802-C07898FB496F}" srcOrd="0" destOrd="0" presId="urn:microsoft.com/office/officeart/2005/8/layout/venn1"/>
    <dgm:cxn modelId="{01B8258E-F57E-024C-9034-8CCCDFC3C0BF}" type="presOf" srcId="{0475E55C-BC76-CC49-A6EA-4425DC97CB71}" destId="{7DAC2FF7-8C69-8544-B207-8AD8ED8CC18E}" srcOrd="0" destOrd="0" presId="urn:microsoft.com/office/officeart/2005/8/layout/venn1"/>
    <dgm:cxn modelId="{E502D9AF-D72C-8E4E-B145-ADD72D368CFD}" type="presOf" srcId="{8F4A8053-4923-A24E-AEC5-81BF6014CBC8}" destId="{99849F71-D68B-6349-82AD-85F23C18C551}" srcOrd="0" destOrd="0" presId="urn:microsoft.com/office/officeart/2005/8/layout/venn1"/>
    <dgm:cxn modelId="{6C7751D4-1294-EB42-9CAD-B69CD70ABD32}" srcId="{8F4A8053-4923-A24E-AEC5-81BF6014CBC8}" destId="{0475E55C-BC76-CC49-A6EA-4425DC97CB71}" srcOrd="1" destOrd="0" parTransId="{CAC93909-FC75-1A4A-AC6C-8A176D84B327}" sibTransId="{6589743F-27BF-6740-9E4C-996261639427}"/>
    <dgm:cxn modelId="{D16D97F3-DFAD-144F-84C9-FD14C1B6A643}" type="presParOf" srcId="{99849F71-D68B-6349-82AD-85F23C18C551}" destId="{25E2C31A-9C32-8244-A94C-1A921F1582B3}" srcOrd="0" destOrd="0" presId="urn:microsoft.com/office/officeart/2005/8/layout/venn1"/>
    <dgm:cxn modelId="{68F31C22-3EB3-7546-80D3-71255CEF552E}" type="presParOf" srcId="{99849F71-D68B-6349-82AD-85F23C18C551}" destId="{12CDB55E-5DD0-DE4F-96C4-703F4165CACE}" srcOrd="1" destOrd="0" presId="urn:microsoft.com/office/officeart/2005/8/layout/venn1"/>
    <dgm:cxn modelId="{ED19B7B3-6FAE-BD49-9E19-A1C4E1D85B26}" type="presParOf" srcId="{99849F71-D68B-6349-82AD-85F23C18C551}" destId="{7DAC2FF7-8C69-8544-B207-8AD8ED8CC18E}" srcOrd="2" destOrd="0" presId="urn:microsoft.com/office/officeart/2005/8/layout/venn1"/>
    <dgm:cxn modelId="{B964DD3B-9CC4-174F-A633-FBFB58832294}" type="presParOf" srcId="{99849F71-D68B-6349-82AD-85F23C18C551}" destId="{76DE5FBD-4E39-D141-A1C7-AC8C1D7BAF55}" srcOrd="3" destOrd="0" presId="urn:microsoft.com/office/officeart/2005/8/layout/venn1"/>
    <dgm:cxn modelId="{720B36BF-859B-B64D-8DC5-26567BAA7DE8}" type="presParOf" srcId="{99849F71-D68B-6349-82AD-85F23C18C551}" destId="{C13988BE-4667-2C42-B802-C07898FB496F}" srcOrd="4" destOrd="0" presId="urn:microsoft.com/office/officeart/2005/8/layout/venn1"/>
    <dgm:cxn modelId="{43A3809A-FA93-8346-91EF-D786EBA2C43D}" type="presParOf" srcId="{99849F71-D68B-6349-82AD-85F23C18C551}" destId="{63B1BA92-5CBD-5D43-B807-32F00F93F4C2}"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88F0E7-4140-1B4D-A33B-6563FB2E1C23}" type="doc">
      <dgm:prSet loTypeId="urn:microsoft.com/office/officeart/2005/8/layout/process2" loCatId="" qsTypeId="urn:microsoft.com/office/officeart/2005/8/quickstyle/simple1" qsCatId="simple" csTypeId="urn:microsoft.com/office/officeart/2005/8/colors/colorful1" csCatId="colorful" phldr="1"/>
      <dgm:spPr/>
    </dgm:pt>
    <dgm:pt modelId="{B5498DE5-7CDC-0347-BA87-FB91FE15E435}">
      <dgm:prSet phldrT="[Text]"/>
      <dgm:spPr/>
      <dgm:t>
        <a:bodyPr/>
        <a:lstStyle/>
        <a:p>
          <a:r>
            <a:rPr lang="en-US" dirty="0"/>
            <a:t>Extract ASV table from </a:t>
          </a:r>
          <a:r>
            <a:rPr lang="en-US" dirty="0" err="1"/>
            <a:t>phyloseq</a:t>
          </a:r>
          <a:r>
            <a:rPr lang="en-US" dirty="0"/>
            <a:t> object</a:t>
          </a:r>
        </a:p>
      </dgm:t>
    </dgm:pt>
    <dgm:pt modelId="{A4B182FE-28CF-CC4A-A857-D974481A212A}" type="parTrans" cxnId="{6F8A8218-A43D-754D-AC34-7D7A44CB7D31}">
      <dgm:prSet/>
      <dgm:spPr/>
      <dgm:t>
        <a:bodyPr/>
        <a:lstStyle/>
        <a:p>
          <a:endParaRPr lang="en-US"/>
        </a:p>
      </dgm:t>
    </dgm:pt>
    <dgm:pt modelId="{30256DA3-2063-6145-A40C-3F213F51F903}" type="sibTrans" cxnId="{6F8A8218-A43D-754D-AC34-7D7A44CB7D31}">
      <dgm:prSet/>
      <dgm:spPr/>
      <dgm:t>
        <a:bodyPr/>
        <a:lstStyle/>
        <a:p>
          <a:endParaRPr lang="en-US"/>
        </a:p>
      </dgm:t>
    </dgm:pt>
    <dgm:pt modelId="{6D80D72C-DBB2-D94A-BCBD-1B0C1C35E98A}">
      <dgm:prSet phldrT="[Text]"/>
      <dgm:spPr/>
      <dgm:t>
        <a:bodyPr/>
        <a:lstStyle/>
        <a:p>
          <a:r>
            <a:rPr lang="en-US" dirty="0"/>
            <a:t>Calculate the size of the metacommunity (</a:t>
          </a:r>
          <a:r>
            <a:rPr lang="en-US" i="1" dirty="0"/>
            <a:t>N</a:t>
          </a:r>
          <a:r>
            <a:rPr lang="en-US" dirty="0"/>
            <a:t>) by finding the mean number of reads per sample. We also find the limit of detection (</a:t>
          </a:r>
          <a:r>
            <a:rPr lang="en-US" i="1" dirty="0"/>
            <a:t>d</a:t>
          </a:r>
          <a:r>
            <a:rPr lang="en-US" dirty="0"/>
            <a:t>) = </a:t>
          </a:r>
          <a:r>
            <a:rPr lang="en-US" i="1" dirty="0"/>
            <a:t>1/N</a:t>
          </a:r>
        </a:p>
      </dgm:t>
    </dgm:pt>
    <dgm:pt modelId="{7A0A85DE-826D-F943-B70A-C309B2E35E00}" type="parTrans" cxnId="{A399560D-2686-BB49-BEC8-16E0E59F898C}">
      <dgm:prSet/>
      <dgm:spPr/>
      <dgm:t>
        <a:bodyPr/>
        <a:lstStyle/>
        <a:p>
          <a:endParaRPr lang="en-US"/>
        </a:p>
      </dgm:t>
    </dgm:pt>
    <dgm:pt modelId="{ECF5917A-5A86-4945-92ED-C3A30B725FE7}" type="sibTrans" cxnId="{A399560D-2686-BB49-BEC8-16E0E59F898C}">
      <dgm:prSet/>
      <dgm:spPr/>
      <dgm:t>
        <a:bodyPr/>
        <a:lstStyle/>
        <a:p>
          <a:endParaRPr lang="en-US"/>
        </a:p>
      </dgm:t>
    </dgm:pt>
    <dgm:pt modelId="{3AAD80AB-86BA-354D-A91B-40CE06269A51}">
      <dgm:prSet phldrT="[Text]"/>
      <dgm:spPr/>
      <dgm:t>
        <a:bodyPr/>
        <a:lstStyle/>
        <a:p>
          <a:r>
            <a:rPr lang="en-US" dirty="0"/>
            <a:t>Calculate the mean observed relative abundance and occurrence frequency of each ASV</a:t>
          </a:r>
        </a:p>
      </dgm:t>
    </dgm:pt>
    <dgm:pt modelId="{3035F67B-CB08-4446-AE7D-48C039F6D2DF}" type="parTrans" cxnId="{6CC7BC8F-A4DC-3E43-A468-7FE509ECF895}">
      <dgm:prSet/>
      <dgm:spPr/>
      <dgm:t>
        <a:bodyPr/>
        <a:lstStyle/>
        <a:p>
          <a:endParaRPr lang="en-US"/>
        </a:p>
      </dgm:t>
    </dgm:pt>
    <dgm:pt modelId="{C215D862-A291-E848-A659-5797AEF6E6A2}" type="sibTrans" cxnId="{6CC7BC8F-A4DC-3E43-A468-7FE509ECF895}">
      <dgm:prSet/>
      <dgm:spPr/>
      <dgm:t>
        <a:bodyPr/>
        <a:lstStyle/>
        <a:p>
          <a:endParaRPr lang="en-US"/>
        </a:p>
      </dgm:t>
    </dgm:pt>
    <dgm:pt modelId="{99CAAEDC-6392-D343-9A6F-7F5A17C79600}">
      <dgm:prSet/>
      <dgm:spPr/>
      <dgm:t>
        <a:bodyPr/>
        <a:lstStyle/>
        <a:p>
          <a:r>
            <a:rPr lang="en-US" dirty="0"/>
            <a:t>Using non-linear least squares fitting we fit the neutral model to our data to find, finding the probability of dispersal (</a:t>
          </a:r>
          <a:r>
            <a:rPr lang="en-US" i="1" dirty="0"/>
            <a:t>m</a:t>
          </a:r>
          <a:r>
            <a:rPr lang="en-US" dirty="0"/>
            <a:t>)</a:t>
          </a:r>
        </a:p>
      </dgm:t>
    </dgm:pt>
    <dgm:pt modelId="{C17FB67C-707B-D74A-80D6-94F7481B177D}" type="parTrans" cxnId="{850E1FA5-AA48-724C-8558-F11B12C530EE}">
      <dgm:prSet/>
      <dgm:spPr/>
      <dgm:t>
        <a:bodyPr/>
        <a:lstStyle/>
        <a:p>
          <a:endParaRPr lang="en-US"/>
        </a:p>
      </dgm:t>
    </dgm:pt>
    <dgm:pt modelId="{E9E523D2-25B5-CD4B-9629-508B4D79D50B}" type="sibTrans" cxnId="{850E1FA5-AA48-724C-8558-F11B12C530EE}">
      <dgm:prSet/>
      <dgm:spPr/>
      <dgm:t>
        <a:bodyPr/>
        <a:lstStyle/>
        <a:p>
          <a:endParaRPr lang="en-US"/>
        </a:p>
      </dgm:t>
    </dgm:pt>
    <dgm:pt modelId="{7FA26DE3-9601-BF47-AC3A-1976221D9FF7}">
      <dgm:prSet/>
      <dgm:spPr/>
      <dgm:t>
        <a:bodyPr/>
        <a:lstStyle/>
        <a:p>
          <a:r>
            <a:rPr lang="en-US" dirty="0"/>
            <a:t>Using the estimated value of </a:t>
          </a:r>
          <a:r>
            <a:rPr lang="en-US" i="1" dirty="0"/>
            <a:t>m</a:t>
          </a:r>
          <a:r>
            <a:rPr lang="en-US" dirty="0"/>
            <a:t> we calculate predicted occurrence frequencies and plot predictions from the neutral model against observed frequencies</a:t>
          </a:r>
        </a:p>
      </dgm:t>
    </dgm:pt>
    <dgm:pt modelId="{DA997D57-FC54-1543-8E4F-C5A29391F936}" type="parTrans" cxnId="{26E3548D-A542-114A-9949-6B29D19AA1AB}">
      <dgm:prSet/>
      <dgm:spPr/>
      <dgm:t>
        <a:bodyPr/>
        <a:lstStyle/>
        <a:p>
          <a:endParaRPr lang="en-US"/>
        </a:p>
      </dgm:t>
    </dgm:pt>
    <dgm:pt modelId="{6BBB6159-CF03-854D-ADAC-23CBD22E850F}" type="sibTrans" cxnId="{26E3548D-A542-114A-9949-6B29D19AA1AB}">
      <dgm:prSet/>
      <dgm:spPr/>
      <dgm:t>
        <a:bodyPr/>
        <a:lstStyle/>
        <a:p>
          <a:endParaRPr lang="en-US"/>
        </a:p>
      </dgm:t>
    </dgm:pt>
    <dgm:pt modelId="{55F5C254-F149-8D49-B068-DD2BB6700AB1}" type="pres">
      <dgm:prSet presAssocID="{CB88F0E7-4140-1B4D-A33B-6563FB2E1C23}" presName="linearFlow" presStyleCnt="0">
        <dgm:presLayoutVars>
          <dgm:resizeHandles val="exact"/>
        </dgm:presLayoutVars>
      </dgm:prSet>
      <dgm:spPr/>
    </dgm:pt>
    <dgm:pt modelId="{381AA547-A4ED-3840-A5BF-F16754F7DE5F}" type="pres">
      <dgm:prSet presAssocID="{B5498DE5-7CDC-0347-BA87-FB91FE15E435}" presName="node" presStyleLbl="node1" presStyleIdx="0" presStyleCnt="5" custScaleX="266769">
        <dgm:presLayoutVars>
          <dgm:bulletEnabled val="1"/>
        </dgm:presLayoutVars>
      </dgm:prSet>
      <dgm:spPr/>
    </dgm:pt>
    <dgm:pt modelId="{91DA19BA-A0AB-564A-8A9E-322DF18B64CF}" type="pres">
      <dgm:prSet presAssocID="{30256DA3-2063-6145-A40C-3F213F51F903}" presName="sibTrans" presStyleLbl="sibTrans2D1" presStyleIdx="0" presStyleCnt="4"/>
      <dgm:spPr/>
    </dgm:pt>
    <dgm:pt modelId="{93A03A25-0C23-0B49-A801-B6DF4800FF1C}" type="pres">
      <dgm:prSet presAssocID="{30256DA3-2063-6145-A40C-3F213F51F903}" presName="connectorText" presStyleLbl="sibTrans2D1" presStyleIdx="0" presStyleCnt="4"/>
      <dgm:spPr/>
    </dgm:pt>
    <dgm:pt modelId="{43D2067A-91F6-8745-98BA-D6A10B24950A}" type="pres">
      <dgm:prSet presAssocID="{6D80D72C-DBB2-D94A-BCBD-1B0C1C35E98A}" presName="node" presStyleLbl="node1" presStyleIdx="1" presStyleCnt="5" custScaleX="264923">
        <dgm:presLayoutVars>
          <dgm:bulletEnabled val="1"/>
        </dgm:presLayoutVars>
      </dgm:prSet>
      <dgm:spPr/>
    </dgm:pt>
    <dgm:pt modelId="{D067C965-9057-9C4A-A1D2-4912C14C50F7}" type="pres">
      <dgm:prSet presAssocID="{ECF5917A-5A86-4945-92ED-C3A30B725FE7}" presName="sibTrans" presStyleLbl="sibTrans2D1" presStyleIdx="1" presStyleCnt="4"/>
      <dgm:spPr/>
    </dgm:pt>
    <dgm:pt modelId="{5030DE2C-F3D5-7E44-98C9-D5A5317CA56C}" type="pres">
      <dgm:prSet presAssocID="{ECF5917A-5A86-4945-92ED-C3A30B725FE7}" presName="connectorText" presStyleLbl="sibTrans2D1" presStyleIdx="1" presStyleCnt="4"/>
      <dgm:spPr/>
    </dgm:pt>
    <dgm:pt modelId="{80C05A4E-2A0A-294C-8DDC-052E97D834DA}" type="pres">
      <dgm:prSet presAssocID="{3AAD80AB-86BA-354D-A91B-40CE06269A51}" presName="node" presStyleLbl="node1" presStyleIdx="2" presStyleCnt="5" custScaleX="263077">
        <dgm:presLayoutVars>
          <dgm:bulletEnabled val="1"/>
        </dgm:presLayoutVars>
      </dgm:prSet>
      <dgm:spPr/>
    </dgm:pt>
    <dgm:pt modelId="{B3C2DB7A-EC33-6544-A09D-B1205728770A}" type="pres">
      <dgm:prSet presAssocID="{C215D862-A291-E848-A659-5797AEF6E6A2}" presName="sibTrans" presStyleLbl="sibTrans2D1" presStyleIdx="2" presStyleCnt="4"/>
      <dgm:spPr/>
    </dgm:pt>
    <dgm:pt modelId="{14D2D5CD-E619-2C4C-83EC-B8786FE7D09C}" type="pres">
      <dgm:prSet presAssocID="{C215D862-A291-E848-A659-5797AEF6E6A2}" presName="connectorText" presStyleLbl="sibTrans2D1" presStyleIdx="2" presStyleCnt="4"/>
      <dgm:spPr/>
    </dgm:pt>
    <dgm:pt modelId="{6F6C8E07-FBAD-3F4D-A906-27ECCF26E70E}" type="pres">
      <dgm:prSet presAssocID="{99CAAEDC-6392-D343-9A6F-7F5A17C79600}" presName="node" presStyleLbl="node1" presStyleIdx="3" presStyleCnt="5" custScaleX="262154">
        <dgm:presLayoutVars>
          <dgm:bulletEnabled val="1"/>
        </dgm:presLayoutVars>
      </dgm:prSet>
      <dgm:spPr/>
    </dgm:pt>
    <dgm:pt modelId="{48489AC1-89DA-0F48-B940-23505B5798FF}" type="pres">
      <dgm:prSet presAssocID="{E9E523D2-25B5-CD4B-9629-508B4D79D50B}" presName="sibTrans" presStyleLbl="sibTrans2D1" presStyleIdx="3" presStyleCnt="4"/>
      <dgm:spPr/>
    </dgm:pt>
    <dgm:pt modelId="{3C8009BD-6E6B-AA43-B36E-EB048E42CE59}" type="pres">
      <dgm:prSet presAssocID="{E9E523D2-25B5-CD4B-9629-508B4D79D50B}" presName="connectorText" presStyleLbl="sibTrans2D1" presStyleIdx="3" presStyleCnt="4"/>
      <dgm:spPr/>
    </dgm:pt>
    <dgm:pt modelId="{80377AF5-BC76-FB40-840E-12C9D1BDB641}" type="pres">
      <dgm:prSet presAssocID="{7FA26DE3-9601-BF47-AC3A-1976221D9FF7}" presName="node" presStyleLbl="node1" presStyleIdx="4" presStyleCnt="5" custScaleX="263077">
        <dgm:presLayoutVars>
          <dgm:bulletEnabled val="1"/>
        </dgm:presLayoutVars>
      </dgm:prSet>
      <dgm:spPr/>
    </dgm:pt>
  </dgm:ptLst>
  <dgm:cxnLst>
    <dgm:cxn modelId="{D6131E09-85B8-A64C-B70F-332DBD927645}" type="presOf" srcId="{30256DA3-2063-6145-A40C-3F213F51F903}" destId="{93A03A25-0C23-0B49-A801-B6DF4800FF1C}" srcOrd="1" destOrd="0" presId="urn:microsoft.com/office/officeart/2005/8/layout/process2"/>
    <dgm:cxn modelId="{5904A30C-0CB9-7441-8EE9-02853E905445}" type="presOf" srcId="{ECF5917A-5A86-4945-92ED-C3A30B725FE7}" destId="{5030DE2C-F3D5-7E44-98C9-D5A5317CA56C}" srcOrd="1" destOrd="0" presId="urn:microsoft.com/office/officeart/2005/8/layout/process2"/>
    <dgm:cxn modelId="{A399560D-2686-BB49-BEC8-16E0E59F898C}" srcId="{CB88F0E7-4140-1B4D-A33B-6563FB2E1C23}" destId="{6D80D72C-DBB2-D94A-BCBD-1B0C1C35E98A}" srcOrd="1" destOrd="0" parTransId="{7A0A85DE-826D-F943-B70A-C309B2E35E00}" sibTransId="{ECF5917A-5A86-4945-92ED-C3A30B725FE7}"/>
    <dgm:cxn modelId="{78350D13-8018-2442-8F21-2B5DA59CB55B}" type="presOf" srcId="{99CAAEDC-6392-D343-9A6F-7F5A17C79600}" destId="{6F6C8E07-FBAD-3F4D-A906-27ECCF26E70E}" srcOrd="0" destOrd="0" presId="urn:microsoft.com/office/officeart/2005/8/layout/process2"/>
    <dgm:cxn modelId="{C16B0C15-CF6C-284A-A383-0640B635E0E2}" type="presOf" srcId="{7FA26DE3-9601-BF47-AC3A-1976221D9FF7}" destId="{80377AF5-BC76-FB40-840E-12C9D1BDB641}" srcOrd="0" destOrd="0" presId="urn:microsoft.com/office/officeart/2005/8/layout/process2"/>
    <dgm:cxn modelId="{6F8A8218-A43D-754D-AC34-7D7A44CB7D31}" srcId="{CB88F0E7-4140-1B4D-A33B-6563FB2E1C23}" destId="{B5498DE5-7CDC-0347-BA87-FB91FE15E435}" srcOrd="0" destOrd="0" parTransId="{A4B182FE-28CF-CC4A-A857-D974481A212A}" sibTransId="{30256DA3-2063-6145-A40C-3F213F51F903}"/>
    <dgm:cxn modelId="{4E285119-2459-8646-A275-E2ED993B432A}" type="presOf" srcId="{C215D862-A291-E848-A659-5797AEF6E6A2}" destId="{14D2D5CD-E619-2C4C-83EC-B8786FE7D09C}" srcOrd="1" destOrd="0" presId="urn:microsoft.com/office/officeart/2005/8/layout/process2"/>
    <dgm:cxn modelId="{85095E25-989E-8644-8FAC-8BF624EEEE21}" type="presOf" srcId="{C215D862-A291-E848-A659-5797AEF6E6A2}" destId="{B3C2DB7A-EC33-6544-A09D-B1205728770A}" srcOrd="0" destOrd="0" presId="urn:microsoft.com/office/officeart/2005/8/layout/process2"/>
    <dgm:cxn modelId="{4CDBD944-8E38-3E46-8153-1E412D1822B3}" type="presOf" srcId="{6D80D72C-DBB2-D94A-BCBD-1B0C1C35E98A}" destId="{43D2067A-91F6-8745-98BA-D6A10B24950A}" srcOrd="0" destOrd="0" presId="urn:microsoft.com/office/officeart/2005/8/layout/process2"/>
    <dgm:cxn modelId="{81A8B549-091C-3746-9E41-0841544AE411}" type="presOf" srcId="{3AAD80AB-86BA-354D-A91B-40CE06269A51}" destId="{80C05A4E-2A0A-294C-8DDC-052E97D834DA}" srcOrd="0" destOrd="0" presId="urn:microsoft.com/office/officeart/2005/8/layout/process2"/>
    <dgm:cxn modelId="{08CFD367-D1E2-774B-B131-FBDC4B1434F3}" type="presOf" srcId="{E9E523D2-25B5-CD4B-9629-508B4D79D50B}" destId="{3C8009BD-6E6B-AA43-B36E-EB048E42CE59}" srcOrd="1" destOrd="0" presId="urn:microsoft.com/office/officeart/2005/8/layout/process2"/>
    <dgm:cxn modelId="{31B7676C-5E13-6240-8873-94CFD48BF4D4}" type="presOf" srcId="{ECF5917A-5A86-4945-92ED-C3A30B725FE7}" destId="{D067C965-9057-9C4A-A1D2-4912C14C50F7}" srcOrd="0" destOrd="0" presId="urn:microsoft.com/office/officeart/2005/8/layout/process2"/>
    <dgm:cxn modelId="{26E3548D-A542-114A-9949-6B29D19AA1AB}" srcId="{CB88F0E7-4140-1B4D-A33B-6563FB2E1C23}" destId="{7FA26DE3-9601-BF47-AC3A-1976221D9FF7}" srcOrd="4" destOrd="0" parTransId="{DA997D57-FC54-1543-8E4F-C5A29391F936}" sibTransId="{6BBB6159-CF03-854D-ADAC-23CBD22E850F}"/>
    <dgm:cxn modelId="{6CC7BC8F-A4DC-3E43-A468-7FE509ECF895}" srcId="{CB88F0E7-4140-1B4D-A33B-6563FB2E1C23}" destId="{3AAD80AB-86BA-354D-A91B-40CE06269A51}" srcOrd="2" destOrd="0" parTransId="{3035F67B-CB08-4446-AE7D-48C039F6D2DF}" sibTransId="{C215D862-A291-E848-A659-5797AEF6E6A2}"/>
    <dgm:cxn modelId="{94FC48A0-733E-B74A-8978-25792B03521A}" type="presOf" srcId="{B5498DE5-7CDC-0347-BA87-FB91FE15E435}" destId="{381AA547-A4ED-3840-A5BF-F16754F7DE5F}" srcOrd="0" destOrd="0" presId="urn:microsoft.com/office/officeart/2005/8/layout/process2"/>
    <dgm:cxn modelId="{850E1FA5-AA48-724C-8558-F11B12C530EE}" srcId="{CB88F0E7-4140-1B4D-A33B-6563FB2E1C23}" destId="{99CAAEDC-6392-D343-9A6F-7F5A17C79600}" srcOrd="3" destOrd="0" parTransId="{C17FB67C-707B-D74A-80D6-94F7481B177D}" sibTransId="{E9E523D2-25B5-CD4B-9629-508B4D79D50B}"/>
    <dgm:cxn modelId="{0C5B59B5-F8B1-E84F-A770-CFDEED93C193}" type="presOf" srcId="{E9E523D2-25B5-CD4B-9629-508B4D79D50B}" destId="{48489AC1-89DA-0F48-B940-23505B5798FF}" srcOrd="0" destOrd="0" presId="urn:microsoft.com/office/officeart/2005/8/layout/process2"/>
    <dgm:cxn modelId="{4B8D3CDA-C71C-8644-BEF2-25F7C84E26CD}" type="presOf" srcId="{CB88F0E7-4140-1B4D-A33B-6563FB2E1C23}" destId="{55F5C254-F149-8D49-B068-DD2BB6700AB1}" srcOrd="0" destOrd="0" presId="urn:microsoft.com/office/officeart/2005/8/layout/process2"/>
    <dgm:cxn modelId="{86204DF7-69DC-6847-B172-56BDA05E8683}" type="presOf" srcId="{30256DA3-2063-6145-A40C-3F213F51F903}" destId="{91DA19BA-A0AB-564A-8A9E-322DF18B64CF}" srcOrd="0" destOrd="0" presId="urn:microsoft.com/office/officeart/2005/8/layout/process2"/>
    <dgm:cxn modelId="{89CC1CC3-BE64-AB44-A616-37735F71B013}" type="presParOf" srcId="{55F5C254-F149-8D49-B068-DD2BB6700AB1}" destId="{381AA547-A4ED-3840-A5BF-F16754F7DE5F}" srcOrd="0" destOrd="0" presId="urn:microsoft.com/office/officeart/2005/8/layout/process2"/>
    <dgm:cxn modelId="{98CD7474-430F-C64D-B064-F9944BCE1FFC}" type="presParOf" srcId="{55F5C254-F149-8D49-B068-DD2BB6700AB1}" destId="{91DA19BA-A0AB-564A-8A9E-322DF18B64CF}" srcOrd="1" destOrd="0" presId="urn:microsoft.com/office/officeart/2005/8/layout/process2"/>
    <dgm:cxn modelId="{F77B03C0-3B99-DA44-ACA7-106E5F115049}" type="presParOf" srcId="{91DA19BA-A0AB-564A-8A9E-322DF18B64CF}" destId="{93A03A25-0C23-0B49-A801-B6DF4800FF1C}" srcOrd="0" destOrd="0" presId="urn:microsoft.com/office/officeart/2005/8/layout/process2"/>
    <dgm:cxn modelId="{E0361171-1004-814D-9384-11011E7DBAFA}" type="presParOf" srcId="{55F5C254-F149-8D49-B068-DD2BB6700AB1}" destId="{43D2067A-91F6-8745-98BA-D6A10B24950A}" srcOrd="2" destOrd="0" presId="urn:microsoft.com/office/officeart/2005/8/layout/process2"/>
    <dgm:cxn modelId="{9E89FA7B-6EC5-3D4F-A2E9-0489975E5A87}" type="presParOf" srcId="{55F5C254-F149-8D49-B068-DD2BB6700AB1}" destId="{D067C965-9057-9C4A-A1D2-4912C14C50F7}" srcOrd="3" destOrd="0" presId="urn:microsoft.com/office/officeart/2005/8/layout/process2"/>
    <dgm:cxn modelId="{99622694-B90F-7546-938F-69663FCB7B51}" type="presParOf" srcId="{D067C965-9057-9C4A-A1D2-4912C14C50F7}" destId="{5030DE2C-F3D5-7E44-98C9-D5A5317CA56C}" srcOrd="0" destOrd="0" presId="urn:microsoft.com/office/officeart/2005/8/layout/process2"/>
    <dgm:cxn modelId="{8CBAB055-23C9-2546-9DAF-CEC39B7D6480}" type="presParOf" srcId="{55F5C254-F149-8D49-B068-DD2BB6700AB1}" destId="{80C05A4E-2A0A-294C-8DDC-052E97D834DA}" srcOrd="4" destOrd="0" presId="urn:microsoft.com/office/officeart/2005/8/layout/process2"/>
    <dgm:cxn modelId="{4A5400AB-6FEE-0949-A825-32DFDDF5C5FC}" type="presParOf" srcId="{55F5C254-F149-8D49-B068-DD2BB6700AB1}" destId="{B3C2DB7A-EC33-6544-A09D-B1205728770A}" srcOrd="5" destOrd="0" presId="urn:microsoft.com/office/officeart/2005/8/layout/process2"/>
    <dgm:cxn modelId="{F55D1266-0549-5F47-A020-0AE4C6A8F5F8}" type="presParOf" srcId="{B3C2DB7A-EC33-6544-A09D-B1205728770A}" destId="{14D2D5CD-E619-2C4C-83EC-B8786FE7D09C}" srcOrd="0" destOrd="0" presId="urn:microsoft.com/office/officeart/2005/8/layout/process2"/>
    <dgm:cxn modelId="{9670566E-C6A8-EB46-A599-ADE70B5EED77}" type="presParOf" srcId="{55F5C254-F149-8D49-B068-DD2BB6700AB1}" destId="{6F6C8E07-FBAD-3F4D-A906-27ECCF26E70E}" srcOrd="6" destOrd="0" presId="urn:microsoft.com/office/officeart/2005/8/layout/process2"/>
    <dgm:cxn modelId="{D858F26B-4C1F-A94D-A8E0-A7E3177794AA}" type="presParOf" srcId="{55F5C254-F149-8D49-B068-DD2BB6700AB1}" destId="{48489AC1-89DA-0F48-B940-23505B5798FF}" srcOrd="7" destOrd="0" presId="urn:microsoft.com/office/officeart/2005/8/layout/process2"/>
    <dgm:cxn modelId="{784D6DCE-95A6-2B43-928C-01BEE8EB9D44}" type="presParOf" srcId="{48489AC1-89DA-0F48-B940-23505B5798FF}" destId="{3C8009BD-6E6B-AA43-B36E-EB048E42CE59}" srcOrd="0" destOrd="0" presId="urn:microsoft.com/office/officeart/2005/8/layout/process2"/>
    <dgm:cxn modelId="{D889FC8E-DA0F-DB4D-B68C-E9542CE782E5}" type="presParOf" srcId="{55F5C254-F149-8D49-B068-DD2BB6700AB1}" destId="{80377AF5-BC76-FB40-840E-12C9D1BDB641}" srcOrd="8"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E2C31A-9C32-8244-A94C-1A921F1582B3}">
      <dsp:nvSpPr>
        <dsp:cNvPr id="0" name=""/>
        <dsp:cNvSpPr/>
      </dsp:nvSpPr>
      <dsp:spPr>
        <a:xfrm>
          <a:off x="2163603" y="60100"/>
          <a:ext cx="2884805" cy="2884805"/>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dirty="0"/>
            <a:t>Selection</a:t>
          </a:r>
        </a:p>
      </dsp:txBody>
      <dsp:txXfrm>
        <a:off x="2548244" y="564941"/>
        <a:ext cx="2115523" cy="1298162"/>
      </dsp:txXfrm>
    </dsp:sp>
    <dsp:sp modelId="{7DAC2FF7-8C69-8544-B207-8AD8ED8CC18E}">
      <dsp:nvSpPr>
        <dsp:cNvPr id="0" name=""/>
        <dsp:cNvSpPr/>
      </dsp:nvSpPr>
      <dsp:spPr>
        <a:xfrm>
          <a:off x="3204537" y="1863103"/>
          <a:ext cx="2884805" cy="2884805"/>
        </a:xfrm>
        <a:prstGeom prst="ellipse">
          <a:avLst/>
        </a:prstGeom>
        <a:solidFill>
          <a:schemeClr val="accent4">
            <a:alpha val="50000"/>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dirty="0"/>
            <a:t>Dispersal</a:t>
          </a:r>
        </a:p>
      </dsp:txBody>
      <dsp:txXfrm>
        <a:off x="4086807" y="2608344"/>
        <a:ext cx="1730883" cy="1586642"/>
      </dsp:txXfrm>
    </dsp:sp>
    <dsp:sp modelId="{C13988BE-4667-2C42-B802-C07898FB496F}">
      <dsp:nvSpPr>
        <dsp:cNvPr id="0" name=""/>
        <dsp:cNvSpPr/>
      </dsp:nvSpPr>
      <dsp:spPr>
        <a:xfrm>
          <a:off x="1122669" y="1863103"/>
          <a:ext cx="2884805" cy="2884805"/>
        </a:xfrm>
        <a:prstGeom prst="ellipse">
          <a:avLst/>
        </a:prstGeom>
        <a:solidFill>
          <a:schemeClr val="accent4">
            <a:alpha val="50000"/>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r>
            <a:rPr lang="en-US" sz="3400" kern="1200" dirty="0"/>
            <a:t>Ecological Drift</a:t>
          </a:r>
        </a:p>
      </dsp:txBody>
      <dsp:txXfrm>
        <a:off x="1394322" y="2608344"/>
        <a:ext cx="1730883" cy="15866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AA547-A4ED-3840-A5BF-F16754F7DE5F}">
      <dsp:nvSpPr>
        <dsp:cNvPr id="0" name=""/>
        <dsp:cNvSpPr/>
      </dsp:nvSpPr>
      <dsp:spPr>
        <a:xfrm>
          <a:off x="100015" y="661"/>
          <a:ext cx="8258168" cy="77390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Extract ASV table from </a:t>
          </a:r>
          <a:r>
            <a:rPr lang="en-US" sz="1600" kern="1200" dirty="0" err="1"/>
            <a:t>phyloseq</a:t>
          </a:r>
          <a:r>
            <a:rPr lang="en-US" sz="1600" kern="1200" dirty="0"/>
            <a:t> object</a:t>
          </a:r>
        </a:p>
      </dsp:txBody>
      <dsp:txXfrm>
        <a:off x="122682" y="23328"/>
        <a:ext cx="8212834" cy="728572"/>
      </dsp:txXfrm>
    </dsp:sp>
    <dsp:sp modelId="{91DA19BA-A0AB-564A-8A9E-322DF18B64CF}">
      <dsp:nvSpPr>
        <dsp:cNvPr id="0" name=""/>
        <dsp:cNvSpPr/>
      </dsp:nvSpPr>
      <dsp:spPr>
        <a:xfrm rot="5400000">
          <a:off x="4083992" y="793915"/>
          <a:ext cx="290214" cy="34825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4124622" y="822936"/>
        <a:ext cx="208955" cy="203150"/>
      </dsp:txXfrm>
    </dsp:sp>
    <dsp:sp modelId="{43D2067A-91F6-8745-98BA-D6A10B24950A}">
      <dsp:nvSpPr>
        <dsp:cNvPr id="0" name=""/>
        <dsp:cNvSpPr/>
      </dsp:nvSpPr>
      <dsp:spPr>
        <a:xfrm>
          <a:off x="128588" y="1161520"/>
          <a:ext cx="8201023" cy="77390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Calculate the size of the metacommunity (</a:t>
          </a:r>
          <a:r>
            <a:rPr lang="en-US" sz="1600" i="1" kern="1200" dirty="0"/>
            <a:t>N</a:t>
          </a:r>
          <a:r>
            <a:rPr lang="en-US" sz="1600" kern="1200" dirty="0"/>
            <a:t>) by finding the mean number of reads per sample. We also find the limit of detection (</a:t>
          </a:r>
          <a:r>
            <a:rPr lang="en-US" sz="1600" i="1" kern="1200" dirty="0"/>
            <a:t>d</a:t>
          </a:r>
          <a:r>
            <a:rPr lang="en-US" sz="1600" kern="1200" dirty="0"/>
            <a:t>) = </a:t>
          </a:r>
          <a:r>
            <a:rPr lang="en-US" sz="1600" i="1" kern="1200" dirty="0"/>
            <a:t>1/N</a:t>
          </a:r>
        </a:p>
      </dsp:txBody>
      <dsp:txXfrm>
        <a:off x="151255" y="1184187"/>
        <a:ext cx="8155689" cy="728572"/>
      </dsp:txXfrm>
    </dsp:sp>
    <dsp:sp modelId="{D067C965-9057-9C4A-A1D2-4912C14C50F7}">
      <dsp:nvSpPr>
        <dsp:cNvPr id="0" name=""/>
        <dsp:cNvSpPr/>
      </dsp:nvSpPr>
      <dsp:spPr>
        <a:xfrm rot="5400000">
          <a:off x="4083992" y="1954774"/>
          <a:ext cx="290214" cy="34825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4124622" y="1983795"/>
        <a:ext cx="208955" cy="203150"/>
      </dsp:txXfrm>
    </dsp:sp>
    <dsp:sp modelId="{80C05A4E-2A0A-294C-8DDC-052E97D834DA}">
      <dsp:nvSpPr>
        <dsp:cNvPr id="0" name=""/>
        <dsp:cNvSpPr/>
      </dsp:nvSpPr>
      <dsp:spPr>
        <a:xfrm>
          <a:off x="157161" y="2322380"/>
          <a:ext cx="8143877" cy="77390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Calculate the mean observed relative abundance and occurrence frequency of each ASV</a:t>
          </a:r>
        </a:p>
      </dsp:txBody>
      <dsp:txXfrm>
        <a:off x="179828" y="2345047"/>
        <a:ext cx="8098543" cy="728572"/>
      </dsp:txXfrm>
    </dsp:sp>
    <dsp:sp modelId="{B3C2DB7A-EC33-6544-A09D-B1205728770A}">
      <dsp:nvSpPr>
        <dsp:cNvPr id="0" name=""/>
        <dsp:cNvSpPr/>
      </dsp:nvSpPr>
      <dsp:spPr>
        <a:xfrm rot="5400000">
          <a:off x="4083992" y="3115634"/>
          <a:ext cx="290214" cy="34825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4124622" y="3144655"/>
        <a:ext cx="208955" cy="203150"/>
      </dsp:txXfrm>
    </dsp:sp>
    <dsp:sp modelId="{6F6C8E07-FBAD-3F4D-A906-27ECCF26E70E}">
      <dsp:nvSpPr>
        <dsp:cNvPr id="0" name=""/>
        <dsp:cNvSpPr/>
      </dsp:nvSpPr>
      <dsp:spPr>
        <a:xfrm>
          <a:off x="171447" y="3483239"/>
          <a:ext cx="8115305" cy="77390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Using non-linear least squares fitting we fit the neutral model to our data to find, finding the probability of dispersal (</a:t>
          </a:r>
          <a:r>
            <a:rPr lang="en-US" sz="1600" i="1" kern="1200" dirty="0"/>
            <a:t>m</a:t>
          </a:r>
          <a:r>
            <a:rPr lang="en-US" sz="1600" kern="1200" dirty="0"/>
            <a:t>)</a:t>
          </a:r>
        </a:p>
      </dsp:txBody>
      <dsp:txXfrm>
        <a:off x="194114" y="3505906"/>
        <a:ext cx="8069971" cy="728572"/>
      </dsp:txXfrm>
    </dsp:sp>
    <dsp:sp modelId="{48489AC1-89DA-0F48-B940-23505B5798FF}">
      <dsp:nvSpPr>
        <dsp:cNvPr id="0" name=""/>
        <dsp:cNvSpPr/>
      </dsp:nvSpPr>
      <dsp:spPr>
        <a:xfrm rot="5400000">
          <a:off x="4083992" y="4276493"/>
          <a:ext cx="290214" cy="34825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4124622" y="4305514"/>
        <a:ext cx="208955" cy="203150"/>
      </dsp:txXfrm>
    </dsp:sp>
    <dsp:sp modelId="{80377AF5-BC76-FB40-840E-12C9D1BDB641}">
      <dsp:nvSpPr>
        <dsp:cNvPr id="0" name=""/>
        <dsp:cNvSpPr/>
      </dsp:nvSpPr>
      <dsp:spPr>
        <a:xfrm>
          <a:off x="157161" y="4644099"/>
          <a:ext cx="8143877" cy="77390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Using the estimated value of </a:t>
          </a:r>
          <a:r>
            <a:rPr lang="en-US" sz="1600" i="1" kern="1200" dirty="0"/>
            <a:t>m</a:t>
          </a:r>
          <a:r>
            <a:rPr lang="en-US" sz="1600" kern="1200" dirty="0"/>
            <a:t> we calculate predicted occurrence frequencies and plot predictions from the neutral model against observed frequencies</a:t>
          </a:r>
        </a:p>
      </dsp:txBody>
      <dsp:txXfrm>
        <a:off x="179828" y="4666766"/>
        <a:ext cx="8098543" cy="728572"/>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055017-D10A-7E41-A628-FFBA6D86E32F}" type="datetimeFigureOut">
              <a:rPr lang="en-US" smtClean="0"/>
              <a:t>4/15/21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E2140-D502-214A-B76B-E0784B2C949B}" type="slidenum">
              <a:rPr lang="en-US" smtClean="0"/>
              <a:t>‹#›</a:t>
            </a:fld>
            <a:endParaRPr lang="en-US"/>
          </a:p>
        </p:txBody>
      </p:sp>
    </p:spTree>
    <p:extLst>
      <p:ext uri="{BB962C8B-B14F-4D97-AF65-F5344CB8AC3E}">
        <p14:creationId xmlns:p14="http://schemas.microsoft.com/office/powerpoint/2010/main" val="428051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I want to ask:</a:t>
            </a:r>
          </a:p>
          <a:p>
            <a:endParaRPr lang="en-US" dirty="0"/>
          </a:p>
          <a:p>
            <a:r>
              <a:rPr lang="en-US" dirty="0"/>
              <a:t>How does dormancy influence microbial dispersal and community assembly?</a:t>
            </a:r>
          </a:p>
          <a:p>
            <a:r>
              <a:rPr lang="en-US" dirty="0"/>
              <a:t>How do dispersal and community assembly mechanisms differ at local, regional and global scales?</a:t>
            </a:r>
          </a:p>
          <a:p>
            <a:r>
              <a:rPr lang="en-US" dirty="0"/>
              <a:t>Does dispersal and community assembly mechanisms change between Spring and Summer seasons?</a:t>
            </a:r>
          </a:p>
          <a:p>
            <a:endParaRPr lang="en-US" dirty="0"/>
          </a:p>
          <a:p>
            <a:r>
              <a:rPr lang="en-US" dirty="0"/>
              <a:t>Why are we interested in community assembly?</a:t>
            </a:r>
          </a:p>
          <a:p>
            <a:r>
              <a:rPr lang="en-US" dirty="0"/>
              <a:t>Because we want to understand the evolutionary and ecological mechanisms that govern microbial community composition at local scales, thus shaping large scale patterns of microbial biogeography. Community composition affects community function with profound impacts on the wider ecosystem functioning and biodiversity.  </a:t>
            </a:r>
          </a:p>
        </p:txBody>
      </p:sp>
      <p:sp>
        <p:nvSpPr>
          <p:cNvPr id="4" name="Slide Number Placeholder 3"/>
          <p:cNvSpPr>
            <a:spLocks noGrp="1"/>
          </p:cNvSpPr>
          <p:nvPr>
            <p:ph type="sldNum" sz="quarter" idx="5"/>
          </p:nvPr>
        </p:nvSpPr>
        <p:spPr/>
        <p:txBody>
          <a:bodyPr/>
          <a:lstStyle/>
          <a:p>
            <a:fld id="{91AE2140-D502-214A-B76B-E0784B2C949B}" type="slidenum">
              <a:rPr lang="en-US" smtClean="0"/>
              <a:t>1</a:t>
            </a:fld>
            <a:endParaRPr lang="en-US"/>
          </a:p>
        </p:txBody>
      </p:sp>
    </p:spTree>
    <p:extLst>
      <p:ext uri="{BB962C8B-B14F-4D97-AF65-F5344CB8AC3E}">
        <p14:creationId xmlns:p14="http://schemas.microsoft.com/office/powerpoint/2010/main" val="3068617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Spatial turnover in community composition (that is, the difference in abundance and diversity of biological communities between locations) is shaped by ecological drift, selection and dispersal</a:t>
            </a:r>
          </a:p>
          <a:p>
            <a:endParaRPr lang="en-US" dirty="0"/>
          </a:p>
          <a:p>
            <a:r>
              <a:rPr lang="en-US" dirty="0"/>
              <a:t>Community assembly processes can be stochastic or deterministic.</a:t>
            </a:r>
          </a:p>
          <a:p>
            <a:r>
              <a:rPr lang="en-US" dirty="0"/>
              <a:t>Stochastic processes are random birth, death and dispersal events .</a:t>
            </a:r>
          </a:p>
          <a:p>
            <a:r>
              <a:rPr lang="en-US" dirty="0"/>
              <a:t>Deterministic processes arise from fitness differences between species, that drive their habitat preferences.</a:t>
            </a:r>
          </a:p>
          <a:p>
            <a:r>
              <a:rPr lang="en-US" dirty="0"/>
              <a:t>Adaptive traits (e.g. tolerance to low temperatures) define fitness differences (e.g. the greater reproductive success of one species in a cold habitat as compared to another, less reproductively successful species) and may be phylogenetically conserved (e.g. present in species with closer evolutionarily relationships – two species that have a more recent common ancestor may share tolerance to low temperatures that gives both greater reproductive success as compared to a third organism that has a more distance evolutionary relationship).</a:t>
            </a:r>
          </a:p>
          <a:p>
            <a:r>
              <a:rPr lang="en-US" dirty="0"/>
              <a:t>Closely evolutionarily related species will share adaptive traits that define their fitness differences and drive habitat preferences. So, the environmental constraints of habitat A may facilitate species with close evolutionary histories, while the community of habitat B may share close evolutionary histories with each other while the beta diversity (the change in community composition between habitat A and B) is driven deterministically by those environmental constrains. </a:t>
            </a:r>
          </a:p>
          <a:p>
            <a:r>
              <a:rPr lang="en-US" dirty="0"/>
              <a:t>Both stochastic (birth, death) and deterministic (fitness difference) processes are influenced by dispersal rates.</a:t>
            </a:r>
          </a:p>
          <a:p>
            <a:r>
              <a:rPr lang="en-US" dirty="0"/>
              <a:t>Dispersal = the replacement of a dead individual in the local community with a random individual from the regional species pool.</a:t>
            </a:r>
          </a:p>
          <a:p>
            <a:r>
              <a:rPr lang="en-US" dirty="0"/>
              <a:t>We don’t know much about the ecological factors influencing bacterial dispersal rates.</a:t>
            </a:r>
          </a:p>
          <a:p>
            <a:endParaRPr lang="en-US" dirty="0"/>
          </a:p>
          <a:p>
            <a:r>
              <a:rPr lang="en-US" dirty="0"/>
              <a:t>Stochastic processes can produce complex spatial community patterns. </a:t>
            </a:r>
          </a:p>
          <a:p>
            <a:r>
              <a:rPr lang="en-US" dirty="0"/>
              <a:t>Ecological drift = random birth/death events in a specific area, in the absence of selection. Ecological drift is particularly important when dispersal is limited as illustrated by island biogeography theory.</a:t>
            </a:r>
          </a:p>
          <a:p>
            <a:r>
              <a:rPr lang="en-US" dirty="0"/>
              <a:t>Dispersal limitation between isolated habitats promotes local extinction and ecological drift which causes initially identical communities to diverge. Ecological drift can cause communities to diverge, even when dispersal is high and selection pressure is low.</a:t>
            </a:r>
          </a:p>
          <a:p>
            <a:r>
              <a:rPr lang="en-US" dirty="0"/>
              <a:t>Homogenizing dispersal = high dispersal rates leading to similar communities between habitats (overcomes the impact of ecological drift and even deterministic processes)</a:t>
            </a:r>
          </a:p>
        </p:txBody>
      </p:sp>
      <p:sp>
        <p:nvSpPr>
          <p:cNvPr id="4" name="Slide Number Placeholder 3"/>
          <p:cNvSpPr>
            <a:spLocks noGrp="1"/>
          </p:cNvSpPr>
          <p:nvPr>
            <p:ph type="sldNum" sz="quarter" idx="5"/>
          </p:nvPr>
        </p:nvSpPr>
        <p:spPr/>
        <p:txBody>
          <a:bodyPr/>
          <a:lstStyle/>
          <a:p>
            <a:fld id="{91AE2140-D502-214A-B76B-E0784B2C949B}" type="slidenum">
              <a:rPr lang="en-US" smtClean="0"/>
              <a:t>3</a:t>
            </a:fld>
            <a:endParaRPr lang="en-US"/>
          </a:p>
        </p:txBody>
      </p:sp>
    </p:spTree>
    <p:extLst>
      <p:ext uri="{BB962C8B-B14F-4D97-AF65-F5344CB8AC3E}">
        <p14:creationId xmlns:p14="http://schemas.microsoft.com/office/powerpoint/2010/main" val="3990178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Multivariate analysis can allow us to look at the relationship between community composition and environmental characteristics – these are deterministic, non-random processes. </a:t>
            </a:r>
            <a:r>
              <a:rPr lang="en-US" dirty="0" err="1"/>
              <a:t>Investiagation</a:t>
            </a:r>
            <a:r>
              <a:rPr lang="en-US" dirty="0"/>
              <a:t> into deterministic processes of community assembly (e.g. relationship between community composition and environmental characteristics) dominate most studies of microbial community assembly, </a:t>
            </a:r>
            <a:r>
              <a:rPr lang="en-US" dirty="0" err="1"/>
              <a:t>howeber</a:t>
            </a:r>
            <a:r>
              <a:rPr lang="en-US" dirty="0"/>
              <a:t>, it is likely both deterministic and stochastic processes contribute to community assembly. This is why I combine multivariate and network analysis (deterministic) with phylogenetic null modelling (deterministic and stochastic) and neutral modelling (stochastic). </a:t>
            </a:r>
          </a:p>
          <a:p>
            <a:endParaRPr lang="en-US" dirty="0"/>
          </a:p>
          <a:p>
            <a:r>
              <a:rPr lang="en-US" dirty="0"/>
              <a:t>It has been suggested that initial community assembly is driven by stochastic processes, and deterministic processes shape the community through time. </a:t>
            </a:r>
          </a:p>
          <a:p>
            <a:endParaRPr lang="en-US" dirty="0"/>
          </a:p>
          <a:p>
            <a:r>
              <a:rPr lang="en-US" dirty="0"/>
              <a:t>What do we already know about deterministic processes on glaciers?</a:t>
            </a:r>
          </a:p>
          <a:p>
            <a:endParaRPr lang="en-US" dirty="0"/>
          </a:p>
          <a:p>
            <a:r>
              <a:rPr lang="en-US" dirty="0"/>
              <a:t>What do we already know about stochastic processes on glaciers?</a:t>
            </a:r>
          </a:p>
        </p:txBody>
      </p:sp>
      <p:sp>
        <p:nvSpPr>
          <p:cNvPr id="4" name="Slide Number Placeholder 3"/>
          <p:cNvSpPr>
            <a:spLocks noGrp="1"/>
          </p:cNvSpPr>
          <p:nvPr>
            <p:ph type="sldNum" sz="quarter" idx="5"/>
          </p:nvPr>
        </p:nvSpPr>
        <p:spPr/>
        <p:txBody>
          <a:bodyPr/>
          <a:lstStyle/>
          <a:p>
            <a:fld id="{91AE2140-D502-214A-B76B-E0784B2C949B}" type="slidenum">
              <a:rPr lang="en-US" smtClean="0"/>
              <a:t>10</a:t>
            </a:fld>
            <a:endParaRPr lang="en-US"/>
          </a:p>
        </p:txBody>
      </p:sp>
    </p:spTree>
    <p:extLst>
      <p:ext uri="{BB962C8B-B14F-4D97-AF65-F5344CB8AC3E}">
        <p14:creationId xmlns:p14="http://schemas.microsoft.com/office/powerpoint/2010/main" val="2827327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Stochastic processes can produce complex spatial community patterns. </a:t>
            </a:r>
          </a:p>
          <a:p>
            <a:r>
              <a:rPr lang="en-US" dirty="0"/>
              <a:t>Ecological drift = random birth/death events in a specific area, in the absence of selection. Ecological drift is particularly important when dispersal is limited as illustrated by island biogeography theory.</a:t>
            </a:r>
          </a:p>
          <a:p>
            <a:r>
              <a:rPr lang="en-US" dirty="0"/>
              <a:t>Dispersal limitation between isolated habitats promotes local extinction and ecological drift which causes initially identical communities to diverge. Ecological drift can cause communities to diverge, even when dispersal is high and selection pressure is low.</a:t>
            </a:r>
          </a:p>
          <a:p>
            <a:r>
              <a:rPr lang="en-US" dirty="0"/>
              <a:t>Homogenizing dispersal = high dispersal rates leading to similar communities between habitats (overcomes the impact of ecological drift and even deterministic processes)</a:t>
            </a:r>
          </a:p>
          <a:p>
            <a:endParaRPr lang="en-US" dirty="0"/>
          </a:p>
          <a:p>
            <a:r>
              <a:rPr lang="en-US" dirty="0"/>
              <a:t>Deterministic (deterministic processes commonly mean beta diversity varies as a result of environmental characteristics – i.e. communities are more or less different due to the differences or similarities of the environments)</a:t>
            </a:r>
          </a:p>
          <a:p>
            <a:r>
              <a:rPr lang="en-US" dirty="0"/>
              <a:t>Variable selection – deterministic processes are driving variable composition between communities. Different areas have different environmental characteristics that select for different species.</a:t>
            </a:r>
          </a:p>
          <a:p>
            <a:r>
              <a:rPr lang="en-US" dirty="0"/>
              <a:t>Homogenizing selection – deterministic processes are driving homogenous composition between communities. Different areas have similar environmental characteristics that select for similar species.</a:t>
            </a:r>
          </a:p>
          <a:p>
            <a:endParaRPr lang="en-US" dirty="0"/>
          </a:p>
          <a:p>
            <a:r>
              <a:rPr lang="en-US" dirty="0"/>
              <a:t>Dispersal limitation – stochastic dispersal limitation is driving variable composition between communities </a:t>
            </a:r>
          </a:p>
          <a:p>
            <a:r>
              <a:rPr lang="en-US" dirty="0"/>
              <a:t>Homogenizing dispersal – stochastic high dispersal is driving homogenous composition between communities</a:t>
            </a:r>
          </a:p>
          <a:p>
            <a:r>
              <a:rPr lang="en-US" dirty="0"/>
              <a:t>Ecological drift – stochastic ecological drift is driving variable composition between communities</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13</a:t>
            </a:fld>
            <a:endParaRPr lang="en-US"/>
          </a:p>
        </p:txBody>
      </p:sp>
    </p:spTree>
    <p:extLst>
      <p:ext uri="{BB962C8B-B14F-4D97-AF65-F5344CB8AC3E}">
        <p14:creationId xmlns:p14="http://schemas.microsoft.com/office/powerpoint/2010/main" val="4270121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 divergence (adaptation to the environment) + genetic drift (random genetic mutations) = evolutionary diversification (evolutionary branching of species through time).</a:t>
            </a:r>
          </a:p>
          <a:p>
            <a:r>
              <a:rPr lang="en-US" dirty="0"/>
              <a:t>Large spatial and temporal scales.</a:t>
            </a:r>
          </a:p>
          <a:p>
            <a:r>
              <a:rPr lang="en-US" dirty="0"/>
              <a:t>Evolution impacts diversity, function and fitness of communities.</a:t>
            </a:r>
          </a:p>
          <a:p>
            <a:r>
              <a:rPr lang="en-US" dirty="0"/>
              <a:t>Evolution contributes to community assembly by contributing new species to the species pool. </a:t>
            </a:r>
          </a:p>
          <a:p>
            <a:r>
              <a:rPr lang="en-US" dirty="0"/>
              <a:t>This is often excluded from study due to the long time scales over which evolution occurs, even for microbial communities. </a:t>
            </a:r>
          </a:p>
        </p:txBody>
      </p:sp>
      <p:sp>
        <p:nvSpPr>
          <p:cNvPr id="4" name="Slide Number Placeholder 3"/>
          <p:cNvSpPr>
            <a:spLocks noGrp="1"/>
          </p:cNvSpPr>
          <p:nvPr>
            <p:ph type="sldNum" sz="quarter" idx="5"/>
          </p:nvPr>
        </p:nvSpPr>
        <p:spPr/>
        <p:txBody>
          <a:bodyPr/>
          <a:lstStyle/>
          <a:p>
            <a:fld id="{91AE2140-D502-214A-B76B-E0784B2C949B}" type="slidenum">
              <a:rPr lang="en-US" smtClean="0"/>
              <a:t>14</a:t>
            </a:fld>
            <a:endParaRPr lang="en-US"/>
          </a:p>
        </p:txBody>
      </p:sp>
    </p:spTree>
    <p:extLst>
      <p:ext uri="{BB962C8B-B14F-4D97-AF65-F5344CB8AC3E}">
        <p14:creationId xmlns:p14="http://schemas.microsoft.com/office/powerpoint/2010/main" val="2680826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phylogenetic null model approach is dependent on phylogenetic signal </a:t>
            </a:r>
          </a:p>
        </p:txBody>
      </p:sp>
      <p:sp>
        <p:nvSpPr>
          <p:cNvPr id="4" name="Slide Number Placeholder 3"/>
          <p:cNvSpPr>
            <a:spLocks noGrp="1"/>
          </p:cNvSpPr>
          <p:nvPr>
            <p:ph type="sldNum" sz="quarter" idx="5"/>
          </p:nvPr>
        </p:nvSpPr>
        <p:spPr/>
        <p:txBody>
          <a:bodyPr/>
          <a:lstStyle/>
          <a:p>
            <a:fld id="{91AE2140-D502-214A-B76B-E0784B2C949B}" type="slidenum">
              <a:rPr lang="en-US" smtClean="0"/>
              <a:t>16</a:t>
            </a:fld>
            <a:endParaRPr lang="en-US"/>
          </a:p>
        </p:txBody>
      </p:sp>
    </p:spTree>
    <p:extLst>
      <p:ext uri="{BB962C8B-B14F-4D97-AF65-F5344CB8AC3E}">
        <p14:creationId xmlns:p14="http://schemas.microsoft.com/office/powerpoint/2010/main" val="1424753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Sloan’s Neutral Model states that the probability of species </a:t>
            </a:r>
            <a:r>
              <a:rPr lang="en-US" i="1" dirty="0" err="1"/>
              <a:t>i</a:t>
            </a:r>
            <a:r>
              <a:rPr lang="en-US" dirty="0"/>
              <a:t> occurring within a sample at abundance (x</a:t>
            </a:r>
            <a:r>
              <a:rPr lang="en-US" i="0" baseline="-25000" dirty="0"/>
              <a:t>i</a:t>
            </a:r>
            <a:r>
              <a:rPr lang="en-US" dirty="0"/>
              <a:t>) above a detection threshold (d) </a:t>
            </a:r>
          </a:p>
          <a:p>
            <a:endParaRPr lang="en-US" dirty="0"/>
          </a:p>
          <a:p>
            <a:r>
              <a:rPr lang="en-US" dirty="0"/>
              <a:t>Model results are compared to the observed data. Deviation of observed data from model results is assumed to be evidence of deterministic community assembly.</a:t>
            </a:r>
          </a:p>
          <a:p>
            <a:endParaRPr lang="en-US" dirty="0"/>
          </a:p>
          <a:p>
            <a:r>
              <a:rPr lang="en-US" dirty="0"/>
              <a:t>The abundance of each ASV in the metacommunity (p</a:t>
            </a:r>
            <a:r>
              <a:rPr lang="en-US" i="1" dirty="0"/>
              <a:t>i</a:t>
            </a:r>
            <a:r>
              <a:rPr lang="en-US" dirty="0"/>
              <a:t>) is estimated by averaging it’s relative abundance across all samples.</a:t>
            </a:r>
          </a:p>
        </p:txBody>
      </p:sp>
      <p:sp>
        <p:nvSpPr>
          <p:cNvPr id="4" name="Slide Number Placeholder 3"/>
          <p:cNvSpPr>
            <a:spLocks noGrp="1"/>
          </p:cNvSpPr>
          <p:nvPr>
            <p:ph type="sldNum" sz="quarter" idx="5"/>
          </p:nvPr>
        </p:nvSpPr>
        <p:spPr/>
        <p:txBody>
          <a:bodyPr/>
          <a:lstStyle/>
          <a:p>
            <a:fld id="{91AE2140-D502-214A-B76B-E0784B2C949B}" type="slidenum">
              <a:rPr lang="en-US" smtClean="0"/>
              <a:t>18</a:t>
            </a:fld>
            <a:endParaRPr lang="en-US"/>
          </a:p>
        </p:txBody>
      </p:sp>
    </p:spTree>
    <p:extLst>
      <p:ext uri="{BB962C8B-B14F-4D97-AF65-F5344CB8AC3E}">
        <p14:creationId xmlns:p14="http://schemas.microsoft.com/office/powerpoint/2010/main" val="1811139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developed from Barnett et al., (2020) Soil characteristics and land-use drive bacterial community assembly patterns (https://</a:t>
            </a:r>
            <a:r>
              <a:rPr lang="en-US" dirty="0" err="1"/>
              <a:t>github.com</a:t>
            </a:r>
            <a:r>
              <a:rPr lang="en-US" dirty="0"/>
              <a:t>/seb369/</a:t>
            </a:r>
            <a:r>
              <a:rPr lang="en-US" dirty="0" err="1"/>
              <a:t>landuse_comm_assembly</a:t>
            </a:r>
            <a:r>
              <a:rPr lang="en-US" dirty="0"/>
              <a:t>)</a:t>
            </a:r>
          </a:p>
        </p:txBody>
      </p:sp>
      <p:sp>
        <p:nvSpPr>
          <p:cNvPr id="4" name="Slide Number Placeholder 3"/>
          <p:cNvSpPr>
            <a:spLocks noGrp="1"/>
          </p:cNvSpPr>
          <p:nvPr>
            <p:ph type="sldNum" sz="quarter" idx="5"/>
          </p:nvPr>
        </p:nvSpPr>
        <p:spPr/>
        <p:txBody>
          <a:bodyPr/>
          <a:lstStyle/>
          <a:p>
            <a:fld id="{91AE2140-D502-214A-B76B-E0784B2C949B}" type="slidenum">
              <a:rPr lang="en-US" smtClean="0"/>
              <a:t>19</a:t>
            </a:fld>
            <a:endParaRPr lang="en-US"/>
          </a:p>
        </p:txBody>
      </p:sp>
    </p:spTree>
    <p:extLst>
      <p:ext uri="{BB962C8B-B14F-4D97-AF65-F5344CB8AC3E}">
        <p14:creationId xmlns:p14="http://schemas.microsoft.com/office/powerpoint/2010/main" val="2263901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of the model fitting with the Sommers dataset (not reduced).</a:t>
            </a:r>
          </a:p>
          <a:p>
            <a:r>
              <a:rPr lang="en-US" dirty="0"/>
              <a:t>X axis = log mean relative abundances of each ASV</a:t>
            </a:r>
          </a:p>
          <a:p>
            <a:r>
              <a:rPr lang="en-US" dirty="0"/>
              <a:t>Y axis = mean occurrence frequency of each ASV </a:t>
            </a:r>
          </a:p>
          <a:p>
            <a:r>
              <a:rPr lang="en-US" dirty="0"/>
              <a:t>Points = observed log relative abundances against occurrence frequencies</a:t>
            </a:r>
          </a:p>
          <a:p>
            <a:r>
              <a:rPr lang="en-US" dirty="0"/>
              <a:t>Solid line = predicted log relative abundances plotted against occurrence frequencies</a:t>
            </a:r>
          </a:p>
          <a:p>
            <a:r>
              <a:rPr lang="en-US" dirty="0"/>
              <a:t>Dotted lines = 95% confidence intervals</a:t>
            </a:r>
          </a:p>
          <a:p>
            <a:endParaRPr lang="en-US" dirty="0"/>
          </a:p>
          <a:p>
            <a:r>
              <a:rPr lang="en-US" dirty="0"/>
              <a:t>This allows us to assess to what degree observed community structure can be explained by stochastic processes within each sample.</a:t>
            </a:r>
          </a:p>
          <a:p>
            <a:r>
              <a:rPr lang="en-US" dirty="0"/>
              <a:t>The Sloan neutral model is applied here. This model does not take into account phylogenetic distance. </a:t>
            </a:r>
          </a:p>
          <a:p>
            <a:r>
              <a:rPr lang="en-US" dirty="0"/>
              <a:t>ASV occurrence frequency is explained as a function of ASV abundance within the metacommunity (i.e. the more abundant an ASV is in the metacommunity, the more frequently it will be detected in the local community by chance). </a:t>
            </a:r>
          </a:p>
          <a:p>
            <a:r>
              <a:rPr lang="en-US" dirty="0"/>
              <a:t>The neutral model performed well, explaining 77% of variation in ASV detection frequency with an estimated migration factor of 0.02 between sites.</a:t>
            </a:r>
          </a:p>
          <a:p>
            <a:r>
              <a:rPr lang="en-US" dirty="0"/>
              <a:t>These results suggest that neutral assembly processes can explain the pattern of observed ASV occurrence frequencies </a:t>
            </a:r>
            <a:r>
              <a:rPr lang="en-US" strike="sngStrike" dirty="0"/>
              <a:t>and that the the regional species pool is a driving factor in the community composition of these samples. </a:t>
            </a:r>
          </a:p>
          <a:p>
            <a:r>
              <a:rPr lang="en-US" strike="noStrike" dirty="0"/>
              <a:t>The deviation of predicted occurrence frequencies from observed occurrence frequencies suggests that there are also deterministic processes driving community composition.</a:t>
            </a:r>
          </a:p>
          <a:p>
            <a:endParaRPr lang="en-US" dirty="0"/>
          </a:p>
        </p:txBody>
      </p:sp>
      <p:sp>
        <p:nvSpPr>
          <p:cNvPr id="4" name="Slide Number Placeholder 3"/>
          <p:cNvSpPr>
            <a:spLocks noGrp="1"/>
          </p:cNvSpPr>
          <p:nvPr>
            <p:ph type="sldNum" sz="quarter" idx="5"/>
          </p:nvPr>
        </p:nvSpPr>
        <p:spPr/>
        <p:txBody>
          <a:bodyPr/>
          <a:lstStyle/>
          <a:p>
            <a:fld id="{91AE2140-D502-214A-B76B-E0784B2C949B}" type="slidenum">
              <a:rPr lang="en-US" smtClean="0"/>
              <a:t>20</a:t>
            </a:fld>
            <a:endParaRPr lang="en-US"/>
          </a:p>
        </p:txBody>
      </p:sp>
    </p:spTree>
    <p:extLst>
      <p:ext uri="{BB962C8B-B14F-4D97-AF65-F5344CB8AC3E}">
        <p14:creationId xmlns:p14="http://schemas.microsoft.com/office/powerpoint/2010/main" val="1669585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6ED4-37C7-E448-902F-EE6F0CE1D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71A2E0-F835-014B-80CB-77E9AEE989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6D316A-042F-B74E-8DC6-4E4014393382}"/>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5" name="Footer Placeholder 4">
            <a:extLst>
              <a:ext uri="{FF2B5EF4-FFF2-40B4-BE49-F238E27FC236}">
                <a16:creationId xmlns:a16="http://schemas.microsoft.com/office/drawing/2014/main" id="{2C71B796-2B75-0D42-8306-673D9131C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DF2C0B-EF26-CD47-A0FB-195E4A2DE356}"/>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620153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55D21-E73E-A54C-99C6-133F6056E3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F6754-47FC-6D45-80E9-AAF130C6E06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15A83-D0F5-8540-B5A8-566B05F23178}"/>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5" name="Footer Placeholder 4">
            <a:extLst>
              <a:ext uri="{FF2B5EF4-FFF2-40B4-BE49-F238E27FC236}">
                <a16:creationId xmlns:a16="http://schemas.microsoft.com/office/drawing/2014/main" id="{8AD7AC9D-C511-1E4E-864C-A891B0215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7D621-DCB0-3142-BF13-694096EF6AEF}"/>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562619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4B48-3643-3B48-8B28-44961569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05AFAA-9D63-5441-956D-C29B7339F3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D8EE7C-67D2-5340-81AC-B55ECE40ACB2}"/>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5" name="Footer Placeholder 4">
            <a:extLst>
              <a:ext uri="{FF2B5EF4-FFF2-40B4-BE49-F238E27FC236}">
                <a16:creationId xmlns:a16="http://schemas.microsoft.com/office/drawing/2014/main" id="{FC943995-AADD-C244-A8B2-5A0A5FA90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2B4D55-D831-E247-95F3-35788DCA421C}"/>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3571306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4BF75-992E-B34D-8B5A-39D45C763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17CD1A-9E1B-C748-80F1-51F7D91724F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B57FF9-3960-8449-B387-22E13124996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2447D3-F1B6-7D4C-A043-B174BFB92518}"/>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6" name="Footer Placeholder 5">
            <a:extLst>
              <a:ext uri="{FF2B5EF4-FFF2-40B4-BE49-F238E27FC236}">
                <a16:creationId xmlns:a16="http://schemas.microsoft.com/office/drawing/2014/main" id="{874F9E9E-0285-DD4B-872C-1F47CA6015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2C7EF3-B524-044C-A4E4-5EA74CB0B144}"/>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1895092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FF04-926E-E848-B2DB-5B926AFDF3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92B505-751C-644A-897E-678102EF62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40E3200-2E67-C044-8633-8D8642D84EC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BB9841-CADB-384C-9B99-7ED3B31794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8D7F8D0-68DF-AD48-9B1E-5D27F4CEDD9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DD943A-0DC8-6E47-AED3-C7681ED2881B}"/>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8" name="Footer Placeholder 7">
            <a:extLst>
              <a:ext uri="{FF2B5EF4-FFF2-40B4-BE49-F238E27FC236}">
                <a16:creationId xmlns:a16="http://schemas.microsoft.com/office/drawing/2014/main" id="{AB51F04D-6ED7-6245-AA23-240BDF451C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FDCF7C-B092-2844-8651-FD66318BC1EB}"/>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497000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67436-E267-2E43-BFF0-3FEE581344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ED9E8F-3DEF-AF4C-B5D8-7073CA24E422}"/>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4" name="Footer Placeholder 3">
            <a:extLst>
              <a:ext uri="{FF2B5EF4-FFF2-40B4-BE49-F238E27FC236}">
                <a16:creationId xmlns:a16="http://schemas.microsoft.com/office/drawing/2014/main" id="{FF764CB4-7254-BD48-BB35-9E29D4D345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AC1217-DDE3-A14F-A526-2FFFDD0627A9}"/>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962791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9D74E3-041D-AD43-B0B2-EBA7BAD23AC0}"/>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3" name="Footer Placeholder 2">
            <a:extLst>
              <a:ext uri="{FF2B5EF4-FFF2-40B4-BE49-F238E27FC236}">
                <a16:creationId xmlns:a16="http://schemas.microsoft.com/office/drawing/2014/main" id="{2E6B2846-AB7E-5A4E-9E1D-968FE926DF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060BDD-CD2A-204F-BB39-05BD2DBFA878}"/>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2596459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B695A-AC8B-284B-80E3-74313902F6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3103C2-A0F3-634F-B478-878D5AB392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B61E4B-0320-3A4A-BADF-AC42D3EFC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292C112-BA1D-B941-B3BB-8799CDF4FF9C}"/>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6" name="Footer Placeholder 5">
            <a:extLst>
              <a:ext uri="{FF2B5EF4-FFF2-40B4-BE49-F238E27FC236}">
                <a16:creationId xmlns:a16="http://schemas.microsoft.com/office/drawing/2014/main" id="{E9A3A9DA-E62D-AB4C-8A11-8DB0302DC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D08E64-DF30-3C42-92EF-4537CCFF1137}"/>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989177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2FDAD-6351-E14A-90F2-BF82FF5202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E62E19-8421-1443-A89F-CC9E156DA8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2B4475-E58E-154F-953B-80A501F0D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B57061-9C6A-624C-ADA2-15CC575E8E8E}"/>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6" name="Footer Placeholder 5">
            <a:extLst>
              <a:ext uri="{FF2B5EF4-FFF2-40B4-BE49-F238E27FC236}">
                <a16:creationId xmlns:a16="http://schemas.microsoft.com/office/drawing/2014/main" id="{BB2056C1-CE11-A842-8F3A-458F4EDF4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CCC1F-416E-CB42-8F73-B93C9FA1A25E}"/>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2561872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F1897-1429-2940-B19C-7F80E2E577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96D649-25D3-CA4D-AAB6-770336C3C7B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BF9D3A-4DD0-C345-85D8-5DD872AFF291}"/>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5" name="Footer Placeholder 4">
            <a:extLst>
              <a:ext uri="{FF2B5EF4-FFF2-40B4-BE49-F238E27FC236}">
                <a16:creationId xmlns:a16="http://schemas.microsoft.com/office/drawing/2014/main" id="{35E20CF1-B631-F74C-B716-EB7C3B0E8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F3ED52-4E03-1647-9B18-AA9788B3B6D5}"/>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3838870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4E73E-E186-7245-A00B-35E7CCEFCB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E94A51-9167-FE42-A932-E7D7DC3C7DB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1CBAE-52BE-E04C-94E3-DFC07C3B9376}"/>
              </a:ext>
            </a:extLst>
          </p:cNvPr>
          <p:cNvSpPr>
            <a:spLocks noGrp="1"/>
          </p:cNvSpPr>
          <p:nvPr>
            <p:ph type="dt" sz="half" idx="10"/>
          </p:nvPr>
        </p:nvSpPr>
        <p:spPr/>
        <p:txBody>
          <a:bodyPr/>
          <a:lstStyle/>
          <a:p>
            <a:fld id="{630F8F96-A0AC-FA40-A1E6-5325FF9AFD7F}" type="datetimeFigureOut">
              <a:rPr lang="en-US" smtClean="0"/>
              <a:t>4/15/21</a:t>
            </a:fld>
            <a:endParaRPr lang="en-US"/>
          </a:p>
        </p:txBody>
      </p:sp>
      <p:sp>
        <p:nvSpPr>
          <p:cNvPr id="5" name="Footer Placeholder 4">
            <a:extLst>
              <a:ext uri="{FF2B5EF4-FFF2-40B4-BE49-F238E27FC236}">
                <a16:creationId xmlns:a16="http://schemas.microsoft.com/office/drawing/2014/main" id="{F8892F53-118B-1845-9D45-60D5594015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3E5371-D811-5A4A-BD23-493F2324B61D}"/>
              </a:ext>
            </a:extLst>
          </p:cNvPr>
          <p:cNvSpPr>
            <a:spLocks noGrp="1"/>
          </p:cNvSpPr>
          <p:nvPr>
            <p:ph type="sldNum" sz="quarter" idx="12"/>
          </p:nvPr>
        </p:nvSpPr>
        <p:spPr/>
        <p:txBody>
          <a:bodyPr/>
          <a:lstStyle/>
          <a:p>
            <a:fld id="{3C2A2532-43B4-C944-8D65-991FE1B83988}" type="slidenum">
              <a:rPr lang="en-US" smtClean="0"/>
              <a:t>‹#›</a:t>
            </a:fld>
            <a:endParaRPr lang="en-US"/>
          </a:p>
        </p:txBody>
      </p:sp>
    </p:spTree>
    <p:extLst>
      <p:ext uri="{BB962C8B-B14F-4D97-AF65-F5344CB8AC3E}">
        <p14:creationId xmlns:p14="http://schemas.microsoft.com/office/powerpoint/2010/main" val="4236061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AF585-6C0E-2044-B915-C16A5D58E4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A99696-87D6-F14B-8943-ED9105E4BB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D86F3D-35AA-E247-BF75-A09555C10E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0F8F96-A0AC-FA40-A1E6-5325FF9AFD7F}" type="datetimeFigureOut">
              <a:rPr lang="en-US" smtClean="0"/>
              <a:t>4/15/21</a:t>
            </a:fld>
            <a:endParaRPr lang="en-US"/>
          </a:p>
        </p:txBody>
      </p:sp>
      <p:sp>
        <p:nvSpPr>
          <p:cNvPr id="5" name="Footer Placeholder 4">
            <a:extLst>
              <a:ext uri="{FF2B5EF4-FFF2-40B4-BE49-F238E27FC236}">
                <a16:creationId xmlns:a16="http://schemas.microsoft.com/office/drawing/2014/main" id="{98389104-0F81-1A46-942C-5C76AADA78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733030-7C7F-4441-A9B5-5BAB3E58D2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A2532-43B4-C944-8D65-991FE1B83988}" type="slidenum">
              <a:rPr lang="en-US" smtClean="0"/>
              <a:t>‹#›</a:t>
            </a:fld>
            <a:endParaRPr lang="en-US"/>
          </a:p>
        </p:txBody>
      </p:sp>
    </p:spTree>
    <p:extLst>
      <p:ext uri="{BB962C8B-B14F-4D97-AF65-F5344CB8AC3E}">
        <p14:creationId xmlns:p14="http://schemas.microsoft.com/office/powerpoint/2010/main" val="219760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E2BC3-DD30-0944-A021-30D7464B4665}"/>
              </a:ext>
            </a:extLst>
          </p:cNvPr>
          <p:cNvSpPr>
            <a:spLocks noGrp="1"/>
          </p:cNvSpPr>
          <p:nvPr>
            <p:ph type="ctrTitle"/>
          </p:nvPr>
        </p:nvSpPr>
        <p:spPr>
          <a:xfrm>
            <a:off x="1367883" y="2014460"/>
            <a:ext cx="9144000" cy="2387600"/>
          </a:xfrm>
        </p:spPr>
        <p:txBody>
          <a:bodyPr>
            <a:normAutofit fontScale="90000"/>
          </a:bodyPr>
          <a:lstStyle/>
          <a:p>
            <a:r>
              <a:rPr lang="en-US" dirty="0"/>
              <a:t>Microbial Biogeography and Community Assembly Mechanisms in the Supraglacial Environment: Influence of activity and abundance</a:t>
            </a:r>
          </a:p>
        </p:txBody>
      </p:sp>
      <p:sp>
        <p:nvSpPr>
          <p:cNvPr id="3" name="Subtitle 2">
            <a:extLst>
              <a:ext uri="{FF2B5EF4-FFF2-40B4-BE49-F238E27FC236}">
                <a16:creationId xmlns:a16="http://schemas.microsoft.com/office/drawing/2014/main" id="{2FDE0BEF-153E-6045-8619-15D9DCF32914}"/>
              </a:ext>
            </a:extLst>
          </p:cNvPr>
          <p:cNvSpPr>
            <a:spLocks noGrp="1"/>
          </p:cNvSpPr>
          <p:nvPr>
            <p:ph type="subTitle" idx="1"/>
          </p:nvPr>
        </p:nvSpPr>
        <p:spPr>
          <a:xfrm>
            <a:off x="1367883" y="4895579"/>
            <a:ext cx="9144000" cy="568519"/>
          </a:xfrm>
        </p:spPr>
        <p:txBody>
          <a:bodyPr>
            <a:normAutofit/>
          </a:bodyPr>
          <a:lstStyle/>
          <a:p>
            <a:r>
              <a:rPr lang="en-US" dirty="0"/>
              <a:t>Amy Solman</a:t>
            </a:r>
          </a:p>
          <a:p>
            <a:endParaRPr lang="en-US" dirty="0"/>
          </a:p>
        </p:txBody>
      </p:sp>
    </p:spTree>
    <p:extLst>
      <p:ext uri="{BB962C8B-B14F-4D97-AF65-F5344CB8AC3E}">
        <p14:creationId xmlns:p14="http://schemas.microsoft.com/office/powerpoint/2010/main" val="301009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31DA-B431-C54A-874F-C1236B9B36B8}"/>
              </a:ext>
            </a:extLst>
          </p:cNvPr>
          <p:cNvSpPr>
            <a:spLocks noGrp="1"/>
          </p:cNvSpPr>
          <p:nvPr>
            <p:ph type="title"/>
          </p:nvPr>
        </p:nvSpPr>
        <p:spPr/>
        <p:txBody>
          <a:bodyPr/>
          <a:lstStyle/>
          <a:p>
            <a:r>
              <a:rPr lang="en-US" dirty="0"/>
              <a:t>Why are they different? Why should we care?</a:t>
            </a:r>
          </a:p>
        </p:txBody>
      </p:sp>
      <p:sp>
        <p:nvSpPr>
          <p:cNvPr id="4" name="Oval 3">
            <a:extLst>
              <a:ext uri="{FF2B5EF4-FFF2-40B4-BE49-F238E27FC236}">
                <a16:creationId xmlns:a16="http://schemas.microsoft.com/office/drawing/2014/main" id="{4075A81A-7D11-9448-BF36-6D732E7F151C}"/>
              </a:ext>
            </a:extLst>
          </p:cNvPr>
          <p:cNvSpPr/>
          <p:nvPr/>
        </p:nvSpPr>
        <p:spPr>
          <a:xfrm>
            <a:off x="2600326" y="3014662"/>
            <a:ext cx="314325" cy="3143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4516562-A1F7-4A44-B228-68531F4F81E8}"/>
              </a:ext>
            </a:extLst>
          </p:cNvPr>
          <p:cNvSpPr/>
          <p:nvPr/>
        </p:nvSpPr>
        <p:spPr>
          <a:xfrm>
            <a:off x="3467101" y="3752849"/>
            <a:ext cx="314325" cy="3143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ABEA4FE-AD89-454B-989F-A777676B2DAB}"/>
              </a:ext>
            </a:extLst>
          </p:cNvPr>
          <p:cNvSpPr/>
          <p:nvPr/>
        </p:nvSpPr>
        <p:spPr>
          <a:xfrm>
            <a:off x="2586038" y="4410075"/>
            <a:ext cx="314325" cy="314325"/>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E83A67A-C00A-B342-BE75-24729CD2D02F}"/>
              </a:ext>
            </a:extLst>
          </p:cNvPr>
          <p:cNvSpPr/>
          <p:nvPr/>
        </p:nvSpPr>
        <p:spPr>
          <a:xfrm>
            <a:off x="4724401" y="4567237"/>
            <a:ext cx="314325" cy="3143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F55F405-3566-B348-BF65-58C69A1A867A}"/>
              </a:ext>
            </a:extLst>
          </p:cNvPr>
          <p:cNvSpPr/>
          <p:nvPr/>
        </p:nvSpPr>
        <p:spPr>
          <a:xfrm>
            <a:off x="3467101" y="5186360"/>
            <a:ext cx="314325" cy="31432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DD5ABE0-00B9-DD40-8C3A-A0CB5719BCBA}"/>
              </a:ext>
            </a:extLst>
          </p:cNvPr>
          <p:cNvSpPr/>
          <p:nvPr/>
        </p:nvSpPr>
        <p:spPr>
          <a:xfrm>
            <a:off x="4410075" y="2800349"/>
            <a:ext cx="314325" cy="31432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26DB84F-E78D-2A48-A3F2-63B628D47B3F}"/>
              </a:ext>
            </a:extLst>
          </p:cNvPr>
          <p:cNvSpPr/>
          <p:nvPr/>
        </p:nvSpPr>
        <p:spPr>
          <a:xfrm>
            <a:off x="3467100" y="3050382"/>
            <a:ext cx="314325" cy="314325"/>
          </a:xfrm>
          <a:prstGeom prst="ellipse">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C502950-677E-3049-990E-AEC7AF21DD01}"/>
              </a:ext>
            </a:extLst>
          </p:cNvPr>
          <p:cNvSpPr/>
          <p:nvPr/>
        </p:nvSpPr>
        <p:spPr>
          <a:xfrm>
            <a:off x="3967164" y="4410074"/>
            <a:ext cx="314325" cy="314325"/>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5A94771-F505-D14F-B441-07C73CD0D66B}"/>
              </a:ext>
            </a:extLst>
          </p:cNvPr>
          <p:cNvSpPr/>
          <p:nvPr/>
        </p:nvSpPr>
        <p:spPr>
          <a:xfrm>
            <a:off x="4567238" y="3752848"/>
            <a:ext cx="314325" cy="3143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A3A575E6-7D11-6844-B659-F1F931279368}"/>
              </a:ext>
            </a:extLst>
          </p:cNvPr>
          <p:cNvSpPr/>
          <p:nvPr/>
        </p:nvSpPr>
        <p:spPr>
          <a:xfrm>
            <a:off x="3119438" y="4710111"/>
            <a:ext cx="314325" cy="3143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D5E120C-A984-764E-B4EF-AA70BC53CD10}"/>
              </a:ext>
            </a:extLst>
          </p:cNvPr>
          <p:cNvSpPr/>
          <p:nvPr/>
        </p:nvSpPr>
        <p:spPr>
          <a:xfrm>
            <a:off x="2728912" y="3867149"/>
            <a:ext cx="314325" cy="3143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4679495-EAA4-F64B-8588-1E9DEA49D4C8}"/>
              </a:ext>
            </a:extLst>
          </p:cNvPr>
          <p:cNvSpPr/>
          <p:nvPr/>
        </p:nvSpPr>
        <p:spPr>
          <a:xfrm>
            <a:off x="3967163" y="3378993"/>
            <a:ext cx="314325" cy="3143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F75227F-3BDA-534D-AC82-AA532C3B808A}"/>
              </a:ext>
            </a:extLst>
          </p:cNvPr>
          <p:cNvSpPr/>
          <p:nvPr/>
        </p:nvSpPr>
        <p:spPr>
          <a:xfrm>
            <a:off x="6524626" y="3014662"/>
            <a:ext cx="314325" cy="314325"/>
          </a:xfrm>
          <a:prstGeom prst="ellipse">
            <a:avLst/>
          </a:prstGeom>
          <a:solidFill>
            <a:srgbClr val="FF00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C9855B0-6DB2-1749-A1D4-4B1B81587D5F}"/>
              </a:ext>
            </a:extLst>
          </p:cNvPr>
          <p:cNvSpPr/>
          <p:nvPr/>
        </p:nvSpPr>
        <p:spPr>
          <a:xfrm>
            <a:off x="7391401" y="3752849"/>
            <a:ext cx="314325" cy="314325"/>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9F5CB4E-153D-EF40-9DD1-4986310BA056}"/>
              </a:ext>
            </a:extLst>
          </p:cNvPr>
          <p:cNvSpPr/>
          <p:nvPr/>
        </p:nvSpPr>
        <p:spPr>
          <a:xfrm>
            <a:off x="6510338" y="4410075"/>
            <a:ext cx="314325" cy="31432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4877B3-DB5A-2E40-9762-5B3784FF014E}"/>
              </a:ext>
            </a:extLst>
          </p:cNvPr>
          <p:cNvSpPr/>
          <p:nvPr/>
        </p:nvSpPr>
        <p:spPr>
          <a:xfrm>
            <a:off x="8648701" y="4567237"/>
            <a:ext cx="314325" cy="3143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53C1F00-2970-264E-8F3C-13F5A89C374D}"/>
              </a:ext>
            </a:extLst>
          </p:cNvPr>
          <p:cNvSpPr/>
          <p:nvPr/>
        </p:nvSpPr>
        <p:spPr>
          <a:xfrm>
            <a:off x="7391401" y="5186360"/>
            <a:ext cx="314325" cy="314325"/>
          </a:xfrm>
          <a:prstGeom prst="ellipse">
            <a:avLst/>
          </a:prstGeom>
          <a:solidFill>
            <a:srgbClr val="FF00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BE665D8-BD16-C443-A7DB-33C745F5F4C3}"/>
              </a:ext>
            </a:extLst>
          </p:cNvPr>
          <p:cNvSpPr/>
          <p:nvPr/>
        </p:nvSpPr>
        <p:spPr>
          <a:xfrm>
            <a:off x="8334375" y="2800349"/>
            <a:ext cx="314325" cy="314325"/>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716A6E8-5194-1843-8740-7CFE1E71AC8C}"/>
              </a:ext>
            </a:extLst>
          </p:cNvPr>
          <p:cNvSpPr/>
          <p:nvPr/>
        </p:nvSpPr>
        <p:spPr>
          <a:xfrm>
            <a:off x="7391400" y="3050382"/>
            <a:ext cx="314325" cy="3143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C7232C0-D3C4-874D-B786-BB148BFF7049}"/>
              </a:ext>
            </a:extLst>
          </p:cNvPr>
          <p:cNvSpPr/>
          <p:nvPr/>
        </p:nvSpPr>
        <p:spPr>
          <a:xfrm>
            <a:off x="7891464" y="4410074"/>
            <a:ext cx="314325" cy="314325"/>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FB75B72-7751-E244-927A-357FEE2AD292}"/>
              </a:ext>
            </a:extLst>
          </p:cNvPr>
          <p:cNvSpPr/>
          <p:nvPr/>
        </p:nvSpPr>
        <p:spPr>
          <a:xfrm>
            <a:off x="8491538" y="3752848"/>
            <a:ext cx="314325" cy="314325"/>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A90B763-4A6C-AE44-B10A-CAC54BEA55F6}"/>
              </a:ext>
            </a:extLst>
          </p:cNvPr>
          <p:cNvSpPr/>
          <p:nvPr/>
        </p:nvSpPr>
        <p:spPr>
          <a:xfrm>
            <a:off x="7043738" y="4710111"/>
            <a:ext cx="314325" cy="31432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608D13B-D12C-924F-8139-3E7E8F9E180F}"/>
              </a:ext>
            </a:extLst>
          </p:cNvPr>
          <p:cNvSpPr/>
          <p:nvPr/>
        </p:nvSpPr>
        <p:spPr>
          <a:xfrm>
            <a:off x="6653212" y="3867149"/>
            <a:ext cx="314325" cy="314325"/>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549C0F0-8986-694D-A0BD-8647118E99FE}"/>
              </a:ext>
            </a:extLst>
          </p:cNvPr>
          <p:cNvSpPr/>
          <p:nvPr/>
        </p:nvSpPr>
        <p:spPr>
          <a:xfrm>
            <a:off x="7891463" y="3378993"/>
            <a:ext cx="314325" cy="31432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A335B55-8B52-5644-A550-2710A16DB226}"/>
              </a:ext>
            </a:extLst>
          </p:cNvPr>
          <p:cNvSpPr txBox="1"/>
          <p:nvPr/>
        </p:nvSpPr>
        <p:spPr>
          <a:xfrm>
            <a:off x="2717006" y="1991378"/>
            <a:ext cx="2164558" cy="523220"/>
          </a:xfrm>
          <a:prstGeom prst="rect">
            <a:avLst/>
          </a:prstGeom>
          <a:noFill/>
        </p:spPr>
        <p:txBody>
          <a:bodyPr wrap="square" rtlCol="0">
            <a:spAutoFit/>
          </a:bodyPr>
          <a:lstStyle/>
          <a:p>
            <a:r>
              <a:rPr lang="en-US" sz="2800" dirty="0"/>
              <a:t>Community 1</a:t>
            </a:r>
          </a:p>
        </p:txBody>
      </p:sp>
      <p:sp>
        <p:nvSpPr>
          <p:cNvPr id="29" name="TextBox 28">
            <a:extLst>
              <a:ext uri="{FF2B5EF4-FFF2-40B4-BE49-F238E27FC236}">
                <a16:creationId xmlns:a16="http://schemas.microsoft.com/office/drawing/2014/main" id="{BC52BB93-C1D8-A04D-98AA-48CAD4AC9990}"/>
              </a:ext>
            </a:extLst>
          </p:cNvPr>
          <p:cNvSpPr txBox="1"/>
          <p:nvPr/>
        </p:nvSpPr>
        <p:spPr>
          <a:xfrm>
            <a:off x="6667500" y="2015520"/>
            <a:ext cx="2164558" cy="523220"/>
          </a:xfrm>
          <a:prstGeom prst="rect">
            <a:avLst/>
          </a:prstGeom>
          <a:noFill/>
        </p:spPr>
        <p:txBody>
          <a:bodyPr wrap="square" rtlCol="0">
            <a:spAutoFit/>
          </a:bodyPr>
          <a:lstStyle/>
          <a:p>
            <a:r>
              <a:rPr lang="en-US" sz="2800" dirty="0"/>
              <a:t>Community 2</a:t>
            </a:r>
          </a:p>
        </p:txBody>
      </p:sp>
    </p:spTree>
    <p:extLst>
      <p:ext uri="{BB962C8B-B14F-4D97-AF65-F5344CB8AC3E}">
        <p14:creationId xmlns:p14="http://schemas.microsoft.com/office/powerpoint/2010/main" val="305500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B9FC6-0620-0A48-9F8C-295D1BC9A634}"/>
              </a:ext>
            </a:extLst>
          </p:cNvPr>
          <p:cNvSpPr>
            <a:spLocks noGrp="1"/>
          </p:cNvSpPr>
          <p:nvPr>
            <p:ph type="title"/>
          </p:nvPr>
        </p:nvSpPr>
        <p:spPr/>
        <p:txBody>
          <a:bodyPr/>
          <a:lstStyle/>
          <a:p>
            <a:r>
              <a:rPr lang="en-US" dirty="0"/>
              <a:t>Community Assembly Processes</a:t>
            </a:r>
          </a:p>
        </p:txBody>
      </p:sp>
      <p:graphicFrame>
        <p:nvGraphicFramePr>
          <p:cNvPr id="12" name="Diagram 11">
            <a:extLst>
              <a:ext uri="{FF2B5EF4-FFF2-40B4-BE49-F238E27FC236}">
                <a16:creationId xmlns:a16="http://schemas.microsoft.com/office/drawing/2014/main" id="{8B3002D7-459F-0B49-B4AD-4140562B12BC}"/>
              </a:ext>
            </a:extLst>
          </p:cNvPr>
          <p:cNvGraphicFramePr/>
          <p:nvPr>
            <p:extLst>
              <p:ext uri="{D42A27DB-BD31-4B8C-83A1-F6EECF244321}">
                <p14:modId xmlns:p14="http://schemas.microsoft.com/office/powerpoint/2010/main" val="662949717"/>
              </p:ext>
            </p:extLst>
          </p:nvPr>
        </p:nvGraphicFramePr>
        <p:xfrm>
          <a:off x="2489993" y="1690688"/>
          <a:ext cx="7212013" cy="48080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557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DC92-0661-1246-80A9-19D7E41E1F07}"/>
              </a:ext>
            </a:extLst>
          </p:cNvPr>
          <p:cNvSpPr>
            <a:spLocks noGrp="1"/>
          </p:cNvSpPr>
          <p:nvPr>
            <p:ph type="title"/>
          </p:nvPr>
        </p:nvSpPr>
        <p:spPr/>
        <p:txBody>
          <a:bodyPr/>
          <a:lstStyle/>
          <a:p>
            <a:r>
              <a:rPr lang="en-US" dirty="0"/>
              <a:t>Supraglacial deterministic processes</a:t>
            </a:r>
          </a:p>
        </p:txBody>
      </p:sp>
      <p:sp>
        <p:nvSpPr>
          <p:cNvPr id="3" name="Content Placeholder 2">
            <a:extLst>
              <a:ext uri="{FF2B5EF4-FFF2-40B4-BE49-F238E27FC236}">
                <a16:creationId xmlns:a16="http://schemas.microsoft.com/office/drawing/2014/main" id="{A3E183A2-E290-3C4B-A147-40B6288AB72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52230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B114-DB6E-AD4D-BFC4-FDB8D03A7251}"/>
              </a:ext>
            </a:extLst>
          </p:cNvPr>
          <p:cNvSpPr>
            <a:spLocks noGrp="1"/>
          </p:cNvSpPr>
          <p:nvPr>
            <p:ph type="title"/>
          </p:nvPr>
        </p:nvSpPr>
        <p:spPr/>
        <p:txBody>
          <a:bodyPr/>
          <a:lstStyle/>
          <a:p>
            <a:r>
              <a:rPr lang="en-US" dirty="0"/>
              <a:t>Supraglacial stochastic processes</a:t>
            </a:r>
          </a:p>
        </p:txBody>
      </p:sp>
      <p:sp>
        <p:nvSpPr>
          <p:cNvPr id="3" name="Content Placeholder 2">
            <a:extLst>
              <a:ext uri="{FF2B5EF4-FFF2-40B4-BE49-F238E27FC236}">
                <a16:creationId xmlns:a16="http://schemas.microsoft.com/office/drawing/2014/main" id="{6A23DFD4-9C55-9849-993C-859830355257}"/>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782039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CC106-A16C-4843-9F85-7D221F98A36E}"/>
              </a:ext>
            </a:extLst>
          </p:cNvPr>
          <p:cNvSpPr>
            <a:spLocks noGrp="1"/>
          </p:cNvSpPr>
          <p:nvPr>
            <p:ph type="title"/>
          </p:nvPr>
        </p:nvSpPr>
        <p:spPr/>
        <p:txBody>
          <a:bodyPr/>
          <a:lstStyle/>
          <a:p>
            <a:r>
              <a:rPr lang="en-US" dirty="0"/>
              <a:t>Hypotheses</a:t>
            </a:r>
          </a:p>
        </p:txBody>
      </p:sp>
      <p:sp>
        <p:nvSpPr>
          <p:cNvPr id="3" name="Content Placeholder 2">
            <a:extLst>
              <a:ext uri="{FF2B5EF4-FFF2-40B4-BE49-F238E27FC236}">
                <a16:creationId xmlns:a16="http://schemas.microsoft.com/office/drawing/2014/main" id="{CB3584D2-37E7-F041-BDE2-7B1BFF03B4C6}"/>
              </a:ext>
            </a:extLst>
          </p:cNvPr>
          <p:cNvSpPr>
            <a:spLocks noGrp="1"/>
          </p:cNvSpPr>
          <p:nvPr>
            <p:ph idx="1"/>
          </p:nvPr>
        </p:nvSpPr>
        <p:spPr/>
        <p:txBody>
          <a:bodyPr>
            <a:normAutofit fontScale="92500" lnSpcReduction="20000"/>
          </a:bodyPr>
          <a:lstStyle/>
          <a:p>
            <a:r>
              <a:rPr lang="en-US" dirty="0"/>
              <a:t>Microbial community composition in the supraglacial environment is explained by both deterministic and stochastic processes.</a:t>
            </a:r>
          </a:p>
          <a:p>
            <a:r>
              <a:rPr lang="en-US" dirty="0"/>
              <a:t>Community assembly processes will differ between abundant and rare taxa. </a:t>
            </a:r>
          </a:p>
          <a:p>
            <a:r>
              <a:rPr lang="en-US" dirty="0"/>
              <a:t>Biogeographic patterns (ISAR, DDR) will differ between abundant and rare taxa.</a:t>
            </a:r>
          </a:p>
          <a:p>
            <a:r>
              <a:rPr lang="en-US" dirty="0"/>
              <a:t>Community assembly processes will differ between bulk and active microbial communities. That is, active communities will be more strongly influenced by deterministic processes and bulk communities will be more strongly influenced by stochastic processes.</a:t>
            </a:r>
          </a:p>
          <a:p>
            <a:r>
              <a:rPr lang="en-US" dirty="0"/>
              <a:t>Biogeographic patterns (ISAR, DDR) will differ between bulk and active communities. That is, active communities will exhibit stronger biogeographic patterns than bulk communities.</a:t>
            </a:r>
          </a:p>
          <a:p>
            <a:endParaRPr lang="en-US" dirty="0"/>
          </a:p>
        </p:txBody>
      </p:sp>
    </p:spTree>
    <p:extLst>
      <p:ext uri="{BB962C8B-B14F-4D97-AF65-F5344CB8AC3E}">
        <p14:creationId xmlns:p14="http://schemas.microsoft.com/office/powerpoint/2010/main" val="396663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7219C-A256-3B41-862B-643328BC5119}"/>
              </a:ext>
            </a:extLst>
          </p:cNvPr>
          <p:cNvSpPr>
            <a:spLocks noGrp="1"/>
          </p:cNvSpPr>
          <p:nvPr>
            <p:ph type="title"/>
          </p:nvPr>
        </p:nvSpPr>
        <p:spPr/>
        <p:txBody>
          <a:bodyPr/>
          <a:lstStyle/>
          <a:p>
            <a:r>
              <a:rPr lang="en-US" dirty="0"/>
              <a:t>Ordination </a:t>
            </a:r>
          </a:p>
        </p:txBody>
      </p:sp>
      <p:sp>
        <p:nvSpPr>
          <p:cNvPr id="3" name="Content Placeholder 2">
            <a:extLst>
              <a:ext uri="{FF2B5EF4-FFF2-40B4-BE49-F238E27FC236}">
                <a16:creationId xmlns:a16="http://schemas.microsoft.com/office/drawing/2014/main" id="{28B86DE3-8EDB-3A49-8E50-7FD4218F36FD}"/>
              </a:ext>
            </a:extLst>
          </p:cNvPr>
          <p:cNvSpPr>
            <a:spLocks noGrp="1"/>
          </p:cNvSpPr>
          <p:nvPr>
            <p:ph idx="1"/>
          </p:nvPr>
        </p:nvSpPr>
        <p:spPr/>
        <p:txBody>
          <a:bodyPr/>
          <a:lstStyle/>
          <a:p>
            <a:r>
              <a:rPr lang="en-US" dirty="0"/>
              <a:t>Data taken from: Sommers et al., (2020) </a:t>
            </a:r>
            <a:r>
              <a:rPr lang="en-GB" dirty="0"/>
              <a:t>Microbial Species – Area Relationships in Antarctic Cryoconite Holes Depend on Productivity</a:t>
            </a:r>
          </a:p>
          <a:p>
            <a:r>
              <a:rPr lang="en-GB" dirty="0"/>
              <a:t>Principal Coordinate Analysis to explore variation in community composition between the glaciers</a:t>
            </a:r>
            <a:endParaRPr lang="en-US" dirty="0"/>
          </a:p>
          <a:p>
            <a:endParaRPr lang="en-US" dirty="0"/>
          </a:p>
        </p:txBody>
      </p:sp>
    </p:spTree>
    <p:extLst>
      <p:ext uri="{BB962C8B-B14F-4D97-AF65-F5344CB8AC3E}">
        <p14:creationId xmlns:p14="http://schemas.microsoft.com/office/powerpoint/2010/main" val="2695905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45D3B-A455-EF48-91C3-A3250798EA64}"/>
              </a:ext>
            </a:extLst>
          </p:cNvPr>
          <p:cNvSpPr>
            <a:spLocks noGrp="1"/>
          </p:cNvSpPr>
          <p:nvPr>
            <p:ph type="title"/>
          </p:nvPr>
        </p:nvSpPr>
        <p:spPr/>
        <p:txBody>
          <a:bodyPr/>
          <a:lstStyle/>
          <a:p>
            <a:r>
              <a:rPr lang="en-US" dirty="0"/>
              <a:t>Alpha Diversity</a:t>
            </a:r>
          </a:p>
        </p:txBody>
      </p:sp>
      <p:sp>
        <p:nvSpPr>
          <p:cNvPr id="3" name="Content Placeholder 2">
            <a:extLst>
              <a:ext uri="{FF2B5EF4-FFF2-40B4-BE49-F238E27FC236}">
                <a16:creationId xmlns:a16="http://schemas.microsoft.com/office/drawing/2014/main" id="{2049920E-B358-7147-8331-3683EC758770}"/>
              </a:ext>
            </a:extLst>
          </p:cNvPr>
          <p:cNvSpPr>
            <a:spLocks noGrp="1"/>
          </p:cNvSpPr>
          <p:nvPr>
            <p:ph idx="1"/>
          </p:nvPr>
        </p:nvSpPr>
        <p:spPr/>
        <p:txBody>
          <a:bodyPr/>
          <a:lstStyle/>
          <a:p>
            <a:r>
              <a:rPr lang="en-US" dirty="0"/>
              <a:t>ASV richness</a:t>
            </a:r>
          </a:p>
          <a:p>
            <a:r>
              <a:rPr lang="en-US" dirty="0"/>
              <a:t>Shannon Diversity</a:t>
            </a:r>
          </a:p>
        </p:txBody>
      </p:sp>
    </p:spTree>
    <p:extLst>
      <p:ext uri="{BB962C8B-B14F-4D97-AF65-F5344CB8AC3E}">
        <p14:creationId xmlns:p14="http://schemas.microsoft.com/office/powerpoint/2010/main" val="3987674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59AC-EC01-BB40-9AF0-DCE9E14A298A}"/>
              </a:ext>
            </a:extLst>
          </p:cNvPr>
          <p:cNvSpPr>
            <a:spLocks noGrp="1"/>
          </p:cNvSpPr>
          <p:nvPr>
            <p:ph type="title"/>
          </p:nvPr>
        </p:nvSpPr>
        <p:spPr/>
        <p:txBody>
          <a:bodyPr/>
          <a:lstStyle/>
          <a:p>
            <a:r>
              <a:rPr lang="en-US" dirty="0"/>
              <a:t>Beta Diversity </a:t>
            </a:r>
          </a:p>
        </p:txBody>
      </p:sp>
      <p:sp>
        <p:nvSpPr>
          <p:cNvPr id="3" name="Content Placeholder 2">
            <a:extLst>
              <a:ext uri="{FF2B5EF4-FFF2-40B4-BE49-F238E27FC236}">
                <a16:creationId xmlns:a16="http://schemas.microsoft.com/office/drawing/2014/main" id="{B4135107-2C54-4541-9E57-EB148207FCF7}"/>
              </a:ext>
            </a:extLst>
          </p:cNvPr>
          <p:cNvSpPr>
            <a:spLocks noGrp="1"/>
          </p:cNvSpPr>
          <p:nvPr>
            <p:ph idx="1"/>
          </p:nvPr>
        </p:nvSpPr>
        <p:spPr/>
        <p:txBody>
          <a:bodyPr/>
          <a:lstStyle/>
          <a:p>
            <a:r>
              <a:rPr lang="en-US" dirty="0"/>
              <a:t>Weighted </a:t>
            </a:r>
            <a:r>
              <a:rPr lang="en-US" dirty="0" err="1"/>
              <a:t>UniFrac</a:t>
            </a:r>
            <a:r>
              <a:rPr lang="en-US" dirty="0"/>
              <a:t> Distance</a:t>
            </a:r>
          </a:p>
        </p:txBody>
      </p:sp>
    </p:spTree>
    <p:extLst>
      <p:ext uri="{BB962C8B-B14F-4D97-AF65-F5344CB8AC3E}">
        <p14:creationId xmlns:p14="http://schemas.microsoft.com/office/powerpoint/2010/main" val="633724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3173D-92A9-A142-88D2-12113C65FC43}"/>
              </a:ext>
            </a:extLst>
          </p:cNvPr>
          <p:cNvSpPr>
            <a:spLocks noGrp="1"/>
          </p:cNvSpPr>
          <p:nvPr>
            <p:ph type="title"/>
          </p:nvPr>
        </p:nvSpPr>
        <p:spPr/>
        <p:txBody>
          <a:bodyPr/>
          <a:lstStyle/>
          <a:p>
            <a:r>
              <a:rPr lang="en-US" dirty="0"/>
              <a:t>Multivariate Analysis</a:t>
            </a:r>
          </a:p>
        </p:txBody>
      </p:sp>
      <p:sp>
        <p:nvSpPr>
          <p:cNvPr id="3" name="Content Placeholder 2">
            <a:extLst>
              <a:ext uri="{FF2B5EF4-FFF2-40B4-BE49-F238E27FC236}">
                <a16:creationId xmlns:a16="http://schemas.microsoft.com/office/drawing/2014/main" id="{F9E2B9F6-D3F8-6F45-9AB8-A0B941544B0C}"/>
              </a:ext>
            </a:extLst>
          </p:cNvPr>
          <p:cNvSpPr>
            <a:spLocks noGrp="1"/>
          </p:cNvSpPr>
          <p:nvPr>
            <p:ph idx="1"/>
          </p:nvPr>
        </p:nvSpPr>
        <p:spPr/>
        <p:txBody>
          <a:bodyPr/>
          <a:lstStyle/>
          <a:p>
            <a:r>
              <a:rPr lang="en-US" dirty="0"/>
              <a:t>Kruskal-Wallis to compare alpha diversity between glaciers</a:t>
            </a:r>
          </a:p>
          <a:p>
            <a:r>
              <a:rPr lang="en-US" dirty="0"/>
              <a:t>Permutation Multivariate Analysis of Variance (PERMANOVA) to identify if community composition varied between glaciers</a:t>
            </a:r>
          </a:p>
          <a:p>
            <a:r>
              <a:rPr lang="en-US" dirty="0"/>
              <a:t>Canonical Analysis of Principal Coordinates (CAP) used to identify the variation in community composition explained by pH, cryoconite hole area, cryoconite hole depth, water content and chlorophyll</a:t>
            </a:r>
          </a:p>
          <a:p>
            <a:endParaRPr lang="en-US" dirty="0"/>
          </a:p>
        </p:txBody>
      </p:sp>
    </p:spTree>
    <p:extLst>
      <p:ext uri="{BB962C8B-B14F-4D97-AF65-F5344CB8AC3E}">
        <p14:creationId xmlns:p14="http://schemas.microsoft.com/office/powerpoint/2010/main" val="4168000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896E8-413A-8842-8F25-0B6D2DBBA5B9}"/>
              </a:ext>
            </a:extLst>
          </p:cNvPr>
          <p:cNvSpPr>
            <a:spLocks noGrp="1"/>
          </p:cNvSpPr>
          <p:nvPr>
            <p:ph type="title"/>
          </p:nvPr>
        </p:nvSpPr>
        <p:spPr/>
        <p:txBody>
          <a:bodyPr/>
          <a:lstStyle/>
          <a:p>
            <a:r>
              <a:rPr lang="en-US" dirty="0"/>
              <a:t>Island Species-Area Relationship (ISAR)</a:t>
            </a:r>
          </a:p>
        </p:txBody>
      </p:sp>
      <p:sp>
        <p:nvSpPr>
          <p:cNvPr id="3" name="Content Placeholder 2">
            <a:extLst>
              <a:ext uri="{FF2B5EF4-FFF2-40B4-BE49-F238E27FC236}">
                <a16:creationId xmlns:a16="http://schemas.microsoft.com/office/drawing/2014/main" id="{8164F5FD-2E5F-5C41-AD49-D588DDF7513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25178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06AD0-21A4-7A44-A044-69F6D58B5AF7}"/>
              </a:ext>
            </a:extLst>
          </p:cNvPr>
          <p:cNvSpPr>
            <a:spLocks noGrp="1"/>
          </p:cNvSpPr>
          <p:nvPr>
            <p:ph type="title"/>
          </p:nvPr>
        </p:nvSpPr>
        <p:spPr/>
        <p:txBody>
          <a:bodyPr/>
          <a:lstStyle/>
          <a:p>
            <a:r>
              <a:rPr lang="en-US" dirty="0"/>
              <a:t>Distance-Decay Relationship (DDR)</a:t>
            </a:r>
          </a:p>
        </p:txBody>
      </p:sp>
      <p:sp>
        <p:nvSpPr>
          <p:cNvPr id="3" name="Content Placeholder 2">
            <a:extLst>
              <a:ext uri="{FF2B5EF4-FFF2-40B4-BE49-F238E27FC236}">
                <a16:creationId xmlns:a16="http://schemas.microsoft.com/office/drawing/2014/main" id="{8C99AD61-FFDB-C541-AC73-40B69F35175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03124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E3458-3266-244D-BCB1-9A7BADC0BE83}"/>
              </a:ext>
            </a:extLst>
          </p:cNvPr>
          <p:cNvSpPr>
            <a:spLocks noGrp="1"/>
          </p:cNvSpPr>
          <p:nvPr>
            <p:ph type="title"/>
          </p:nvPr>
        </p:nvSpPr>
        <p:spPr/>
        <p:txBody>
          <a:bodyPr/>
          <a:lstStyle/>
          <a:p>
            <a:r>
              <a:rPr lang="en-US" dirty="0"/>
              <a:t>Community Assembly Processes</a:t>
            </a:r>
          </a:p>
        </p:txBody>
      </p:sp>
      <p:sp>
        <p:nvSpPr>
          <p:cNvPr id="3" name="Content Placeholder 2">
            <a:extLst>
              <a:ext uri="{FF2B5EF4-FFF2-40B4-BE49-F238E27FC236}">
                <a16:creationId xmlns:a16="http://schemas.microsoft.com/office/drawing/2014/main" id="{F90D7D02-C8D3-3346-98EA-A1F2BC2048E4}"/>
              </a:ext>
            </a:extLst>
          </p:cNvPr>
          <p:cNvSpPr>
            <a:spLocks noGrp="1"/>
          </p:cNvSpPr>
          <p:nvPr>
            <p:ph idx="1"/>
          </p:nvPr>
        </p:nvSpPr>
        <p:spPr/>
        <p:txBody>
          <a:bodyPr/>
          <a:lstStyle/>
          <a:p>
            <a:r>
              <a:rPr lang="en-US" dirty="0"/>
              <a:t>Variable selection</a:t>
            </a:r>
          </a:p>
          <a:p>
            <a:r>
              <a:rPr lang="en-US" dirty="0"/>
              <a:t>Homogenizing selection</a:t>
            </a:r>
          </a:p>
          <a:p>
            <a:r>
              <a:rPr lang="en-US" dirty="0"/>
              <a:t>Dispersal limitation</a:t>
            </a:r>
          </a:p>
          <a:p>
            <a:r>
              <a:rPr lang="en-US" dirty="0"/>
              <a:t>Homogenizing dispersal</a:t>
            </a:r>
          </a:p>
          <a:p>
            <a:r>
              <a:rPr lang="en-US" dirty="0"/>
              <a:t>Ecological drift</a:t>
            </a:r>
          </a:p>
        </p:txBody>
      </p:sp>
    </p:spTree>
    <p:extLst>
      <p:ext uri="{BB962C8B-B14F-4D97-AF65-F5344CB8AC3E}">
        <p14:creationId xmlns:p14="http://schemas.microsoft.com/office/powerpoint/2010/main" val="56936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26D42-074B-1E4B-A777-A7DC340A8715}"/>
              </a:ext>
            </a:extLst>
          </p:cNvPr>
          <p:cNvSpPr>
            <a:spLocks noGrp="1"/>
          </p:cNvSpPr>
          <p:nvPr>
            <p:ph type="title"/>
          </p:nvPr>
        </p:nvSpPr>
        <p:spPr/>
        <p:txBody>
          <a:bodyPr/>
          <a:lstStyle/>
          <a:p>
            <a:r>
              <a:rPr lang="en-US" dirty="0"/>
              <a:t>Evolutionary Diversification</a:t>
            </a:r>
          </a:p>
        </p:txBody>
      </p:sp>
      <p:sp>
        <p:nvSpPr>
          <p:cNvPr id="3" name="Content Placeholder 2">
            <a:extLst>
              <a:ext uri="{FF2B5EF4-FFF2-40B4-BE49-F238E27FC236}">
                <a16:creationId xmlns:a16="http://schemas.microsoft.com/office/drawing/2014/main" id="{1CA944D9-62DB-F04F-A3DA-3DD8B531DB20}"/>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982018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BA72A-65D0-264A-81C1-22BB6ED24C60}"/>
              </a:ext>
            </a:extLst>
          </p:cNvPr>
          <p:cNvSpPr>
            <a:spLocks noGrp="1"/>
          </p:cNvSpPr>
          <p:nvPr>
            <p:ph type="title"/>
          </p:nvPr>
        </p:nvSpPr>
        <p:spPr/>
        <p:txBody>
          <a:bodyPr/>
          <a:lstStyle/>
          <a:p>
            <a:r>
              <a:rPr lang="en-US" dirty="0"/>
              <a:t>Phylogenetic Null Model</a:t>
            </a:r>
          </a:p>
        </p:txBody>
      </p:sp>
      <p:sp>
        <p:nvSpPr>
          <p:cNvPr id="3" name="Content Placeholder 2">
            <a:extLst>
              <a:ext uri="{FF2B5EF4-FFF2-40B4-BE49-F238E27FC236}">
                <a16:creationId xmlns:a16="http://schemas.microsoft.com/office/drawing/2014/main" id="{5BADFAAF-DC9F-AC4F-9CCF-4761A7AC07D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38930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15911-3E3A-2D42-812C-A002F73441A0}"/>
              </a:ext>
            </a:extLst>
          </p:cNvPr>
          <p:cNvSpPr>
            <a:spLocks noGrp="1"/>
          </p:cNvSpPr>
          <p:nvPr>
            <p:ph type="title"/>
          </p:nvPr>
        </p:nvSpPr>
        <p:spPr/>
        <p:txBody>
          <a:bodyPr/>
          <a:lstStyle/>
          <a:p>
            <a:r>
              <a:rPr lang="en-US" dirty="0"/>
              <a:t>Phylogenetic Signal</a:t>
            </a:r>
          </a:p>
        </p:txBody>
      </p:sp>
      <p:pic>
        <p:nvPicPr>
          <p:cNvPr id="5" name="Content Placeholder 4">
            <a:extLst>
              <a:ext uri="{FF2B5EF4-FFF2-40B4-BE49-F238E27FC236}">
                <a16:creationId xmlns:a16="http://schemas.microsoft.com/office/drawing/2014/main" id="{F4496389-1C33-954D-A7E3-FD5E780D1E3B}"/>
              </a:ext>
            </a:extLst>
          </p:cNvPr>
          <p:cNvPicPr>
            <a:picLocks noGrp="1" noChangeAspect="1"/>
          </p:cNvPicPr>
          <p:nvPr>
            <p:ph idx="1"/>
          </p:nvPr>
        </p:nvPicPr>
        <p:blipFill>
          <a:blip r:embed="rId3"/>
          <a:stretch>
            <a:fillRect/>
          </a:stretch>
        </p:blipFill>
        <p:spPr>
          <a:xfrm>
            <a:off x="2469885" y="1825625"/>
            <a:ext cx="7252230" cy="4351338"/>
          </a:xfrm>
        </p:spPr>
      </p:pic>
    </p:spTree>
    <p:extLst>
      <p:ext uri="{BB962C8B-B14F-4D97-AF65-F5344CB8AC3E}">
        <p14:creationId xmlns:p14="http://schemas.microsoft.com/office/powerpoint/2010/main" val="3277568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64B50-1133-7740-B87C-5F128B15AF84}"/>
              </a:ext>
            </a:extLst>
          </p:cNvPr>
          <p:cNvSpPr>
            <a:spLocks noGrp="1"/>
          </p:cNvSpPr>
          <p:nvPr>
            <p:ph type="title"/>
          </p:nvPr>
        </p:nvSpPr>
        <p:spPr/>
        <p:txBody>
          <a:bodyPr/>
          <a:lstStyle/>
          <a:p>
            <a:r>
              <a:rPr lang="el-GR" dirty="0"/>
              <a:t>β</a:t>
            </a:r>
            <a:r>
              <a:rPr lang="en-US" dirty="0"/>
              <a:t>-Nearest Taxon Index</a:t>
            </a:r>
          </a:p>
        </p:txBody>
      </p:sp>
      <p:sp>
        <p:nvSpPr>
          <p:cNvPr id="3" name="Content Placeholder 2">
            <a:extLst>
              <a:ext uri="{FF2B5EF4-FFF2-40B4-BE49-F238E27FC236}">
                <a16:creationId xmlns:a16="http://schemas.microsoft.com/office/drawing/2014/main" id="{A128397E-478A-7C43-B224-54FEC2B5BD9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15027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B7020-9577-A94A-91A6-2CF66C6BF629}"/>
              </a:ext>
            </a:extLst>
          </p:cNvPr>
          <p:cNvSpPr>
            <a:spLocks noGrp="1"/>
          </p:cNvSpPr>
          <p:nvPr>
            <p:ph type="title"/>
          </p:nvPr>
        </p:nvSpPr>
        <p:spPr/>
        <p:txBody>
          <a:bodyPr/>
          <a:lstStyle/>
          <a:p>
            <a:r>
              <a:rPr lang="en-US" dirty="0"/>
              <a:t>Sloan’s Neutral Model</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EF90FC4-C7F0-4A4B-94AE-45A87108974C}"/>
                  </a:ext>
                </a:extLst>
              </p:cNvPr>
              <p:cNvSpPr txBox="1"/>
              <p:nvPr/>
            </p:nvSpPr>
            <p:spPr>
              <a:xfrm>
                <a:off x="2367447" y="2811121"/>
                <a:ext cx="7457106" cy="96750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unc>
                        <m:funcPr>
                          <m:ctrlPr>
                            <a:rPr lang="en-GB" sz="2800" b="0" i="1" smtClean="0">
                              <a:latin typeface="Cambria Math" panose="02040503050406030204" pitchFamily="18" charset="0"/>
                            </a:rPr>
                          </m:ctrlPr>
                        </m:funcPr>
                        <m:fName>
                          <m:r>
                            <m:rPr>
                              <m:sty m:val="p"/>
                            </m:rPr>
                            <a:rPr lang="en-GB" sz="2800" b="0" i="0" smtClean="0">
                              <a:latin typeface="Cambria Math" panose="02040503050406030204" pitchFamily="18" charset="0"/>
                            </a:rPr>
                            <m:t>Pr</m:t>
                          </m:r>
                        </m:fName>
                        <m:e>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r>
                                <a:rPr lang="en-GB" sz="2800" b="0" i="1" baseline="-25000" smtClean="0">
                                  <a:latin typeface="Cambria Math" panose="02040503050406030204" pitchFamily="18" charset="0"/>
                                </a:rPr>
                                <m:t>𝑖</m:t>
                              </m:r>
                              <m:r>
                                <a:rPr lang="en-GB" sz="2800" b="0" i="1" smtClean="0">
                                  <a:latin typeface="Cambria Math" panose="02040503050406030204" pitchFamily="18" charset="0"/>
                                </a:rPr>
                                <m:t>&gt;</m:t>
                              </m:r>
                              <m:r>
                                <a:rPr lang="en-GB" sz="2800" b="0" i="1" smtClean="0">
                                  <a:latin typeface="Cambria Math" panose="02040503050406030204" pitchFamily="18" charset="0"/>
                                </a:rPr>
                                <m:t>𝑑</m:t>
                              </m:r>
                            </m:e>
                          </m:d>
                        </m:e>
                      </m:func>
                      <m:r>
                        <a:rPr lang="en-GB" sz="2800" b="0" i="1" smtClean="0">
                          <a:latin typeface="Cambria Math" panose="02040503050406030204" pitchFamily="18" charset="0"/>
                        </a:rPr>
                        <m:t>= </m:t>
                      </m:r>
                      <m:nary>
                        <m:naryPr>
                          <m:ctrlPr>
                            <a:rPr lang="en-GB" sz="2800" b="0" i="1" smtClean="0">
                              <a:latin typeface="Cambria Math" panose="02040503050406030204" pitchFamily="18" charset="0"/>
                            </a:rPr>
                          </m:ctrlPr>
                        </m:naryPr>
                        <m:sub>
                          <m:r>
                            <m:rPr>
                              <m:brk m:alnAt="23"/>
                            </m:rPr>
                            <a:rPr lang="en-GB" sz="2800" b="0" i="1" smtClean="0">
                              <a:latin typeface="Cambria Math" panose="02040503050406030204" pitchFamily="18" charset="0"/>
                            </a:rPr>
                            <m:t>𝑑</m:t>
                          </m:r>
                        </m:sub>
                        <m:sup>
                          <m:r>
                            <a:rPr lang="en-GB" sz="2800" b="0" i="1" smtClean="0">
                              <a:latin typeface="Cambria Math" panose="02040503050406030204" pitchFamily="18" charset="0"/>
                            </a:rPr>
                            <m:t>1</m:t>
                          </m:r>
                        </m:sup>
                        <m:e>
                          <m:r>
                            <a:rPr lang="en-GB" sz="2800" b="0" i="1" smtClean="0">
                              <a:latin typeface="Cambria Math" panose="02040503050406030204" pitchFamily="18" charset="0"/>
                            </a:rPr>
                            <m:t>𝐵𝑒𝑡𝑎</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𝑥</m:t>
                              </m:r>
                              <m:r>
                                <a:rPr lang="en-GB" sz="2800" b="0" i="1" baseline="-25000" smtClean="0">
                                  <a:latin typeface="Cambria Math" panose="02040503050406030204" pitchFamily="18" charset="0"/>
                                </a:rPr>
                                <m:t>𝑖</m:t>
                              </m:r>
                              <m:r>
                                <a:rPr lang="en-GB" sz="2800" b="0" i="1" smtClean="0">
                                  <a:latin typeface="Cambria Math" panose="02040503050406030204" pitchFamily="18" charset="0"/>
                                </a:rPr>
                                <m:t>:</m:t>
                              </m:r>
                              <m:r>
                                <a:rPr lang="en-GB" sz="2800" b="0" i="1" smtClean="0">
                                  <a:latin typeface="Cambria Math" panose="02040503050406030204" pitchFamily="18" charset="0"/>
                                </a:rPr>
                                <m:t>𝑁𝑚𝑝𝑖</m:t>
                              </m:r>
                              <m:r>
                                <a:rPr lang="en-GB" sz="2800" b="0" i="1" smtClean="0">
                                  <a:latin typeface="Cambria Math" panose="02040503050406030204" pitchFamily="18" charset="0"/>
                                </a:rPr>
                                <m:t>, </m:t>
                              </m:r>
                              <m:r>
                                <a:rPr lang="en-GB" sz="2800" b="0" i="1" smtClean="0">
                                  <a:latin typeface="Cambria Math" panose="02040503050406030204" pitchFamily="18" charset="0"/>
                                </a:rPr>
                                <m:t>𝑁𝑚</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1−</m:t>
                                  </m:r>
                                  <m:r>
                                    <a:rPr lang="en-GB" sz="2800" b="0" i="1" smtClean="0">
                                      <a:latin typeface="Cambria Math" panose="02040503050406030204" pitchFamily="18" charset="0"/>
                                    </a:rPr>
                                    <m:t>𝑝𝑖</m:t>
                                  </m:r>
                                </m:e>
                              </m:d>
                            </m:e>
                          </m:d>
                          <m:r>
                            <a:rPr lang="en-GB" sz="2800" b="0" i="1" smtClean="0">
                              <a:latin typeface="Cambria Math" panose="02040503050406030204" pitchFamily="18" charset="0"/>
                            </a:rPr>
                            <m:t>𝑑𝑥</m:t>
                          </m:r>
                          <m:r>
                            <a:rPr lang="en-GB" sz="2800" b="0" i="1" baseline="-25000" smtClean="0">
                              <a:latin typeface="Cambria Math" panose="02040503050406030204" pitchFamily="18" charset="0"/>
                            </a:rPr>
                            <m:t>𝑖</m:t>
                          </m:r>
                        </m:e>
                      </m:nary>
                    </m:oMath>
                  </m:oMathPara>
                </a14:m>
                <a:endParaRPr lang="en-US" sz="2800" dirty="0"/>
              </a:p>
            </p:txBody>
          </p:sp>
        </mc:Choice>
        <mc:Fallback>
          <p:sp>
            <p:nvSpPr>
              <p:cNvPr id="4" name="TextBox 3">
                <a:extLst>
                  <a:ext uri="{FF2B5EF4-FFF2-40B4-BE49-F238E27FC236}">
                    <a16:creationId xmlns:a16="http://schemas.microsoft.com/office/drawing/2014/main" id="{1EF90FC4-C7F0-4A4B-94AE-45A87108974C}"/>
                  </a:ext>
                </a:extLst>
              </p:cNvPr>
              <p:cNvSpPr txBox="1">
                <a:spLocks noRot="1" noChangeAspect="1" noMove="1" noResize="1" noEditPoints="1" noAdjustHandles="1" noChangeArrowheads="1" noChangeShapeType="1" noTextEdit="1"/>
              </p:cNvSpPr>
              <p:nvPr/>
            </p:nvSpPr>
            <p:spPr>
              <a:xfrm>
                <a:off x="2367447" y="2811121"/>
                <a:ext cx="7457106" cy="967509"/>
              </a:xfrm>
              <a:prstGeom prst="rect">
                <a:avLst/>
              </a:prstGeom>
              <a:blipFill>
                <a:blip r:embed="rId3"/>
                <a:stretch>
                  <a:fillRect l="-509" t="-176923" b="-2615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0DBDA71-E44A-BE44-ADBA-F1537544C3EC}"/>
              </a:ext>
            </a:extLst>
          </p:cNvPr>
          <p:cNvSpPr txBox="1"/>
          <p:nvPr/>
        </p:nvSpPr>
        <p:spPr>
          <a:xfrm>
            <a:off x="382385" y="3294875"/>
            <a:ext cx="1236916" cy="369332"/>
          </a:xfrm>
          <a:prstGeom prst="rect">
            <a:avLst/>
          </a:prstGeom>
          <a:noFill/>
        </p:spPr>
        <p:txBody>
          <a:bodyPr wrap="square" rtlCol="0">
            <a:spAutoFit/>
          </a:bodyPr>
          <a:lstStyle/>
          <a:p>
            <a:r>
              <a:rPr lang="en-US" dirty="0"/>
              <a:t>Probability</a:t>
            </a:r>
          </a:p>
        </p:txBody>
      </p:sp>
      <p:sp>
        <p:nvSpPr>
          <p:cNvPr id="7" name="TextBox 6">
            <a:extLst>
              <a:ext uri="{FF2B5EF4-FFF2-40B4-BE49-F238E27FC236}">
                <a16:creationId xmlns:a16="http://schemas.microsoft.com/office/drawing/2014/main" id="{9A4D7EC7-13BD-EB48-A96A-3F6B23FC1DE9}"/>
              </a:ext>
            </a:extLst>
          </p:cNvPr>
          <p:cNvSpPr txBox="1"/>
          <p:nvPr/>
        </p:nvSpPr>
        <p:spPr>
          <a:xfrm>
            <a:off x="1785556" y="2364387"/>
            <a:ext cx="2624051" cy="369332"/>
          </a:xfrm>
          <a:prstGeom prst="rect">
            <a:avLst/>
          </a:prstGeom>
          <a:noFill/>
        </p:spPr>
        <p:txBody>
          <a:bodyPr wrap="square" rtlCol="0">
            <a:spAutoFit/>
          </a:bodyPr>
          <a:lstStyle/>
          <a:p>
            <a:r>
              <a:rPr lang="en-US" dirty="0"/>
              <a:t>Abundance of species </a:t>
            </a:r>
            <a:r>
              <a:rPr lang="en-US" i="1" dirty="0" err="1"/>
              <a:t>i</a:t>
            </a:r>
            <a:endParaRPr lang="en-US" i="1" dirty="0"/>
          </a:p>
        </p:txBody>
      </p:sp>
      <p:sp>
        <p:nvSpPr>
          <p:cNvPr id="8" name="TextBox 7">
            <a:extLst>
              <a:ext uri="{FF2B5EF4-FFF2-40B4-BE49-F238E27FC236}">
                <a16:creationId xmlns:a16="http://schemas.microsoft.com/office/drawing/2014/main" id="{C265703F-FA78-E542-A9DE-F8A258E03984}"/>
              </a:ext>
            </a:extLst>
          </p:cNvPr>
          <p:cNvSpPr txBox="1"/>
          <p:nvPr/>
        </p:nvSpPr>
        <p:spPr>
          <a:xfrm>
            <a:off x="2367447" y="4039986"/>
            <a:ext cx="2042160" cy="369332"/>
          </a:xfrm>
          <a:prstGeom prst="rect">
            <a:avLst/>
          </a:prstGeom>
          <a:noFill/>
        </p:spPr>
        <p:txBody>
          <a:bodyPr wrap="square" rtlCol="0">
            <a:spAutoFit/>
          </a:bodyPr>
          <a:lstStyle/>
          <a:p>
            <a:r>
              <a:rPr lang="en-US" dirty="0"/>
              <a:t>Detection threshold</a:t>
            </a:r>
          </a:p>
        </p:txBody>
      </p:sp>
      <p:cxnSp>
        <p:nvCxnSpPr>
          <p:cNvPr id="10" name="Straight Arrow Connector 9">
            <a:extLst>
              <a:ext uri="{FF2B5EF4-FFF2-40B4-BE49-F238E27FC236}">
                <a16:creationId xmlns:a16="http://schemas.microsoft.com/office/drawing/2014/main" id="{67CF27A2-6F14-3B4C-824A-FA627F8FA684}"/>
              </a:ext>
            </a:extLst>
          </p:cNvPr>
          <p:cNvCxnSpPr/>
          <p:nvPr/>
        </p:nvCxnSpPr>
        <p:spPr>
          <a:xfrm>
            <a:off x="2959331" y="2733719"/>
            <a:ext cx="138250" cy="4251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BE78D59-576C-644A-A91C-CCB46B61FE64}"/>
              </a:ext>
            </a:extLst>
          </p:cNvPr>
          <p:cNvCxnSpPr>
            <a:cxnSpLocks/>
          </p:cNvCxnSpPr>
          <p:nvPr/>
        </p:nvCxnSpPr>
        <p:spPr>
          <a:xfrm flipV="1">
            <a:off x="1602676" y="3294875"/>
            <a:ext cx="764771" cy="184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B2CF13C6-01A7-504E-AA61-B0C231E3869F}"/>
              </a:ext>
            </a:extLst>
          </p:cNvPr>
          <p:cNvCxnSpPr>
            <a:cxnSpLocks/>
          </p:cNvCxnSpPr>
          <p:nvPr/>
        </p:nvCxnSpPr>
        <p:spPr>
          <a:xfrm flipV="1">
            <a:off x="3132218" y="3479541"/>
            <a:ext cx="455520" cy="5604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A4688950-3C15-4349-B88C-320C7395CD11}"/>
              </a:ext>
            </a:extLst>
          </p:cNvPr>
          <p:cNvSpPr txBox="1"/>
          <p:nvPr/>
        </p:nvSpPr>
        <p:spPr>
          <a:xfrm>
            <a:off x="5462847" y="4529731"/>
            <a:ext cx="3308466" cy="369332"/>
          </a:xfrm>
          <a:prstGeom prst="rect">
            <a:avLst/>
          </a:prstGeom>
          <a:noFill/>
        </p:spPr>
        <p:txBody>
          <a:bodyPr wrap="square" rtlCol="0">
            <a:spAutoFit/>
          </a:bodyPr>
          <a:lstStyle/>
          <a:p>
            <a:r>
              <a:rPr lang="en-US" dirty="0"/>
              <a:t>Beta probability density function</a:t>
            </a:r>
          </a:p>
        </p:txBody>
      </p:sp>
      <p:sp>
        <p:nvSpPr>
          <p:cNvPr id="22" name="Right Brace 21">
            <a:extLst>
              <a:ext uri="{FF2B5EF4-FFF2-40B4-BE49-F238E27FC236}">
                <a16:creationId xmlns:a16="http://schemas.microsoft.com/office/drawing/2014/main" id="{F592FB26-D4F9-854F-A0A9-BA508A636B6C}"/>
              </a:ext>
            </a:extLst>
          </p:cNvPr>
          <p:cNvSpPr/>
          <p:nvPr/>
        </p:nvSpPr>
        <p:spPr>
          <a:xfrm rot="5400000">
            <a:off x="6826135" y="1437625"/>
            <a:ext cx="581891" cy="5414945"/>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D09EC8D1-D5D5-824B-92C4-E5541FB11FBC}"/>
              </a:ext>
            </a:extLst>
          </p:cNvPr>
          <p:cNvSpPr txBox="1"/>
          <p:nvPr/>
        </p:nvSpPr>
        <p:spPr>
          <a:xfrm>
            <a:off x="4942459" y="1827570"/>
            <a:ext cx="1446414" cy="923330"/>
          </a:xfrm>
          <a:prstGeom prst="rect">
            <a:avLst/>
          </a:prstGeom>
          <a:noFill/>
        </p:spPr>
        <p:txBody>
          <a:bodyPr wrap="square" rtlCol="0">
            <a:spAutoFit/>
          </a:bodyPr>
          <a:lstStyle/>
          <a:p>
            <a:r>
              <a:rPr lang="en-US" dirty="0"/>
              <a:t>Average sample read count</a:t>
            </a:r>
          </a:p>
        </p:txBody>
      </p:sp>
      <p:cxnSp>
        <p:nvCxnSpPr>
          <p:cNvPr id="24" name="Straight Arrow Connector 23">
            <a:extLst>
              <a:ext uri="{FF2B5EF4-FFF2-40B4-BE49-F238E27FC236}">
                <a16:creationId xmlns:a16="http://schemas.microsoft.com/office/drawing/2014/main" id="{A3E53A8B-A133-9345-BCC7-302B3A857596}"/>
              </a:ext>
            </a:extLst>
          </p:cNvPr>
          <p:cNvCxnSpPr>
            <a:cxnSpLocks/>
          </p:cNvCxnSpPr>
          <p:nvPr/>
        </p:nvCxnSpPr>
        <p:spPr>
          <a:xfrm>
            <a:off x="5748502" y="2476611"/>
            <a:ext cx="668923" cy="6822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FCA84843-06D9-1846-9D05-C99267C2C02C}"/>
              </a:ext>
            </a:extLst>
          </p:cNvPr>
          <p:cNvSpPr txBox="1"/>
          <p:nvPr/>
        </p:nvSpPr>
        <p:spPr>
          <a:xfrm>
            <a:off x="6308667" y="847024"/>
            <a:ext cx="1616826" cy="1754326"/>
          </a:xfrm>
          <a:prstGeom prst="rect">
            <a:avLst/>
          </a:prstGeom>
          <a:noFill/>
        </p:spPr>
        <p:txBody>
          <a:bodyPr wrap="square" rtlCol="0">
            <a:spAutoFit/>
          </a:bodyPr>
          <a:lstStyle/>
          <a:p>
            <a:r>
              <a:rPr lang="en-US" dirty="0"/>
              <a:t>Probability that a dead individual is replaced by dispersing individual</a:t>
            </a:r>
          </a:p>
        </p:txBody>
      </p:sp>
      <p:cxnSp>
        <p:nvCxnSpPr>
          <p:cNvPr id="30" name="Straight Arrow Connector 29">
            <a:extLst>
              <a:ext uri="{FF2B5EF4-FFF2-40B4-BE49-F238E27FC236}">
                <a16:creationId xmlns:a16="http://schemas.microsoft.com/office/drawing/2014/main" id="{4882A002-6935-344A-8B1A-66D15E06F671}"/>
              </a:ext>
            </a:extLst>
          </p:cNvPr>
          <p:cNvCxnSpPr>
            <a:cxnSpLocks/>
          </p:cNvCxnSpPr>
          <p:nvPr/>
        </p:nvCxnSpPr>
        <p:spPr>
          <a:xfrm>
            <a:off x="6818659" y="2601350"/>
            <a:ext cx="0" cy="557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BCFE50B3-9BF3-954C-944F-82EDC97EB759}"/>
              </a:ext>
            </a:extLst>
          </p:cNvPr>
          <p:cNvSpPr txBox="1"/>
          <p:nvPr/>
        </p:nvSpPr>
        <p:spPr>
          <a:xfrm>
            <a:off x="7610397" y="1348724"/>
            <a:ext cx="1750522" cy="1200329"/>
          </a:xfrm>
          <a:prstGeom prst="rect">
            <a:avLst/>
          </a:prstGeom>
          <a:noFill/>
        </p:spPr>
        <p:txBody>
          <a:bodyPr wrap="square" rtlCol="0">
            <a:spAutoFit/>
          </a:bodyPr>
          <a:lstStyle/>
          <a:p>
            <a:r>
              <a:rPr lang="en-US" dirty="0"/>
              <a:t>Relative abundance of species </a:t>
            </a:r>
            <a:r>
              <a:rPr lang="en-US" i="1" dirty="0" err="1"/>
              <a:t>i</a:t>
            </a:r>
            <a:r>
              <a:rPr lang="en-US" dirty="0"/>
              <a:t> in the metacommunity</a:t>
            </a:r>
          </a:p>
        </p:txBody>
      </p:sp>
      <p:cxnSp>
        <p:nvCxnSpPr>
          <p:cNvPr id="35" name="Straight Arrow Connector 34">
            <a:extLst>
              <a:ext uri="{FF2B5EF4-FFF2-40B4-BE49-F238E27FC236}">
                <a16:creationId xmlns:a16="http://schemas.microsoft.com/office/drawing/2014/main" id="{BA461DE8-5613-484F-87A0-125551D9C0EC}"/>
              </a:ext>
            </a:extLst>
          </p:cNvPr>
          <p:cNvCxnSpPr>
            <a:cxnSpLocks/>
          </p:cNvCxnSpPr>
          <p:nvPr/>
        </p:nvCxnSpPr>
        <p:spPr>
          <a:xfrm flipH="1">
            <a:off x="7117081" y="2601350"/>
            <a:ext cx="844635" cy="557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Right Brace 37">
            <a:extLst>
              <a:ext uri="{FF2B5EF4-FFF2-40B4-BE49-F238E27FC236}">
                <a16:creationId xmlns:a16="http://schemas.microsoft.com/office/drawing/2014/main" id="{3B831A3D-FB0A-2747-9C97-D4D90A414F85}"/>
              </a:ext>
            </a:extLst>
          </p:cNvPr>
          <p:cNvSpPr/>
          <p:nvPr/>
        </p:nvSpPr>
        <p:spPr>
          <a:xfrm rot="5400000">
            <a:off x="5500231" y="124763"/>
            <a:ext cx="515389" cy="10352069"/>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1EDE13FD-762C-E645-B28E-EFAF1603682A}"/>
                  </a:ext>
                </a:extLst>
              </p:cNvPr>
              <p:cNvSpPr txBox="1"/>
              <p:nvPr/>
            </p:nvSpPr>
            <p:spPr>
              <a:xfrm>
                <a:off x="2078182" y="5785658"/>
                <a:ext cx="8296102" cy="369332"/>
              </a:xfrm>
              <a:prstGeom prst="rect">
                <a:avLst/>
              </a:prstGeom>
              <a:noFill/>
            </p:spPr>
            <p:txBody>
              <a:bodyPr wrap="square" rtlCol="0">
                <a:spAutoFit/>
              </a:bodyPr>
              <a:lstStyle/>
              <a:p>
                <a14:m>
                  <m:oMath xmlns:m="http://schemas.openxmlformats.org/officeDocument/2006/math">
                    <m:func>
                      <m:funcPr>
                        <m:ctrlPr>
                          <a:rPr lang="en-GB" i="1">
                            <a:latin typeface="Cambria Math" panose="02040503050406030204" pitchFamily="18" charset="0"/>
                          </a:rPr>
                        </m:ctrlPr>
                      </m:funcPr>
                      <m:fName>
                        <m:r>
                          <m:rPr>
                            <m:sty m:val="p"/>
                          </m:rPr>
                          <a:rPr lang="en-GB">
                            <a:latin typeface="Cambria Math" panose="02040503050406030204" pitchFamily="18" charset="0"/>
                          </a:rPr>
                          <m:t>Pr</m:t>
                        </m:r>
                      </m:fName>
                      <m:e>
                        <m:d>
                          <m:dPr>
                            <m:ctrlPr>
                              <a:rPr lang="en-GB" i="1">
                                <a:latin typeface="Cambria Math" panose="02040503050406030204" pitchFamily="18" charset="0"/>
                              </a:rPr>
                            </m:ctrlPr>
                          </m:dPr>
                          <m:e>
                            <m:r>
                              <a:rPr lang="en-GB" i="1">
                                <a:latin typeface="Cambria Math" panose="02040503050406030204" pitchFamily="18" charset="0"/>
                              </a:rPr>
                              <m:t>𝑥</m:t>
                            </m:r>
                            <m:r>
                              <a:rPr lang="en-GB" i="1" baseline="-25000">
                                <a:latin typeface="Cambria Math" panose="02040503050406030204" pitchFamily="18" charset="0"/>
                              </a:rPr>
                              <m:t>𝑖</m:t>
                            </m:r>
                            <m:r>
                              <a:rPr lang="en-GB" i="1">
                                <a:latin typeface="Cambria Math" panose="02040503050406030204" pitchFamily="18" charset="0"/>
                              </a:rPr>
                              <m:t>&gt;</m:t>
                            </m:r>
                            <m:r>
                              <a:rPr lang="en-GB" i="1">
                                <a:latin typeface="Cambria Math" panose="02040503050406030204" pitchFamily="18" charset="0"/>
                              </a:rPr>
                              <m:t>𝑑</m:t>
                            </m:r>
                          </m:e>
                        </m:d>
                      </m:e>
                    </m:func>
                  </m:oMath>
                </a14:m>
                <a:r>
                  <a:rPr lang="en-US" dirty="0"/>
                  <a:t> is equal to the proportion of samples in which species </a:t>
                </a:r>
                <a:r>
                  <a:rPr lang="en-US" i="1" dirty="0" err="1"/>
                  <a:t>i</a:t>
                </a:r>
                <a:r>
                  <a:rPr lang="en-US" dirty="0"/>
                  <a:t> is observed</a:t>
                </a:r>
              </a:p>
            </p:txBody>
          </p:sp>
        </mc:Choice>
        <mc:Fallback>
          <p:sp>
            <p:nvSpPr>
              <p:cNvPr id="39" name="TextBox 38">
                <a:extLst>
                  <a:ext uri="{FF2B5EF4-FFF2-40B4-BE49-F238E27FC236}">
                    <a16:creationId xmlns:a16="http://schemas.microsoft.com/office/drawing/2014/main" id="{1EDE13FD-762C-E645-B28E-EFAF1603682A}"/>
                  </a:ext>
                </a:extLst>
              </p:cNvPr>
              <p:cNvSpPr txBox="1">
                <a:spLocks noRot="1" noChangeAspect="1" noMove="1" noResize="1" noEditPoints="1" noAdjustHandles="1" noChangeArrowheads="1" noChangeShapeType="1" noTextEdit="1"/>
              </p:cNvSpPr>
              <p:nvPr/>
            </p:nvSpPr>
            <p:spPr>
              <a:xfrm>
                <a:off x="2078182" y="5785658"/>
                <a:ext cx="8296102" cy="369332"/>
              </a:xfrm>
              <a:prstGeom prst="rect">
                <a:avLst/>
              </a:prstGeom>
              <a:blipFill>
                <a:blip r:embed="rId4"/>
                <a:stretch>
                  <a:fillRect t="-10345" b="-24138"/>
                </a:stretch>
              </a:blipFill>
            </p:spPr>
            <p:txBody>
              <a:bodyPr/>
              <a:lstStyle/>
              <a:p>
                <a:r>
                  <a:rPr lang="en-US">
                    <a:noFill/>
                  </a:rPr>
                  <a:t> </a:t>
                </a:r>
              </a:p>
            </p:txBody>
          </p:sp>
        </mc:Fallback>
      </mc:AlternateContent>
    </p:spTree>
    <p:extLst>
      <p:ext uri="{BB962C8B-B14F-4D97-AF65-F5344CB8AC3E}">
        <p14:creationId xmlns:p14="http://schemas.microsoft.com/office/powerpoint/2010/main" val="2102182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666F3-51C2-4741-B321-B1E35D0FA677}"/>
              </a:ext>
            </a:extLst>
          </p:cNvPr>
          <p:cNvSpPr>
            <a:spLocks noGrp="1"/>
          </p:cNvSpPr>
          <p:nvPr>
            <p:ph type="title"/>
          </p:nvPr>
        </p:nvSpPr>
        <p:spPr/>
        <p:txBody>
          <a:bodyPr/>
          <a:lstStyle/>
          <a:p>
            <a:r>
              <a:rPr lang="en-US" dirty="0"/>
              <a:t>Code</a:t>
            </a:r>
          </a:p>
        </p:txBody>
      </p:sp>
      <p:graphicFrame>
        <p:nvGraphicFramePr>
          <p:cNvPr id="4" name="Diagram 3">
            <a:extLst>
              <a:ext uri="{FF2B5EF4-FFF2-40B4-BE49-F238E27FC236}">
                <a16:creationId xmlns:a16="http://schemas.microsoft.com/office/drawing/2014/main" id="{B2B24C83-F06A-6B49-8844-40109AFE847B}"/>
              </a:ext>
            </a:extLst>
          </p:cNvPr>
          <p:cNvGraphicFramePr/>
          <p:nvPr>
            <p:extLst>
              <p:ext uri="{D42A27DB-BD31-4B8C-83A1-F6EECF244321}">
                <p14:modId xmlns:p14="http://schemas.microsoft.com/office/powerpoint/2010/main" val="755050813"/>
              </p:ext>
            </p:extLst>
          </p:nvPr>
        </p:nvGraphicFramePr>
        <p:xfrm>
          <a:off x="3200400" y="623359"/>
          <a:ext cx="84582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2">
            <a:extLst>
              <a:ext uri="{FF2B5EF4-FFF2-40B4-BE49-F238E27FC236}">
                <a16:creationId xmlns:a16="http://schemas.microsoft.com/office/drawing/2014/main" id="{79118AC9-2DCE-9E4F-A300-E8EC5CD657BC}"/>
              </a:ext>
            </a:extLst>
          </p:cNvPr>
          <p:cNvSpPr>
            <a:spLocks noGrp="1"/>
          </p:cNvSpPr>
          <p:nvPr>
            <p:ph idx="1"/>
          </p:nvPr>
        </p:nvSpPr>
        <p:spPr>
          <a:xfrm>
            <a:off x="838200" y="1562101"/>
            <a:ext cx="1804988" cy="4351338"/>
          </a:xfrm>
        </p:spPr>
        <p:txBody>
          <a:bodyPr>
            <a:normAutofit fontScale="92500" lnSpcReduction="10000"/>
          </a:bodyPr>
          <a:lstStyle/>
          <a:p>
            <a:pPr marL="0" indent="0">
              <a:buNone/>
            </a:pPr>
            <a:r>
              <a:rPr lang="en-US" sz="1600" b="1" dirty="0"/>
              <a:t>Packages</a:t>
            </a:r>
          </a:p>
          <a:p>
            <a:pPr marL="0" indent="0">
              <a:buNone/>
            </a:pPr>
            <a:r>
              <a:rPr lang="en-US" sz="1600" dirty="0"/>
              <a:t>library(</a:t>
            </a:r>
            <a:r>
              <a:rPr lang="en-US" sz="1600" dirty="0" err="1"/>
              <a:t>dplyr</a:t>
            </a:r>
            <a:r>
              <a:rPr lang="en-US" sz="1600" dirty="0"/>
              <a:t>)</a:t>
            </a:r>
          </a:p>
          <a:p>
            <a:pPr marL="0" indent="0">
              <a:buNone/>
            </a:pPr>
            <a:r>
              <a:rPr lang="en-US" sz="1600" dirty="0"/>
              <a:t>library(</a:t>
            </a:r>
            <a:r>
              <a:rPr lang="en-US" sz="1600" dirty="0" err="1"/>
              <a:t>tibble</a:t>
            </a:r>
            <a:r>
              <a:rPr lang="en-US" sz="1600" dirty="0"/>
              <a:t>)</a:t>
            </a:r>
          </a:p>
          <a:p>
            <a:pPr marL="0" indent="0">
              <a:buNone/>
            </a:pPr>
            <a:r>
              <a:rPr lang="en-US" sz="1600" dirty="0"/>
              <a:t>library(</a:t>
            </a:r>
            <a:r>
              <a:rPr lang="en-US" sz="1600" dirty="0" err="1"/>
              <a:t>phyloseq</a:t>
            </a:r>
            <a:r>
              <a:rPr lang="en-US" sz="1600" dirty="0"/>
              <a:t>)</a:t>
            </a:r>
          </a:p>
          <a:p>
            <a:pPr marL="0" indent="0">
              <a:buNone/>
            </a:pPr>
            <a:r>
              <a:rPr lang="en-US" sz="1600" dirty="0"/>
              <a:t>library(ape)</a:t>
            </a:r>
          </a:p>
          <a:p>
            <a:pPr marL="0" indent="0">
              <a:buNone/>
            </a:pPr>
            <a:r>
              <a:rPr lang="en-US" sz="1600" dirty="0"/>
              <a:t>library(vegan)</a:t>
            </a:r>
          </a:p>
          <a:p>
            <a:pPr marL="0" indent="0">
              <a:buNone/>
            </a:pPr>
            <a:r>
              <a:rPr lang="en-US" sz="1600" dirty="0"/>
              <a:t>library(FSA)</a:t>
            </a:r>
          </a:p>
          <a:p>
            <a:pPr marL="0" indent="0">
              <a:buNone/>
            </a:pPr>
            <a:r>
              <a:rPr lang="en-US" sz="1600" dirty="0"/>
              <a:t>library(</a:t>
            </a:r>
            <a:r>
              <a:rPr lang="en-US" sz="1600" dirty="0" err="1"/>
              <a:t>eulerr</a:t>
            </a:r>
            <a:r>
              <a:rPr lang="en-US" sz="1600" dirty="0"/>
              <a:t>)</a:t>
            </a:r>
          </a:p>
          <a:p>
            <a:pPr marL="0" indent="0">
              <a:buNone/>
            </a:pPr>
            <a:r>
              <a:rPr lang="en-US" sz="1600" dirty="0"/>
              <a:t>library(</a:t>
            </a:r>
            <a:r>
              <a:rPr lang="en-US" sz="1600" dirty="0" err="1"/>
              <a:t>minpack.lm</a:t>
            </a:r>
            <a:r>
              <a:rPr lang="en-US" sz="1600" dirty="0"/>
              <a:t>)</a:t>
            </a:r>
          </a:p>
          <a:p>
            <a:pPr marL="0" indent="0">
              <a:buNone/>
            </a:pPr>
            <a:r>
              <a:rPr lang="en-US" sz="1600" dirty="0"/>
              <a:t>library(</a:t>
            </a:r>
            <a:r>
              <a:rPr lang="en-US" sz="1600" dirty="0" err="1"/>
              <a:t>Hmisc</a:t>
            </a:r>
            <a:r>
              <a:rPr lang="en-US" sz="1600" dirty="0"/>
              <a:t>)</a:t>
            </a:r>
          </a:p>
          <a:p>
            <a:pPr marL="0" indent="0">
              <a:buNone/>
            </a:pPr>
            <a:r>
              <a:rPr lang="en-US" sz="1600" dirty="0"/>
              <a:t>library(stats4)</a:t>
            </a:r>
          </a:p>
          <a:p>
            <a:pPr marL="0" indent="0">
              <a:buNone/>
            </a:pPr>
            <a:r>
              <a:rPr lang="en-US" sz="1600" dirty="0"/>
              <a:t>library(ggplot2)</a:t>
            </a:r>
          </a:p>
          <a:p>
            <a:pPr marL="0" indent="0">
              <a:buNone/>
            </a:pPr>
            <a:r>
              <a:rPr lang="en-US" sz="1600" dirty="0"/>
              <a:t>library(grid)</a:t>
            </a:r>
          </a:p>
          <a:p>
            <a:pPr marL="0" indent="0">
              <a:buNone/>
            </a:pPr>
            <a:r>
              <a:rPr lang="en-US" sz="1600" dirty="0"/>
              <a:t>library(</a:t>
            </a:r>
            <a:r>
              <a:rPr lang="en-US" sz="1600" dirty="0" err="1"/>
              <a:t>gridExtra</a:t>
            </a:r>
            <a:r>
              <a:rPr lang="en-US" sz="1600" dirty="0"/>
              <a:t>)</a:t>
            </a:r>
          </a:p>
          <a:p>
            <a:endParaRPr lang="en-US" sz="1600" dirty="0"/>
          </a:p>
        </p:txBody>
      </p:sp>
      <p:sp>
        <p:nvSpPr>
          <p:cNvPr id="6" name="TextBox 5">
            <a:extLst>
              <a:ext uri="{FF2B5EF4-FFF2-40B4-BE49-F238E27FC236}">
                <a16:creationId xmlns:a16="http://schemas.microsoft.com/office/drawing/2014/main" id="{FD3270B5-31FF-0647-B915-EE3334BD49A7}"/>
              </a:ext>
            </a:extLst>
          </p:cNvPr>
          <p:cNvSpPr txBox="1"/>
          <p:nvPr/>
        </p:nvSpPr>
        <p:spPr>
          <a:xfrm>
            <a:off x="1181100" y="6186488"/>
            <a:ext cx="9829800" cy="523220"/>
          </a:xfrm>
          <a:prstGeom prst="rect">
            <a:avLst/>
          </a:prstGeom>
          <a:noFill/>
        </p:spPr>
        <p:txBody>
          <a:bodyPr wrap="square" rtlCol="0">
            <a:spAutoFit/>
          </a:bodyPr>
          <a:lstStyle/>
          <a:p>
            <a:r>
              <a:rPr lang="en-US" sz="1400" dirty="0"/>
              <a:t>Code developed from Barnett et al., (2020) Soil characteristics and land-use drive bacterial community assembly patterns (https://</a:t>
            </a:r>
            <a:r>
              <a:rPr lang="en-US" sz="1400" dirty="0" err="1"/>
              <a:t>github.com</a:t>
            </a:r>
            <a:r>
              <a:rPr lang="en-US" sz="1400" dirty="0"/>
              <a:t>/seb369/</a:t>
            </a:r>
            <a:r>
              <a:rPr lang="en-US" sz="1400" dirty="0" err="1"/>
              <a:t>landuse_comm_assembly</a:t>
            </a:r>
            <a:r>
              <a:rPr lang="en-US" sz="1400" dirty="0"/>
              <a:t>)</a:t>
            </a:r>
          </a:p>
        </p:txBody>
      </p:sp>
    </p:spTree>
    <p:extLst>
      <p:ext uri="{BB962C8B-B14F-4D97-AF65-F5344CB8AC3E}">
        <p14:creationId xmlns:p14="http://schemas.microsoft.com/office/powerpoint/2010/main" val="1160375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9D4884-8744-C041-9173-CD555FAD40F8}"/>
              </a:ext>
            </a:extLst>
          </p:cNvPr>
          <p:cNvPicPr>
            <a:picLocks noChangeAspect="1"/>
          </p:cNvPicPr>
          <p:nvPr/>
        </p:nvPicPr>
        <p:blipFill>
          <a:blip r:embed="rId3"/>
          <a:stretch>
            <a:fillRect/>
          </a:stretch>
        </p:blipFill>
        <p:spPr>
          <a:xfrm>
            <a:off x="2059778" y="1027906"/>
            <a:ext cx="8327233" cy="5551488"/>
          </a:xfrm>
          <a:prstGeom prst="rect">
            <a:avLst/>
          </a:prstGeom>
        </p:spPr>
      </p:pic>
      <p:sp>
        <p:nvSpPr>
          <p:cNvPr id="2" name="Title 1">
            <a:extLst>
              <a:ext uri="{FF2B5EF4-FFF2-40B4-BE49-F238E27FC236}">
                <a16:creationId xmlns:a16="http://schemas.microsoft.com/office/drawing/2014/main" id="{D33FD964-3202-A846-A157-C84F553A5A37}"/>
              </a:ext>
            </a:extLst>
          </p:cNvPr>
          <p:cNvSpPr>
            <a:spLocks noGrp="1"/>
          </p:cNvSpPr>
          <p:nvPr>
            <p:ph type="title"/>
          </p:nvPr>
        </p:nvSpPr>
        <p:spPr/>
        <p:txBody>
          <a:bodyPr/>
          <a:lstStyle/>
          <a:p>
            <a:r>
              <a:rPr lang="en-US" dirty="0"/>
              <a:t>Results</a:t>
            </a:r>
          </a:p>
        </p:txBody>
      </p:sp>
    </p:spTree>
    <p:extLst>
      <p:ext uri="{BB962C8B-B14F-4D97-AF65-F5344CB8AC3E}">
        <p14:creationId xmlns:p14="http://schemas.microsoft.com/office/powerpoint/2010/main" val="966227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5F0F-7C96-DA4F-BD8F-8C9975EFAB82}"/>
              </a:ext>
            </a:extLst>
          </p:cNvPr>
          <p:cNvSpPr>
            <a:spLocks noGrp="1"/>
          </p:cNvSpPr>
          <p:nvPr>
            <p:ph type="title"/>
          </p:nvPr>
        </p:nvSpPr>
        <p:spPr/>
        <p:txBody>
          <a:bodyPr/>
          <a:lstStyle/>
          <a:p>
            <a:r>
              <a:rPr lang="en-US" dirty="0"/>
              <a:t>Co-Occurrence Network Analysis</a:t>
            </a:r>
          </a:p>
        </p:txBody>
      </p:sp>
      <p:sp>
        <p:nvSpPr>
          <p:cNvPr id="3" name="Content Placeholder 2">
            <a:extLst>
              <a:ext uri="{FF2B5EF4-FFF2-40B4-BE49-F238E27FC236}">
                <a16:creationId xmlns:a16="http://schemas.microsoft.com/office/drawing/2014/main" id="{958C73FE-1CD3-9D4C-8447-A79ED529B7A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04698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1863</TotalTime>
  <Words>1822</Words>
  <Application>Microsoft Macintosh PowerPoint</Application>
  <PresentationFormat>Widescreen</PresentationFormat>
  <Paragraphs>150</Paragraphs>
  <Slides>21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Cambria Math</vt:lpstr>
      <vt:lpstr>Office Theme</vt:lpstr>
      <vt:lpstr>Microbial Biogeography and Community Assembly Mechanisms in the Supraglacial Environment: Influence of activity and abundance</vt:lpstr>
      <vt:lpstr>Why are they different? Why should we care?</vt:lpstr>
      <vt:lpstr>Community Assembly Processes</vt:lpstr>
      <vt:lpstr>Supraglacial deterministic processes</vt:lpstr>
      <vt:lpstr>Supraglacial stochastic processes</vt:lpstr>
      <vt:lpstr>Hypotheses</vt:lpstr>
      <vt:lpstr>Ordination </vt:lpstr>
      <vt:lpstr>Alpha Diversity</vt:lpstr>
      <vt:lpstr>Beta Diversity </vt:lpstr>
      <vt:lpstr>Multivariate Analysis</vt:lpstr>
      <vt:lpstr>Island Species-Area Relationship (ISAR)</vt:lpstr>
      <vt:lpstr>Distance-Decay Relationship (DDR)</vt:lpstr>
      <vt:lpstr>Community Assembly Processes</vt:lpstr>
      <vt:lpstr>Evolutionary Diversification</vt:lpstr>
      <vt:lpstr>Phylogenetic Null Model</vt:lpstr>
      <vt:lpstr>Phylogenetic Signal</vt:lpstr>
      <vt:lpstr>β-Nearest Taxon Index</vt:lpstr>
      <vt:lpstr>Sloan’s Neutral Model</vt:lpstr>
      <vt:lpstr>Code</vt:lpstr>
      <vt:lpstr>Results</vt:lpstr>
      <vt:lpstr>Co-Occurrence Network Analysis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Microbial Biogeography and Community Assembly Mechanisms</dc:title>
  <dc:creator>Amy Bo Tinky Solman</dc:creator>
  <cp:lastModifiedBy>Microsoft Office User</cp:lastModifiedBy>
  <cp:revision>46</cp:revision>
  <dcterms:created xsi:type="dcterms:W3CDTF">2021-04-15T08:49:25Z</dcterms:created>
  <dcterms:modified xsi:type="dcterms:W3CDTF">2021-04-16T15:57:35Z</dcterms:modified>
</cp:coreProperties>
</file>