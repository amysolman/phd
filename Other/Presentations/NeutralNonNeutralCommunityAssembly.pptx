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6" r:id="rId1"/>
  </p:sldMasterIdLst>
  <p:sldIdLst>
    <p:sldId id="256" r:id="rId2"/>
    <p:sldId id="257" r:id="rId3"/>
    <p:sldId id="265" r:id="rId4"/>
    <p:sldId id="258" r:id="rId5"/>
    <p:sldId id="260" r:id="rId6"/>
    <p:sldId id="261" r:id="rId7"/>
    <p:sldId id="262" r:id="rId8"/>
    <p:sldId id="263" r:id="rId9"/>
    <p:sldId id="266" r:id="rId10"/>
    <p:sldId id="267" r:id="rId11"/>
    <p:sldId id="273" r:id="rId12"/>
    <p:sldId id="268" r:id="rId13"/>
    <p:sldId id="269" r:id="rId14"/>
    <p:sldId id="270" r:id="rId15"/>
    <p:sldId id="271" r:id="rId16"/>
    <p:sldId id="274" r:id="rId17"/>
    <p:sldId id="276" r:id="rId18"/>
    <p:sldId id="275" r:id="rId19"/>
    <p:sldId id="264" r:id="rId20"/>
    <p:sldId id="259" r:id="rId21"/>
    <p:sldId id="27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E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357"/>
    <p:restoredTop sz="96341"/>
  </p:normalViewPr>
  <p:slideViewPr>
    <p:cSldViewPr snapToGrid="0" snapToObjects="1">
      <p:cViewPr varScale="1">
        <p:scale>
          <a:sx n="102" d="100"/>
          <a:sy n="102" d="100"/>
        </p:scale>
        <p:origin x="224" y="7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51C5E5-6048-FE4C-ACCF-6F8EA08438EC}" type="doc">
      <dgm:prSet loTypeId="urn:microsoft.com/office/officeart/2005/8/layout/cycle6" loCatId="" qsTypeId="urn:microsoft.com/office/officeart/2005/8/quickstyle/simple1" qsCatId="simple" csTypeId="urn:microsoft.com/office/officeart/2005/8/colors/colorful4" csCatId="colorful" phldr="1"/>
      <dgm:spPr/>
      <dgm:t>
        <a:bodyPr/>
        <a:lstStyle/>
        <a:p>
          <a:endParaRPr lang="en-US"/>
        </a:p>
      </dgm:t>
    </dgm:pt>
    <dgm:pt modelId="{D137E254-911D-084B-B626-C986DF73B4CF}">
      <dgm:prSet phldrT="[Text]"/>
      <dgm:spPr/>
      <dgm:t>
        <a:bodyPr/>
        <a:lstStyle/>
        <a:p>
          <a:r>
            <a:rPr lang="en-US" dirty="0"/>
            <a:t>Multivariate Analysis</a:t>
          </a:r>
        </a:p>
      </dgm:t>
    </dgm:pt>
    <dgm:pt modelId="{CFEAD725-665D-AB4C-A6F0-53D852EC6126}" type="parTrans" cxnId="{06D03BAA-0E53-D843-A39C-994CF2EFB683}">
      <dgm:prSet/>
      <dgm:spPr/>
      <dgm:t>
        <a:bodyPr/>
        <a:lstStyle/>
        <a:p>
          <a:endParaRPr lang="en-US"/>
        </a:p>
      </dgm:t>
    </dgm:pt>
    <dgm:pt modelId="{957412E9-FD28-9149-A41E-6FB8D11CCF2D}" type="sibTrans" cxnId="{06D03BAA-0E53-D843-A39C-994CF2EFB683}">
      <dgm:prSet/>
      <dgm:spPr/>
      <dgm:t>
        <a:bodyPr/>
        <a:lstStyle/>
        <a:p>
          <a:endParaRPr lang="en-US"/>
        </a:p>
      </dgm:t>
    </dgm:pt>
    <dgm:pt modelId="{FE14CE38-B25A-7F48-B0D9-B571BAA6298D}">
      <dgm:prSet phldrT="[Text]"/>
      <dgm:spPr/>
      <dgm:t>
        <a:bodyPr/>
        <a:lstStyle/>
        <a:p>
          <a:r>
            <a:rPr lang="en-US" dirty="0"/>
            <a:t>Null Models</a:t>
          </a:r>
        </a:p>
      </dgm:t>
    </dgm:pt>
    <dgm:pt modelId="{6384A262-DD4E-024A-B1FD-54F55E91B434}" type="parTrans" cxnId="{4CA6FBBF-547B-394F-9716-4C99CF34C301}">
      <dgm:prSet/>
      <dgm:spPr/>
      <dgm:t>
        <a:bodyPr/>
        <a:lstStyle/>
        <a:p>
          <a:endParaRPr lang="en-US"/>
        </a:p>
      </dgm:t>
    </dgm:pt>
    <dgm:pt modelId="{03B828A7-0460-1341-AA20-9AB9D619C1E4}" type="sibTrans" cxnId="{4CA6FBBF-547B-394F-9716-4C99CF34C301}">
      <dgm:prSet/>
      <dgm:spPr/>
      <dgm:t>
        <a:bodyPr/>
        <a:lstStyle/>
        <a:p>
          <a:endParaRPr lang="en-US"/>
        </a:p>
      </dgm:t>
    </dgm:pt>
    <dgm:pt modelId="{AB0CF7B1-BF63-6A4C-9A5D-63C1F18E2EA6}">
      <dgm:prSet phldrT="[Text]"/>
      <dgm:spPr/>
      <dgm:t>
        <a:bodyPr/>
        <a:lstStyle/>
        <a:p>
          <a:r>
            <a:rPr lang="en-US" dirty="0"/>
            <a:t>Neutral Models</a:t>
          </a:r>
        </a:p>
      </dgm:t>
    </dgm:pt>
    <dgm:pt modelId="{92F9BD6D-23B5-F34E-AD6F-3C91EDD34A0D}" type="parTrans" cxnId="{B56189EC-562A-5F41-88BB-DBA78C85937C}">
      <dgm:prSet/>
      <dgm:spPr/>
      <dgm:t>
        <a:bodyPr/>
        <a:lstStyle/>
        <a:p>
          <a:endParaRPr lang="en-US"/>
        </a:p>
      </dgm:t>
    </dgm:pt>
    <dgm:pt modelId="{EE05B67E-A17A-C346-BE05-0294FC926484}" type="sibTrans" cxnId="{B56189EC-562A-5F41-88BB-DBA78C85937C}">
      <dgm:prSet/>
      <dgm:spPr/>
      <dgm:t>
        <a:bodyPr/>
        <a:lstStyle/>
        <a:p>
          <a:endParaRPr lang="en-US"/>
        </a:p>
      </dgm:t>
    </dgm:pt>
    <dgm:pt modelId="{0DF5EA90-53AA-EA4B-8E09-F5943549AD5F}" type="pres">
      <dgm:prSet presAssocID="{7451C5E5-6048-FE4C-ACCF-6F8EA08438EC}" presName="cycle" presStyleCnt="0">
        <dgm:presLayoutVars>
          <dgm:dir/>
          <dgm:resizeHandles val="exact"/>
        </dgm:presLayoutVars>
      </dgm:prSet>
      <dgm:spPr/>
    </dgm:pt>
    <dgm:pt modelId="{EA3734EE-D721-C04E-B247-1914ECFFAC89}" type="pres">
      <dgm:prSet presAssocID="{D137E254-911D-084B-B626-C986DF73B4CF}" presName="node" presStyleLbl="node1" presStyleIdx="0" presStyleCnt="3">
        <dgm:presLayoutVars>
          <dgm:bulletEnabled val="1"/>
        </dgm:presLayoutVars>
      </dgm:prSet>
      <dgm:spPr/>
    </dgm:pt>
    <dgm:pt modelId="{243EA244-5C55-7D43-AA20-E183918A9827}" type="pres">
      <dgm:prSet presAssocID="{D137E254-911D-084B-B626-C986DF73B4CF}" presName="spNode" presStyleCnt="0"/>
      <dgm:spPr/>
    </dgm:pt>
    <dgm:pt modelId="{44B9CC24-46EB-A647-B422-0E0ADED5083E}" type="pres">
      <dgm:prSet presAssocID="{957412E9-FD28-9149-A41E-6FB8D11CCF2D}" presName="sibTrans" presStyleLbl="sibTrans1D1" presStyleIdx="0" presStyleCnt="3"/>
      <dgm:spPr/>
    </dgm:pt>
    <dgm:pt modelId="{92D0F361-BA75-C544-9609-243B98E5A4A0}" type="pres">
      <dgm:prSet presAssocID="{FE14CE38-B25A-7F48-B0D9-B571BAA6298D}" presName="node" presStyleLbl="node1" presStyleIdx="1" presStyleCnt="3">
        <dgm:presLayoutVars>
          <dgm:bulletEnabled val="1"/>
        </dgm:presLayoutVars>
      </dgm:prSet>
      <dgm:spPr/>
    </dgm:pt>
    <dgm:pt modelId="{9D231F2C-33D1-F44D-BB42-D7A99C7B5A20}" type="pres">
      <dgm:prSet presAssocID="{FE14CE38-B25A-7F48-B0D9-B571BAA6298D}" presName="spNode" presStyleCnt="0"/>
      <dgm:spPr/>
    </dgm:pt>
    <dgm:pt modelId="{0B967BDD-23CA-1C46-B808-C3CDE7BC6B9D}" type="pres">
      <dgm:prSet presAssocID="{03B828A7-0460-1341-AA20-9AB9D619C1E4}" presName="sibTrans" presStyleLbl="sibTrans1D1" presStyleIdx="1" presStyleCnt="3"/>
      <dgm:spPr/>
    </dgm:pt>
    <dgm:pt modelId="{18F9F09C-E009-0B48-9E98-2C3F416D3083}" type="pres">
      <dgm:prSet presAssocID="{AB0CF7B1-BF63-6A4C-9A5D-63C1F18E2EA6}" presName="node" presStyleLbl="node1" presStyleIdx="2" presStyleCnt="3">
        <dgm:presLayoutVars>
          <dgm:bulletEnabled val="1"/>
        </dgm:presLayoutVars>
      </dgm:prSet>
      <dgm:spPr/>
    </dgm:pt>
    <dgm:pt modelId="{363BBAC2-7CA1-A64F-A3FE-44B857AA0D18}" type="pres">
      <dgm:prSet presAssocID="{AB0CF7B1-BF63-6A4C-9A5D-63C1F18E2EA6}" presName="spNode" presStyleCnt="0"/>
      <dgm:spPr/>
    </dgm:pt>
    <dgm:pt modelId="{4A551917-A23F-7D40-B8A3-B99BC2D40F3B}" type="pres">
      <dgm:prSet presAssocID="{EE05B67E-A17A-C346-BE05-0294FC926484}" presName="sibTrans" presStyleLbl="sibTrans1D1" presStyleIdx="2" presStyleCnt="3"/>
      <dgm:spPr/>
    </dgm:pt>
  </dgm:ptLst>
  <dgm:cxnLst>
    <dgm:cxn modelId="{1B07BB0D-0C40-B34C-8E3E-0DEC903FE06A}" type="presOf" srcId="{D137E254-911D-084B-B626-C986DF73B4CF}" destId="{EA3734EE-D721-C04E-B247-1914ECFFAC89}" srcOrd="0" destOrd="0" presId="urn:microsoft.com/office/officeart/2005/8/layout/cycle6"/>
    <dgm:cxn modelId="{21399629-C0C5-2D43-8491-D4EB7F514C4B}" type="presOf" srcId="{FE14CE38-B25A-7F48-B0D9-B571BAA6298D}" destId="{92D0F361-BA75-C544-9609-243B98E5A4A0}" srcOrd="0" destOrd="0" presId="urn:microsoft.com/office/officeart/2005/8/layout/cycle6"/>
    <dgm:cxn modelId="{3C8E463C-F6BB-BD4A-BD40-8E060A6C5620}" type="presOf" srcId="{7451C5E5-6048-FE4C-ACCF-6F8EA08438EC}" destId="{0DF5EA90-53AA-EA4B-8E09-F5943549AD5F}" srcOrd="0" destOrd="0" presId="urn:microsoft.com/office/officeart/2005/8/layout/cycle6"/>
    <dgm:cxn modelId="{7AB7D251-B97C-C74B-A8CB-E8EFC3EDB8DC}" type="presOf" srcId="{03B828A7-0460-1341-AA20-9AB9D619C1E4}" destId="{0B967BDD-23CA-1C46-B808-C3CDE7BC6B9D}" srcOrd="0" destOrd="0" presId="urn:microsoft.com/office/officeart/2005/8/layout/cycle6"/>
    <dgm:cxn modelId="{548AFF68-E435-2C45-AA9A-19AE4FEE8F9B}" type="presOf" srcId="{AB0CF7B1-BF63-6A4C-9A5D-63C1F18E2EA6}" destId="{18F9F09C-E009-0B48-9E98-2C3F416D3083}" srcOrd="0" destOrd="0" presId="urn:microsoft.com/office/officeart/2005/8/layout/cycle6"/>
    <dgm:cxn modelId="{32276887-6CEA-2148-B8CF-139D0C125350}" type="presOf" srcId="{957412E9-FD28-9149-A41E-6FB8D11CCF2D}" destId="{44B9CC24-46EB-A647-B422-0E0ADED5083E}" srcOrd="0" destOrd="0" presId="urn:microsoft.com/office/officeart/2005/8/layout/cycle6"/>
    <dgm:cxn modelId="{06D03BAA-0E53-D843-A39C-994CF2EFB683}" srcId="{7451C5E5-6048-FE4C-ACCF-6F8EA08438EC}" destId="{D137E254-911D-084B-B626-C986DF73B4CF}" srcOrd="0" destOrd="0" parTransId="{CFEAD725-665D-AB4C-A6F0-53D852EC6126}" sibTransId="{957412E9-FD28-9149-A41E-6FB8D11CCF2D}"/>
    <dgm:cxn modelId="{4CA6FBBF-547B-394F-9716-4C99CF34C301}" srcId="{7451C5E5-6048-FE4C-ACCF-6F8EA08438EC}" destId="{FE14CE38-B25A-7F48-B0D9-B571BAA6298D}" srcOrd="1" destOrd="0" parTransId="{6384A262-DD4E-024A-B1FD-54F55E91B434}" sibTransId="{03B828A7-0460-1341-AA20-9AB9D619C1E4}"/>
    <dgm:cxn modelId="{B56189EC-562A-5F41-88BB-DBA78C85937C}" srcId="{7451C5E5-6048-FE4C-ACCF-6F8EA08438EC}" destId="{AB0CF7B1-BF63-6A4C-9A5D-63C1F18E2EA6}" srcOrd="2" destOrd="0" parTransId="{92F9BD6D-23B5-F34E-AD6F-3C91EDD34A0D}" sibTransId="{EE05B67E-A17A-C346-BE05-0294FC926484}"/>
    <dgm:cxn modelId="{F1FC5FEF-D2B6-3B42-8BE5-BAD3090AEA98}" type="presOf" srcId="{EE05B67E-A17A-C346-BE05-0294FC926484}" destId="{4A551917-A23F-7D40-B8A3-B99BC2D40F3B}" srcOrd="0" destOrd="0" presId="urn:microsoft.com/office/officeart/2005/8/layout/cycle6"/>
    <dgm:cxn modelId="{56866C80-4AC6-5D4C-B3D4-7B37FF31B849}" type="presParOf" srcId="{0DF5EA90-53AA-EA4B-8E09-F5943549AD5F}" destId="{EA3734EE-D721-C04E-B247-1914ECFFAC89}" srcOrd="0" destOrd="0" presId="urn:microsoft.com/office/officeart/2005/8/layout/cycle6"/>
    <dgm:cxn modelId="{9426C484-C63D-7543-AF7D-88955D0DCE56}" type="presParOf" srcId="{0DF5EA90-53AA-EA4B-8E09-F5943549AD5F}" destId="{243EA244-5C55-7D43-AA20-E183918A9827}" srcOrd="1" destOrd="0" presId="urn:microsoft.com/office/officeart/2005/8/layout/cycle6"/>
    <dgm:cxn modelId="{7874F9DE-4FC5-BF44-BEEB-5BA56D323A22}" type="presParOf" srcId="{0DF5EA90-53AA-EA4B-8E09-F5943549AD5F}" destId="{44B9CC24-46EB-A647-B422-0E0ADED5083E}" srcOrd="2" destOrd="0" presId="urn:microsoft.com/office/officeart/2005/8/layout/cycle6"/>
    <dgm:cxn modelId="{A53C9D21-0DC2-7F42-B719-7AC6C3F8FB8E}" type="presParOf" srcId="{0DF5EA90-53AA-EA4B-8E09-F5943549AD5F}" destId="{92D0F361-BA75-C544-9609-243B98E5A4A0}" srcOrd="3" destOrd="0" presId="urn:microsoft.com/office/officeart/2005/8/layout/cycle6"/>
    <dgm:cxn modelId="{D3400CCD-8085-9C40-ABE8-E1266EDCFDBD}" type="presParOf" srcId="{0DF5EA90-53AA-EA4B-8E09-F5943549AD5F}" destId="{9D231F2C-33D1-F44D-BB42-D7A99C7B5A20}" srcOrd="4" destOrd="0" presId="urn:microsoft.com/office/officeart/2005/8/layout/cycle6"/>
    <dgm:cxn modelId="{877B41AF-A530-7C4A-9387-F2BF993EC71A}" type="presParOf" srcId="{0DF5EA90-53AA-EA4B-8E09-F5943549AD5F}" destId="{0B967BDD-23CA-1C46-B808-C3CDE7BC6B9D}" srcOrd="5" destOrd="0" presId="urn:microsoft.com/office/officeart/2005/8/layout/cycle6"/>
    <dgm:cxn modelId="{197FFC20-F740-DA49-909D-F5D6C3CFF0B5}" type="presParOf" srcId="{0DF5EA90-53AA-EA4B-8E09-F5943549AD5F}" destId="{18F9F09C-E009-0B48-9E98-2C3F416D3083}" srcOrd="6" destOrd="0" presId="urn:microsoft.com/office/officeart/2005/8/layout/cycle6"/>
    <dgm:cxn modelId="{642B1CAF-0831-AD41-9A8C-98594AD70D1F}" type="presParOf" srcId="{0DF5EA90-53AA-EA4B-8E09-F5943549AD5F}" destId="{363BBAC2-7CA1-A64F-A3FE-44B857AA0D18}" srcOrd="7" destOrd="0" presId="urn:microsoft.com/office/officeart/2005/8/layout/cycle6"/>
    <dgm:cxn modelId="{80A7A42F-7154-F84D-95CD-AFAD67FECD37}" type="presParOf" srcId="{0DF5EA90-53AA-EA4B-8E09-F5943549AD5F}" destId="{4A551917-A23F-7D40-B8A3-B99BC2D40F3B}" srcOrd="8" destOrd="0" presId="urn:microsoft.com/office/officeart/2005/8/layout/cycle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3734EE-D721-C04E-B247-1914ECFFAC89}">
      <dsp:nvSpPr>
        <dsp:cNvPr id="0" name=""/>
        <dsp:cNvSpPr/>
      </dsp:nvSpPr>
      <dsp:spPr>
        <a:xfrm>
          <a:off x="2600541" y="1499"/>
          <a:ext cx="2040125" cy="1326081"/>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Multivariate Analysis</a:t>
          </a:r>
        </a:p>
      </dsp:txBody>
      <dsp:txXfrm>
        <a:off x="2665275" y="66233"/>
        <a:ext cx="1910657" cy="1196613"/>
      </dsp:txXfrm>
    </dsp:sp>
    <dsp:sp modelId="{44B9CC24-46EB-A647-B422-0E0ADED5083E}">
      <dsp:nvSpPr>
        <dsp:cNvPr id="0" name=""/>
        <dsp:cNvSpPr/>
      </dsp:nvSpPr>
      <dsp:spPr>
        <a:xfrm>
          <a:off x="1852209" y="664540"/>
          <a:ext cx="3536789" cy="3536789"/>
        </a:xfrm>
        <a:custGeom>
          <a:avLst/>
          <a:gdLst/>
          <a:ahLst/>
          <a:cxnLst/>
          <a:rect l="0" t="0" r="0" b="0"/>
          <a:pathLst>
            <a:path>
              <a:moveTo>
                <a:pt x="2803273" y="334433"/>
              </a:moveTo>
              <a:arcTo wR="1768394" hR="1768394" stAng="18349062" swAng="3646605"/>
            </a:path>
          </a:pathLst>
        </a:custGeom>
        <a:noFill/>
        <a:ln w="6350" cap="flat" cmpd="sng" algn="ctr">
          <a:solidFill>
            <a:schemeClr val="accent4">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sp>
    <dsp:sp modelId="{92D0F361-BA75-C544-9609-243B98E5A4A0}">
      <dsp:nvSpPr>
        <dsp:cNvPr id="0" name=""/>
        <dsp:cNvSpPr/>
      </dsp:nvSpPr>
      <dsp:spPr>
        <a:xfrm>
          <a:off x="4132016" y="2654091"/>
          <a:ext cx="2040125" cy="1326081"/>
        </a:xfrm>
        <a:prstGeom prst="roundRect">
          <a:avLst/>
        </a:prstGeom>
        <a:solidFill>
          <a:schemeClr val="accent4">
            <a:hueOff val="4900445"/>
            <a:satOff val="-20388"/>
            <a:lumOff val="4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Null Models</a:t>
          </a:r>
        </a:p>
      </dsp:txBody>
      <dsp:txXfrm>
        <a:off x="4196750" y="2718825"/>
        <a:ext cx="1910657" cy="1196613"/>
      </dsp:txXfrm>
    </dsp:sp>
    <dsp:sp modelId="{0B967BDD-23CA-1C46-B808-C3CDE7BC6B9D}">
      <dsp:nvSpPr>
        <dsp:cNvPr id="0" name=""/>
        <dsp:cNvSpPr/>
      </dsp:nvSpPr>
      <dsp:spPr>
        <a:xfrm>
          <a:off x="1852209" y="664540"/>
          <a:ext cx="3536789" cy="3536789"/>
        </a:xfrm>
        <a:custGeom>
          <a:avLst/>
          <a:gdLst/>
          <a:ahLst/>
          <a:cxnLst/>
          <a:rect l="0" t="0" r="0" b="0"/>
          <a:pathLst>
            <a:path>
              <a:moveTo>
                <a:pt x="2609684" y="3323853"/>
              </a:moveTo>
              <a:arcTo wR="1768394" hR="1768394" stAng="3695562" swAng="3408877"/>
            </a:path>
          </a:pathLst>
        </a:custGeom>
        <a:noFill/>
        <a:ln w="6350" cap="flat" cmpd="sng" algn="ctr">
          <a:solidFill>
            <a:schemeClr val="accent4">
              <a:hueOff val="4900445"/>
              <a:satOff val="-20388"/>
              <a:lumOff val="4804"/>
              <a:alphaOff val="0"/>
            </a:schemeClr>
          </a:solidFill>
          <a:prstDash val="solid"/>
          <a:miter lim="800000"/>
        </a:ln>
        <a:effectLst/>
      </dsp:spPr>
      <dsp:style>
        <a:lnRef idx="1">
          <a:scrgbClr r="0" g="0" b="0"/>
        </a:lnRef>
        <a:fillRef idx="0">
          <a:scrgbClr r="0" g="0" b="0"/>
        </a:fillRef>
        <a:effectRef idx="0">
          <a:scrgbClr r="0" g="0" b="0"/>
        </a:effectRef>
        <a:fontRef idx="minor"/>
      </dsp:style>
    </dsp:sp>
    <dsp:sp modelId="{18F9F09C-E009-0B48-9E98-2C3F416D3083}">
      <dsp:nvSpPr>
        <dsp:cNvPr id="0" name=""/>
        <dsp:cNvSpPr/>
      </dsp:nvSpPr>
      <dsp:spPr>
        <a:xfrm>
          <a:off x="1069066" y="2654091"/>
          <a:ext cx="2040125" cy="1326081"/>
        </a:xfrm>
        <a:prstGeom prst="round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kern="1200" dirty="0"/>
            <a:t>Neutral Models</a:t>
          </a:r>
        </a:p>
      </dsp:txBody>
      <dsp:txXfrm>
        <a:off x="1133800" y="2718825"/>
        <a:ext cx="1910657" cy="1196613"/>
      </dsp:txXfrm>
    </dsp:sp>
    <dsp:sp modelId="{4A551917-A23F-7D40-B8A3-B99BC2D40F3B}">
      <dsp:nvSpPr>
        <dsp:cNvPr id="0" name=""/>
        <dsp:cNvSpPr/>
      </dsp:nvSpPr>
      <dsp:spPr>
        <a:xfrm>
          <a:off x="1852209" y="664540"/>
          <a:ext cx="3536789" cy="3536789"/>
        </a:xfrm>
        <a:custGeom>
          <a:avLst/>
          <a:gdLst/>
          <a:ahLst/>
          <a:cxnLst/>
          <a:rect l="0" t="0" r="0" b="0"/>
          <a:pathLst>
            <a:path>
              <a:moveTo>
                <a:pt x="11699" y="1971478"/>
              </a:moveTo>
              <a:arcTo wR="1768394" hR="1768394" stAng="10404334" swAng="3646605"/>
            </a:path>
          </a:pathLst>
        </a:custGeom>
        <a:noFill/>
        <a:ln w="6350" cap="flat" cmpd="sng" algn="ctr">
          <a:solidFill>
            <a:schemeClr val="accent4">
              <a:hueOff val="9800891"/>
              <a:satOff val="-40777"/>
              <a:lumOff val="9608"/>
              <a:alphaOff val="0"/>
            </a:schemeClr>
          </a:solidFill>
          <a:prstDash val="solid"/>
          <a:miter lim="800000"/>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6">
  <dgm:title val=""/>
  <dgm:desc val=""/>
  <dgm:catLst>
    <dgm:cat type="cycle" pri="4000"/>
    <dgm:cat type="relationship" pri="24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param type="endSty" val="noArr"/>
              </dgm:alg>
              <dgm:shape xmlns:r="http://schemas.openxmlformats.org/officeDocument/2006/relationships" type="conn" r:blip="">
                <dgm:adjLst/>
              </dgm:shape>
              <dgm:presOf axis="self"/>
              <dgm:constrLst>
                <dgm:constr type="h" refType="w" fact="0.65"/>
                <dgm:constr type="connDist"/>
                <dgm:constr type="begPad" refType="connDist" fact="0.01"/>
                <dgm:constr type="endPad" refType="connDist" fact="0.01"/>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4075B-ECFC-8445-B8E8-FF9F3ED59DC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06918F-EADF-8246-BFFD-95C6FCF0B1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4FC1C08-EF36-A24F-AEBF-FC3AABB36E25}"/>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5" name="Footer Placeholder 4">
            <a:extLst>
              <a:ext uri="{FF2B5EF4-FFF2-40B4-BE49-F238E27FC236}">
                <a16:creationId xmlns:a16="http://schemas.microsoft.com/office/drawing/2014/main" id="{65475886-CD26-D64D-8AED-96891070F4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7B6749-99BA-8B48-8BA6-557A257BF981}"/>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3163503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1E4B-5046-2646-9DD5-DAD95AEBAF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AB45FC-B386-2D42-A0DF-2782BDAED42D}"/>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4E6214-E65E-C74F-B3F9-D1804A0B0749}"/>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5" name="Footer Placeholder 4">
            <a:extLst>
              <a:ext uri="{FF2B5EF4-FFF2-40B4-BE49-F238E27FC236}">
                <a16:creationId xmlns:a16="http://schemas.microsoft.com/office/drawing/2014/main" id="{7A199774-6B55-E345-B898-3F559F5504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369B2-1812-7141-823E-78E3EA3DC590}"/>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34234837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7A4E0D-5B47-8144-82EA-26BA283D22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C72BB77-8697-8E4E-BC00-0A3FAE4209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F125211-84F1-044C-BD2F-231E42BBA3A0}"/>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5" name="Footer Placeholder 4">
            <a:extLst>
              <a:ext uri="{FF2B5EF4-FFF2-40B4-BE49-F238E27FC236}">
                <a16:creationId xmlns:a16="http://schemas.microsoft.com/office/drawing/2014/main" id="{23034A17-1494-7842-97A2-3F2C6A0B7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D90B2C-65C9-F14C-A1ED-9EA9976E615A}"/>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2112799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D86D6-0AD0-2747-B805-185201498E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41C7A6-49A2-644E-B6CB-D1B81AA61C5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0A054BF-950B-7347-B119-96896D80434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607617-E25B-2B4B-81EF-DA3217143040}"/>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6" name="Footer Placeholder 5">
            <a:extLst>
              <a:ext uri="{FF2B5EF4-FFF2-40B4-BE49-F238E27FC236}">
                <a16:creationId xmlns:a16="http://schemas.microsoft.com/office/drawing/2014/main" id="{1D251CFD-1709-C445-8FBC-50FCC6CA0C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5A5788-EE9E-BE48-8F71-929384C3480C}"/>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3649470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C52D9-2A1F-4C4D-A1F8-1E030448E8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A4C0D3-EA21-0046-9B8E-83CEAD2B98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36552536-3940-1949-A6D4-521F9C06C3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C513DCF-B1AD-C64A-9F8A-3152A93F26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2C9CCD02-BF77-634E-B3A2-A671A97F2B7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3B5DC6-2AD6-CE48-B557-2DE4DCB7E2ED}"/>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8" name="Footer Placeholder 7">
            <a:extLst>
              <a:ext uri="{FF2B5EF4-FFF2-40B4-BE49-F238E27FC236}">
                <a16:creationId xmlns:a16="http://schemas.microsoft.com/office/drawing/2014/main" id="{32E2A2E6-66AA-3140-8F10-DB5B659471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5F435E-C0C2-7645-AF15-8B45B4BC6F52}"/>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13287163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97B24-E620-7741-BAE3-B80127CBED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E2B7D1A-A13D-1348-80EF-B604164B04BF}"/>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4" name="Footer Placeholder 3">
            <a:extLst>
              <a:ext uri="{FF2B5EF4-FFF2-40B4-BE49-F238E27FC236}">
                <a16:creationId xmlns:a16="http://schemas.microsoft.com/office/drawing/2014/main" id="{C0AE1324-F9C8-394D-BCB7-C4347ADAF8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34AEDD-30B1-7F4D-91B8-B704C5ECFE3A}"/>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1190969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6F6828-8125-2040-8E69-BCC99C420BEB}"/>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3" name="Footer Placeholder 2">
            <a:extLst>
              <a:ext uri="{FF2B5EF4-FFF2-40B4-BE49-F238E27FC236}">
                <a16:creationId xmlns:a16="http://schemas.microsoft.com/office/drawing/2014/main" id="{10342491-42DE-D541-9B2D-6F7E89820A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E21D6C-B973-AD44-902C-4437FE8C3BFA}"/>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39382998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4DD1E-7A58-6245-90E8-1151E1A8FB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AAD396-C9F1-3142-8A80-C34B3BE309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ED0AF1B-09C1-3344-B363-62EB3181D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610442D-6CFA-8346-AE9B-DE572193B790}"/>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6" name="Footer Placeholder 5">
            <a:extLst>
              <a:ext uri="{FF2B5EF4-FFF2-40B4-BE49-F238E27FC236}">
                <a16:creationId xmlns:a16="http://schemas.microsoft.com/office/drawing/2014/main" id="{025398A9-C389-234E-BFCC-8A2483CEC3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8E2C4-FEBA-D749-8D1E-A85F052987D1}"/>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1603532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DFF73-3FE8-CB4F-B964-904C677018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43522F9-46E7-014A-A85A-8FC24E1DFB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3A0D35-1AFF-BF41-822B-F20F6DE8F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6BA084E-7515-3544-B2DE-CC9F9384B969}"/>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6" name="Footer Placeholder 5">
            <a:extLst>
              <a:ext uri="{FF2B5EF4-FFF2-40B4-BE49-F238E27FC236}">
                <a16:creationId xmlns:a16="http://schemas.microsoft.com/office/drawing/2014/main" id="{1CC3FB8A-CEDE-E745-AB3C-46AFB7410BB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6795EA-D9AD-B74C-BD00-DAA2754EAE03}"/>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22039334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5CEA3-D4DC-9A42-B6E9-FB345CC43B5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5D479A-2BC1-814F-B8E6-80C1F1C1E7A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B6FE76-D1FB-4547-82B9-630772771D7F}"/>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5" name="Footer Placeholder 4">
            <a:extLst>
              <a:ext uri="{FF2B5EF4-FFF2-40B4-BE49-F238E27FC236}">
                <a16:creationId xmlns:a16="http://schemas.microsoft.com/office/drawing/2014/main" id="{5B1AE0CC-7AD0-DC4F-BC3F-5EDF8E4151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1A157C-6EC4-9749-9FB2-60B1B25C3668}"/>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16245658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FE87039-87F5-B546-8C9B-0063307932E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F0F7EB-2350-1242-AA13-10D74FDBFBC5}"/>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6F5D6-C0C4-DB43-B298-7507AC1476AB}"/>
              </a:ext>
            </a:extLst>
          </p:cNvPr>
          <p:cNvSpPr>
            <a:spLocks noGrp="1"/>
          </p:cNvSpPr>
          <p:nvPr>
            <p:ph type="dt" sz="half" idx="10"/>
          </p:nvPr>
        </p:nvSpPr>
        <p:spPr/>
        <p:txBody>
          <a:bodyPr/>
          <a:lstStyle/>
          <a:p>
            <a:fld id="{D0B4EB08-08D0-5E46-94E1-D05884675F20}" type="datetimeFigureOut">
              <a:rPr lang="en-US" smtClean="0"/>
              <a:t>11/25/20</a:t>
            </a:fld>
            <a:endParaRPr lang="en-US"/>
          </a:p>
        </p:txBody>
      </p:sp>
      <p:sp>
        <p:nvSpPr>
          <p:cNvPr id="5" name="Footer Placeholder 4">
            <a:extLst>
              <a:ext uri="{FF2B5EF4-FFF2-40B4-BE49-F238E27FC236}">
                <a16:creationId xmlns:a16="http://schemas.microsoft.com/office/drawing/2014/main" id="{4327FB08-D921-9B40-B4AD-FE4E3C8ABF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8D7B39-A52C-574E-8B63-1A2E01FC619A}"/>
              </a:ext>
            </a:extLst>
          </p:cNvPr>
          <p:cNvSpPr>
            <a:spLocks noGrp="1"/>
          </p:cNvSpPr>
          <p:nvPr>
            <p:ph type="sldNum" sz="quarter" idx="12"/>
          </p:nvPr>
        </p:nvSpPr>
        <p:spPr/>
        <p:txBody>
          <a:bodyPr/>
          <a:lstStyle/>
          <a:p>
            <a:fld id="{4BE9B182-8C12-734E-A988-5D4AA9B364F6}" type="slidenum">
              <a:rPr lang="en-US" smtClean="0"/>
              <a:t>‹#›</a:t>
            </a:fld>
            <a:endParaRPr lang="en-US"/>
          </a:p>
        </p:txBody>
      </p:sp>
    </p:spTree>
    <p:extLst>
      <p:ext uri="{BB962C8B-B14F-4D97-AF65-F5344CB8AC3E}">
        <p14:creationId xmlns:p14="http://schemas.microsoft.com/office/powerpoint/2010/main" val="1755707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DA4A69-8E62-CA49-8C01-82D548B95A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95FF370-8DF6-D24B-A0B3-CD15CDD902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A1EBB3-D943-F547-A355-6284232BB5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0B4EB08-08D0-5E46-94E1-D05884675F20}" type="datetimeFigureOut">
              <a:rPr lang="en-US" smtClean="0"/>
              <a:t>11/25/20</a:t>
            </a:fld>
            <a:endParaRPr lang="en-US"/>
          </a:p>
        </p:txBody>
      </p:sp>
      <p:sp>
        <p:nvSpPr>
          <p:cNvPr id="5" name="Footer Placeholder 4">
            <a:extLst>
              <a:ext uri="{FF2B5EF4-FFF2-40B4-BE49-F238E27FC236}">
                <a16:creationId xmlns:a16="http://schemas.microsoft.com/office/drawing/2014/main" id="{4AFA1CA8-C04F-214C-8366-7922A7160F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1988ACA-C4F7-A148-A0BB-7834E15EA6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E9B182-8C12-734E-A988-5D4AA9B364F6}" type="slidenum">
              <a:rPr lang="en-US" smtClean="0"/>
              <a:t>‹#›</a:t>
            </a:fld>
            <a:endParaRPr lang="en-US"/>
          </a:p>
        </p:txBody>
      </p:sp>
    </p:spTree>
    <p:extLst>
      <p:ext uri="{BB962C8B-B14F-4D97-AF65-F5344CB8AC3E}">
        <p14:creationId xmlns:p14="http://schemas.microsoft.com/office/powerpoint/2010/main" val="3632814898"/>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dx.doi.org/10.1038%2Fismej.2010.133"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075C9-A12C-C14D-A4FD-F4CB246E8DD8}"/>
              </a:ext>
            </a:extLst>
          </p:cNvPr>
          <p:cNvSpPr>
            <a:spLocks noGrp="1"/>
          </p:cNvSpPr>
          <p:nvPr>
            <p:ph type="ctrTitle"/>
          </p:nvPr>
        </p:nvSpPr>
        <p:spPr/>
        <p:txBody>
          <a:bodyPr>
            <a:normAutofit fontScale="90000"/>
          </a:bodyPr>
          <a:lstStyle/>
          <a:p>
            <a:r>
              <a:rPr lang="en-US" dirty="0"/>
              <a:t>Modelling Neutral and Non-Neutral Mechanisms of Community Assembly</a:t>
            </a:r>
          </a:p>
        </p:txBody>
      </p:sp>
      <p:sp>
        <p:nvSpPr>
          <p:cNvPr id="3" name="Subtitle 2">
            <a:extLst>
              <a:ext uri="{FF2B5EF4-FFF2-40B4-BE49-F238E27FC236}">
                <a16:creationId xmlns:a16="http://schemas.microsoft.com/office/drawing/2014/main" id="{DED24E61-6173-5C4A-9AC2-63379B767B96}"/>
              </a:ext>
            </a:extLst>
          </p:cNvPr>
          <p:cNvSpPr>
            <a:spLocks noGrp="1"/>
          </p:cNvSpPr>
          <p:nvPr>
            <p:ph type="subTitle" idx="1"/>
          </p:nvPr>
        </p:nvSpPr>
        <p:spPr/>
        <p:txBody>
          <a:bodyPr/>
          <a:lstStyle/>
          <a:p>
            <a:r>
              <a:rPr lang="en-US" dirty="0"/>
              <a:t>Amy Solman</a:t>
            </a:r>
          </a:p>
        </p:txBody>
      </p:sp>
    </p:spTree>
    <p:extLst>
      <p:ext uri="{BB962C8B-B14F-4D97-AF65-F5344CB8AC3E}">
        <p14:creationId xmlns:p14="http://schemas.microsoft.com/office/powerpoint/2010/main" val="90931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906610-D7F4-C14C-90A3-146BAF64758B}"/>
              </a:ext>
            </a:extLst>
          </p:cNvPr>
          <p:cNvSpPr>
            <a:spLocks noGrp="1"/>
          </p:cNvSpPr>
          <p:nvPr>
            <p:ph type="title"/>
          </p:nvPr>
        </p:nvSpPr>
        <p:spPr/>
        <p:txBody>
          <a:bodyPr>
            <a:normAutofit/>
          </a:bodyPr>
          <a:lstStyle/>
          <a:p>
            <a:r>
              <a:rPr lang="en-US" dirty="0"/>
              <a:t>Inferring Ecological Stochasticity (adapted from Zhou, 2017)</a:t>
            </a:r>
          </a:p>
        </p:txBody>
      </p:sp>
      <p:sp>
        <p:nvSpPr>
          <p:cNvPr id="3" name="Content Placeholder 2">
            <a:extLst>
              <a:ext uri="{FF2B5EF4-FFF2-40B4-BE49-F238E27FC236}">
                <a16:creationId xmlns:a16="http://schemas.microsoft.com/office/drawing/2014/main" id="{2B8C2EFD-01EF-1C4F-814D-AF853E5B1AE5}"/>
              </a:ext>
            </a:extLst>
          </p:cNvPr>
          <p:cNvSpPr>
            <a:spLocks noGrp="1"/>
          </p:cNvSpPr>
          <p:nvPr>
            <p:ph idx="1"/>
          </p:nvPr>
        </p:nvSpPr>
        <p:spPr>
          <a:xfrm>
            <a:off x="838200" y="1825625"/>
            <a:ext cx="10515600" cy="867879"/>
          </a:xfrm>
        </p:spPr>
        <p:txBody>
          <a:bodyPr>
            <a:normAutofit/>
          </a:bodyPr>
          <a:lstStyle/>
          <a:p>
            <a:pPr marL="0" indent="0">
              <a:buNone/>
            </a:pPr>
            <a:r>
              <a:rPr lang="en-US" sz="2000" dirty="0"/>
              <a:t>What methods can we use to understand the extent to which dispersal, drift and diversification are driving community assembly?</a:t>
            </a:r>
          </a:p>
        </p:txBody>
      </p:sp>
      <p:graphicFrame>
        <p:nvGraphicFramePr>
          <p:cNvPr id="4" name="Diagram 3">
            <a:extLst>
              <a:ext uri="{FF2B5EF4-FFF2-40B4-BE49-F238E27FC236}">
                <a16:creationId xmlns:a16="http://schemas.microsoft.com/office/drawing/2014/main" id="{CCDAA37D-F917-7B4E-B604-DD7BF3646BB1}"/>
              </a:ext>
            </a:extLst>
          </p:cNvPr>
          <p:cNvGraphicFramePr/>
          <p:nvPr>
            <p:extLst>
              <p:ext uri="{D42A27DB-BD31-4B8C-83A1-F6EECF244321}">
                <p14:modId xmlns:p14="http://schemas.microsoft.com/office/powerpoint/2010/main" val="2548383928"/>
              </p:ext>
            </p:extLst>
          </p:nvPr>
        </p:nvGraphicFramePr>
        <p:xfrm>
          <a:off x="2350052" y="2410355"/>
          <a:ext cx="7241209" cy="44476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0003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22C1D-845C-F34A-90BE-F7A6E62BACDB}"/>
              </a:ext>
            </a:extLst>
          </p:cNvPr>
          <p:cNvSpPr>
            <a:spLocks noGrp="1"/>
          </p:cNvSpPr>
          <p:nvPr>
            <p:ph type="title"/>
          </p:nvPr>
        </p:nvSpPr>
        <p:spPr>
          <a:solidFill>
            <a:schemeClr val="accent4">
              <a:lumMod val="60000"/>
              <a:lumOff val="40000"/>
            </a:schemeClr>
          </a:solidFill>
        </p:spPr>
        <p:txBody>
          <a:bodyPr/>
          <a:lstStyle/>
          <a:p>
            <a:r>
              <a:rPr lang="en-US" dirty="0"/>
              <a:t>Multivariate Analysis</a:t>
            </a:r>
          </a:p>
        </p:txBody>
      </p:sp>
      <p:sp>
        <p:nvSpPr>
          <p:cNvPr id="3" name="Content Placeholder 2">
            <a:extLst>
              <a:ext uri="{FF2B5EF4-FFF2-40B4-BE49-F238E27FC236}">
                <a16:creationId xmlns:a16="http://schemas.microsoft.com/office/drawing/2014/main" id="{95E557CF-FBA9-8C4E-98C3-6E6FBFEE0E7B}"/>
              </a:ext>
            </a:extLst>
          </p:cNvPr>
          <p:cNvSpPr>
            <a:spLocks noGrp="1"/>
          </p:cNvSpPr>
          <p:nvPr>
            <p:ph idx="1"/>
          </p:nvPr>
        </p:nvSpPr>
        <p:spPr/>
        <p:txBody>
          <a:bodyPr>
            <a:normAutofit fontScale="92500"/>
          </a:bodyPr>
          <a:lstStyle/>
          <a:p>
            <a:pPr marL="0" indent="0">
              <a:buNone/>
            </a:pPr>
            <a:r>
              <a:rPr lang="en-US" dirty="0"/>
              <a:t>Used for:</a:t>
            </a:r>
          </a:p>
          <a:p>
            <a:pPr marL="514350" indent="-514350">
              <a:buFont typeface="+mj-lt"/>
              <a:buAutoNum type="arabicPeriod"/>
            </a:pPr>
            <a:r>
              <a:rPr lang="en-US" dirty="0"/>
              <a:t>Examining the relative importance of selection and dispersal on shaping community structure</a:t>
            </a:r>
          </a:p>
          <a:p>
            <a:pPr marL="514350" indent="-514350">
              <a:buFont typeface="+mj-lt"/>
              <a:buAutoNum type="arabicPeriod"/>
            </a:pPr>
            <a:r>
              <a:rPr lang="en-US" dirty="0"/>
              <a:t>Elucidating the relative importance of </a:t>
            </a:r>
            <a:r>
              <a:rPr lang="en-US" b="1" dirty="0"/>
              <a:t>contemporary selection (what’s happening now) </a:t>
            </a:r>
            <a:r>
              <a:rPr lang="en-US" dirty="0"/>
              <a:t>and </a:t>
            </a:r>
            <a:r>
              <a:rPr lang="en-US" b="1" dirty="0"/>
              <a:t>historical contingency (what happened previously) </a:t>
            </a:r>
            <a:r>
              <a:rPr lang="en-US" dirty="0"/>
              <a:t>in driving community structure and biogeography. Measure contemporary selection through partial correlation between biotic structure and current environmental variables + controlling for geographic distance = contemporary environment effect. Recent investigations indicate historical contingency is not as important to community structure as contemporary selection.</a:t>
            </a:r>
          </a:p>
        </p:txBody>
      </p:sp>
    </p:spTree>
    <p:extLst>
      <p:ext uri="{BB962C8B-B14F-4D97-AF65-F5344CB8AC3E}">
        <p14:creationId xmlns:p14="http://schemas.microsoft.com/office/powerpoint/2010/main" val="1313687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D4646-D00B-8543-9FB5-F7B0804B1BA0}"/>
              </a:ext>
            </a:extLst>
          </p:cNvPr>
          <p:cNvSpPr>
            <a:spLocks noGrp="1"/>
          </p:cNvSpPr>
          <p:nvPr>
            <p:ph type="title"/>
          </p:nvPr>
        </p:nvSpPr>
        <p:spPr>
          <a:xfrm>
            <a:off x="838200" y="363255"/>
            <a:ext cx="10515600" cy="1327434"/>
          </a:xfrm>
          <a:solidFill>
            <a:schemeClr val="accent4">
              <a:lumMod val="60000"/>
              <a:lumOff val="40000"/>
            </a:schemeClr>
          </a:solidFill>
        </p:spPr>
        <p:txBody>
          <a:bodyPr>
            <a:normAutofit fontScale="90000"/>
          </a:bodyPr>
          <a:lstStyle/>
          <a:p>
            <a:r>
              <a:rPr lang="en-US" dirty="0"/>
              <a:t>Multivariate Analysis 1: Comparison of communities within and between environments</a:t>
            </a:r>
          </a:p>
        </p:txBody>
      </p:sp>
      <p:sp>
        <p:nvSpPr>
          <p:cNvPr id="3" name="Content Placeholder 2">
            <a:extLst>
              <a:ext uri="{FF2B5EF4-FFF2-40B4-BE49-F238E27FC236}">
                <a16:creationId xmlns:a16="http://schemas.microsoft.com/office/drawing/2014/main" id="{56CAF03A-B4D1-6042-957C-B3615EE0A235}"/>
              </a:ext>
            </a:extLst>
          </p:cNvPr>
          <p:cNvSpPr>
            <a:spLocks noGrp="1"/>
          </p:cNvSpPr>
          <p:nvPr>
            <p:ph idx="1"/>
          </p:nvPr>
        </p:nvSpPr>
        <p:spPr/>
        <p:txBody>
          <a:bodyPr>
            <a:normAutofit fontScale="92500" lnSpcReduction="10000"/>
          </a:bodyPr>
          <a:lstStyle/>
          <a:p>
            <a:pPr marL="0" indent="0">
              <a:buNone/>
            </a:pPr>
            <a:r>
              <a:rPr lang="en-US" dirty="0"/>
              <a:t>Methods include:</a:t>
            </a:r>
          </a:p>
          <a:p>
            <a:pPr marL="514350" indent="-514350">
              <a:buFont typeface="+mj-lt"/>
              <a:buAutoNum type="alphaLcParenR"/>
            </a:pPr>
            <a:r>
              <a:rPr lang="en-US" dirty="0"/>
              <a:t>Permutational multivariate analysis of variance (PERMANOVA)</a:t>
            </a:r>
          </a:p>
          <a:p>
            <a:pPr marL="514350" indent="-514350">
              <a:buFont typeface="+mj-lt"/>
              <a:buAutoNum type="alphaLcParenR"/>
            </a:pPr>
            <a:r>
              <a:rPr lang="en-US" dirty="0"/>
              <a:t>Analysis of similarities</a:t>
            </a:r>
          </a:p>
          <a:p>
            <a:pPr marL="514350" indent="-514350">
              <a:buFont typeface="+mj-lt"/>
              <a:buAutoNum type="alphaLcParenR"/>
            </a:pPr>
            <a:r>
              <a:rPr lang="en-US" dirty="0"/>
              <a:t>Permutational analysis of multivariate dispersions (PERNDISP)</a:t>
            </a:r>
          </a:p>
          <a:p>
            <a:pPr marL="514350" indent="-514350">
              <a:buFont typeface="+mj-lt"/>
              <a:buAutoNum type="alphaLcParenR"/>
            </a:pPr>
            <a:r>
              <a:rPr lang="en-US" dirty="0"/>
              <a:t>Principal-coordination analysis (</a:t>
            </a:r>
            <a:r>
              <a:rPr lang="en-US" dirty="0" err="1"/>
              <a:t>PCoA</a:t>
            </a:r>
            <a:r>
              <a:rPr lang="en-US" dirty="0"/>
              <a:t>)</a:t>
            </a:r>
          </a:p>
          <a:p>
            <a:pPr marL="514350" indent="-514350">
              <a:buFont typeface="+mj-lt"/>
              <a:buAutoNum type="alphaLcParenR"/>
            </a:pPr>
            <a:r>
              <a:rPr lang="en-US" dirty="0"/>
              <a:t>Nonmetric multidimensional scaling (NMDS)</a:t>
            </a:r>
          </a:p>
          <a:p>
            <a:pPr marL="514350" indent="-514350">
              <a:buFont typeface="+mj-lt"/>
              <a:buAutoNum type="alphaLcParenR"/>
            </a:pPr>
            <a:r>
              <a:rPr lang="en-US" dirty="0"/>
              <a:t>Principal-component analysis (PCA)</a:t>
            </a:r>
          </a:p>
          <a:p>
            <a:pPr marL="514350" indent="-514350">
              <a:buFont typeface="+mj-lt"/>
              <a:buAutoNum type="alphaLcParenR"/>
            </a:pPr>
            <a:r>
              <a:rPr lang="en-US" dirty="0"/>
              <a:t>Detrended correspondence analysis (DCA)</a:t>
            </a:r>
          </a:p>
          <a:p>
            <a:pPr marL="0" indent="0">
              <a:buNone/>
            </a:pPr>
            <a:r>
              <a:rPr lang="en-US" dirty="0"/>
              <a:t>The above methods should be used with a null model to compare observed diversity with null diversity and infer stochasticity. </a:t>
            </a:r>
          </a:p>
          <a:p>
            <a:pPr marL="514350" indent="-514350">
              <a:buFont typeface="+mj-lt"/>
              <a:buAutoNum type="alphaLcParenR"/>
            </a:pPr>
            <a:endParaRPr lang="en-US" dirty="0"/>
          </a:p>
          <a:p>
            <a:pPr marL="0" indent="0">
              <a:buNone/>
            </a:pPr>
            <a:endParaRPr lang="en-US" dirty="0"/>
          </a:p>
        </p:txBody>
      </p:sp>
    </p:spTree>
    <p:extLst>
      <p:ext uri="{BB962C8B-B14F-4D97-AF65-F5344CB8AC3E}">
        <p14:creationId xmlns:p14="http://schemas.microsoft.com/office/powerpoint/2010/main" val="186806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7C55E-2019-6C4A-A454-C3892D2000A5}"/>
              </a:ext>
            </a:extLst>
          </p:cNvPr>
          <p:cNvSpPr>
            <a:spLocks noGrp="1"/>
          </p:cNvSpPr>
          <p:nvPr>
            <p:ph type="title"/>
          </p:nvPr>
        </p:nvSpPr>
        <p:spPr>
          <a:solidFill>
            <a:schemeClr val="accent4">
              <a:lumMod val="60000"/>
              <a:lumOff val="40000"/>
            </a:schemeClr>
          </a:solidFill>
        </p:spPr>
        <p:txBody>
          <a:bodyPr>
            <a:normAutofit/>
          </a:bodyPr>
          <a:lstStyle/>
          <a:p>
            <a:r>
              <a:rPr lang="en-US" dirty="0"/>
              <a:t>Multivariate Analysis 2: Correlations between communities and their environment</a:t>
            </a:r>
          </a:p>
        </p:txBody>
      </p:sp>
      <p:sp>
        <p:nvSpPr>
          <p:cNvPr id="3" name="Content Placeholder 2">
            <a:extLst>
              <a:ext uri="{FF2B5EF4-FFF2-40B4-BE49-F238E27FC236}">
                <a16:creationId xmlns:a16="http://schemas.microsoft.com/office/drawing/2014/main" id="{767369F7-D6BC-1845-92F0-8EF2AF74240D}"/>
              </a:ext>
            </a:extLst>
          </p:cNvPr>
          <p:cNvSpPr>
            <a:spLocks noGrp="1"/>
          </p:cNvSpPr>
          <p:nvPr>
            <p:ph idx="1"/>
          </p:nvPr>
        </p:nvSpPr>
        <p:spPr/>
        <p:txBody>
          <a:bodyPr>
            <a:normAutofit fontScale="92500"/>
          </a:bodyPr>
          <a:lstStyle/>
          <a:p>
            <a:pPr marL="0" indent="0">
              <a:buNone/>
            </a:pPr>
            <a:r>
              <a:rPr lang="en-US" dirty="0"/>
              <a:t>Methods:</a:t>
            </a:r>
          </a:p>
          <a:p>
            <a:pPr marL="514350" indent="-514350">
              <a:buFont typeface="+mj-lt"/>
              <a:buAutoNum type="alphaLcParenR"/>
            </a:pPr>
            <a:r>
              <a:rPr lang="en-US" dirty="0"/>
              <a:t>Mantel test</a:t>
            </a:r>
          </a:p>
          <a:p>
            <a:pPr marL="514350" indent="-514350">
              <a:buFont typeface="+mj-lt"/>
              <a:buAutoNum type="alphaLcParenR"/>
            </a:pPr>
            <a:r>
              <a:rPr lang="en-US" dirty="0"/>
              <a:t>Multiple regression on (dis)similarity matrices (MRM)</a:t>
            </a:r>
          </a:p>
          <a:p>
            <a:pPr marL="514350" indent="-514350">
              <a:buFont typeface="+mj-lt"/>
              <a:buAutoNum type="alphaLcParenR"/>
            </a:pPr>
            <a:r>
              <a:rPr lang="en-US" dirty="0"/>
              <a:t>Redundancy analysis (RDA)</a:t>
            </a:r>
          </a:p>
          <a:p>
            <a:pPr marL="514350" indent="-514350">
              <a:buFont typeface="+mj-lt"/>
              <a:buAutoNum type="alphaLcParenR"/>
            </a:pPr>
            <a:r>
              <a:rPr lang="en-US" dirty="0"/>
              <a:t>Canonical correspondence analysis (CCA)</a:t>
            </a:r>
          </a:p>
          <a:p>
            <a:pPr marL="0" indent="0">
              <a:buNone/>
            </a:pPr>
            <a:r>
              <a:rPr lang="en-US" dirty="0"/>
              <a:t>If lots of the variation in community structure is explained by environmental variables, we know selection is playing a strong role in controlling the community structure. The reverse indicates strong evidence for the role of stochastic mechanisms. WARNING: Selection and dispersal may cause similar patterns. Resolve this by extending the analysis…</a:t>
            </a:r>
          </a:p>
          <a:p>
            <a:endParaRPr lang="en-US" dirty="0"/>
          </a:p>
        </p:txBody>
      </p:sp>
    </p:spTree>
    <p:extLst>
      <p:ext uri="{BB962C8B-B14F-4D97-AF65-F5344CB8AC3E}">
        <p14:creationId xmlns:p14="http://schemas.microsoft.com/office/powerpoint/2010/main" val="749277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4AF3D-8FDC-2446-93E7-9C052436A10D}"/>
              </a:ext>
            </a:extLst>
          </p:cNvPr>
          <p:cNvSpPr>
            <a:spLocks noGrp="1"/>
          </p:cNvSpPr>
          <p:nvPr>
            <p:ph type="title"/>
          </p:nvPr>
        </p:nvSpPr>
        <p:spPr>
          <a:solidFill>
            <a:schemeClr val="accent4">
              <a:lumMod val="60000"/>
              <a:lumOff val="40000"/>
            </a:schemeClr>
          </a:solidFill>
        </p:spPr>
        <p:txBody>
          <a:bodyPr>
            <a:normAutofit/>
          </a:bodyPr>
          <a:lstStyle/>
          <a:p>
            <a:r>
              <a:rPr lang="en-US" dirty="0"/>
              <a:t>Multivariate Analysis 3: Variation-partitioning analysis (VPA)</a:t>
            </a:r>
          </a:p>
        </p:txBody>
      </p:sp>
      <p:sp>
        <p:nvSpPr>
          <p:cNvPr id="3" name="Content Placeholder 2">
            <a:extLst>
              <a:ext uri="{FF2B5EF4-FFF2-40B4-BE49-F238E27FC236}">
                <a16:creationId xmlns:a16="http://schemas.microsoft.com/office/drawing/2014/main" id="{DBE894A4-C9DF-A24E-A847-6A0005FB8633}"/>
              </a:ext>
            </a:extLst>
          </p:cNvPr>
          <p:cNvSpPr>
            <a:spLocks noGrp="1"/>
          </p:cNvSpPr>
          <p:nvPr>
            <p:ph idx="1"/>
          </p:nvPr>
        </p:nvSpPr>
        <p:spPr/>
        <p:txBody>
          <a:bodyPr>
            <a:normAutofit fontScale="92500" lnSpcReduction="10000"/>
          </a:bodyPr>
          <a:lstStyle/>
          <a:p>
            <a:pPr marL="0" indent="0">
              <a:buNone/>
            </a:pPr>
            <a:r>
              <a:rPr lang="en-US" dirty="0"/>
              <a:t>How to look for the the relative influences of selection and dispersal on community composition using VPA</a:t>
            </a:r>
          </a:p>
          <a:p>
            <a:pPr marL="514350" indent="-514350">
              <a:buFont typeface="+mj-lt"/>
              <a:buAutoNum type="arabicPeriod"/>
            </a:pPr>
            <a:r>
              <a:rPr lang="en-US" dirty="0"/>
              <a:t>Control for geographic distance, then find correlation between community structure and environmental variables = environmental effect (selection)</a:t>
            </a:r>
          </a:p>
          <a:p>
            <a:pPr marL="514350" indent="-514350">
              <a:buFont typeface="+mj-lt"/>
              <a:buAutoNum type="arabicPeriod"/>
            </a:pPr>
            <a:r>
              <a:rPr lang="en-US" dirty="0"/>
              <a:t>Control for environmental variables, then find the correlation between community structure and geographic distance = distance effect (dispersal – and other spatial effects e.g. drift)</a:t>
            </a:r>
          </a:p>
          <a:p>
            <a:pPr marL="514350" indent="-514350">
              <a:buFont typeface="+mj-lt"/>
              <a:buAutoNum type="arabicPeriod"/>
            </a:pPr>
            <a:r>
              <a:rPr lang="en-US" dirty="0"/>
              <a:t>Quantify interaction between environmental variables and distance = remaining unexplained variation (due to unmeasured variables, biotic selection, drift, issues with the methodology?)</a:t>
            </a:r>
          </a:p>
        </p:txBody>
      </p:sp>
    </p:spTree>
    <p:extLst>
      <p:ext uri="{BB962C8B-B14F-4D97-AF65-F5344CB8AC3E}">
        <p14:creationId xmlns:p14="http://schemas.microsoft.com/office/powerpoint/2010/main" val="29091355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F5BAF9-2489-104C-9B5A-D259A7F89BC4}"/>
              </a:ext>
            </a:extLst>
          </p:cNvPr>
          <p:cNvSpPr>
            <a:spLocks noGrp="1"/>
          </p:cNvSpPr>
          <p:nvPr>
            <p:ph type="title"/>
          </p:nvPr>
        </p:nvSpPr>
        <p:spPr>
          <a:solidFill>
            <a:schemeClr val="accent4">
              <a:lumMod val="60000"/>
              <a:lumOff val="40000"/>
            </a:schemeClr>
          </a:solidFill>
        </p:spPr>
        <p:txBody>
          <a:bodyPr>
            <a:normAutofit/>
          </a:bodyPr>
          <a:lstStyle/>
          <a:p>
            <a:r>
              <a:rPr lang="en-US" dirty="0"/>
              <a:t>Multivariate Analysis 3: Variation-partitioning analysis (VPA) Type I</a:t>
            </a:r>
          </a:p>
        </p:txBody>
      </p:sp>
      <p:sp>
        <p:nvSpPr>
          <p:cNvPr id="3" name="Content Placeholder 2">
            <a:extLst>
              <a:ext uri="{FF2B5EF4-FFF2-40B4-BE49-F238E27FC236}">
                <a16:creationId xmlns:a16="http://schemas.microsoft.com/office/drawing/2014/main" id="{DECBC302-6AA7-7343-9198-B699563A665D}"/>
              </a:ext>
            </a:extLst>
          </p:cNvPr>
          <p:cNvSpPr>
            <a:spLocks noGrp="1"/>
          </p:cNvSpPr>
          <p:nvPr>
            <p:ph idx="1"/>
          </p:nvPr>
        </p:nvSpPr>
        <p:spPr/>
        <p:txBody>
          <a:bodyPr/>
          <a:lstStyle/>
          <a:p>
            <a:pPr marL="0" indent="0">
              <a:buNone/>
            </a:pPr>
            <a:r>
              <a:rPr lang="en-US" dirty="0"/>
              <a:t>Raw environmental data + spatial x-y coordinates directly used to correlated community changes, for example:</a:t>
            </a:r>
          </a:p>
          <a:p>
            <a:pPr marL="514350" indent="-514350">
              <a:buFont typeface="+mj-lt"/>
              <a:buAutoNum type="alphaLcParenR"/>
            </a:pPr>
            <a:r>
              <a:rPr lang="en-US" dirty="0"/>
              <a:t>VPA based on RDA for linear regression</a:t>
            </a:r>
          </a:p>
          <a:p>
            <a:pPr marL="514350" indent="-514350">
              <a:buFont typeface="+mj-lt"/>
              <a:buAutoNum type="alphaLcParenR"/>
            </a:pPr>
            <a:r>
              <a:rPr lang="en-US" dirty="0"/>
              <a:t>Partial </a:t>
            </a:r>
            <a:r>
              <a:rPr lang="en-US" dirty="0" err="1"/>
              <a:t>pCCA</a:t>
            </a:r>
            <a:r>
              <a:rPr lang="en-US" dirty="0"/>
              <a:t> for unimodal regression</a:t>
            </a:r>
          </a:p>
          <a:p>
            <a:pPr marL="0" indent="0">
              <a:buNone/>
            </a:pPr>
            <a:r>
              <a:rPr lang="en-US" dirty="0"/>
              <a:t>Addresses questions about observed variations in community structure</a:t>
            </a:r>
          </a:p>
          <a:p>
            <a:endParaRPr lang="en-US" dirty="0"/>
          </a:p>
        </p:txBody>
      </p:sp>
    </p:spTree>
    <p:extLst>
      <p:ext uri="{BB962C8B-B14F-4D97-AF65-F5344CB8AC3E}">
        <p14:creationId xmlns:p14="http://schemas.microsoft.com/office/powerpoint/2010/main" val="3292259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9F2B2-7D2A-B044-9312-8F156704F612}"/>
              </a:ext>
            </a:extLst>
          </p:cNvPr>
          <p:cNvSpPr>
            <a:spLocks noGrp="1"/>
          </p:cNvSpPr>
          <p:nvPr>
            <p:ph type="title"/>
          </p:nvPr>
        </p:nvSpPr>
        <p:spPr>
          <a:solidFill>
            <a:schemeClr val="accent4">
              <a:lumMod val="60000"/>
              <a:lumOff val="40000"/>
            </a:schemeClr>
          </a:solidFill>
        </p:spPr>
        <p:txBody>
          <a:bodyPr>
            <a:normAutofit/>
          </a:bodyPr>
          <a:lstStyle/>
          <a:p>
            <a:r>
              <a:rPr lang="en-US" dirty="0"/>
              <a:t>Multivariate Analysis 3: Variation-partitioning analysis (VPA) Type II (DIST)</a:t>
            </a:r>
          </a:p>
        </p:txBody>
      </p:sp>
      <p:sp>
        <p:nvSpPr>
          <p:cNvPr id="3" name="Content Placeholder 2">
            <a:extLst>
              <a:ext uri="{FF2B5EF4-FFF2-40B4-BE49-F238E27FC236}">
                <a16:creationId xmlns:a16="http://schemas.microsoft.com/office/drawing/2014/main" id="{591EAADA-5B96-CA4A-BCAD-8E6CA9F9028B}"/>
              </a:ext>
            </a:extLst>
          </p:cNvPr>
          <p:cNvSpPr>
            <a:spLocks noGrp="1"/>
          </p:cNvSpPr>
          <p:nvPr>
            <p:ph idx="1"/>
          </p:nvPr>
        </p:nvSpPr>
        <p:spPr/>
        <p:txBody>
          <a:bodyPr>
            <a:normAutofit fontScale="92500" lnSpcReduction="10000"/>
          </a:bodyPr>
          <a:lstStyle/>
          <a:p>
            <a:pPr marL="0" indent="0">
              <a:buNone/>
            </a:pPr>
            <a:r>
              <a:rPr lang="en-US" dirty="0"/>
              <a:t>Indirect approach using three distance matrices</a:t>
            </a:r>
          </a:p>
          <a:p>
            <a:pPr marL="0" indent="0">
              <a:buNone/>
            </a:pPr>
            <a:r>
              <a:rPr lang="en-US" dirty="0"/>
              <a:t>Community dissimilarity + geographic distance + environmental similarity used to establish correlations between environment, space and community, for example:</a:t>
            </a:r>
          </a:p>
          <a:p>
            <a:pPr marL="514350" indent="-514350">
              <a:buFont typeface="+mj-lt"/>
              <a:buAutoNum type="alphaLcParenR"/>
            </a:pPr>
            <a:r>
              <a:rPr lang="en-US" dirty="0"/>
              <a:t>VPA based on partial Mantel test (rarely used)</a:t>
            </a:r>
          </a:p>
          <a:p>
            <a:pPr marL="514350" indent="-514350">
              <a:buFont typeface="+mj-lt"/>
              <a:buAutoNum type="alphaLcParenR"/>
            </a:pPr>
            <a:r>
              <a:rPr lang="en-US" dirty="0"/>
              <a:t>MRM</a:t>
            </a:r>
          </a:p>
          <a:p>
            <a:pPr marL="514350" indent="-514350">
              <a:buFont typeface="+mj-lt"/>
              <a:buAutoNum type="alphaLcParenR"/>
            </a:pPr>
            <a:r>
              <a:rPr lang="en-US" dirty="0"/>
              <a:t>Distance-based RDA</a:t>
            </a:r>
          </a:p>
          <a:p>
            <a:pPr marL="0" indent="0">
              <a:buNone/>
            </a:pPr>
            <a:r>
              <a:rPr lang="en-US" dirty="0"/>
              <a:t>Addresses questions on the variation measured by the dissimilarity metrics e.g. differences in species occurrence determined by the Jaccard index, differences in community structure determined by the Bray-Curtis index, phylogenetic dissimilarity determined by the </a:t>
            </a:r>
            <a:r>
              <a:rPr lang="en-US" dirty="0" err="1"/>
              <a:t>UniFrac</a:t>
            </a:r>
            <a:r>
              <a:rPr lang="en-US" dirty="0"/>
              <a:t> index</a:t>
            </a:r>
          </a:p>
          <a:p>
            <a:pPr marL="0" indent="0">
              <a:buNone/>
            </a:pPr>
            <a:endParaRPr lang="en-US" dirty="0"/>
          </a:p>
        </p:txBody>
      </p:sp>
    </p:spTree>
    <p:extLst>
      <p:ext uri="{BB962C8B-B14F-4D97-AF65-F5344CB8AC3E}">
        <p14:creationId xmlns:p14="http://schemas.microsoft.com/office/powerpoint/2010/main" val="40703983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44E59-5D9D-004E-841C-905AAA659A3C}"/>
              </a:ext>
            </a:extLst>
          </p:cNvPr>
          <p:cNvSpPr>
            <a:spLocks noGrp="1"/>
          </p:cNvSpPr>
          <p:nvPr>
            <p:ph type="title"/>
          </p:nvPr>
        </p:nvSpPr>
        <p:spPr>
          <a:solidFill>
            <a:schemeClr val="accent4">
              <a:lumMod val="60000"/>
              <a:lumOff val="40000"/>
            </a:schemeClr>
          </a:solidFill>
        </p:spPr>
        <p:txBody>
          <a:bodyPr/>
          <a:lstStyle/>
          <a:p>
            <a:r>
              <a:rPr lang="en-US" dirty="0"/>
              <a:t>Multivariate Analysis: Problems</a:t>
            </a:r>
          </a:p>
        </p:txBody>
      </p:sp>
      <p:sp>
        <p:nvSpPr>
          <p:cNvPr id="3" name="Content Placeholder 2">
            <a:extLst>
              <a:ext uri="{FF2B5EF4-FFF2-40B4-BE49-F238E27FC236}">
                <a16:creationId xmlns:a16="http://schemas.microsoft.com/office/drawing/2014/main" id="{41A922DD-87A2-0F4A-8DB8-1875C99FE8AC}"/>
              </a:ext>
            </a:extLst>
          </p:cNvPr>
          <p:cNvSpPr>
            <a:spLocks noGrp="1"/>
          </p:cNvSpPr>
          <p:nvPr>
            <p:ph idx="1"/>
          </p:nvPr>
        </p:nvSpPr>
        <p:spPr/>
        <p:txBody>
          <a:bodyPr>
            <a:normAutofit fontScale="55000" lnSpcReduction="20000"/>
          </a:bodyPr>
          <a:lstStyle/>
          <a:p>
            <a:pPr marL="0" indent="0">
              <a:buNone/>
            </a:pPr>
            <a:r>
              <a:rPr lang="en-US" b="1" dirty="0"/>
              <a:t>1. Unmeasured environmental variables – impossible to measure everything! Can lead to overestimations of the impact of distance effect</a:t>
            </a:r>
          </a:p>
          <a:p>
            <a:pPr marL="0" indent="0">
              <a:buNone/>
            </a:pPr>
            <a:r>
              <a:rPr lang="en-US" dirty="0"/>
              <a:t>Solution: </a:t>
            </a:r>
          </a:p>
          <a:p>
            <a:pPr marL="514350" indent="-514350">
              <a:buFont typeface="+mj-lt"/>
              <a:buAutoNum type="alphaLcParenR"/>
            </a:pPr>
            <a:r>
              <a:rPr lang="en-US" dirty="0"/>
              <a:t>Decompose spatial distance into various spatial variables based on spatial eigenvector analysis</a:t>
            </a:r>
          </a:p>
          <a:p>
            <a:pPr marL="514350" indent="-514350">
              <a:buFont typeface="+mj-lt"/>
              <a:buAutoNum type="alphaLcParenR"/>
            </a:pPr>
            <a:r>
              <a:rPr lang="en-US" dirty="0"/>
              <a:t>Combine special variables with other environmental variables and decompose into principal components (PCs)</a:t>
            </a:r>
          </a:p>
          <a:p>
            <a:pPr marL="514350" indent="-514350">
              <a:buFont typeface="+mj-lt"/>
              <a:buAutoNum type="alphaLcParenR"/>
            </a:pPr>
            <a:r>
              <a:rPr lang="en-US" dirty="0"/>
              <a:t>Associate PCs with beta diversity metrics related to selection (e.g. beta nearest taxon index)</a:t>
            </a:r>
          </a:p>
          <a:p>
            <a:pPr marL="514350" indent="-514350">
              <a:buFont typeface="+mj-lt"/>
              <a:buAutoNum type="alphaLcParenR"/>
            </a:pPr>
            <a:r>
              <a:rPr lang="en-US" dirty="0"/>
              <a:t>If one of the PCs is significantly associated with selection but there is no obvious loading of any measured environmental variables (other than spatial variables) this probably represents unmeasured environmental factors</a:t>
            </a:r>
          </a:p>
          <a:p>
            <a:pPr marL="0" indent="0">
              <a:buNone/>
            </a:pPr>
            <a:r>
              <a:rPr lang="en-US" dirty="0"/>
              <a:t>This is the first time unmeasured environmental variables has been disentangled from stochastic processes, but it could still be linked to drift or methodological artifacts.</a:t>
            </a:r>
          </a:p>
          <a:p>
            <a:pPr marL="0" indent="0">
              <a:buNone/>
            </a:pPr>
            <a:r>
              <a:rPr lang="en-US" dirty="0"/>
              <a:t>2. </a:t>
            </a:r>
            <a:r>
              <a:rPr lang="en-US" b="1" dirty="0"/>
              <a:t>Simulation models have found that VPA is unable to correctly predict the environmental and spatial mechanisms driving community composition – despite the fact that this is widely used for discerning deterministic and stochastic processes in community assembly. </a:t>
            </a:r>
          </a:p>
          <a:p>
            <a:pPr marL="0" indent="0">
              <a:buNone/>
            </a:pPr>
            <a:r>
              <a:rPr lang="en-US" dirty="0"/>
              <a:t>Solution:</a:t>
            </a:r>
          </a:p>
          <a:p>
            <a:pPr marL="0" indent="0">
              <a:buNone/>
            </a:pPr>
            <a:r>
              <a:rPr lang="en-US" dirty="0"/>
              <a:t>Multivariate analysis should be used as an exploratory tool, along with neutral and null models, to assess the relative importance of neutral and non-neutral processes.</a:t>
            </a:r>
          </a:p>
        </p:txBody>
      </p:sp>
    </p:spTree>
    <p:extLst>
      <p:ext uri="{BB962C8B-B14F-4D97-AF65-F5344CB8AC3E}">
        <p14:creationId xmlns:p14="http://schemas.microsoft.com/office/powerpoint/2010/main" val="35518107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AA3E4-9045-2543-8550-7C6CF8CD65D6}"/>
              </a:ext>
            </a:extLst>
          </p:cNvPr>
          <p:cNvSpPr>
            <a:spLocks noGrp="1"/>
          </p:cNvSpPr>
          <p:nvPr>
            <p:ph type="title"/>
          </p:nvPr>
        </p:nvSpPr>
        <p:spPr>
          <a:solidFill>
            <a:schemeClr val="accent5">
              <a:lumMod val="60000"/>
              <a:lumOff val="40000"/>
            </a:schemeClr>
          </a:solidFill>
        </p:spPr>
        <p:txBody>
          <a:bodyPr/>
          <a:lstStyle/>
          <a:p>
            <a:r>
              <a:rPr lang="en-US" dirty="0"/>
              <a:t>Neutral Models</a:t>
            </a:r>
          </a:p>
        </p:txBody>
      </p:sp>
      <p:sp>
        <p:nvSpPr>
          <p:cNvPr id="3" name="Content Placeholder 2">
            <a:extLst>
              <a:ext uri="{FF2B5EF4-FFF2-40B4-BE49-F238E27FC236}">
                <a16:creationId xmlns:a16="http://schemas.microsoft.com/office/drawing/2014/main" id="{2A235C12-6AE1-7447-9BD9-8D846EDF7668}"/>
              </a:ext>
            </a:extLst>
          </p:cNvPr>
          <p:cNvSpPr>
            <a:spLocks noGrp="1"/>
          </p:cNvSpPr>
          <p:nvPr>
            <p:ph idx="1"/>
          </p:nvPr>
        </p:nvSpPr>
        <p:spPr/>
        <p:txBody>
          <a:bodyPr/>
          <a:lstStyle/>
          <a:p>
            <a:pPr marL="0" indent="0">
              <a:buNone/>
            </a:pPr>
            <a:r>
              <a:rPr lang="en-US" dirty="0"/>
              <a:t>10 different models in the literature, including:</a:t>
            </a:r>
          </a:p>
          <a:p>
            <a:pPr marL="514350" indent="-514350">
              <a:buFont typeface="+mj-lt"/>
              <a:buAutoNum type="arabicPeriod"/>
            </a:pPr>
            <a:r>
              <a:rPr lang="en-US" dirty="0"/>
              <a:t>Hubbell’s neutral model, a spatially implicit neutral model (SINM)</a:t>
            </a:r>
          </a:p>
          <a:p>
            <a:pPr marL="514350" indent="-514350">
              <a:buFont typeface="+mj-lt"/>
              <a:buAutoNum type="arabicPeriod"/>
            </a:pPr>
            <a:r>
              <a:rPr lang="en-US" dirty="0" err="1"/>
              <a:t>Rosindell</a:t>
            </a:r>
            <a:r>
              <a:rPr lang="en-US" dirty="0"/>
              <a:t> et al (2008), a spatially explicit neutral model (SENM)</a:t>
            </a:r>
          </a:p>
          <a:p>
            <a:pPr marL="514350" indent="-514350">
              <a:buFont typeface="+mj-lt"/>
              <a:buAutoNum type="arabicPeriod"/>
            </a:pPr>
            <a:r>
              <a:rPr lang="en-US" dirty="0" err="1"/>
              <a:t>Rosindell</a:t>
            </a:r>
            <a:r>
              <a:rPr lang="en-US" dirty="0"/>
              <a:t> &amp; Cornell (2013), a SENM</a:t>
            </a:r>
          </a:p>
          <a:p>
            <a:pPr marL="0" indent="0">
              <a:buNone/>
            </a:pPr>
            <a:endParaRPr lang="en-US" dirty="0"/>
          </a:p>
          <a:p>
            <a:pPr marL="514350" indent="-514350">
              <a:buFont typeface="+mj-lt"/>
              <a:buAutoNum type="arabicPeriod"/>
            </a:pPr>
            <a:endParaRPr lang="en-US" dirty="0"/>
          </a:p>
        </p:txBody>
      </p:sp>
    </p:spTree>
    <p:extLst>
      <p:ext uri="{BB962C8B-B14F-4D97-AF65-F5344CB8AC3E}">
        <p14:creationId xmlns:p14="http://schemas.microsoft.com/office/powerpoint/2010/main" val="1176074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AE020-E443-B948-BC5A-4CBC56FB78FF}"/>
              </a:ext>
            </a:extLst>
          </p:cNvPr>
          <p:cNvSpPr>
            <a:spLocks noGrp="1"/>
          </p:cNvSpPr>
          <p:nvPr>
            <p:ph type="title"/>
          </p:nvPr>
        </p:nvSpPr>
        <p:spPr>
          <a:solidFill>
            <a:schemeClr val="accent5">
              <a:lumMod val="60000"/>
              <a:lumOff val="40000"/>
            </a:schemeClr>
          </a:solidFill>
        </p:spPr>
        <p:txBody>
          <a:bodyPr>
            <a:normAutofit/>
          </a:bodyPr>
          <a:lstStyle/>
          <a:p>
            <a:r>
              <a:rPr lang="en-US" dirty="0"/>
              <a:t>Neutral Model Assumptions (taken from Etienne </a:t>
            </a:r>
            <a:r>
              <a:rPr lang="en-US" i="1" dirty="0"/>
              <a:t>et al., </a:t>
            </a:r>
            <a:r>
              <a:rPr lang="en-US" dirty="0"/>
              <a:t>2007)</a:t>
            </a:r>
          </a:p>
        </p:txBody>
      </p:sp>
      <p:sp>
        <p:nvSpPr>
          <p:cNvPr id="3" name="Content Placeholder 2">
            <a:extLst>
              <a:ext uri="{FF2B5EF4-FFF2-40B4-BE49-F238E27FC236}">
                <a16:creationId xmlns:a16="http://schemas.microsoft.com/office/drawing/2014/main" id="{A6A90FDB-DD07-DE44-8819-86E510136210}"/>
              </a:ext>
            </a:extLst>
          </p:cNvPr>
          <p:cNvSpPr>
            <a:spLocks noGrp="1"/>
          </p:cNvSpPr>
          <p:nvPr>
            <p:ph idx="1"/>
          </p:nvPr>
        </p:nvSpPr>
        <p:spPr/>
        <p:txBody>
          <a:bodyPr/>
          <a:lstStyle/>
          <a:p>
            <a:pPr marL="514350" indent="-514350">
              <a:buFont typeface="+mj-lt"/>
              <a:buAutoNum type="arabicPeriod"/>
            </a:pPr>
            <a:r>
              <a:rPr lang="en-US" dirty="0"/>
              <a:t>The neutrality assumption (functional equivalence among different species)</a:t>
            </a:r>
          </a:p>
          <a:p>
            <a:pPr marL="514350" indent="-514350">
              <a:buFont typeface="+mj-lt"/>
              <a:buAutoNum type="arabicPeriod"/>
            </a:pPr>
            <a:r>
              <a:rPr lang="en-US" dirty="0"/>
              <a:t>The point mutation assumption (speciation takes place by point mutation)</a:t>
            </a:r>
          </a:p>
          <a:p>
            <a:pPr marL="514350" indent="-514350">
              <a:buFont typeface="+mj-lt"/>
              <a:buAutoNum type="arabicPeriod"/>
            </a:pPr>
            <a:r>
              <a:rPr lang="en-US" dirty="0"/>
              <a:t>The zero-sum assumption (for every death there is a corresponding birth i.e. the community size does not change)</a:t>
            </a:r>
          </a:p>
        </p:txBody>
      </p:sp>
    </p:spTree>
    <p:extLst>
      <p:ext uri="{BB962C8B-B14F-4D97-AF65-F5344CB8AC3E}">
        <p14:creationId xmlns:p14="http://schemas.microsoft.com/office/powerpoint/2010/main" val="31811424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519A5-7217-EE47-AD42-7156EE618BFB}"/>
              </a:ext>
            </a:extLst>
          </p:cNvPr>
          <p:cNvSpPr>
            <a:spLocks noGrp="1"/>
          </p:cNvSpPr>
          <p:nvPr>
            <p:ph type="title"/>
          </p:nvPr>
        </p:nvSpPr>
        <p:spPr>
          <a:solidFill>
            <a:schemeClr val="accent5">
              <a:lumMod val="60000"/>
              <a:lumOff val="40000"/>
            </a:schemeClr>
          </a:solidFill>
        </p:spPr>
        <p:txBody>
          <a:bodyPr/>
          <a:lstStyle/>
          <a:p>
            <a:r>
              <a:rPr lang="en-US" dirty="0"/>
              <a:t>Hubbell’s Neutral Model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D1961F2-733E-3C44-8F78-F2E91E7DDA0A}"/>
                  </a:ext>
                </a:extLst>
              </p:cNvPr>
              <p:cNvSpPr>
                <a:spLocks noGrp="1"/>
              </p:cNvSpPr>
              <p:nvPr>
                <p:ph idx="1"/>
              </p:nvPr>
            </p:nvSpPr>
            <p:spPr/>
            <p:txBody>
              <a:bodyPr>
                <a:normAutofit fontScale="92500" lnSpcReduction="20000"/>
              </a:bodyPr>
              <a:lstStyle/>
              <a:p>
                <a:pPr marL="0" indent="0">
                  <a:buNone/>
                </a:pPr>
                <a:r>
                  <a:rPr lang="en-US" dirty="0"/>
                  <a:t>Three parameters:</a:t>
                </a:r>
              </a:p>
              <a:p>
                <a:pPr marL="514350" indent="-514350">
                  <a:buFont typeface="+mj-lt"/>
                  <a:buAutoNum type="arabicPeriod"/>
                </a:pPr>
                <a:r>
                  <a:rPr lang="en-US" i="1" dirty="0"/>
                  <a:t>J</a:t>
                </a:r>
                <a:r>
                  <a:rPr lang="en-US" dirty="0"/>
                  <a:t> = population size of the local community</a:t>
                </a:r>
              </a:p>
              <a:p>
                <a:pPr marL="514350" indent="-514350">
                  <a:buFont typeface="+mj-lt"/>
                  <a:buAutoNum type="arabicPeriod"/>
                </a:pPr>
                <a:r>
                  <a:rPr lang="en-US" i="1" dirty="0"/>
                  <a:t>m</a:t>
                </a:r>
                <a:r>
                  <a:rPr lang="en-US" dirty="0"/>
                  <a:t> = the rate of immigration</a:t>
                </a:r>
              </a:p>
              <a:p>
                <a:pPr marL="514350" indent="-514350">
                  <a:buFont typeface="+mj-lt"/>
                  <a:buAutoNum type="arabicPeriod"/>
                </a:pPr>
                <a14:m>
                  <m:oMath xmlns:m="http://schemas.openxmlformats.org/officeDocument/2006/math">
                    <m:r>
                      <a:rPr lang="en-US" i="1" smtClean="0">
                        <a:latin typeface="Cambria Math" panose="02040503050406030204" pitchFamily="18" charset="0"/>
                        <a:ea typeface="Cambria Math" panose="02040503050406030204" pitchFamily="18" charset="0"/>
                      </a:rPr>
                      <m:t>𝜃</m:t>
                    </m:r>
                  </m:oMath>
                </a14:m>
                <a:r>
                  <a:rPr lang="en-US" dirty="0"/>
                  <a:t> = the fundamental biodiversity number (calculated from the population size of the metacommunity </a:t>
                </a:r>
                <a:r>
                  <a:rPr lang="en-US" i="1" dirty="0" err="1"/>
                  <a:t>Jm</a:t>
                </a:r>
                <a:r>
                  <a:rPr lang="en-US" dirty="0"/>
                  <a:t> and speciation rate </a:t>
                </a:r>
                <a:r>
                  <a:rPr lang="en-US" i="1" dirty="0"/>
                  <a:t>v</a:t>
                </a:r>
                <a:r>
                  <a:rPr lang="en-US" dirty="0"/>
                  <a:t>) </a:t>
                </a:r>
              </a:p>
              <a:p>
                <a:pPr marL="0" indent="0">
                  <a:buNone/>
                </a:pPr>
                <a:r>
                  <a:rPr lang="en-US" dirty="0"/>
                  <a:t>Problem:</a:t>
                </a:r>
              </a:p>
              <a:p>
                <a:pPr marL="0" indent="0">
                  <a:buNone/>
                </a:pPr>
                <a:r>
                  <a:rPr lang="en-US" dirty="0"/>
                  <a:t>In theory we should be able to estimate these parameters from the data but in practice trying to estimate a metacommunity is difficult. Also, how do we measure immigration and speciation rate?</a:t>
                </a:r>
              </a:p>
              <a:p>
                <a:pPr marL="0" indent="0">
                  <a:buNone/>
                </a:pPr>
                <a:r>
                  <a:rPr lang="en-US" dirty="0"/>
                  <a:t>Solution:</a:t>
                </a:r>
              </a:p>
              <a:p>
                <a:pPr marL="0" indent="0">
                  <a:buNone/>
                </a:pPr>
                <a:r>
                  <a:rPr lang="en-US" dirty="0"/>
                  <a:t>Fit the neutral model to the data to get parameter estimations</a:t>
                </a:r>
              </a:p>
            </p:txBody>
          </p:sp>
        </mc:Choice>
        <mc:Fallback>
          <p:sp>
            <p:nvSpPr>
              <p:cNvPr id="3" name="Content Placeholder 2">
                <a:extLst>
                  <a:ext uri="{FF2B5EF4-FFF2-40B4-BE49-F238E27FC236}">
                    <a16:creationId xmlns:a16="http://schemas.microsoft.com/office/drawing/2014/main" id="{AD1961F2-733E-3C44-8F78-F2E91E7DDA0A}"/>
                  </a:ext>
                </a:extLst>
              </p:cNvPr>
              <p:cNvSpPr>
                <a:spLocks noGrp="1" noRot="1" noChangeAspect="1" noMove="1" noResize="1" noEditPoints="1" noAdjustHandles="1" noChangeArrowheads="1" noChangeShapeType="1" noTextEdit="1"/>
              </p:cNvSpPr>
              <p:nvPr>
                <p:ph idx="1"/>
              </p:nvPr>
            </p:nvSpPr>
            <p:spPr>
              <a:blipFill>
                <a:blip r:embed="rId2"/>
                <a:stretch>
                  <a:fillRect l="-965" t="-3801"/>
                </a:stretch>
              </a:blipFill>
            </p:spPr>
            <p:txBody>
              <a:bodyPr/>
              <a:lstStyle/>
              <a:p>
                <a:r>
                  <a:rPr lang="en-US">
                    <a:noFill/>
                  </a:rPr>
                  <a:t> </a:t>
                </a:r>
              </a:p>
            </p:txBody>
          </p:sp>
        </mc:Fallback>
      </mc:AlternateContent>
    </p:spTree>
    <p:extLst>
      <p:ext uri="{BB962C8B-B14F-4D97-AF65-F5344CB8AC3E}">
        <p14:creationId xmlns:p14="http://schemas.microsoft.com/office/powerpoint/2010/main" val="6642087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2C573-6E2D-C549-8CA4-5037155365CE}"/>
              </a:ext>
            </a:extLst>
          </p:cNvPr>
          <p:cNvSpPr>
            <a:spLocks noGrp="1"/>
          </p:cNvSpPr>
          <p:nvPr>
            <p:ph type="title"/>
          </p:nvPr>
        </p:nvSpPr>
        <p:spPr>
          <a:solidFill>
            <a:schemeClr val="accent5">
              <a:lumMod val="60000"/>
              <a:lumOff val="40000"/>
            </a:schemeClr>
          </a:solidFill>
        </p:spPr>
        <p:txBody>
          <a:bodyPr/>
          <a:lstStyle/>
          <a:p>
            <a:r>
              <a:rPr lang="en-US" dirty="0"/>
              <a:t>Neutral Models: What are they for?</a:t>
            </a:r>
          </a:p>
        </p:txBody>
      </p:sp>
      <p:sp>
        <p:nvSpPr>
          <p:cNvPr id="3" name="Content Placeholder 2">
            <a:extLst>
              <a:ext uri="{FF2B5EF4-FFF2-40B4-BE49-F238E27FC236}">
                <a16:creationId xmlns:a16="http://schemas.microsoft.com/office/drawing/2014/main" id="{A8F92C78-3E95-8B40-A1AB-7861FF353A1A}"/>
              </a:ext>
            </a:extLst>
          </p:cNvPr>
          <p:cNvSpPr>
            <a:spLocks noGrp="1"/>
          </p:cNvSpPr>
          <p:nvPr>
            <p:ph idx="1"/>
          </p:nvPr>
        </p:nvSpPr>
        <p:spPr/>
        <p:txBody>
          <a:bodyPr>
            <a:normAutofit lnSpcReduction="10000"/>
          </a:bodyPr>
          <a:lstStyle/>
          <a:p>
            <a:pPr marL="0" indent="0">
              <a:buNone/>
            </a:pPr>
            <a:r>
              <a:rPr lang="en-US" dirty="0"/>
              <a:t>Primary used for:</a:t>
            </a:r>
          </a:p>
          <a:p>
            <a:pPr marL="514350" indent="-514350">
              <a:buFont typeface="+mj-lt"/>
              <a:buAutoNum type="arabicPeriod"/>
            </a:pPr>
            <a:r>
              <a:rPr lang="en-US" b="1" dirty="0"/>
              <a:t>Species-abundance distributions (SAD)</a:t>
            </a:r>
          </a:p>
          <a:p>
            <a:pPr marL="514350" indent="-514350">
              <a:buFont typeface="+mj-lt"/>
              <a:buAutoNum type="arabicPeriod"/>
            </a:pPr>
            <a:r>
              <a:rPr lang="en-US" dirty="0"/>
              <a:t>Species-area relationships (SAR)</a:t>
            </a:r>
          </a:p>
          <a:p>
            <a:pPr marL="514350" indent="-514350">
              <a:buFont typeface="+mj-lt"/>
              <a:buAutoNum type="arabicPeriod"/>
            </a:pPr>
            <a:r>
              <a:rPr lang="en-US" dirty="0"/>
              <a:t>Distance-decay relationships (DDR)</a:t>
            </a:r>
          </a:p>
          <a:p>
            <a:pPr marL="514350" indent="-514350">
              <a:buFont typeface="+mj-lt"/>
              <a:buAutoNum type="arabicPeriod"/>
            </a:pPr>
            <a:r>
              <a:rPr lang="en-US" dirty="0"/>
              <a:t>Abundance-occupancy relationships</a:t>
            </a:r>
          </a:p>
          <a:p>
            <a:pPr marL="514350" indent="-514350">
              <a:buFont typeface="+mj-lt"/>
              <a:buAutoNum type="arabicPeriod"/>
            </a:pPr>
            <a:r>
              <a:rPr lang="en-US" dirty="0"/>
              <a:t>Species turnover</a:t>
            </a:r>
          </a:p>
          <a:p>
            <a:pPr marL="514350" indent="-514350">
              <a:buFont typeface="+mj-lt"/>
              <a:buAutoNum type="arabicPeriod"/>
            </a:pPr>
            <a:endParaRPr lang="en-US" dirty="0"/>
          </a:p>
          <a:p>
            <a:pPr marL="0" indent="0">
              <a:buNone/>
            </a:pPr>
            <a:r>
              <a:rPr lang="en-US" dirty="0"/>
              <a:t>SAD = metric describing how many individuals of each species are present in a community</a:t>
            </a:r>
          </a:p>
          <a:p>
            <a:pPr marL="0" indent="0">
              <a:buNone/>
            </a:pPr>
            <a:endParaRPr lang="en-US" dirty="0"/>
          </a:p>
        </p:txBody>
      </p:sp>
      <p:sp>
        <p:nvSpPr>
          <p:cNvPr id="4" name="Right Brace 3">
            <a:extLst>
              <a:ext uri="{FF2B5EF4-FFF2-40B4-BE49-F238E27FC236}">
                <a16:creationId xmlns:a16="http://schemas.microsoft.com/office/drawing/2014/main" id="{39E915C4-19D2-5047-A8B5-099216DCC63E}"/>
              </a:ext>
            </a:extLst>
          </p:cNvPr>
          <p:cNvSpPr/>
          <p:nvPr/>
        </p:nvSpPr>
        <p:spPr>
          <a:xfrm>
            <a:off x="7205870" y="2395330"/>
            <a:ext cx="208722" cy="1351722"/>
          </a:xfrm>
          <a:prstGeom prst="rightBrace">
            <a:avLst/>
          </a:prstGeom>
          <a:ln w="571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336C7D5A-90D3-3F46-97C1-B48141648D9A}"/>
              </a:ext>
            </a:extLst>
          </p:cNvPr>
          <p:cNvSpPr txBox="1"/>
          <p:nvPr/>
        </p:nvSpPr>
        <p:spPr>
          <a:xfrm>
            <a:off x="7414592" y="2886525"/>
            <a:ext cx="3438939" cy="369332"/>
          </a:xfrm>
          <a:prstGeom prst="rect">
            <a:avLst/>
          </a:prstGeom>
          <a:noFill/>
        </p:spPr>
        <p:txBody>
          <a:bodyPr wrap="square" rtlCol="0">
            <a:spAutoFit/>
          </a:bodyPr>
          <a:lstStyle/>
          <a:p>
            <a:r>
              <a:rPr lang="en-US" dirty="0"/>
              <a:t>Universal patterns in ecology</a:t>
            </a:r>
          </a:p>
        </p:txBody>
      </p:sp>
    </p:spTree>
    <p:extLst>
      <p:ext uri="{BB962C8B-B14F-4D97-AF65-F5344CB8AC3E}">
        <p14:creationId xmlns:p14="http://schemas.microsoft.com/office/powerpoint/2010/main" val="26753825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6B988-2A15-F04D-915B-D554CF617D40}"/>
              </a:ext>
            </a:extLst>
          </p:cNvPr>
          <p:cNvSpPr>
            <a:spLocks noGrp="1"/>
          </p:cNvSpPr>
          <p:nvPr>
            <p:ph type="title"/>
          </p:nvPr>
        </p:nvSpPr>
        <p:spPr>
          <a:solidFill>
            <a:schemeClr val="accent5">
              <a:lumMod val="60000"/>
              <a:lumOff val="40000"/>
            </a:schemeClr>
          </a:solidFill>
        </p:spPr>
        <p:txBody>
          <a:bodyPr/>
          <a:lstStyle/>
          <a:p>
            <a:r>
              <a:rPr lang="en-US" dirty="0"/>
              <a:t>Fitting Methods</a:t>
            </a:r>
          </a:p>
        </p:txBody>
      </p:sp>
      <p:sp>
        <p:nvSpPr>
          <p:cNvPr id="3" name="Content Placeholder 2">
            <a:extLst>
              <a:ext uri="{FF2B5EF4-FFF2-40B4-BE49-F238E27FC236}">
                <a16:creationId xmlns:a16="http://schemas.microsoft.com/office/drawing/2014/main" id="{2282FE0F-46AC-B04B-8669-20CED3662E96}"/>
              </a:ext>
            </a:extLst>
          </p:cNvPr>
          <p:cNvSpPr>
            <a:spLocks noGrp="1"/>
          </p:cNvSpPr>
          <p:nvPr>
            <p:ph idx="1"/>
          </p:nvPr>
        </p:nvSpPr>
        <p:spPr/>
        <p:txBody>
          <a:bodyPr/>
          <a:lstStyle/>
          <a:p>
            <a:pPr marL="514350" indent="-514350">
              <a:buFont typeface="+mj-lt"/>
              <a:buAutoNum type="arabicPeriod"/>
            </a:pPr>
            <a:r>
              <a:rPr lang="en-US" dirty="0"/>
              <a:t>Sampling theory</a:t>
            </a:r>
          </a:p>
          <a:p>
            <a:pPr marL="514350" indent="-514350">
              <a:buFont typeface="+mj-lt"/>
              <a:buAutoNum type="arabicPeriod"/>
            </a:pPr>
            <a:r>
              <a:rPr lang="en-US" dirty="0"/>
              <a:t>Derived analytical forms</a:t>
            </a:r>
          </a:p>
          <a:p>
            <a:pPr marL="514350" indent="-514350">
              <a:buFont typeface="+mj-lt"/>
              <a:buAutoNum type="arabicPeriod"/>
            </a:pPr>
            <a:r>
              <a:rPr lang="en-US" dirty="0"/>
              <a:t>Likelihood functions</a:t>
            </a:r>
          </a:p>
        </p:txBody>
      </p:sp>
    </p:spTree>
    <p:extLst>
      <p:ext uri="{BB962C8B-B14F-4D97-AF65-F5344CB8AC3E}">
        <p14:creationId xmlns:p14="http://schemas.microsoft.com/office/powerpoint/2010/main" val="3005185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3DB9B-5E4D-7E4B-B356-306CE724DA2B}"/>
              </a:ext>
            </a:extLst>
          </p:cNvPr>
          <p:cNvSpPr>
            <a:spLocks noGrp="1"/>
          </p:cNvSpPr>
          <p:nvPr>
            <p:ph type="title"/>
          </p:nvPr>
        </p:nvSpPr>
        <p:spPr>
          <a:solidFill>
            <a:schemeClr val="accent5">
              <a:lumMod val="60000"/>
              <a:lumOff val="40000"/>
            </a:schemeClr>
          </a:solidFill>
        </p:spPr>
        <p:txBody>
          <a:bodyPr>
            <a:normAutofit/>
          </a:bodyPr>
          <a:lstStyle/>
          <a:p>
            <a:r>
              <a:rPr lang="en-US" dirty="0"/>
              <a:t>Important Neutral Model Terms (adapted from Matthews &amp; Whittaker, 2014)</a:t>
            </a:r>
          </a:p>
        </p:txBody>
      </p:sp>
      <mc:AlternateContent xmlns:mc="http://schemas.openxmlformats.org/markup-compatibility/2006">
        <mc:Choice xmlns:a14="http://schemas.microsoft.com/office/drawing/2010/main" Requires="a14">
          <p:graphicFrame>
            <p:nvGraphicFramePr>
              <p:cNvPr id="6" name="Content Placeholder 5">
                <a:extLst>
                  <a:ext uri="{FF2B5EF4-FFF2-40B4-BE49-F238E27FC236}">
                    <a16:creationId xmlns:a16="http://schemas.microsoft.com/office/drawing/2014/main" id="{3519F243-7BA6-EA4F-839C-934FDFC78DAF}"/>
                  </a:ext>
                </a:extLst>
              </p:cNvPr>
              <p:cNvGraphicFramePr>
                <a:graphicFrameLocks noGrp="1"/>
              </p:cNvGraphicFramePr>
              <p:nvPr>
                <p:ph idx="1"/>
                <p:extLst>
                  <p:ext uri="{D42A27DB-BD31-4B8C-83A1-F6EECF244321}">
                    <p14:modId xmlns:p14="http://schemas.microsoft.com/office/powerpoint/2010/main" val="2194742763"/>
                  </p:ext>
                </p:extLst>
              </p:nvPr>
            </p:nvGraphicFramePr>
            <p:xfrm>
              <a:off x="838200" y="1825625"/>
              <a:ext cx="10515601" cy="3809366"/>
            </p:xfrm>
            <a:graphic>
              <a:graphicData uri="http://schemas.openxmlformats.org/drawingml/2006/table">
                <a:tbl>
                  <a:tblPr firstRow="1" bandRow="1">
                    <a:tableStyleId>{5C22544A-7EE6-4342-B048-85BDC9FD1C3A}</a:tableStyleId>
                  </a:tblPr>
                  <a:tblGrid>
                    <a:gridCol w="1855305">
                      <a:extLst>
                        <a:ext uri="{9D8B030D-6E8A-4147-A177-3AD203B41FA5}">
                          <a16:colId xmlns:a16="http://schemas.microsoft.com/office/drawing/2014/main" val="1079762893"/>
                        </a:ext>
                      </a:extLst>
                    </a:gridCol>
                    <a:gridCol w="8660296">
                      <a:extLst>
                        <a:ext uri="{9D8B030D-6E8A-4147-A177-3AD203B41FA5}">
                          <a16:colId xmlns:a16="http://schemas.microsoft.com/office/drawing/2014/main" val="1134376469"/>
                        </a:ext>
                      </a:extLst>
                    </a:gridCol>
                  </a:tblGrid>
                  <a:tr h="370840">
                    <a:tc>
                      <a:txBody>
                        <a:bodyPr/>
                        <a:lstStyle/>
                        <a:p>
                          <a:r>
                            <a:rPr lang="en-US" sz="1200" dirty="0"/>
                            <a:t>Term</a:t>
                          </a:r>
                        </a:p>
                      </a:txBody>
                      <a:tcPr marL="91441" marR="91441"/>
                    </a:tc>
                    <a:tc>
                      <a:txBody>
                        <a:bodyPr/>
                        <a:lstStyle/>
                        <a:p>
                          <a:r>
                            <a:rPr lang="en-US" sz="1200" dirty="0"/>
                            <a:t>Definition</a:t>
                          </a:r>
                        </a:p>
                      </a:txBody>
                      <a:tcPr marL="91441" marR="91441"/>
                    </a:tc>
                    <a:extLst>
                      <a:ext uri="{0D108BD9-81ED-4DB2-BD59-A6C34878D82A}">
                        <a16:rowId xmlns:a16="http://schemas.microsoft.com/office/drawing/2014/main" val="3515600987"/>
                      </a:ext>
                    </a:extLst>
                  </a:tr>
                  <a:tr h="370840">
                    <a:tc>
                      <a:txBody>
                        <a:bodyPr/>
                        <a:lstStyle/>
                        <a:p>
                          <a:r>
                            <a:rPr lang="en-US" sz="1200" dirty="0"/>
                            <a:t>Zero-sum assumption</a:t>
                          </a:r>
                        </a:p>
                      </a:txBody>
                      <a:tcPr marL="91441" marR="91441"/>
                    </a:tc>
                    <a:tc>
                      <a:txBody>
                        <a:bodyPr/>
                        <a:lstStyle/>
                        <a:p>
                          <a:r>
                            <a:rPr lang="en-US" sz="1200" dirty="0"/>
                            <a:t>An assumption of many neutral models, including Hubbell’s (2001) SINM, stipulating that when an individual dies it </a:t>
                          </a:r>
                          <a:r>
                            <a:rPr lang="en-US" sz="1200" dirty="0" err="1"/>
                            <a:t>si</a:t>
                          </a:r>
                          <a:r>
                            <a:rPr lang="en-US" sz="1200" dirty="0"/>
                            <a:t> immediately replaced by another individual, that is, resources are fully saturated at all times</a:t>
                          </a:r>
                        </a:p>
                      </a:txBody>
                      <a:tcPr marL="91441" marR="91441"/>
                    </a:tc>
                    <a:extLst>
                      <a:ext uri="{0D108BD9-81ED-4DB2-BD59-A6C34878D82A}">
                        <a16:rowId xmlns:a16="http://schemas.microsoft.com/office/drawing/2014/main" val="4653982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Protracted speciation</a:t>
                          </a:r>
                        </a:p>
                      </a:txBody>
                      <a:tcPr marL="91441" marR="91441"/>
                    </a:tc>
                    <a:tc>
                      <a:txBody>
                        <a:bodyPr/>
                        <a:lstStyle/>
                        <a:p>
                          <a:r>
                            <a:rPr lang="en-US" sz="1200" dirty="0"/>
                            <a:t>A birth-death model where incipient species (species that are about to become genetically isolated but can still reproduce with the population for the time being) are formed at birth events (</a:t>
                          </a:r>
                          <a:r>
                            <a:rPr lang="en-US" sz="1200" dirty="0" err="1"/>
                            <a:t>Simonet</a:t>
                          </a:r>
                          <a:r>
                            <a:rPr lang="en-US" sz="1200" dirty="0"/>
                            <a:t> </a:t>
                          </a:r>
                          <a:r>
                            <a:rPr lang="en-US" sz="1200" i="1" dirty="0"/>
                            <a:t>et al., </a:t>
                          </a:r>
                          <a:r>
                            <a:rPr lang="en-US" sz="1200" dirty="0"/>
                            <a:t>2017)</a:t>
                          </a:r>
                        </a:p>
                      </a:txBody>
                      <a:tcPr marL="91441" marR="91441"/>
                    </a:tc>
                    <a:extLst>
                      <a:ext uri="{0D108BD9-81ED-4DB2-BD59-A6C34878D82A}">
                        <a16:rowId xmlns:a16="http://schemas.microsoft.com/office/drawing/2014/main" val="3185726247"/>
                      </a:ext>
                    </a:extLst>
                  </a:tr>
                  <a:tr h="370840">
                    <a:tc>
                      <a:txBody>
                        <a:bodyPr/>
                        <a:lstStyle/>
                        <a:p>
                          <a:r>
                            <a:rPr lang="en-US" sz="1200" dirty="0"/>
                            <a:t>Emergent neutrality</a:t>
                          </a:r>
                        </a:p>
                      </a:txBody>
                      <a:tcPr marL="91441" marR="91441"/>
                    </a:tc>
                    <a:tc>
                      <a:txBody>
                        <a:bodyPr/>
                        <a:lstStyle/>
                        <a:p>
                          <a:r>
                            <a:rPr lang="en-US" sz="1200" dirty="0"/>
                            <a:t>A model in which neutrality is the outcome of community evolution. According to the model competing species self-organize into groups of species with similar traits</a:t>
                          </a:r>
                        </a:p>
                      </a:txBody>
                      <a:tcPr marL="91441" marR="91441"/>
                    </a:tc>
                    <a:extLst>
                      <a:ext uri="{0D108BD9-81ED-4DB2-BD59-A6C34878D82A}">
                        <a16:rowId xmlns:a16="http://schemas.microsoft.com/office/drawing/2014/main" val="939721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Fundamental biodiversity number</a:t>
                          </a:r>
                        </a:p>
                      </a:txBody>
                      <a:tcPr marL="91441" marR="91441"/>
                    </a:tc>
                    <a:tc>
                      <a:txBody>
                        <a:bodyPr/>
                        <a:lstStyle/>
                        <a:p>
                          <a:r>
                            <a:rPr lang="en-US" sz="1200" dirty="0"/>
                            <a:t>A dimensionless parameter in neutral models which describes various characteristics of the metacommunity. The parameter </a:t>
                          </a:r>
                          <a14:m>
                            <m:oMath xmlns:m="http://schemas.openxmlformats.org/officeDocument/2006/math">
                              <m:r>
                                <a:rPr lang="en-US" sz="1200" i="1" smtClean="0">
                                  <a:latin typeface="Cambria Math" panose="02040503050406030204" pitchFamily="18" charset="0"/>
                                  <a:ea typeface="Cambria Math" panose="02040503050406030204" pitchFamily="18" charset="0"/>
                                </a:rPr>
                                <m:t>𝜃</m:t>
                              </m:r>
                            </m:oMath>
                          </a14:m>
                          <a:r>
                            <a:rPr lang="en-US" sz="1200" dirty="0"/>
                            <a:t> is given by </a:t>
                          </a:r>
                          <a14:m>
                            <m:oMath xmlns:m="http://schemas.openxmlformats.org/officeDocument/2006/math">
                              <m:sSub>
                                <m:sSubPr>
                                  <m:ctrlPr>
                                    <a:rPr lang="en-US" sz="1200" i="1" smtClean="0">
                                      <a:latin typeface="Cambria Math" panose="02040503050406030204" pitchFamily="18" charset="0"/>
                                    </a:rPr>
                                  </m:ctrlPr>
                                </m:sSubPr>
                                <m:e>
                                  <m:r>
                                    <a:rPr lang="en-GB" sz="1200" b="0" i="1" smtClean="0">
                                      <a:latin typeface="Cambria Math" panose="02040503050406030204" pitchFamily="18" charset="0"/>
                                    </a:rPr>
                                    <m:t>𝐽</m:t>
                                  </m:r>
                                </m:e>
                                <m:sub>
                                  <m:r>
                                    <a:rPr lang="en-GB" sz="1200" b="0" i="1" smtClean="0">
                                      <a:latin typeface="Cambria Math" panose="02040503050406030204" pitchFamily="18" charset="0"/>
                                    </a:rPr>
                                    <m:t>𝑚</m:t>
                                  </m:r>
                                </m:sub>
                              </m:sSub>
                              <m:f>
                                <m:fPr>
                                  <m:ctrlPr>
                                    <a:rPr lang="en-US" sz="1200" i="1" smtClean="0">
                                      <a:latin typeface="Cambria Math" panose="02040503050406030204" pitchFamily="18" charset="0"/>
                                    </a:rPr>
                                  </m:ctrlPr>
                                </m:fPr>
                                <m:num>
                                  <m:r>
                                    <a:rPr lang="en-GB" sz="1200" b="0" i="1" smtClean="0">
                                      <a:latin typeface="Cambria Math" panose="02040503050406030204" pitchFamily="18" charset="0"/>
                                    </a:rPr>
                                    <m:t>𝑣</m:t>
                                  </m:r>
                                </m:num>
                                <m:den>
                                  <m:r>
                                    <a:rPr lang="en-GB" sz="1200" b="0" i="1" smtClean="0">
                                      <a:latin typeface="Cambria Math" panose="02040503050406030204" pitchFamily="18" charset="0"/>
                                    </a:rPr>
                                    <m:t>1−</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𝑣</m:t>
                                      </m:r>
                                    </m:e>
                                    <m:sup>
                                      <m:r>
                                        <a:rPr lang="en-GB" sz="1200" b="0" i="1" smtClean="0">
                                          <a:latin typeface="Cambria Math" panose="02040503050406030204" pitchFamily="18" charset="0"/>
                                        </a:rPr>
                                        <m:t>′</m:t>
                                      </m:r>
                                    </m:sup>
                                  </m:sSup>
                                </m:den>
                              </m:f>
                            </m:oMath>
                          </a14:m>
                          <a:r>
                            <a:rPr lang="en-US" sz="1200" dirty="0"/>
                            <a:t> where </a:t>
                          </a:r>
                          <a:r>
                            <a:rPr lang="en-US" sz="1200" dirty="0" err="1"/>
                            <a:t>J</a:t>
                          </a:r>
                          <a:r>
                            <a:rPr lang="en-US" sz="1200" baseline="-25000" dirty="0" err="1"/>
                            <a:t>m</a:t>
                          </a:r>
                          <a:r>
                            <a:rPr lang="en-US" sz="1200" baseline="0" dirty="0"/>
                            <a:t> is the number of individuals in the metacommunity, and </a:t>
                          </a:r>
                          <a:r>
                            <a:rPr lang="en-US" sz="1200" i="1" baseline="0" dirty="0"/>
                            <a:t>v</a:t>
                          </a:r>
                          <a:r>
                            <a:rPr lang="en-US" sz="1200" i="0" baseline="0" dirty="0"/>
                            <a:t> is the probability that a deceased individual is replaced by a new species through speciation (per capita speciation rate)</a:t>
                          </a:r>
                          <a:endParaRPr lang="en-US" sz="1200" dirty="0"/>
                        </a:p>
                      </a:txBody>
                      <a:tcPr marL="91441" marR="91441"/>
                    </a:tc>
                    <a:extLst>
                      <a:ext uri="{0D108BD9-81ED-4DB2-BD59-A6C34878D82A}">
                        <a16:rowId xmlns:a16="http://schemas.microsoft.com/office/drawing/2014/main" val="1910467340"/>
                      </a:ext>
                    </a:extLst>
                  </a:tr>
                  <a:tr h="370840">
                    <a:tc>
                      <a:txBody>
                        <a:bodyPr/>
                        <a:lstStyle/>
                        <a:p>
                          <a:r>
                            <a:rPr lang="en-US" sz="1200" dirty="0"/>
                            <a:t>Fundamental immigration number</a:t>
                          </a:r>
                        </a:p>
                      </a:txBody>
                      <a:tcPr marL="91441" marR="91441"/>
                    </a:tc>
                    <a:tc>
                      <a:txBody>
                        <a:bodyPr/>
                        <a:lstStyle/>
                        <a:p>
                          <a:r>
                            <a:rPr lang="en-US" sz="1200" dirty="0"/>
                            <a:t>A parameter (I) given by </a:t>
                          </a:r>
                          <a14:m>
                            <m:oMath xmlns:m="http://schemas.openxmlformats.org/officeDocument/2006/math">
                              <m:f>
                                <m:fPr>
                                  <m:ctrlPr>
                                    <a:rPr lang="en-US" sz="1200" i="1" smtClean="0">
                                      <a:latin typeface="Cambria Math" panose="02040503050406030204" pitchFamily="18" charset="0"/>
                                    </a:rPr>
                                  </m:ctrlPr>
                                </m:fPr>
                                <m:num>
                                  <m:r>
                                    <a:rPr lang="en-GB" sz="1200" b="0" i="1" smtClean="0">
                                      <a:latin typeface="Cambria Math" panose="02040503050406030204" pitchFamily="18" charset="0"/>
                                    </a:rPr>
                                    <m:t>𝑚</m:t>
                                  </m:r>
                                  <m:r>
                                    <a:rPr lang="en-GB" sz="1200" b="0" i="1" smtClean="0">
                                      <a:latin typeface="Cambria Math" panose="02040503050406030204" pitchFamily="18" charset="0"/>
                                    </a:rPr>
                                    <m:t>(</m:t>
                                  </m:r>
                                  <m:r>
                                    <a:rPr lang="en-GB" sz="1200" b="0" i="1" smtClean="0">
                                      <a:latin typeface="Cambria Math" panose="02040503050406030204" pitchFamily="18" charset="0"/>
                                    </a:rPr>
                                    <m:t>𝐽</m:t>
                                  </m:r>
                                  <m:r>
                                    <a:rPr lang="en-GB" sz="1200" b="0" i="1" smtClean="0">
                                      <a:latin typeface="Cambria Math" panose="02040503050406030204" pitchFamily="18" charset="0"/>
                                    </a:rPr>
                                    <m:t>−1)</m:t>
                                  </m:r>
                                </m:num>
                                <m:den>
                                  <m:r>
                                    <a:rPr lang="en-GB" sz="1200" b="0" i="1" smtClean="0">
                                      <a:latin typeface="Cambria Math" panose="02040503050406030204" pitchFamily="18" charset="0"/>
                                    </a:rPr>
                                    <m:t>1−</m:t>
                                  </m:r>
                                  <m:r>
                                    <a:rPr lang="en-GB" sz="1200" b="0" i="1" smtClean="0">
                                      <a:latin typeface="Cambria Math" panose="02040503050406030204" pitchFamily="18" charset="0"/>
                                    </a:rPr>
                                    <m:t>𝑚</m:t>
                                  </m:r>
                                </m:den>
                              </m:f>
                            </m:oMath>
                          </a14:m>
                          <a:r>
                            <a:rPr lang="en-US" sz="1200" dirty="0"/>
                            <a:t>, where J is the number of individual in the local community and m is the probability that</a:t>
                          </a:r>
                          <a:r>
                            <a:rPr lang="en-US" sz="1200" baseline="0" dirty="0"/>
                            <a:t> a deceased individual in the local community is replaced by an immigrant from the metacommunity. It is often used in neutral models as a measure of dispersal limitation as the parameter m can be difficult to interpret. “I” is also independent of sample size and can be seen as a measure of community isolation. </a:t>
                          </a:r>
                          <a:endParaRPr lang="en-US" sz="1200" dirty="0"/>
                        </a:p>
                      </a:txBody>
                      <a:tcPr marL="91441" marR="91441"/>
                    </a:tc>
                    <a:extLst>
                      <a:ext uri="{0D108BD9-81ED-4DB2-BD59-A6C34878D82A}">
                        <a16:rowId xmlns:a16="http://schemas.microsoft.com/office/drawing/2014/main" val="212924085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Likelihood surface</a:t>
                          </a:r>
                        </a:p>
                        <a:p>
                          <a:endParaRPr lang="en-US" sz="1200" dirty="0"/>
                        </a:p>
                      </a:txBody>
                      <a:tcPr marL="91441" marR="9144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value of the likelihood, usually displayed in graphical form, as a function of a number of parameters (generally two or three). Multiple local maxima refer to the situation in which the likelihood surface has more than one peak.</a:t>
                          </a:r>
                        </a:p>
                      </a:txBody>
                      <a:tcPr marL="91441" marR="91441"/>
                    </a:tc>
                    <a:extLst>
                      <a:ext uri="{0D108BD9-81ED-4DB2-BD59-A6C34878D82A}">
                        <a16:rowId xmlns:a16="http://schemas.microsoft.com/office/drawing/2014/main" val="1578587304"/>
                      </a:ext>
                    </a:extLst>
                  </a:tr>
                </a:tbl>
              </a:graphicData>
            </a:graphic>
          </p:graphicFrame>
        </mc:Choice>
        <mc:Fallback>
          <p:graphicFrame>
            <p:nvGraphicFramePr>
              <p:cNvPr id="6" name="Content Placeholder 5">
                <a:extLst>
                  <a:ext uri="{FF2B5EF4-FFF2-40B4-BE49-F238E27FC236}">
                    <a16:creationId xmlns:a16="http://schemas.microsoft.com/office/drawing/2014/main" id="{3519F243-7BA6-EA4F-839C-934FDFC78DAF}"/>
                  </a:ext>
                </a:extLst>
              </p:cNvPr>
              <p:cNvGraphicFramePr>
                <a:graphicFrameLocks noGrp="1"/>
              </p:cNvGraphicFramePr>
              <p:nvPr>
                <p:ph idx="1"/>
                <p:extLst>
                  <p:ext uri="{D42A27DB-BD31-4B8C-83A1-F6EECF244321}">
                    <p14:modId xmlns:p14="http://schemas.microsoft.com/office/powerpoint/2010/main" val="2194742763"/>
                  </p:ext>
                </p:extLst>
              </p:nvPr>
            </p:nvGraphicFramePr>
            <p:xfrm>
              <a:off x="838200" y="1825625"/>
              <a:ext cx="10515601" cy="3809366"/>
            </p:xfrm>
            <a:graphic>
              <a:graphicData uri="http://schemas.openxmlformats.org/drawingml/2006/table">
                <a:tbl>
                  <a:tblPr firstRow="1" bandRow="1">
                    <a:tableStyleId>{5C22544A-7EE6-4342-B048-85BDC9FD1C3A}</a:tableStyleId>
                  </a:tblPr>
                  <a:tblGrid>
                    <a:gridCol w="1855305">
                      <a:extLst>
                        <a:ext uri="{9D8B030D-6E8A-4147-A177-3AD203B41FA5}">
                          <a16:colId xmlns:a16="http://schemas.microsoft.com/office/drawing/2014/main" val="1079762893"/>
                        </a:ext>
                      </a:extLst>
                    </a:gridCol>
                    <a:gridCol w="8660296">
                      <a:extLst>
                        <a:ext uri="{9D8B030D-6E8A-4147-A177-3AD203B41FA5}">
                          <a16:colId xmlns:a16="http://schemas.microsoft.com/office/drawing/2014/main" val="1134376469"/>
                        </a:ext>
                      </a:extLst>
                    </a:gridCol>
                  </a:tblGrid>
                  <a:tr h="370840">
                    <a:tc>
                      <a:txBody>
                        <a:bodyPr/>
                        <a:lstStyle/>
                        <a:p>
                          <a:r>
                            <a:rPr lang="en-US" sz="1200" dirty="0"/>
                            <a:t>Term</a:t>
                          </a:r>
                        </a:p>
                      </a:txBody>
                      <a:tcPr marL="91441" marR="91441"/>
                    </a:tc>
                    <a:tc>
                      <a:txBody>
                        <a:bodyPr/>
                        <a:lstStyle/>
                        <a:p>
                          <a:r>
                            <a:rPr lang="en-US" sz="1200" dirty="0"/>
                            <a:t>Definition</a:t>
                          </a:r>
                        </a:p>
                      </a:txBody>
                      <a:tcPr marL="91441" marR="91441"/>
                    </a:tc>
                    <a:extLst>
                      <a:ext uri="{0D108BD9-81ED-4DB2-BD59-A6C34878D82A}">
                        <a16:rowId xmlns:a16="http://schemas.microsoft.com/office/drawing/2014/main" val="3515600987"/>
                      </a:ext>
                    </a:extLst>
                  </a:tr>
                  <a:tr h="457200">
                    <a:tc>
                      <a:txBody>
                        <a:bodyPr/>
                        <a:lstStyle/>
                        <a:p>
                          <a:r>
                            <a:rPr lang="en-US" sz="1200" dirty="0"/>
                            <a:t>Zero-sum assumption</a:t>
                          </a:r>
                        </a:p>
                      </a:txBody>
                      <a:tcPr marL="91441" marR="91441"/>
                    </a:tc>
                    <a:tc>
                      <a:txBody>
                        <a:bodyPr/>
                        <a:lstStyle/>
                        <a:p>
                          <a:r>
                            <a:rPr lang="en-US" sz="1200" dirty="0"/>
                            <a:t>An assumption of many neutral models, including Hubbell’s (2001) SINM, stipulating that when an individual dies it </a:t>
                          </a:r>
                          <a:r>
                            <a:rPr lang="en-US" sz="1200" dirty="0" err="1"/>
                            <a:t>si</a:t>
                          </a:r>
                          <a:r>
                            <a:rPr lang="en-US" sz="1200" dirty="0"/>
                            <a:t> immediately replaced by another individual, that is, resources are fully saturated at all times</a:t>
                          </a:r>
                        </a:p>
                      </a:txBody>
                      <a:tcPr marL="91441" marR="91441"/>
                    </a:tc>
                    <a:extLst>
                      <a:ext uri="{0D108BD9-81ED-4DB2-BD59-A6C34878D82A}">
                        <a16:rowId xmlns:a16="http://schemas.microsoft.com/office/drawing/2014/main" val="465398211"/>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Protracted speciation</a:t>
                          </a:r>
                        </a:p>
                      </a:txBody>
                      <a:tcPr marL="91441" marR="91441"/>
                    </a:tc>
                    <a:tc>
                      <a:txBody>
                        <a:bodyPr/>
                        <a:lstStyle/>
                        <a:p>
                          <a:r>
                            <a:rPr lang="en-US" sz="1200" dirty="0"/>
                            <a:t>A birth-death model where incipient species (species that are about to become genetically isolated but can still reproduce with the population for the time being) are formed at birth events (</a:t>
                          </a:r>
                          <a:r>
                            <a:rPr lang="en-US" sz="1200" dirty="0" err="1"/>
                            <a:t>Simonet</a:t>
                          </a:r>
                          <a:r>
                            <a:rPr lang="en-US" sz="1200" dirty="0"/>
                            <a:t> </a:t>
                          </a:r>
                          <a:r>
                            <a:rPr lang="en-US" sz="1200" i="1" dirty="0"/>
                            <a:t>et al., </a:t>
                          </a:r>
                          <a:r>
                            <a:rPr lang="en-US" sz="1200" dirty="0"/>
                            <a:t>2017)</a:t>
                          </a:r>
                        </a:p>
                      </a:txBody>
                      <a:tcPr marL="91441" marR="91441"/>
                    </a:tc>
                    <a:extLst>
                      <a:ext uri="{0D108BD9-81ED-4DB2-BD59-A6C34878D82A}">
                        <a16:rowId xmlns:a16="http://schemas.microsoft.com/office/drawing/2014/main" val="3185726247"/>
                      </a:ext>
                    </a:extLst>
                  </a:tr>
                  <a:tr h="457200">
                    <a:tc>
                      <a:txBody>
                        <a:bodyPr/>
                        <a:lstStyle/>
                        <a:p>
                          <a:r>
                            <a:rPr lang="en-US" sz="1200" dirty="0"/>
                            <a:t>Emergent neutrality</a:t>
                          </a:r>
                        </a:p>
                      </a:txBody>
                      <a:tcPr marL="91441" marR="91441"/>
                    </a:tc>
                    <a:tc>
                      <a:txBody>
                        <a:bodyPr/>
                        <a:lstStyle/>
                        <a:p>
                          <a:r>
                            <a:rPr lang="en-US" sz="1200" dirty="0"/>
                            <a:t>A model in which neutrality is the outcome of community evolution. According to the model competing species self-organize into groups of species with similar traits</a:t>
                          </a:r>
                        </a:p>
                      </a:txBody>
                      <a:tcPr marL="91441" marR="91441"/>
                    </a:tc>
                    <a:extLst>
                      <a:ext uri="{0D108BD9-81ED-4DB2-BD59-A6C34878D82A}">
                        <a16:rowId xmlns:a16="http://schemas.microsoft.com/office/drawing/2014/main" val="93972124"/>
                      </a:ext>
                    </a:extLst>
                  </a:tr>
                  <a:tr h="70186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Fundamental biodiversity number</a:t>
                          </a:r>
                        </a:p>
                      </a:txBody>
                      <a:tcPr marL="91441" marR="91441"/>
                    </a:tc>
                    <a:tc>
                      <a:txBody>
                        <a:bodyPr/>
                        <a:lstStyle/>
                        <a:p>
                          <a:endParaRPr lang="en-US"/>
                        </a:p>
                      </a:txBody>
                      <a:tcPr marL="91441" marR="91441">
                        <a:blipFill>
                          <a:blip r:embed="rId2"/>
                          <a:stretch>
                            <a:fillRect l="-21523" t="-250909" r="-146" b="-201818"/>
                          </a:stretch>
                        </a:blipFill>
                      </a:tcPr>
                    </a:tc>
                    <a:extLst>
                      <a:ext uri="{0D108BD9-81ED-4DB2-BD59-A6C34878D82A}">
                        <a16:rowId xmlns:a16="http://schemas.microsoft.com/office/drawing/2014/main" val="1910467340"/>
                      </a:ext>
                    </a:extLst>
                  </a:tr>
                  <a:tr h="907860">
                    <a:tc>
                      <a:txBody>
                        <a:bodyPr/>
                        <a:lstStyle/>
                        <a:p>
                          <a:r>
                            <a:rPr lang="en-US" sz="1200" dirty="0"/>
                            <a:t>Fundamental immigration number</a:t>
                          </a:r>
                        </a:p>
                      </a:txBody>
                      <a:tcPr marL="91441" marR="91441"/>
                    </a:tc>
                    <a:tc>
                      <a:txBody>
                        <a:bodyPr/>
                        <a:lstStyle/>
                        <a:p>
                          <a:endParaRPr lang="en-US"/>
                        </a:p>
                      </a:txBody>
                      <a:tcPr marL="91441" marR="91441">
                        <a:blipFill>
                          <a:blip r:embed="rId2"/>
                          <a:stretch>
                            <a:fillRect l="-21523" t="-268056" r="-146" b="-54167"/>
                          </a:stretch>
                        </a:blipFill>
                      </a:tcPr>
                    </a:tc>
                    <a:extLst>
                      <a:ext uri="{0D108BD9-81ED-4DB2-BD59-A6C34878D82A}">
                        <a16:rowId xmlns:a16="http://schemas.microsoft.com/office/drawing/2014/main" val="2129240850"/>
                      </a:ext>
                    </a:extLst>
                  </a:tr>
                  <a:tr h="457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Likelihood surface</a:t>
                          </a:r>
                        </a:p>
                        <a:p>
                          <a:endParaRPr lang="en-US" sz="1200" dirty="0"/>
                        </a:p>
                      </a:txBody>
                      <a:tcPr marL="91441" marR="9144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value of the likelihood, usually displayed in graphical form, as a function of a number of parameters (generally two or three). Multiple local maxima refer to the situation in which the likelihood surface has more than one peak.</a:t>
                          </a:r>
                        </a:p>
                      </a:txBody>
                      <a:tcPr marL="91441" marR="91441"/>
                    </a:tc>
                    <a:extLst>
                      <a:ext uri="{0D108BD9-81ED-4DB2-BD59-A6C34878D82A}">
                        <a16:rowId xmlns:a16="http://schemas.microsoft.com/office/drawing/2014/main" val="1578587304"/>
                      </a:ext>
                    </a:extLst>
                  </a:tr>
                </a:tbl>
              </a:graphicData>
            </a:graphic>
          </p:graphicFrame>
        </mc:Fallback>
      </mc:AlternateContent>
    </p:spTree>
    <p:extLst>
      <p:ext uri="{BB962C8B-B14F-4D97-AF65-F5344CB8AC3E}">
        <p14:creationId xmlns:p14="http://schemas.microsoft.com/office/powerpoint/2010/main" val="1323012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FDBFA-CCA4-3349-A7B4-DF5F8E7BBA5A}"/>
              </a:ext>
            </a:extLst>
          </p:cNvPr>
          <p:cNvSpPr>
            <a:spLocks noGrp="1"/>
          </p:cNvSpPr>
          <p:nvPr>
            <p:ph type="title"/>
          </p:nvPr>
        </p:nvSpPr>
        <p:spPr>
          <a:solidFill>
            <a:schemeClr val="accent5">
              <a:lumMod val="60000"/>
              <a:lumOff val="40000"/>
            </a:schemeClr>
          </a:solidFill>
        </p:spPr>
        <p:txBody>
          <a:bodyPr>
            <a:normAutofit/>
          </a:bodyPr>
          <a:lstStyle/>
          <a:p>
            <a:r>
              <a:rPr lang="en-US" dirty="0"/>
              <a:t>Important Neutral Model Terms (adapted from Matthews &amp; Whittaker, 2014) cont.</a:t>
            </a:r>
          </a:p>
        </p:txBody>
      </p:sp>
      <p:graphicFrame>
        <p:nvGraphicFramePr>
          <p:cNvPr id="9" name="Content Placeholder 5">
            <a:extLst>
              <a:ext uri="{FF2B5EF4-FFF2-40B4-BE49-F238E27FC236}">
                <a16:creationId xmlns:a16="http://schemas.microsoft.com/office/drawing/2014/main" id="{8F979C39-538A-8440-B29A-EFE4D6923B1E}"/>
              </a:ext>
            </a:extLst>
          </p:cNvPr>
          <p:cNvGraphicFramePr>
            <a:graphicFrameLocks noGrp="1"/>
          </p:cNvGraphicFramePr>
          <p:nvPr>
            <p:ph idx="1"/>
            <p:extLst>
              <p:ext uri="{D42A27DB-BD31-4B8C-83A1-F6EECF244321}">
                <p14:modId xmlns:p14="http://schemas.microsoft.com/office/powerpoint/2010/main" val="2858717557"/>
              </p:ext>
            </p:extLst>
          </p:nvPr>
        </p:nvGraphicFramePr>
        <p:xfrm>
          <a:off x="838200" y="1825625"/>
          <a:ext cx="10515601" cy="4394200"/>
        </p:xfrm>
        <a:graphic>
          <a:graphicData uri="http://schemas.openxmlformats.org/drawingml/2006/table">
            <a:tbl>
              <a:tblPr firstRow="1" bandRow="1">
                <a:tableStyleId>{5C22544A-7EE6-4342-B048-85BDC9FD1C3A}</a:tableStyleId>
              </a:tblPr>
              <a:tblGrid>
                <a:gridCol w="1855305">
                  <a:extLst>
                    <a:ext uri="{9D8B030D-6E8A-4147-A177-3AD203B41FA5}">
                      <a16:colId xmlns:a16="http://schemas.microsoft.com/office/drawing/2014/main" val="1079762893"/>
                    </a:ext>
                  </a:extLst>
                </a:gridCol>
                <a:gridCol w="8660296">
                  <a:extLst>
                    <a:ext uri="{9D8B030D-6E8A-4147-A177-3AD203B41FA5}">
                      <a16:colId xmlns:a16="http://schemas.microsoft.com/office/drawing/2014/main" val="1134376469"/>
                    </a:ext>
                  </a:extLst>
                </a:gridCol>
              </a:tblGrid>
              <a:tr h="370840">
                <a:tc>
                  <a:txBody>
                    <a:bodyPr/>
                    <a:lstStyle/>
                    <a:p>
                      <a:r>
                        <a:rPr lang="en-US" sz="1200" dirty="0"/>
                        <a:t>Term</a:t>
                      </a:r>
                    </a:p>
                  </a:txBody>
                  <a:tcPr marL="91441" marR="91441"/>
                </a:tc>
                <a:tc>
                  <a:txBody>
                    <a:bodyPr/>
                    <a:lstStyle/>
                    <a:p>
                      <a:r>
                        <a:rPr lang="en-US" sz="1200" dirty="0"/>
                        <a:t>Definition</a:t>
                      </a:r>
                    </a:p>
                  </a:txBody>
                  <a:tcPr marL="91441" marR="91441"/>
                </a:tc>
                <a:extLst>
                  <a:ext uri="{0D108BD9-81ED-4DB2-BD59-A6C34878D82A}">
                    <a16:rowId xmlns:a16="http://schemas.microsoft.com/office/drawing/2014/main" val="3515600987"/>
                  </a:ext>
                </a:extLst>
              </a:tr>
              <a:tr h="370840">
                <a:tc>
                  <a:txBody>
                    <a:bodyPr/>
                    <a:lstStyle/>
                    <a:p>
                      <a:r>
                        <a:rPr lang="en-US" sz="1200" dirty="0"/>
                        <a:t>Local community</a:t>
                      </a:r>
                    </a:p>
                  </a:txBody>
                  <a:tcPr marL="91441" marR="9144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Generally relates to the local community in Hubbell’s spatially implicit neutral model, in which it is a set of individuals that live in the same smaller sample/island distinct from the larger metacommunity/mainland. A dead individual is immediately replaced either by an offspring of another individual (of any species) in the local community, or by an immigrant from the metacommunity (determined by m; the probability that a deceased individual in the local community is replaced by an immigrant from the metacommunity). As long as m is greater than 0 the local community receives a certain amount of immigrants from the metacommunity. The number of individuals in the local community is predicted to be too small for speciation to occur</a:t>
                      </a:r>
                    </a:p>
                  </a:txBody>
                  <a:tcPr marL="91441" marR="91441"/>
                </a:tc>
                <a:extLst>
                  <a:ext uri="{0D108BD9-81ED-4DB2-BD59-A6C34878D82A}">
                    <a16:rowId xmlns:a16="http://schemas.microsoft.com/office/drawing/2014/main" val="465398211"/>
                  </a:ext>
                </a:extLst>
              </a:tr>
              <a:tr h="370840">
                <a:tc>
                  <a:txBody>
                    <a:bodyPr/>
                    <a:lstStyle/>
                    <a:p>
                      <a:r>
                        <a:rPr lang="en-US" sz="1200" dirty="0"/>
                        <a:t>Metacommunity</a:t>
                      </a:r>
                    </a:p>
                  </a:txBody>
                  <a:tcPr marL="91441" marR="91441"/>
                </a:tc>
                <a:tc>
                  <a:txBody>
                    <a:bodyPr/>
                    <a:lstStyle/>
                    <a:p>
                      <a:r>
                        <a:rPr lang="en-US" sz="1200" dirty="0"/>
                        <a:t>In the context of neutral theory, the metacommunity generally relates to Hubbell’s spatially implicit neutral model, in which it is the source pool of individuals. A dead individual is immediately replaced either by an offspring of another organism in the metacommunity, or by an individual from a new species (speciation). Offspring of individuals may disperse to the local community. </a:t>
                      </a:r>
                    </a:p>
                  </a:txBody>
                  <a:tcPr marL="91441" marR="91441"/>
                </a:tc>
                <a:extLst>
                  <a:ext uri="{0D108BD9-81ED-4DB2-BD59-A6C34878D82A}">
                    <a16:rowId xmlns:a16="http://schemas.microsoft.com/office/drawing/2014/main" val="939721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Multimodal species abundance distribution</a:t>
                      </a:r>
                    </a:p>
                  </a:txBody>
                  <a:tcPr marL="91441" marR="91441"/>
                </a:tc>
                <a:tc>
                  <a:txBody>
                    <a:bodyPr/>
                    <a:lstStyle/>
                    <a:p>
                      <a:r>
                        <a:rPr lang="en-US" sz="1200" dirty="0"/>
                        <a:t>A </a:t>
                      </a:r>
                      <a:r>
                        <a:rPr lang="en-GB" sz="1200" dirty="0"/>
                        <a:t>species abundance distribution with multiple modal abundance values or octaves. The majority of published SAD models are unimodal, but it has become increasingly apparent that many empirical abundance distributions exhibit multiple modes.</a:t>
                      </a:r>
                      <a:endParaRPr lang="en-US" sz="1200" dirty="0"/>
                    </a:p>
                  </a:txBody>
                  <a:tcPr marL="91441" marR="91441"/>
                </a:tc>
                <a:extLst>
                  <a:ext uri="{0D108BD9-81ED-4DB2-BD59-A6C34878D82A}">
                    <a16:rowId xmlns:a16="http://schemas.microsoft.com/office/drawing/2014/main" val="1910467340"/>
                  </a:ext>
                </a:extLst>
              </a:tr>
              <a:tr h="370840">
                <a:tc>
                  <a:txBody>
                    <a:bodyPr/>
                    <a:lstStyle/>
                    <a:p>
                      <a:r>
                        <a:rPr lang="en-US" sz="1200" dirty="0"/>
                        <a:t>Spatially explicit neutral model (SENM)</a:t>
                      </a:r>
                    </a:p>
                  </a:txBody>
                  <a:tcPr marL="91441" marR="91441"/>
                </a:tc>
                <a:tc>
                  <a:txBody>
                    <a:bodyPr/>
                    <a:lstStyle/>
                    <a:p>
                      <a:r>
                        <a:rPr lang="en-US" sz="1200" dirty="0"/>
                        <a:t>A</a:t>
                      </a:r>
                      <a:r>
                        <a:rPr lang="en-US" sz="1200" baseline="0" dirty="0"/>
                        <a:t> neutral model that incorporates an explicit spatial structure, which enables the model to predict the exact location of each individual in space.</a:t>
                      </a:r>
                      <a:endParaRPr lang="en-US" sz="1200" dirty="0"/>
                    </a:p>
                  </a:txBody>
                  <a:tcPr marL="91441" marR="91441"/>
                </a:tc>
                <a:extLst>
                  <a:ext uri="{0D108BD9-81ED-4DB2-BD59-A6C34878D82A}">
                    <a16:rowId xmlns:a16="http://schemas.microsoft.com/office/drawing/2014/main" val="2129240850"/>
                  </a:ext>
                </a:extLst>
              </a:tr>
              <a:tr h="2456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Spatially implicit neutral model (SINM)</a:t>
                      </a:r>
                    </a:p>
                    <a:p>
                      <a:endParaRPr lang="en-US" sz="1200" dirty="0"/>
                    </a:p>
                  </a:txBody>
                  <a:tcPr marL="91441" marR="9144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 neutral model that incorporates a restricted consideration of spatial structure. Hubbell’s (2001) classic neutral model is spatially implicit as it only focuses on two scales of community organization, that is, the metacommunity and local community.</a:t>
                      </a:r>
                    </a:p>
                  </a:txBody>
                  <a:tcPr marL="91441" marR="91441"/>
                </a:tc>
                <a:extLst>
                  <a:ext uri="{0D108BD9-81ED-4DB2-BD59-A6C34878D82A}">
                    <a16:rowId xmlns:a16="http://schemas.microsoft.com/office/drawing/2014/main" val="1578587304"/>
                  </a:ext>
                </a:extLst>
              </a:tr>
              <a:tr h="370840">
                <a:tc>
                  <a:txBody>
                    <a:bodyPr/>
                    <a:lstStyle/>
                    <a:p>
                      <a:r>
                        <a:rPr lang="en-US" sz="1200" dirty="0"/>
                        <a:t>Speciation mode (with neutral models)</a:t>
                      </a:r>
                    </a:p>
                  </a:txBody>
                  <a:tcPr marL="91441" marR="91441"/>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manner in which speciation is modelled in neutral models. In Hubbell’s classic SINM, speciation occurs via the point mutation mode whereby speciation is an instantaneous process. Neutral models incorporating alternative species modes have since been developed; for instance, whereby speciation is a gradual, drawn out process (see Protracted Speciation).</a:t>
                      </a:r>
                    </a:p>
                  </a:txBody>
                  <a:tcPr marL="91441" marR="91441"/>
                </a:tc>
                <a:extLst>
                  <a:ext uri="{0D108BD9-81ED-4DB2-BD59-A6C34878D82A}">
                    <a16:rowId xmlns:a16="http://schemas.microsoft.com/office/drawing/2014/main" val="1308170691"/>
                  </a:ext>
                </a:extLst>
              </a:tr>
            </a:tbl>
          </a:graphicData>
        </a:graphic>
      </p:graphicFrame>
    </p:spTree>
    <p:extLst>
      <p:ext uri="{BB962C8B-B14F-4D97-AF65-F5344CB8AC3E}">
        <p14:creationId xmlns:p14="http://schemas.microsoft.com/office/powerpoint/2010/main" val="26514406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FDBFA-CCA4-3349-A7B4-DF5F8E7BBA5A}"/>
              </a:ext>
            </a:extLst>
          </p:cNvPr>
          <p:cNvSpPr>
            <a:spLocks noGrp="1"/>
          </p:cNvSpPr>
          <p:nvPr>
            <p:ph type="title"/>
          </p:nvPr>
        </p:nvSpPr>
        <p:spPr>
          <a:solidFill>
            <a:schemeClr val="accent5">
              <a:lumMod val="60000"/>
              <a:lumOff val="40000"/>
            </a:schemeClr>
          </a:solidFill>
        </p:spPr>
        <p:txBody>
          <a:bodyPr>
            <a:normAutofit/>
          </a:bodyPr>
          <a:lstStyle/>
          <a:p>
            <a:r>
              <a:rPr lang="en-US" dirty="0"/>
              <a:t>Important Neutral Model Terms (adapted from Matthews &amp; Whittaker, 2014) cont.</a:t>
            </a:r>
          </a:p>
        </p:txBody>
      </p:sp>
      <p:graphicFrame>
        <p:nvGraphicFramePr>
          <p:cNvPr id="9" name="Content Placeholder 5">
            <a:extLst>
              <a:ext uri="{FF2B5EF4-FFF2-40B4-BE49-F238E27FC236}">
                <a16:creationId xmlns:a16="http://schemas.microsoft.com/office/drawing/2014/main" id="{8F979C39-538A-8440-B29A-EFE4D6923B1E}"/>
              </a:ext>
            </a:extLst>
          </p:cNvPr>
          <p:cNvGraphicFramePr>
            <a:graphicFrameLocks noGrp="1"/>
          </p:cNvGraphicFramePr>
          <p:nvPr>
            <p:ph idx="1"/>
            <p:extLst>
              <p:ext uri="{D42A27DB-BD31-4B8C-83A1-F6EECF244321}">
                <p14:modId xmlns:p14="http://schemas.microsoft.com/office/powerpoint/2010/main" val="889254600"/>
              </p:ext>
            </p:extLst>
          </p:nvPr>
        </p:nvGraphicFramePr>
        <p:xfrm>
          <a:off x="838200" y="1825625"/>
          <a:ext cx="10515601" cy="3576320"/>
        </p:xfrm>
        <a:graphic>
          <a:graphicData uri="http://schemas.openxmlformats.org/drawingml/2006/table">
            <a:tbl>
              <a:tblPr firstRow="1" bandRow="1">
                <a:tableStyleId>{5C22544A-7EE6-4342-B048-85BDC9FD1C3A}</a:tableStyleId>
              </a:tblPr>
              <a:tblGrid>
                <a:gridCol w="1855305">
                  <a:extLst>
                    <a:ext uri="{9D8B030D-6E8A-4147-A177-3AD203B41FA5}">
                      <a16:colId xmlns:a16="http://schemas.microsoft.com/office/drawing/2014/main" val="1079762893"/>
                    </a:ext>
                  </a:extLst>
                </a:gridCol>
                <a:gridCol w="8660296">
                  <a:extLst>
                    <a:ext uri="{9D8B030D-6E8A-4147-A177-3AD203B41FA5}">
                      <a16:colId xmlns:a16="http://schemas.microsoft.com/office/drawing/2014/main" val="1134376469"/>
                    </a:ext>
                  </a:extLst>
                </a:gridCol>
              </a:tblGrid>
              <a:tr h="370840">
                <a:tc>
                  <a:txBody>
                    <a:bodyPr/>
                    <a:lstStyle/>
                    <a:p>
                      <a:r>
                        <a:rPr lang="en-US" sz="1200" dirty="0"/>
                        <a:t>Term</a:t>
                      </a:r>
                    </a:p>
                  </a:txBody>
                  <a:tcPr marL="91441" marR="91441"/>
                </a:tc>
                <a:tc>
                  <a:txBody>
                    <a:bodyPr/>
                    <a:lstStyle/>
                    <a:p>
                      <a:r>
                        <a:rPr lang="en-US" sz="1200" dirty="0"/>
                        <a:t>Definition</a:t>
                      </a:r>
                    </a:p>
                  </a:txBody>
                  <a:tcPr marL="91441" marR="91441"/>
                </a:tc>
                <a:extLst>
                  <a:ext uri="{0D108BD9-81ED-4DB2-BD59-A6C34878D82A}">
                    <a16:rowId xmlns:a16="http://schemas.microsoft.com/office/drawing/2014/main" val="3515600987"/>
                  </a:ext>
                </a:extLst>
              </a:tr>
              <a:tr h="370840">
                <a:tc>
                  <a:txBody>
                    <a:bodyPr/>
                    <a:lstStyle/>
                    <a:p>
                      <a:r>
                        <a:rPr lang="en-US" sz="1200" dirty="0"/>
                        <a:t>Species abundance distribution (SAD)</a:t>
                      </a:r>
                    </a:p>
                  </a:txBody>
                  <a:tcPr marL="91441" marR="91441"/>
                </a:tc>
                <a:tc>
                  <a:txBody>
                    <a:bodyPr/>
                    <a:lstStyle/>
                    <a:p>
                      <a:r>
                        <a:rPr lang="en-US" sz="1200" dirty="0"/>
                        <a:t>The typical univariate SAD gives the expected frequency of species at each abundance level, either in terms of relative frequencies or simply by the average number of species at each abundance level. The multivariate SAD give the whole multidimensional distribution: the abundance of species observed within a sample of an ecological community.</a:t>
                      </a:r>
                    </a:p>
                  </a:txBody>
                  <a:tcPr marL="91441" marR="91441"/>
                </a:tc>
                <a:extLst>
                  <a:ext uri="{0D108BD9-81ED-4DB2-BD59-A6C34878D82A}">
                    <a16:rowId xmlns:a16="http://schemas.microsoft.com/office/drawing/2014/main" val="46539821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Species-area relationship (SAR)</a:t>
                      </a:r>
                    </a:p>
                  </a:txBody>
                  <a:tcPr marL="91441" marR="91441"/>
                </a:tc>
                <a:tc>
                  <a:txBody>
                    <a:bodyPr/>
                    <a:lstStyle/>
                    <a:p>
                      <a:r>
                        <a:rPr lang="en-US" sz="1200" dirty="0"/>
                        <a:t>The relationship between the area of a sample or island and the number of species in that area.</a:t>
                      </a:r>
                    </a:p>
                  </a:txBody>
                  <a:tcPr marL="91441" marR="91441"/>
                </a:tc>
                <a:extLst>
                  <a:ext uri="{0D108BD9-81ED-4DB2-BD59-A6C34878D82A}">
                    <a16:rowId xmlns:a16="http://schemas.microsoft.com/office/drawing/2014/main" val="3185726247"/>
                  </a:ext>
                </a:extLst>
              </a:tr>
              <a:tr h="370840">
                <a:tc>
                  <a:txBody>
                    <a:bodyPr/>
                    <a:lstStyle/>
                    <a:p>
                      <a:r>
                        <a:rPr lang="en-US" sz="1200" dirty="0"/>
                        <a:t>Stochastic niche theory</a:t>
                      </a:r>
                    </a:p>
                  </a:txBody>
                  <a:tcPr marL="91441" marR="91441"/>
                </a:tc>
                <a:tc>
                  <a:txBody>
                    <a:bodyPr/>
                    <a:lstStyle/>
                    <a:p>
                      <a:r>
                        <a:rPr lang="en-US" sz="1200" dirty="0"/>
                        <a:t>A theory of community structure which combined niche apportionment with stochastic processes.</a:t>
                      </a:r>
                    </a:p>
                  </a:txBody>
                  <a:tcPr marL="91441" marR="91441"/>
                </a:tc>
                <a:extLst>
                  <a:ext uri="{0D108BD9-81ED-4DB2-BD59-A6C34878D82A}">
                    <a16:rowId xmlns:a16="http://schemas.microsoft.com/office/drawing/2014/main" val="9397212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Zero-sum multinomial distribution (ZSM)</a:t>
                      </a:r>
                    </a:p>
                  </a:txBody>
                  <a:tcPr marL="91441" marR="91441"/>
                </a:tc>
                <a:tc>
                  <a:txBody>
                    <a:bodyPr/>
                    <a:lstStyle/>
                    <a:p>
                      <a:r>
                        <a:rPr lang="en-GB" sz="1200" dirty="0"/>
                        <a:t>The SAD predicted for the local community in Hubbell’s (2001) SINM</a:t>
                      </a:r>
                      <a:endParaRPr lang="en-US" sz="1200" dirty="0"/>
                    </a:p>
                  </a:txBody>
                  <a:tcPr marL="91441" marR="91441"/>
                </a:tc>
                <a:extLst>
                  <a:ext uri="{0D108BD9-81ED-4DB2-BD59-A6C34878D82A}">
                    <a16:rowId xmlns:a16="http://schemas.microsoft.com/office/drawing/2014/main" val="1910467340"/>
                  </a:ext>
                </a:extLst>
              </a:tr>
              <a:tr h="370840">
                <a:tc>
                  <a:txBody>
                    <a:bodyPr/>
                    <a:lstStyle/>
                    <a:p>
                      <a:r>
                        <a:rPr lang="en-US" sz="1200" dirty="0"/>
                        <a:t>Lognormal distribution</a:t>
                      </a:r>
                    </a:p>
                  </a:txBody>
                  <a:tcPr marL="91441" marR="91441"/>
                </a:tc>
                <a:tc>
                  <a:txBody>
                    <a:bodyPr/>
                    <a:lstStyle/>
                    <a:p>
                      <a:r>
                        <a:rPr lang="en-US" sz="1200" dirty="0"/>
                        <a:t>A probability distribution of a random variable whose logarithm follows a Gaussian (normal) distribution. In relation to SAD, the lognormal distribution characterizes a sample with relatively few very abundance or very rare species.</a:t>
                      </a:r>
                    </a:p>
                  </a:txBody>
                  <a:tcPr marL="91441" marR="91441"/>
                </a:tc>
                <a:extLst>
                  <a:ext uri="{0D108BD9-81ED-4DB2-BD59-A6C34878D82A}">
                    <a16:rowId xmlns:a16="http://schemas.microsoft.com/office/drawing/2014/main" val="168096904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Logseries distribution</a:t>
                      </a:r>
                    </a:p>
                  </a:txBody>
                  <a:tcPr marL="91441" marR="91441"/>
                </a:tc>
                <a:tc>
                  <a:txBody>
                    <a:bodyPr/>
                    <a:lstStyle/>
                    <a:p>
                      <a:r>
                        <a:rPr lang="en-US" sz="1200" dirty="0"/>
                        <a:t>A probability distribution which results from the Poisson sampling of a gamma distribution after a certain relevant limit is taken, and conditional presence is considered, that is, it gives the conditional probability of attaining a certain abundance level given that the species is present. In relation to SAD, the logseries characterizes a sample in which the most common abundance category is a single individual.</a:t>
                      </a:r>
                    </a:p>
                  </a:txBody>
                  <a:tcPr marL="91441" marR="91441"/>
                </a:tc>
                <a:extLst>
                  <a:ext uri="{0D108BD9-81ED-4DB2-BD59-A6C34878D82A}">
                    <a16:rowId xmlns:a16="http://schemas.microsoft.com/office/drawing/2014/main" val="1026313469"/>
                  </a:ext>
                </a:extLst>
              </a:tr>
            </a:tbl>
          </a:graphicData>
        </a:graphic>
      </p:graphicFrame>
    </p:spTree>
    <p:extLst>
      <p:ext uri="{BB962C8B-B14F-4D97-AF65-F5344CB8AC3E}">
        <p14:creationId xmlns:p14="http://schemas.microsoft.com/office/powerpoint/2010/main" val="22199027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9B3C6-7B26-2A4D-BB57-6FEF66646178}"/>
              </a:ext>
            </a:extLst>
          </p:cNvPr>
          <p:cNvSpPr>
            <a:spLocks noGrp="1"/>
          </p:cNvSpPr>
          <p:nvPr>
            <p:ph type="title"/>
          </p:nvPr>
        </p:nvSpPr>
        <p:spPr>
          <a:solidFill>
            <a:srgbClr val="8EFA00"/>
          </a:solidFill>
        </p:spPr>
        <p:txBody>
          <a:bodyPr/>
          <a:lstStyle/>
          <a:p>
            <a:r>
              <a:rPr lang="en-US" dirty="0"/>
              <a:t>Null Models</a:t>
            </a:r>
          </a:p>
        </p:txBody>
      </p:sp>
      <p:sp>
        <p:nvSpPr>
          <p:cNvPr id="3" name="Content Placeholder 2">
            <a:extLst>
              <a:ext uri="{FF2B5EF4-FFF2-40B4-BE49-F238E27FC236}">
                <a16:creationId xmlns:a16="http://schemas.microsoft.com/office/drawing/2014/main" id="{E09159B0-0902-B14B-92E6-629369040E76}"/>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6809647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66FA3-9AEF-124C-BDEF-B370576E4F30}"/>
              </a:ext>
            </a:extLst>
          </p:cNvPr>
          <p:cNvSpPr>
            <a:spLocks noGrp="1"/>
          </p:cNvSpPr>
          <p:nvPr>
            <p:ph type="title"/>
          </p:nvPr>
        </p:nvSpPr>
        <p:spPr/>
        <p:txBody>
          <a:bodyPr/>
          <a:lstStyle/>
          <a:p>
            <a:r>
              <a:rPr lang="en-US" dirty="0"/>
              <a:t>Indexes</a:t>
            </a:r>
          </a:p>
        </p:txBody>
      </p:sp>
      <p:sp>
        <p:nvSpPr>
          <p:cNvPr id="3" name="Content Placeholder 2">
            <a:extLst>
              <a:ext uri="{FF2B5EF4-FFF2-40B4-BE49-F238E27FC236}">
                <a16:creationId xmlns:a16="http://schemas.microsoft.com/office/drawing/2014/main" id="{976EEC44-B035-CF4B-9C4D-775F2AF2DB62}"/>
              </a:ext>
            </a:extLst>
          </p:cNvPr>
          <p:cNvSpPr>
            <a:spLocks noGrp="1"/>
          </p:cNvSpPr>
          <p:nvPr>
            <p:ph idx="1"/>
          </p:nvPr>
        </p:nvSpPr>
        <p:spPr/>
        <p:txBody>
          <a:bodyPr>
            <a:normAutofit fontScale="92500" lnSpcReduction="10000"/>
          </a:bodyPr>
          <a:lstStyle/>
          <a:p>
            <a:pPr marL="514350" indent="-514350">
              <a:buFont typeface="+mj-lt"/>
              <a:buAutoNum type="arabicPeriod"/>
            </a:pPr>
            <a:r>
              <a:rPr lang="en-US" dirty="0"/>
              <a:t>Jaccard Index – statistic for understanding the similarity between sites (communities)</a:t>
            </a:r>
          </a:p>
          <a:p>
            <a:pPr marL="514350" indent="-514350">
              <a:buFont typeface="+mj-lt"/>
              <a:buAutoNum type="arabicPeriod"/>
            </a:pPr>
            <a:r>
              <a:rPr lang="en-US" dirty="0"/>
              <a:t>Bray-Curtis – statistic used for quantifying the compositional dissimilarity between two sites (communities)</a:t>
            </a:r>
          </a:p>
          <a:p>
            <a:pPr marL="514350" indent="-514350">
              <a:buFont typeface="+mj-lt"/>
              <a:buAutoNum type="arabicPeriod"/>
            </a:pPr>
            <a:r>
              <a:rPr lang="en-US" dirty="0" err="1"/>
              <a:t>UniFrac</a:t>
            </a:r>
            <a:r>
              <a:rPr lang="en-US" dirty="0"/>
              <a:t> – phylogenetic beta-diversity measurement to compare environmental samples (used with multivariate analysis like </a:t>
            </a:r>
            <a:r>
              <a:rPr lang="en-US" dirty="0" err="1"/>
              <a:t>PCoA</a:t>
            </a:r>
            <a:r>
              <a:rPr lang="en-US" dirty="0"/>
              <a:t> can indicate which factors are driving differences between communities </a:t>
            </a:r>
            <a:r>
              <a:rPr lang="en-GB" dirty="0">
                <a:hlinkClick r:id="rId2"/>
              </a:rPr>
              <a:t>10.1038/ismej.2010.133</a:t>
            </a:r>
            <a:r>
              <a:rPr lang="en-US" dirty="0"/>
              <a:t>)</a:t>
            </a:r>
          </a:p>
          <a:p>
            <a:pPr marL="514350" indent="-514350">
              <a:buFont typeface="+mj-lt"/>
              <a:buAutoNum type="arabicPeriod"/>
            </a:pPr>
            <a:r>
              <a:rPr lang="en-US" dirty="0"/>
              <a:t>Beta nearest taxon index (βNTI) - </a:t>
            </a:r>
            <a:r>
              <a:rPr lang="en-GB" dirty="0"/>
              <a:t>the difference between observed beta mean nearest taxon distance (</a:t>
            </a:r>
            <a:r>
              <a:rPr lang="el-GR" dirty="0"/>
              <a:t>β</a:t>
            </a:r>
            <a:r>
              <a:rPr lang="en-GB" dirty="0"/>
              <a:t>MNTD) and the mean of the null distribution of </a:t>
            </a:r>
            <a:r>
              <a:rPr lang="el-GR" dirty="0"/>
              <a:t>β</a:t>
            </a:r>
            <a:r>
              <a:rPr lang="en-GB" dirty="0"/>
              <a:t>MNTD normalized by its standard deviation</a:t>
            </a:r>
            <a:r>
              <a:rPr lang="en-US" dirty="0"/>
              <a:t> </a:t>
            </a:r>
          </a:p>
        </p:txBody>
      </p:sp>
    </p:spTree>
    <p:extLst>
      <p:ext uri="{BB962C8B-B14F-4D97-AF65-F5344CB8AC3E}">
        <p14:creationId xmlns:p14="http://schemas.microsoft.com/office/powerpoint/2010/main" val="12212230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00F8F-25CD-C74C-BF54-1BD8D37C35E8}"/>
              </a:ext>
            </a:extLst>
          </p:cNvPr>
          <p:cNvSpPr>
            <a:spLocks noGrp="1"/>
          </p:cNvSpPr>
          <p:nvPr>
            <p:ph type="title"/>
          </p:nvPr>
        </p:nvSpPr>
        <p:spPr/>
        <p:txBody>
          <a:bodyPr/>
          <a:lstStyle/>
          <a:p>
            <a:r>
              <a:rPr lang="en-US" dirty="0"/>
              <a:t>Inferring Ecological Determinism</a:t>
            </a:r>
          </a:p>
        </p:txBody>
      </p:sp>
      <p:sp>
        <p:nvSpPr>
          <p:cNvPr id="3" name="Content Placeholder 2">
            <a:extLst>
              <a:ext uri="{FF2B5EF4-FFF2-40B4-BE49-F238E27FC236}">
                <a16:creationId xmlns:a16="http://schemas.microsoft.com/office/drawing/2014/main" id="{260C6446-4B7F-C64A-9C6B-2B4983BA26A8}"/>
              </a:ext>
            </a:extLst>
          </p:cNvPr>
          <p:cNvSpPr>
            <a:spLocks noGrp="1"/>
          </p:cNvSpPr>
          <p:nvPr>
            <p:ph idx="1"/>
          </p:nvPr>
        </p:nvSpPr>
        <p:spPr/>
        <p:txBody>
          <a:bodyPr/>
          <a:lstStyle/>
          <a:p>
            <a:pPr marL="0" indent="0">
              <a:buNone/>
            </a:pPr>
            <a:r>
              <a:rPr lang="en-US" dirty="0"/>
              <a:t>To what extend is biotic and abiotic selection driving community assembly? </a:t>
            </a:r>
          </a:p>
          <a:p>
            <a:pPr marL="0" indent="0">
              <a:buNone/>
            </a:pPr>
            <a:endParaRPr lang="en-US" dirty="0"/>
          </a:p>
          <a:p>
            <a:pPr marL="0" indent="0">
              <a:buNone/>
            </a:pPr>
            <a:r>
              <a:rPr lang="en-US" dirty="0"/>
              <a:t>Approaches:</a:t>
            </a:r>
          </a:p>
          <a:p>
            <a:pPr marL="0" indent="0">
              <a:buNone/>
            </a:pPr>
            <a:r>
              <a:rPr lang="en-US" dirty="0"/>
              <a:t>Species Sorting Models</a:t>
            </a:r>
          </a:p>
        </p:txBody>
      </p:sp>
    </p:spTree>
    <p:extLst>
      <p:ext uri="{BB962C8B-B14F-4D97-AF65-F5344CB8AC3E}">
        <p14:creationId xmlns:p14="http://schemas.microsoft.com/office/powerpoint/2010/main" val="31075356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B3FB2-BC2E-F140-8221-14621E80CA9B}"/>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C8BEF00-F40E-2743-8868-B776E10C5AD3}"/>
              </a:ext>
            </a:extLst>
          </p:cNvPr>
          <p:cNvSpPr>
            <a:spLocks noGrp="1"/>
          </p:cNvSpPr>
          <p:nvPr>
            <p:ph idx="1"/>
          </p:nvPr>
        </p:nvSpPr>
        <p:spPr/>
        <p:txBody>
          <a:bodyPr>
            <a:normAutofit fontScale="92500"/>
          </a:bodyPr>
          <a:lstStyle/>
          <a:p>
            <a:pPr marL="0" indent="0">
              <a:buNone/>
            </a:pPr>
            <a:r>
              <a:rPr lang="en-US" dirty="0"/>
              <a:t>Etienne, R. S., Alonso, D. &amp; </a:t>
            </a:r>
            <a:r>
              <a:rPr lang="en-US" dirty="0" err="1"/>
              <a:t>McKane</a:t>
            </a:r>
            <a:r>
              <a:rPr lang="en-US" dirty="0"/>
              <a:t>, A. J. (2007) </a:t>
            </a:r>
            <a:r>
              <a:rPr lang="en-US" i="1" dirty="0"/>
              <a:t>The zero-sum assumption in neutral biodiversity theory. </a:t>
            </a:r>
            <a:r>
              <a:rPr lang="en-US" dirty="0"/>
              <a:t>Journal of Theoretical Biology, 248 (3): 522-536.</a:t>
            </a:r>
          </a:p>
          <a:p>
            <a:pPr marL="0" indent="0">
              <a:buNone/>
            </a:pPr>
            <a:r>
              <a:rPr lang="en-US" dirty="0"/>
              <a:t>Matthews, T. J. &amp; Whittaker, R. J. (2014) </a:t>
            </a:r>
            <a:r>
              <a:rPr lang="en-US" i="1" dirty="0"/>
              <a:t>Neutral theory and the species abundance distribution: recent developments and prospects for unifying niche and neutral perspectives. </a:t>
            </a:r>
            <a:r>
              <a:rPr lang="en-US" dirty="0"/>
              <a:t>Ecology and Evolution, 4 (11): 2263-2277.</a:t>
            </a:r>
          </a:p>
          <a:p>
            <a:pPr marL="0" indent="0">
              <a:buNone/>
            </a:pPr>
            <a:r>
              <a:rPr lang="en-US" dirty="0" err="1"/>
              <a:t>Simonet</a:t>
            </a:r>
            <a:r>
              <a:rPr lang="en-US" dirty="0"/>
              <a:t>, C. Scherrer, R., </a:t>
            </a:r>
            <a:r>
              <a:rPr lang="en-US" dirty="0" err="1"/>
              <a:t>Rego</a:t>
            </a:r>
            <a:r>
              <a:rPr lang="en-US" dirty="0"/>
              <a:t>-Costa, A. &amp; Etienne, R. S. (2017) </a:t>
            </a:r>
            <a:r>
              <a:rPr lang="en-US" i="1" dirty="0"/>
              <a:t>Robustness of the approximate likelihood of the protracted speciation model. </a:t>
            </a:r>
            <a:r>
              <a:rPr lang="en-US" dirty="0"/>
              <a:t>Journal of Evolutionary Biology, 31 (3): 469-479.</a:t>
            </a:r>
          </a:p>
          <a:p>
            <a:pPr marL="0" indent="0">
              <a:buNone/>
            </a:pPr>
            <a:r>
              <a:rPr lang="en-US" dirty="0"/>
              <a:t>Zhou, J. (2017) </a:t>
            </a:r>
            <a:r>
              <a:rPr lang="en-US" i="1" dirty="0"/>
              <a:t>Stochastic Community Assembly: Does it Matter in Microbial Ecology? </a:t>
            </a:r>
            <a:r>
              <a:rPr lang="en-US" dirty="0"/>
              <a:t>Microbiology and Molecular Biology Reviews, 81 (4): 1-32.</a:t>
            </a:r>
          </a:p>
        </p:txBody>
      </p:sp>
    </p:spTree>
    <p:extLst>
      <p:ext uri="{BB962C8B-B14F-4D97-AF65-F5344CB8AC3E}">
        <p14:creationId xmlns:p14="http://schemas.microsoft.com/office/powerpoint/2010/main" val="104584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422</TotalTime>
  <Words>2249</Words>
  <Application>Microsoft Macintosh PowerPoint</Application>
  <PresentationFormat>Widescreen</PresentationFormat>
  <Paragraphs>149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Cambria Math</vt:lpstr>
      <vt:lpstr>Office Theme</vt:lpstr>
      <vt:lpstr>Modelling Neutral and Non-Neutral Mechanisms of Community Assembly</vt:lpstr>
      <vt:lpstr>Inferring Ecological Stochasticity (adapted from Zhou, 2017)</vt:lpstr>
      <vt:lpstr>Multivariate Analysis</vt:lpstr>
      <vt:lpstr>Multivariate Analysis 1: Comparison of communities within and between environments</vt:lpstr>
      <vt:lpstr>Multivariate Analysis 2: Correlations between communities and their environment</vt:lpstr>
      <vt:lpstr>Multivariate Analysis 3: Variation-partitioning analysis (VPA)</vt:lpstr>
      <vt:lpstr>Multivariate Analysis 3: Variation-partitioning analysis (VPA) Type I</vt:lpstr>
      <vt:lpstr>Multivariate Analysis 3: Variation-partitioning analysis (VPA) Type II (DIST)</vt:lpstr>
      <vt:lpstr>Multivariate Analysis: Problems</vt:lpstr>
      <vt:lpstr>Neutral Models</vt:lpstr>
      <vt:lpstr>Neutral Model Assumptions (taken from Etienne et al., 2007)</vt:lpstr>
      <vt:lpstr>Hubbell’s Neutral Model</vt:lpstr>
      <vt:lpstr>Neutral Models: What are they for?</vt:lpstr>
      <vt:lpstr>Fitting Methods</vt:lpstr>
      <vt:lpstr>Important Neutral Model Terms (adapted from Matthews &amp; Whittaker, 2014)</vt:lpstr>
      <vt:lpstr>Important Neutral Model Terms (adapted from Matthews &amp; Whittaker, 2014) cont.</vt:lpstr>
      <vt:lpstr>Important Neutral Model Terms (adapted from Matthews &amp; Whittaker, 2014) cont.</vt:lpstr>
      <vt:lpstr>Null Models</vt:lpstr>
      <vt:lpstr>Indexes</vt:lpstr>
      <vt:lpstr>Inferring Ecological Determinism</vt:lpstr>
      <vt:lpstr>References</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Neutral and Non-Neutral Mechanisms of Community Assembly</dc:title>
  <dc:creator>Amy Bo Tinky Solman</dc:creator>
  <cp:lastModifiedBy>Amy Bo Tinky Solman</cp:lastModifiedBy>
  <cp:revision>26</cp:revision>
  <dcterms:created xsi:type="dcterms:W3CDTF">2020-11-25T12:28:28Z</dcterms:created>
  <dcterms:modified xsi:type="dcterms:W3CDTF">2020-11-25T19:31:28Z</dcterms:modified>
</cp:coreProperties>
</file>