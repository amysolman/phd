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7" r:id="rId2"/>
    <p:sldId id="258" r:id="rId3"/>
    <p:sldId id="297" r:id="rId4"/>
    <p:sldId id="298" r:id="rId5"/>
    <p:sldId id="29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52"/>
    <p:restoredTop sz="96341"/>
  </p:normalViewPr>
  <p:slideViewPr>
    <p:cSldViewPr snapToGrid="0" snapToObjects="1">
      <p:cViewPr varScale="1">
        <p:scale>
          <a:sx n="129" d="100"/>
          <a:sy n="129" d="100"/>
        </p:scale>
        <p:origin x="40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9CBBE7-6E47-1545-8EA4-216781DF4E66}" type="datetimeFigureOut">
              <a:rPr lang="en-US" smtClean="0"/>
              <a:t>11/27/20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0B2954-2D57-F14A-B61A-B56BB3A0A758}" type="slidenum">
              <a:rPr lang="en-US" smtClean="0"/>
              <a:t>‹#›</a:t>
            </a:fld>
            <a:endParaRPr lang="en-US"/>
          </a:p>
        </p:txBody>
      </p:sp>
    </p:spTree>
    <p:extLst>
      <p:ext uri="{BB962C8B-B14F-4D97-AF65-F5344CB8AC3E}">
        <p14:creationId xmlns:p14="http://schemas.microsoft.com/office/powerpoint/2010/main" val="1665214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82640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96097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8DE32-39CC-9B47-8E93-0939D6602D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C741B7C-FF5E-6F40-A300-F72097B953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918D13-4DC1-4942-85E1-BA97A9336679}"/>
              </a:ext>
            </a:extLst>
          </p:cNvPr>
          <p:cNvSpPr>
            <a:spLocks noGrp="1"/>
          </p:cNvSpPr>
          <p:nvPr>
            <p:ph type="dt" sz="half" idx="10"/>
          </p:nvPr>
        </p:nvSpPr>
        <p:spPr/>
        <p:txBody>
          <a:bodyPr/>
          <a:lstStyle/>
          <a:p>
            <a:fld id="{65CB142D-948D-DC45-86F3-620BE127E294}" type="datetimeFigureOut">
              <a:rPr lang="en-US" smtClean="0"/>
              <a:t>11/27/20</a:t>
            </a:fld>
            <a:endParaRPr lang="en-US"/>
          </a:p>
        </p:txBody>
      </p:sp>
      <p:sp>
        <p:nvSpPr>
          <p:cNvPr id="5" name="Footer Placeholder 4">
            <a:extLst>
              <a:ext uri="{FF2B5EF4-FFF2-40B4-BE49-F238E27FC236}">
                <a16:creationId xmlns:a16="http://schemas.microsoft.com/office/drawing/2014/main" id="{FCA1AF9D-1504-E44F-B305-AF3FF262D9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82D709-4673-0D44-B918-B548CC482D62}"/>
              </a:ext>
            </a:extLst>
          </p:cNvPr>
          <p:cNvSpPr>
            <a:spLocks noGrp="1"/>
          </p:cNvSpPr>
          <p:nvPr>
            <p:ph type="sldNum" sz="quarter" idx="12"/>
          </p:nvPr>
        </p:nvSpPr>
        <p:spPr/>
        <p:txBody>
          <a:bodyPr/>
          <a:lstStyle/>
          <a:p>
            <a:fld id="{02A5A341-7FBF-DF4A-9F61-AC8BA1DC2C2D}" type="slidenum">
              <a:rPr lang="en-US" smtClean="0"/>
              <a:t>‹#›</a:t>
            </a:fld>
            <a:endParaRPr lang="en-US"/>
          </a:p>
        </p:txBody>
      </p:sp>
    </p:spTree>
    <p:extLst>
      <p:ext uri="{BB962C8B-B14F-4D97-AF65-F5344CB8AC3E}">
        <p14:creationId xmlns:p14="http://schemas.microsoft.com/office/powerpoint/2010/main" val="3233426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A7C09-EEFC-0F43-9294-D5AEBC107A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A3B6D5-5D54-F144-A4CD-A343A010FA4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838347-033E-1B44-BC39-815795EAF1A4}"/>
              </a:ext>
            </a:extLst>
          </p:cNvPr>
          <p:cNvSpPr>
            <a:spLocks noGrp="1"/>
          </p:cNvSpPr>
          <p:nvPr>
            <p:ph type="dt" sz="half" idx="10"/>
          </p:nvPr>
        </p:nvSpPr>
        <p:spPr/>
        <p:txBody>
          <a:bodyPr/>
          <a:lstStyle/>
          <a:p>
            <a:fld id="{65CB142D-948D-DC45-86F3-620BE127E294}" type="datetimeFigureOut">
              <a:rPr lang="en-US" smtClean="0"/>
              <a:t>11/27/20</a:t>
            </a:fld>
            <a:endParaRPr lang="en-US"/>
          </a:p>
        </p:txBody>
      </p:sp>
      <p:sp>
        <p:nvSpPr>
          <p:cNvPr id="5" name="Footer Placeholder 4">
            <a:extLst>
              <a:ext uri="{FF2B5EF4-FFF2-40B4-BE49-F238E27FC236}">
                <a16:creationId xmlns:a16="http://schemas.microsoft.com/office/drawing/2014/main" id="{B70769C0-493A-3542-94FC-321AF12D22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65EE71-B789-C44C-BE97-B9C4EB4D956C}"/>
              </a:ext>
            </a:extLst>
          </p:cNvPr>
          <p:cNvSpPr>
            <a:spLocks noGrp="1"/>
          </p:cNvSpPr>
          <p:nvPr>
            <p:ph type="sldNum" sz="quarter" idx="12"/>
          </p:nvPr>
        </p:nvSpPr>
        <p:spPr/>
        <p:txBody>
          <a:bodyPr/>
          <a:lstStyle/>
          <a:p>
            <a:fld id="{02A5A341-7FBF-DF4A-9F61-AC8BA1DC2C2D}" type="slidenum">
              <a:rPr lang="en-US" smtClean="0"/>
              <a:t>‹#›</a:t>
            </a:fld>
            <a:endParaRPr lang="en-US"/>
          </a:p>
        </p:txBody>
      </p:sp>
    </p:spTree>
    <p:extLst>
      <p:ext uri="{BB962C8B-B14F-4D97-AF65-F5344CB8AC3E}">
        <p14:creationId xmlns:p14="http://schemas.microsoft.com/office/powerpoint/2010/main" val="571392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AE08E-37D0-0947-8CDF-0838A9309E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C019CF-CAD7-004B-AA46-FF45645831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66E56CB-B4C2-0449-BD44-5D9E59B6E673}"/>
              </a:ext>
            </a:extLst>
          </p:cNvPr>
          <p:cNvSpPr>
            <a:spLocks noGrp="1"/>
          </p:cNvSpPr>
          <p:nvPr>
            <p:ph type="dt" sz="half" idx="10"/>
          </p:nvPr>
        </p:nvSpPr>
        <p:spPr/>
        <p:txBody>
          <a:bodyPr/>
          <a:lstStyle/>
          <a:p>
            <a:fld id="{65CB142D-948D-DC45-86F3-620BE127E294}" type="datetimeFigureOut">
              <a:rPr lang="en-US" smtClean="0"/>
              <a:t>11/27/20</a:t>
            </a:fld>
            <a:endParaRPr lang="en-US"/>
          </a:p>
        </p:txBody>
      </p:sp>
      <p:sp>
        <p:nvSpPr>
          <p:cNvPr id="5" name="Footer Placeholder 4">
            <a:extLst>
              <a:ext uri="{FF2B5EF4-FFF2-40B4-BE49-F238E27FC236}">
                <a16:creationId xmlns:a16="http://schemas.microsoft.com/office/drawing/2014/main" id="{F56F58A2-28EB-D649-946D-D641805800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3B2C52-2E5F-0A47-948B-9FDBDE403BF6}"/>
              </a:ext>
            </a:extLst>
          </p:cNvPr>
          <p:cNvSpPr>
            <a:spLocks noGrp="1"/>
          </p:cNvSpPr>
          <p:nvPr>
            <p:ph type="sldNum" sz="quarter" idx="12"/>
          </p:nvPr>
        </p:nvSpPr>
        <p:spPr/>
        <p:txBody>
          <a:bodyPr/>
          <a:lstStyle/>
          <a:p>
            <a:fld id="{02A5A341-7FBF-DF4A-9F61-AC8BA1DC2C2D}" type="slidenum">
              <a:rPr lang="en-US" smtClean="0"/>
              <a:t>‹#›</a:t>
            </a:fld>
            <a:endParaRPr lang="en-US"/>
          </a:p>
        </p:txBody>
      </p:sp>
    </p:spTree>
    <p:extLst>
      <p:ext uri="{BB962C8B-B14F-4D97-AF65-F5344CB8AC3E}">
        <p14:creationId xmlns:p14="http://schemas.microsoft.com/office/powerpoint/2010/main" val="1914680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92501-0375-7347-8536-31D32C4914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54CD6B-1A7B-AA4E-BACF-FF043470E63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BA3DC56-6AFD-EB49-B014-73C6942BF1E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ADEC80-455E-FD42-9923-446C5B4C8115}"/>
              </a:ext>
            </a:extLst>
          </p:cNvPr>
          <p:cNvSpPr>
            <a:spLocks noGrp="1"/>
          </p:cNvSpPr>
          <p:nvPr>
            <p:ph type="dt" sz="half" idx="10"/>
          </p:nvPr>
        </p:nvSpPr>
        <p:spPr/>
        <p:txBody>
          <a:bodyPr/>
          <a:lstStyle/>
          <a:p>
            <a:fld id="{65CB142D-948D-DC45-86F3-620BE127E294}" type="datetimeFigureOut">
              <a:rPr lang="en-US" smtClean="0"/>
              <a:t>11/27/20</a:t>
            </a:fld>
            <a:endParaRPr lang="en-US"/>
          </a:p>
        </p:txBody>
      </p:sp>
      <p:sp>
        <p:nvSpPr>
          <p:cNvPr id="6" name="Footer Placeholder 5">
            <a:extLst>
              <a:ext uri="{FF2B5EF4-FFF2-40B4-BE49-F238E27FC236}">
                <a16:creationId xmlns:a16="http://schemas.microsoft.com/office/drawing/2014/main" id="{E7E6BC48-2AFF-1B48-938A-B2DDE3EB73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32B7A-AEFB-D843-8A78-FBB0C82AFA80}"/>
              </a:ext>
            </a:extLst>
          </p:cNvPr>
          <p:cNvSpPr>
            <a:spLocks noGrp="1"/>
          </p:cNvSpPr>
          <p:nvPr>
            <p:ph type="sldNum" sz="quarter" idx="12"/>
          </p:nvPr>
        </p:nvSpPr>
        <p:spPr/>
        <p:txBody>
          <a:bodyPr/>
          <a:lstStyle/>
          <a:p>
            <a:fld id="{02A5A341-7FBF-DF4A-9F61-AC8BA1DC2C2D}" type="slidenum">
              <a:rPr lang="en-US" smtClean="0"/>
              <a:t>‹#›</a:t>
            </a:fld>
            <a:endParaRPr lang="en-US"/>
          </a:p>
        </p:txBody>
      </p:sp>
    </p:spTree>
    <p:extLst>
      <p:ext uri="{BB962C8B-B14F-4D97-AF65-F5344CB8AC3E}">
        <p14:creationId xmlns:p14="http://schemas.microsoft.com/office/powerpoint/2010/main" val="1128681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27378-9D84-AA4F-8E16-9AD839CD8A1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5A389B-ABBB-E241-997A-8A922C7306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1F21886-2603-8C4E-B5C0-D4112ECFB44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E9122B-7122-F44B-BC4F-F59C2F15A0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A29F42C-2499-BF43-B990-7108A0EFBBB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FAD84B-75ED-4843-85A9-82B0435AF36C}"/>
              </a:ext>
            </a:extLst>
          </p:cNvPr>
          <p:cNvSpPr>
            <a:spLocks noGrp="1"/>
          </p:cNvSpPr>
          <p:nvPr>
            <p:ph type="dt" sz="half" idx="10"/>
          </p:nvPr>
        </p:nvSpPr>
        <p:spPr/>
        <p:txBody>
          <a:bodyPr/>
          <a:lstStyle/>
          <a:p>
            <a:fld id="{65CB142D-948D-DC45-86F3-620BE127E294}" type="datetimeFigureOut">
              <a:rPr lang="en-US" smtClean="0"/>
              <a:t>11/27/20</a:t>
            </a:fld>
            <a:endParaRPr lang="en-US"/>
          </a:p>
        </p:txBody>
      </p:sp>
      <p:sp>
        <p:nvSpPr>
          <p:cNvPr id="8" name="Footer Placeholder 7">
            <a:extLst>
              <a:ext uri="{FF2B5EF4-FFF2-40B4-BE49-F238E27FC236}">
                <a16:creationId xmlns:a16="http://schemas.microsoft.com/office/drawing/2014/main" id="{226E566E-49EB-4748-A265-917EBEA8A3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DEDCFD-ED45-4145-8ED3-790B9A560F54}"/>
              </a:ext>
            </a:extLst>
          </p:cNvPr>
          <p:cNvSpPr>
            <a:spLocks noGrp="1"/>
          </p:cNvSpPr>
          <p:nvPr>
            <p:ph type="sldNum" sz="quarter" idx="12"/>
          </p:nvPr>
        </p:nvSpPr>
        <p:spPr/>
        <p:txBody>
          <a:bodyPr/>
          <a:lstStyle/>
          <a:p>
            <a:fld id="{02A5A341-7FBF-DF4A-9F61-AC8BA1DC2C2D}" type="slidenum">
              <a:rPr lang="en-US" smtClean="0"/>
              <a:t>‹#›</a:t>
            </a:fld>
            <a:endParaRPr lang="en-US"/>
          </a:p>
        </p:txBody>
      </p:sp>
    </p:spTree>
    <p:extLst>
      <p:ext uri="{BB962C8B-B14F-4D97-AF65-F5344CB8AC3E}">
        <p14:creationId xmlns:p14="http://schemas.microsoft.com/office/powerpoint/2010/main" val="63763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FC366-4CAE-E146-8527-705300DBA4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063891-5D9E-2342-9AA1-AF4A70147493}"/>
              </a:ext>
            </a:extLst>
          </p:cNvPr>
          <p:cNvSpPr>
            <a:spLocks noGrp="1"/>
          </p:cNvSpPr>
          <p:nvPr>
            <p:ph type="dt" sz="half" idx="10"/>
          </p:nvPr>
        </p:nvSpPr>
        <p:spPr/>
        <p:txBody>
          <a:bodyPr/>
          <a:lstStyle/>
          <a:p>
            <a:fld id="{65CB142D-948D-DC45-86F3-620BE127E294}" type="datetimeFigureOut">
              <a:rPr lang="en-US" smtClean="0"/>
              <a:t>11/27/20</a:t>
            </a:fld>
            <a:endParaRPr lang="en-US"/>
          </a:p>
        </p:txBody>
      </p:sp>
      <p:sp>
        <p:nvSpPr>
          <p:cNvPr id="4" name="Footer Placeholder 3">
            <a:extLst>
              <a:ext uri="{FF2B5EF4-FFF2-40B4-BE49-F238E27FC236}">
                <a16:creationId xmlns:a16="http://schemas.microsoft.com/office/drawing/2014/main" id="{9463FE10-0734-A041-BC00-62E5D155B3D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A904613-5E8C-3A4D-9E97-D0B96B988539}"/>
              </a:ext>
            </a:extLst>
          </p:cNvPr>
          <p:cNvSpPr>
            <a:spLocks noGrp="1"/>
          </p:cNvSpPr>
          <p:nvPr>
            <p:ph type="sldNum" sz="quarter" idx="12"/>
          </p:nvPr>
        </p:nvSpPr>
        <p:spPr/>
        <p:txBody>
          <a:bodyPr/>
          <a:lstStyle/>
          <a:p>
            <a:fld id="{02A5A341-7FBF-DF4A-9F61-AC8BA1DC2C2D}" type="slidenum">
              <a:rPr lang="en-US" smtClean="0"/>
              <a:t>‹#›</a:t>
            </a:fld>
            <a:endParaRPr lang="en-US"/>
          </a:p>
        </p:txBody>
      </p:sp>
    </p:spTree>
    <p:extLst>
      <p:ext uri="{BB962C8B-B14F-4D97-AF65-F5344CB8AC3E}">
        <p14:creationId xmlns:p14="http://schemas.microsoft.com/office/powerpoint/2010/main" val="1751413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C93998-5A66-E943-91F0-25EB16BA40FD}"/>
              </a:ext>
            </a:extLst>
          </p:cNvPr>
          <p:cNvSpPr>
            <a:spLocks noGrp="1"/>
          </p:cNvSpPr>
          <p:nvPr>
            <p:ph type="dt" sz="half" idx="10"/>
          </p:nvPr>
        </p:nvSpPr>
        <p:spPr/>
        <p:txBody>
          <a:bodyPr/>
          <a:lstStyle/>
          <a:p>
            <a:fld id="{65CB142D-948D-DC45-86F3-620BE127E294}" type="datetimeFigureOut">
              <a:rPr lang="en-US" smtClean="0"/>
              <a:t>11/27/20</a:t>
            </a:fld>
            <a:endParaRPr lang="en-US"/>
          </a:p>
        </p:txBody>
      </p:sp>
      <p:sp>
        <p:nvSpPr>
          <p:cNvPr id="3" name="Footer Placeholder 2">
            <a:extLst>
              <a:ext uri="{FF2B5EF4-FFF2-40B4-BE49-F238E27FC236}">
                <a16:creationId xmlns:a16="http://schemas.microsoft.com/office/drawing/2014/main" id="{743DEDD4-F99D-FA42-A976-4599C9E09A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0E025D-21E8-6A4C-A755-E1CB324507F4}"/>
              </a:ext>
            </a:extLst>
          </p:cNvPr>
          <p:cNvSpPr>
            <a:spLocks noGrp="1"/>
          </p:cNvSpPr>
          <p:nvPr>
            <p:ph type="sldNum" sz="quarter" idx="12"/>
          </p:nvPr>
        </p:nvSpPr>
        <p:spPr/>
        <p:txBody>
          <a:bodyPr/>
          <a:lstStyle/>
          <a:p>
            <a:fld id="{02A5A341-7FBF-DF4A-9F61-AC8BA1DC2C2D}" type="slidenum">
              <a:rPr lang="en-US" smtClean="0"/>
              <a:t>‹#›</a:t>
            </a:fld>
            <a:endParaRPr lang="en-US"/>
          </a:p>
        </p:txBody>
      </p:sp>
    </p:spTree>
    <p:extLst>
      <p:ext uri="{BB962C8B-B14F-4D97-AF65-F5344CB8AC3E}">
        <p14:creationId xmlns:p14="http://schemas.microsoft.com/office/powerpoint/2010/main" val="673807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FCF82-4CBD-7F41-8F07-E51CB62BB7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AC4CFB0-BBD4-274C-B33E-D67585E123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5459DD9-5D9A-5841-8D07-6C97942851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1076B01-A6CE-784D-8D58-E1A77B330740}"/>
              </a:ext>
            </a:extLst>
          </p:cNvPr>
          <p:cNvSpPr>
            <a:spLocks noGrp="1"/>
          </p:cNvSpPr>
          <p:nvPr>
            <p:ph type="dt" sz="half" idx="10"/>
          </p:nvPr>
        </p:nvSpPr>
        <p:spPr/>
        <p:txBody>
          <a:bodyPr/>
          <a:lstStyle/>
          <a:p>
            <a:fld id="{65CB142D-948D-DC45-86F3-620BE127E294}" type="datetimeFigureOut">
              <a:rPr lang="en-US" smtClean="0"/>
              <a:t>11/27/20</a:t>
            </a:fld>
            <a:endParaRPr lang="en-US"/>
          </a:p>
        </p:txBody>
      </p:sp>
      <p:sp>
        <p:nvSpPr>
          <p:cNvPr id="6" name="Footer Placeholder 5">
            <a:extLst>
              <a:ext uri="{FF2B5EF4-FFF2-40B4-BE49-F238E27FC236}">
                <a16:creationId xmlns:a16="http://schemas.microsoft.com/office/drawing/2014/main" id="{D2A61D93-7F04-724F-8B1D-7459E8D30A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466DA8-AC40-BD41-9125-6373D322D9D3}"/>
              </a:ext>
            </a:extLst>
          </p:cNvPr>
          <p:cNvSpPr>
            <a:spLocks noGrp="1"/>
          </p:cNvSpPr>
          <p:nvPr>
            <p:ph type="sldNum" sz="quarter" idx="12"/>
          </p:nvPr>
        </p:nvSpPr>
        <p:spPr/>
        <p:txBody>
          <a:bodyPr/>
          <a:lstStyle/>
          <a:p>
            <a:fld id="{02A5A341-7FBF-DF4A-9F61-AC8BA1DC2C2D}" type="slidenum">
              <a:rPr lang="en-US" smtClean="0"/>
              <a:t>‹#›</a:t>
            </a:fld>
            <a:endParaRPr lang="en-US"/>
          </a:p>
        </p:txBody>
      </p:sp>
    </p:spTree>
    <p:extLst>
      <p:ext uri="{BB962C8B-B14F-4D97-AF65-F5344CB8AC3E}">
        <p14:creationId xmlns:p14="http://schemas.microsoft.com/office/powerpoint/2010/main" val="307012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65965-484C-894F-B038-4ACCBB1419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5BEC303-2E88-5044-9819-019979E2E8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981C982-0176-3344-93DC-9432B7F1F9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6662E23-327E-484B-9C7B-88B7364EF03E}"/>
              </a:ext>
            </a:extLst>
          </p:cNvPr>
          <p:cNvSpPr>
            <a:spLocks noGrp="1"/>
          </p:cNvSpPr>
          <p:nvPr>
            <p:ph type="dt" sz="half" idx="10"/>
          </p:nvPr>
        </p:nvSpPr>
        <p:spPr/>
        <p:txBody>
          <a:bodyPr/>
          <a:lstStyle/>
          <a:p>
            <a:fld id="{65CB142D-948D-DC45-86F3-620BE127E294}" type="datetimeFigureOut">
              <a:rPr lang="en-US" smtClean="0"/>
              <a:t>11/27/20</a:t>
            </a:fld>
            <a:endParaRPr lang="en-US"/>
          </a:p>
        </p:txBody>
      </p:sp>
      <p:sp>
        <p:nvSpPr>
          <p:cNvPr id="6" name="Footer Placeholder 5">
            <a:extLst>
              <a:ext uri="{FF2B5EF4-FFF2-40B4-BE49-F238E27FC236}">
                <a16:creationId xmlns:a16="http://schemas.microsoft.com/office/drawing/2014/main" id="{4D1A1C05-E1B3-404B-A5CF-BC9C325FF9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E49042-DF1A-6E4D-A938-4D42A1892F6A}"/>
              </a:ext>
            </a:extLst>
          </p:cNvPr>
          <p:cNvSpPr>
            <a:spLocks noGrp="1"/>
          </p:cNvSpPr>
          <p:nvPr>
            <p:ph type="sldNum" sz="quarter" idx="12"/>
          </p:nvPr>
        </p:nvSpPr>
        <p:spPr/>
        <p:txBody>
          <a:bodyPr/>
          <a:lstStyle/>
          <a:p>
            <a:fld id="{02A5A341-7FBF-DF4A-9F61-AC8BA1DC2C2D}" type="slidenum">
              <a:rPr lang="en-US" smtClean="0"/>
              <a:t>‹#›</a:t>
            </a:fld>
            <a:endParaRPr lang="en-US"/>
          </a:p>
        </p:txBody>
      </p:sp>
    </p:spTree>
    <p:extLst>
      <p:ext uri="{BB962C8B-B14F-4D97-AF65-F5344CB8AC3E}">
        <p14:creationId xmlns:p14="http://schemas.microsoft.com/office/powerpoint/2010/main" val="2995063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F0538-BD56-1A4F-AFC8-5AEB91C575C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C0727D6-5FBE-D04E-8694-40847A8AA15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E1420F-D239-3142-B2F8-37B774F14CDF}"/>
              </a:ext>
            </a:extLst>
          </p:cNvPr>
          <p:cNvSpPr>
            <a:spLocks noGrp="1"/>
          </p:cNvSpPr>
          <p:nvPr>
            <p:ph type="dt" sz="half" idx="10"/>
          </p:nvPr>
        </p:nvSpPr>
        <p:spPr/>
        <p:txBody>
          <a:bodyPr/>
          <a:lstStyle/>
          <a:p>
            <a:fld id="{65CB142D-948D-DC45-86F3-620BE127E294}" type="datetimeFigureOut">
              <a:rPr lang="en-US" smtClean="0"/>
              <a:t>11/27/20</a:t>
            </a:fld>
            <a:endParaRPr lang="en-US"/>
          </a:p>
        </p:txBody>
      </p:sp>
      <p:sp>
        <p:nvSpPr>
          <p:cNvPr id="5" name="Footer Placeholder 4">
            <a:extLst>
              <a:ext uri="{FF2B5EF4-FFF2-40B4-BE49-F238E27FC236}">
                <a16:creationId xmlns:a16="http://schemas.microsoft.com/office/drawing/2014/main" id="{BFFABE4B-7077-0143-B25E-1852C69CC8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0DA153-582B-A84A-A2AE-95C54099F615}"/>
              </a:ext>
            </a:extLst>
          </p:cNvPr>
          <p:cNvSpPr>
            <a:spLocks noGrp="1"/>
          </p:cNvSpPr>
          <p:nvPr>
            <p:ph type="sldNum" sz="quarter" idx="12"/>
          </p:nvPr>
        </p:nvSpPr>
        <p:spPr/>
        <p:txBody>
          <a:bodyPr/>
          <a:lstStyle/>
          <a:p>
            <a:fld id="{02A5A341-7FBF-DF4A-9F61-AC8BA1DC2C2D}" type="slidenum">
              <a:rPr lang="en-US" smtClean="0"/>
              <a:t>‹#›</a:t>
            </a:fld>
            <a:endParaRPr lang="en-US"/>
          </a:p>
        </p:txBody>
      </p:sp>
    </p:spTree>
    <p:extLst>
      <p:ext uri="{BB962C8B-B14F-4D97-AF65-F5344CB8AC3E}">
        <p14:creationId xmlns:p14="http://schemas.microsoft.com/office/powerpoint/2010/main" val="1003608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DA3D8A-CFC9-834B-AFEE-36B63F00DE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79182C4-6572-AF4E-BBA0-ACF3F05D960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76B27D-4C8A-BB47-8C05-49B8B9AA7150}"/>
              </a:ext>
            </a:extLst>
          </p:cNvPr>
          <p:cNvSpPr>
            <a:spLocks noGrp="1"/>
          </p:cNvSpPr>
          <p:nvPr>
            <p:ph type="dt" sz="half" idx="10"/>
          </p:nvPr>
        </p:nvSpPr>
        <p:spPr/>
        <p:txBody>
          <a:bodyPr/>
          <a:lstStyle/>
          <a:p>
            <a:fld id="{65CB142D-948D-DC45-86F3-620BE127E294}" type="datetimeFigureOut">
              <a:rPr lang="en-US" smtClean="0"/>
              <a:t>11/27/20</a:t>
            </a:fld>
            <a:endParaRPr lang="en-US"/>
          </a:p>
        </p:txBody>
      </p:sp>
      <p:sp>
        <p:nvSpPr>
          <p:cNvPr id="5" name="Footer Placeholder 4">
            <a:extLst>
              <a:ext uri="{FF2B5EF4-FFF2-40B4-BE49-F238E27FC236}">
                <a16:creationId xmlns:a16="http://schemas.microsoft.com/office/drawing/2014/main" id="{5981B2BC-8ED0-8C4D-B767-90464BFC6E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4E21EB-76A3-BC40-9FD9-847058694C2D}"/>
              </a:ext>
            </a:extLst>
          </p:cNvPr>
          <p:cNvSpPr>
            <a:spLocks noGrp="1"/>
          </p:cNvSpPr>
          <p:nvPr>
            <p:ph type="sldNum" sz="quarter" idx="12"/>
          </p:nvPr>
        </p:nvSpPr>
        <p:spPr/>
        <p:txBody>
          <a:bodyPr/>
          <a:lstStyle/>
          <a:p>
            <a:fld id="{02A5A341-7FBF-DF4A-9F61-AC8BA1DC2C2D}" type="slidenum">
              <a:rPr lang="en-US" smtClean="0"/>
              <a:t>‹#›</a:t>
            </a:fld>
            <a:endParaRPr lang="en-US"/>
          </a:p>
        </p:txBody>
      </p:sp>
    </p:spTree>
    <p:extLst>
      <p:ext uri="{BB962C8B-B14F-4D97-AF65-F5344CB8AC3E}">
        <p14:creationId xmlns:p14="http://schemas.microsoft.com/office/powerpoint/2010/main" val="3957029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647D4E-3A0C-A445-B475-5A19F0494C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464B636-BE7E-E64E-90CB-023D445D41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98E023-8DB9-3145-ADA6-0A00B7FBBD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CB142D-948D-DC45-86F3-620BE127E294}" type="datetimeFigureOut">
              <a:rPr lang="en-US" smtClean="0"/>
              <a:t>11/27/20</a:t>
            </a:fld>
            <a:endParaRPr lang="en-US"/>
          </a:p>
        </p:txBody>
      </p:sp>
      <p:sp>
        <p:nvSpPr>
          <p:cNvPr id="5" name="Footer Placeholder 4">
            <a:extLst>
              <a:ext uri="{FF2B5EF4-FFF2-40B4-BE49-F238E27FC236}">
                <a16:creationId xmlns:a16="http://schemas.microsoft.com/office/drawing/2014/main" id="{20311642-E85B-CC46-83B1-1CEE241BB7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FA899AD-7C11-044F-B1F2-31F974CA9F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A5A341-7FBF-DF4A-9F61-AC8BA1DC2C2D}" type="slidenum">
              <a:rPr lang="en-US" smtClean="0"/>
              <a:t>‹#›</a:t>
            </a:fld>
            <a:endParaRPr lang="en-US"/>
          </a:p>
        </p:txBody>
      </p:sp>
    </p:spTree>
    <p:extLst>
      <p:ext uri="{BB962C8B-B14F-4D97-AF65-F5344CB8AC3E}">
        <p14:creationId xmlns:p14="http://schemas.microsoft.com/office/powerpoint/2010/main" val="20819949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5400"/>
              <a:buFont typeface="Calibri"/>
              <a:buNone/>
            </a:pPr>
            <a:r>
              <a:rPr lang="en-US" sz="5400" dirty="0"/>
              <a:t>Modelling Neutral and Non-Neutral Mechanisms of Community Assembly</a:t>
            </a:r>
            <a:endParaRPr dirty="0"/>
          </a:p>
        </p:txBody>
      </p:sp>
      <p:sp>
        <p:nvSpPr>
          <p:cNvPr id="85" name="Google Shape;85;p1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2400"/>
              <a:buNone/>
            </a:pPr>
            <a:r>
              <a:rPr lang="en-US"/>
              <a:t>Amy Solman</a:t>
            </a:r>
            <a:endParaRPr/>
          </a:p>
        </p:txBody>
      </p:sp>
    </p:spTree>
    <p:extLst>
      <p:ext uri="{BB962C8B-B14F-4D97-AF65-F5344CB8AC3E}">
        <p14:creationId xmlns:p14="http://schemas.microsoft.com/office/powerpoint/2010/main" val="2113042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a:t>Inferring Ecological Stochasticity (adapted from Zhou, 2017)</a:t>
            </a:r>
            <a:endParaRPr/>
          </a:p>
        </p:txBody>
      </p:sp>
      <p:sp>
        <p:nvSpPr>
          <p:cNvPr id="91" name="Google Shape;91;p14"/>
          <p:cNvSpPr txBox="1">
            <a:spLocks noGrp="1"/>
          </p:cNvSpPr>
          <p:nvPr>
            <p:ph type="body" idx="1"/>
          </p:nvPr>
        </p:nvSpPr>
        <p:spPr>
          <a:xfrm>
            <a:off x="838200" y="1825625"/>
            <a:ext cx="10515600" cy="86787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000"/>
              <a:buNone/>
            </a:pPr>
            <a:r>
              <a:rPr lang="en-US" sz="2000"/>
              <a:t>What methods can we use to understand the extent to which dispersal, drift and diversification are driving community assembly?</a:t>
            </a:r>
            <a:endParaRPr/>
          </a:p>
        </p:txBody>
      </p:sp>
      <p:grpSp>
        <p:nvGrpSpPr>
          <p:cNvPr id="92" name="Google Shape;92;p14"/>
          <p:cNvGrpSpPr/>
          <p:nvPr/>
        </p:nvGrpSpPr>
        <p:grpSpPr>
          <a:xfrm>
            <a:off x="3419118" y="2411854"/>
            <a:ext cx="5103075" cy="4199830"/>
            <a:chOff x="1069066" y="1499"/>
            <a:chExt cx="5103075" cy="4199830"/>
          </a:xfrm>
        </p:grpSpPr>
        <p:sp>
          <p:nvSpPr>
            <p:cNvPr id="93" name="Google Shape;93;p14"/>
            <p:cNvSpPr/>
            <p:nvPr/>
          </p:nvSpPr>
          <p:spPr>
            <a:xfrm>
              <a:off x="2600541" y="1499"/>
              <a:ext cx="2040125" cy="1326081"/>
            </a:xfrm>
            <a:prstGeom prst="roundRect">
              <a:avLst>
                <a:gd name="adj" fmla="val 16667"/>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14"/>
            <p:cNvSpPr txBox="1"/>
            <p:nvPr/>
          </p:nvSpPr>
          <p:spPr>
            <a:xfrm>
              <a:off x="2665275" y="66233"/>
              <a:ext cx="1975391" cy="1196613"/>
            </a:xfrm>
            <a:prstGeom prst="rect">
              <a:avLst/>
            </a:prstGeom>
            <a:noFill/>
            <a:ln>
              <a:noFill/>
            </a:ln>
          </p:spPr>
          <p:txBody>
            <a:bodyPr spcFirstLastPara="1" wrap="square" lIns="102850" tIns="102850" rIns="102850" bIns="102850" anchor="ctr" anchorCtr="0">
              <a:noAutofit/>
            </a:bodyPr>
            <a:lstStyle/>
            <a:p>
              <a:pPr marL="0" marR="0" lvl="0" indent="0" algn="ctr" rtl="0">
                <a:lnSpc>
                  <a:spcPct val="90000"/>
                </a:lnSpc>
                <a:spcBef>
                  <a:spcPts val="0"/>
                </a:spcBef>
                <a:spcAft>
                  <a:spcPts val="0"/>
                </a:spcAft>
                <a:buClr>
                  <a:schemeClr val="lt1"/>
                </a:buClr>
                <a:buSzPts val="2700"/>
                <a:buFont typeface="Calibri"/>
                <a:buNone/>
              </a:pPr>
              <a:r>
                <a:rPr lang="en-US" sz="2700" b="0" i="0" u="none" strike="noStrike" cap="none">
                  <a:solidFill>
                    <a:schemeClr val="lt1"/>
                  </a:solidFill>
                  <a:latin typeface="Calibri"/>
                  <a:ea typeface="Calibri"/>
                  <a:cs typeface="Calibri"/>
                  <a:sym typeface="Calibri"/>
                </a:rPr>
                <a:t>Multivariate Analysis</a:t>
              </a:r>
              <a:endParaRPr sz="1400" b="0" i="0" u="none" strike="noStrike" cap="none">
                <a:solidFill>
                  <a:srgbClr val="000000"/>
                </a:solidFill>
                <a:latin typeface="Arial"/>
                <a:ea typeface="Arial"/>
                <a:cs typeface="Arial"/>
                <a:sym typeface="Arial"/>
              </a:endParaRPr>
            </a:p>
          </p:txBody>
        </p:sp>
        <p:sp>
          <p:nvSpPr>
            <p:cNvPr id="95" name="Google Shape;95;p14"/>
            <p:cNvSpPr/>
            <p:nvPr/>
          </p:nvSpPr>
          <p:spPr>
            <a:xfrm>
              <a:off x="1852209" y="664540"/>
              <a:ext cx="3536789" cy="3536789"/>
            </a:xfrm>
            <a:custGeom>
              <a:avLst/>
              <a:gdLst/>
              <a:ahLst/>
              <a:cxnLst/>
              <a:rect l="l" t="t" r="r" b="b"/>
              <a:pathLst>
                <a:path w="120000" h="120000" extrusionOk="0">
                  <a:moveTo>
                    <a:pt x="95112" y="11347"/>
                  </a:moveTo>
                  <a:lnTo>
                    <a:pt x="95112" y="11347"/>
                  </a:lnTo>
                  <a:cubicBezTo>
                    <a:pt x="112730" y="24062"/>
                    <a:pt x="122098" y="45307"/>
                    <a:pt x="119603" y="66890"/>
                  </a:cubicBezTo>
                </a:path>
              </a:pathLst>
            </a:custGeom>
            <a:noFill/>
            <a:ln w="9525" cap="flat" cmpd="sng">
              <a:solidFill>
                <a:schemeClr val="accent4"/>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14"/>
            <p:cNvSpPr/>
            <p:nvPr/>
          </p:nvSpPr>
          <p:spPr>
            <a:xfrm>
              <a:off x="4132016" y="2654091"/>
              <a:ext cx="2040125" cy="1326081"/>
            </a:xfrm>
            <a:prstGeom prst="roundRect">
              <a:avLst>
                <a:gd name="adj" fmla="val 16667"/>
              </a:avLst>
            </a:prstGeom>
            <a:solidFill>
              <a:srgbClr val="2EE84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14"/>
            <p:cNvSpPr txBox="1"/>
            <p:nvPr/>
          </p:nvSpPr>
          <p:spPr>
            <a:xfrm>
              <a:off x="4196750" y="2718825"/>
              <a:ext cx="1910657" cy="1196613"/>
            </a:xfrm>
            <a:prstGeom prst="rect">
              <a:avLst/>
            </a:prstGeom>
            <a:noFill/>
            <a:ln>
              <a:noFill/>
            </a:ln>
          </p:spPr>
          <p:txBody>
            <a:bodyPr spcFirstLastPara="1" wrap="square" lIns="102850" tIns="102850" rIns="102850" bIns="102850" anchor="ctr" anchorCtr="0">
              <a:noAutofit/>
            </a:bodyPr>
            <a:lstStyle/>
            <a:p>
              <a:pPr marL="0" marR="0" lvl="0" indent="0" algn="ctr" rtl="0">
                <a:lnSpc>
                  <a:spcPct val="90000"/>
                </a:lnSpc>
                <a:spcBef>
                  <a:spcPts val="0"/>
                </a:spcBef>
                <a:spcAft>
                  <a:spcPts val="0"/>
                </a:spcAft>
                <a:buClr>
                  <a:schemeClr val="lt1"/>
                </a:buClr>
                <a:buSzPts val="2700"/>
                <a:buFont typeface="Calibri"/>
                <a:buNone/>
              </a:pPr>
              <a:r>
                <a:rPr lang="en-US" sz="2700" b="0" i="0" u="none" strike="noStrike" cap="none">
                  <a:solidFill>
                    <a:schemeClr val="lt1"/>
                  </a:solidFill>
                  <a:latin typeface="Calibri"/>
                  <a:ea typeface="Calibri"/>
                  <a:cs typeface="Calibri"/>
                  <a:sym typeface="Calibri"/>
                </a:rPr>
                <a:t>Null Models</a:t>
              </a:r>
              <a:endParaRPr sz="1400" b="0" i="0" u="none" strike="noStrike" cap="none">
                <a:solidFill>
                  <a:srgbClr val="000000"/>
                </a:solidFill>
                <a:latin typeface="Arial"/>
                <a:ea typeface="Arial"/>
                <a:cs typeface="Arial"/>
                <a:sym typeface="Arial"/>
              </a:endParaRPr>
            </a:p>
          </p:txBody>
        </p:sp>
        <p:sp>
          <p:nvSpPr>
            <p:cNvPr id="98" name="Google Shape;98;p14"/>
            <p:cNvSpPr/>
            <p:nvPr/>
          </p:nvSpPr>
          <p:spPr>
            <a:xfrm>
              <a:off x="1852209" y="664540"/>
              <a:ext cx="3536789" cy="3536789"/>
            </a:xfrm>
            <a:custGeom>
              <a:avLst/>
              <a:gdLst/>
              <a:ahLst/>
              <a:cxnLst/>
              <a:rect l="l" t="t" r="r" b="b"/>
              <a:pathLst>
                <a:path w="120000" h="120000" extrusionOk="0">
                  <a:moveTo>
                    <a:pt x="88544" y="112775"/>
                  </a:moveTo>
                  <a:lnTo>
                    <a:pt x="88544" y="112775"/>
                  </a:lnTo>
                  <a:cubicBezTo>
                    <a:pt x="70734" y="122408"/>
                    <a:pt x="49266" y="122408"/>
                    <a:pt x="31456" y="112775"/>
                  </a:cubicBezTo>
                </a:path>
              </a:pathLst>
            </a:custGeom>
            <a:noFill/>
            <a:ln w="9525" cap="flat" cmpd="sng">
              <a:solidFill>
                <a:srgbClr val="2EE844"/>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14"/>
            <p:cNvSpPr/>
            <p:nvPr/>
          </p:nvSpPr>
          <p:spPr>
            <a:xfrm>
              <a:off x="1069066" y="2654091"/>
              <a:ext cx="2040125" cy="1326081"/>
            </a:xfrm>
            <a:prstGeom prst="roundRect">
              <a:avLst>
                <a:gd name="adj" fmla="val 16667"/>
              </a:avLst>
            </a:prstGeom>
            <a:solidFill>
              <a:srgbClr val="5999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14"/>
            <p:cNvSpPr txBox="1"/>
            <p:nvPr/>
          </p:nvSpPr>
          <p:spPr>
            <a:xfrm>
              <a:off x="1133800" y="2718825"/>
              <a:ext cx="1910657" cy="1196613"/>
            </a:xfrm>
            <a:prstGeom prst="rect">
              <a:avLst/>
            </a:prstGeom>
            <a:noFill/>
            <a:ln>
              <a:noFill/>
            </a:ln>
          </p:spPr>
          <p:txBody>
            <a:bodyPr spcFirstLastPara="1" wrap="square" lIns="102850" tIns="102850" rIns="102850" bIns="102850" anchor="ctr" anchorCtr="0">
              <a:noAutofit/>
            </a:bodyPr>
            <a:lstStyle/>
            <a:p>
              <a:pPr marL="0" marR="0" lvl="0" indent="0" algn="ctr" rtl="0">
                <a:lnSpc>
                  <a:spcPct val="90000"/>
                </a:lnSpc>
                <a:spcBef>
                  <a:spcPts val="0"/>
                </a:spcBef>
                <a:spcAft>
                  <a:spcPts val="0"/>
                </a:spcAft>
                <a:buClr>
                  <a:schemeClr val="lt1"/>
                </a:buClr>
                <a:buSzPts val="2700"/>
                <a:buFont typeface="Calibri"/>
                <a:buNone/>
              </a:pPr>
              <a:r>
                <a:rPr lang="en-US" sz="2700" b="0" i="0" u="none" strike="noStrike" cap="none">
                  <a:solidFill>
                    <a:schemeClr val="lt1"/>
                  </a:solidFill>
                  <a:latin typeface="Calibri"/>
                  <a:ea typeface="Calibri"/>
                  <a:cs typeface="Calibri"/>
                  <a:sym typeface="Calibri"/>
                </a:rPr>
                <a:t>Neutral Models</a:t>
              </a:r>
              <a:endParaRPr sz="1400" b="0" i="0" u="none" strike="noStrike" cap="none">
                <a:solidFill>
                  <a:srgbClr val="000000"/>
                </a:solidFill>
                <a:latin typeface="Arial"/>
                <a:ea typeface="Arial"/>
                <a:cs typeface="Arial"/>
                <a:sym typeface="Arial"/>
              </a:endParaRPr>
            </a:p>
          </p:txBody>
        </p:sp>
        <p:sp>
          <p:nvSpPr>
            <p:cNvPr id="101" name="Google Shape;101;p14"/>
            <p:cNvSpPr/>
            <p:nvPr/>
          </p:nvSpPr>
          <p:spPr>
            <a:xfrm>
              <a:off x="1852209" y="664540"/>
              <a:ext cx="3536789" cy="3536789"/>
            </a:xfrm>
            <a:custGeom>
              <a:avLst/>
              <a:gdLst/>
              <a:ahLst/>
              <a:cxnLst/>
              <a:rect l="l" t="t" r="r" b="b"/>
              <a:pathLst>
                <a:path w="120000" h="120000" extrusionOk="0">
                  <a:moveTo>
                    <a:pt x="397" y="66890"/>
                  </a:moveTo>
                  <a:lnTo>
                    <a:pt x="397" y="66890"/>
                  </a:lnTo>
                  <a:cubicBezTo>
                    <a:pt x="-2098" y="45307"/>
                    <a:pt x="7270" y="24061"/>
                    <a:pt x="24888" y="11347"/>
                  </a:cubicBezTo>
                </a:path>
              </a:pathLst>
            </a:custGeom>
            <a:noFill/>
            <a:ln w="9525" cap="flat" cmpd="sng">
              <a:solidFill>
                <a:srgbClr val="5999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294365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596AC-96F2-4E4B-B710-FC6CDF9E2B7F}"/>
              </a:ext>
            </a:extLst>
          </p:cNvPr>
          <p:cNvSpPr>
            <a:spLocks noGrp="1"/>
          </p:cNvSpPr>
          <p:nvPr>
            <p:ph type="title"/>
          </p:nvPr>
        </p:nvSpPr>
        <p:spPr>
          <a:solidFill>
            <a:schemeClr val="accent4">
              <a:lumMod val="60000"/>
              <a:lumOff val="40000"/>
            </a:schemeClr>
          </a:solidFill>
        </p:spPr>
        <p:txBody>
          <a:bodyPr/>
          <a:lstStyle/>
          <a:p>
            <a:r>
              <a:rPr lang="en-US" dirty="0"/>
              <a:t>Multivariate Analysis Summary</a:t>
            </a:r>
          </a:p>
        </p:txBody>
      </p:sp>
      <p:graphicFrame>
        <p:nvGraphicFramePr>
          <p:cNvPr id="4" name="Table 3">
            <a:extLst>
              <a:ext uri="{FF2B5EF4-FFF2-40B4-BE49-F238E27FC236}">
                <a16:creationId xmlns:a16="http://schemas.microsoft.com/office/drawing/2014/main" id="{D6B85D22-1F27-4D44-B7CE-C1ED21A5979A}"/>
              </a:ext>
            </a:extLst>
          </p:cNvPr>
          <p:cNvGraphicFramePr>
            <a:graphicFrameLocks noGrp="1"/>
          </p:cNvGraphicFramePr>
          <p:nvPr>
            <p:extLst>
              <p:ext uri="{D42A27DB-BD31-4B8C-83A1-F6EECF244321}">
                <p14:modId xmlns:p14="http://schemas.microsoft.com/office/powerpoint/2010/main" val="3237639244"/>
              </p:ext>
            </p:extLst>
          </p:nvPr>
        </p:nvGraphicFramePr>
        <p:xfrm>
          <a:off x="838200" y="1795634"/>
          <a:ext cx="10515600" cy="3139440"/>
        </p:xfrm>
        <a:graphic>
          <a:graphicData uri="http://schemas.openxmlformats.org/drawingml/2006/table">
            <a:tbl>
              <a:tblPr firstRow="1" bandRow="1">
                <a:tableStyleId>{775DCB02-9BB8-47FD-8907-85C794F793BA}</a:tableStyleId>
              </a:tblPr>
              <a:tblGrid>
                <a:gridCol w="4128346">
                  <a:extLst>
                    <a:ext uri="{9D8B030D-6E8A-4147-A177-3AD203B41FA5}">
                      <a16:colId xmlns:a16="http://schemas.microsoft.com/office/drawing/2014/main" val="2116320154"/>
                    </a:ext>
                  </a:extLst>
                </a:gridCol>
                <a:gridCol w="3622040">
                  <a:extLst>
                    <a:ext uri="{9D8B030D-6E8A-4147-A177-3AD203B41FA5}">
                      <a16:colId xmlns:a16="http://schemas.microsoft.com/office/drawing/2014/main" val="1054129734"/>
                    </a:ext>
                  </a:extLst>
                </a:gridCol>
                <a:gridCol w="2765214">
                  <a:extLst>
                    <a:ext uri="{9D8B030D-6E8A-4147-A177-3AD203B41FA5}">
                      <a16:colId xmlns:a16="http://schemas.microsoft.com/office/drawing/2014/main" val="1752613705"/>
                    </a:ext>
                  </a:extLst>
                </a:gridCol>
              </a:tblGrid>
              <a:tr h="370840">
                <a:tc>
                  <a:txBody>
                    <a:bodyPr/>
                    <a:lstStyle/>
                    <a:p>
                      <a:r>
                        <a:rPr lang="en-US" sz="1200" dirty="0"/>
                        <a:t>Type I: ﻿Direct comparisons of community structure differences between and within treatments (or different groups of communities in distinct environments)</a:t>
                      </a:r>
                    </a:p>
                  </a:txBody>
                  <a:tcPr/>
                </a:tc>
                <a:tc>
                  <a:txBody>
                    <a:bodyPr/>
                    <a:lstStyle/>
                    <a:p>
                      <a:r>
                        <a:rPr lang="en-US" sz="1200" dirty="0"/>
                        <a:t>Type II: ﻿Correlation-type analyses between community structure and environment variables</a:t>
                      </a:r>
                    </a:p>
                  </a:txBody>
                  <a:tcPr/>
                </a:tc>
                <a:tc>
                  <a:txBody>
                    <a:bodyPr/>
                    <a:lstStyle/>
                    <a:p>
                      <a:r>
                        <a:rPr lang="en-US" sz="1200" dirty="0"/>
                        <a:t>Type III: Variation-Partitioning Analysis</a:t>
                      </a:r>
                    </a:p>
                  </a:txBody>
                  <a:tcPr/>
                </a:tc>
                <a:extLst>
                  <a:ext uri="{0D108BD9-81ED-4DB2-BD59-A6C34878D82A}">
                    <a16:rowId xmlns:a16="http://schemas.microsoft.com/office/drawing/2014/main" val="4105608039"/>
                  </a:ext>
                </a:extLst>
              </a:tr>
              <a:tr h="370840">
                <a:tc>
                  <a:txBody>
                    <a:bodyPr/>
                    <a:lstStyle/>
                    <a:p>
                      <a:pPr marL="0" lvl="0" indent="0" algn="l" rtl="0">
                        <a:lnSpc>
                          <a:spcPct val="80000"/>
                        </a:lnSpc>
                        <a:spcBef>
                          <a:spcPts val="1000"/>
                        </a:spcBef>
                        <a:spcAft>
                          <a:spcPts val="0"/>
                        </a:spcAft>
                        <a:buClr>
                          <a:schemeClr val="dk1"/>
                        </a:buClr>
                        <a:buSzPts val="2590"/>
                        <a:buFont typeface="Calibri"/>
                        <a:buNone/>
                      </a:pPr>
                      <a:r>
                        <a:rPr lang="en-US" sz="1200" dirty="0"/>
                        <a:t>Permutational multivariate analysis of variance (PERMANOVA)</a:t>
                      </a:r>
                    </a:p>
                  </a:txBody>
                  <a:tcPr/>
                </a:tc>
                <a:tc>
                  <a:txBody>
                    <a:bodyPr/>
                    <a:lstStyle/>
                    <a:p>
                      <a:r>
                        <a:rPr lang="en-US" sz="1200" dirty="0"/>
                        <a:t>Mantel test</a:t>
                      </a:r>
                    </a:p>
                  </a:txBody>
                  <a:tcPr/>
                </a:tc>
                <a:tc>
                  <a:txBody>
                    <a:bodyPr/>
                    <a:lstStyle/>
                    <a:p>
                      <a:r>
                        <a:rPr lang="en-US" sz="1200" dirty="0"/>
                        <a:t>Raw-data-based direct approach (DIST)</a:t>
                      </a:r>
                    </a:p>
                  </a:txBody>
                  <a:tcPr/>
                </a:tc>
                <a:extLst>
                  <a:ext uri="{0D108BD9-81ED-4DB2-BD59-A6C34878D82A}">
                    <a16:rowId xmlns:a16="http://schemas.microsoft.com/office/drawing/2014/main" val="1480899794"/>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Analysis of similarities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Multiple regression on (dis)similarity matrices (MRM)</a:t>
                      </a:r>
                    </a:p>
                  </a:txBody>
                  <a:tcPr/>
                </a:tc>
                <a:tc>
                  <a:txBody>
                    <a:bodyPr/>
                    <a:lstStyle/>
                    <a:p>
                      <a:r>
                        <a:rPr lang="en-US" sz="1200" dirty="0"/>
                        <a:t>Distance- based indirect approach</a:t>
                      </a:r>
                    </a:p>
                  </a:txBody>
                  <a:tcPr/>
                </a:tc>
                <a:extLst>
                  <a:ext uri="{0D108BD9-81ED-4DB2-BD59-A6C34878D82A}">
                    <a16:rowId xmlns:a16="http://schemas.microsoft.com/office/drawing/2014/main" val="81522602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Permutational analysis of multivariate dispersions (PERNDISP)</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Redundancy analysis (RDA)</a:t>
                      </a:r>
                    </a:p>
                  </a:txBody>
                  <a:tcPr/>
                </a:tc>
                <a:tc>
                  <a:txBody>
                    <a:bodyPr/>
                    <a:lstStyle/>
                    <a:p>
                      <a:endParaRPr lang="en-US" sz="1200"/>
                    </a:p>
                  </a:txBody>
                  <a:tcPr/>
                </a:tc>
                <a:extLst>
                  <a:ext uri="{0D108BD9-81ED-4DB2-BD59-A6C34878D82A}">
                    <a16:rowId xmlns:a16="http://schemas.microsoft.com/office/drawing/2014/main" val="3333447541"/>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Principal-coordination analysis (</a:t>
                      </a:r>
                      <a:r>
                        <a:rPr lang="en-US" sz="1200" dirty="0" err="1"/>
                        <a:t>PCoA</a:t>
                      </a:r>
                      <a:r>
                        <a:rPr lang="en-US" sz="1200" dirty="0"/>
                        <a:t>)</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Canonical correspondence analysis (CCA)</a:t>
                      </a:r>
                    </a:p>
                  </a:txBody>
                  <a:tcPr/>
                </a:tc>
                <a:tc>
                  <a:txBody>
                    <a:bodyPr/>
                    <a:lstStyle/>
                    <a:p>
                      <a:endParaRPr lang="en-US" sz="1200"/>
                    </a:p>
                  </a:txBody>
                  <a:tcPr/>
                </a:tc>
                <a:extLst>
                  <a:ext uri="{0D108BD9-81ED-4DB2-BD59-A6C34878D82A}">
                    <a16:rowId xmlns:a16="http://schemas.microsoft.com/office/drawing/2014/main" val="1247083519"/>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Nonmetric multidimensional scaling (NMDS)</a:t>
                      </a:r>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570440758"/>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Principal-component analysis (PCA)</a:t>
                      </a:r>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367009081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Detrended correspondence analysis (DCA)</a:t>
                      </a:r>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137632332"/>
                  </a:ext>
                </a:extLst>
              </a:tr>
            </a:tbl>
          </a:graphicData>
        </a:graphic>
      </p:graphicFrame>
      <p:sp>
        <p:nvSpPr>
          <p:cNvPr id="6" name="TextBox 5">
            <a:extLst>
              <a:ext uri="{FF2B5EF4-FFF2-40B4-BE49-F238E27FC236}">
                <a16:creationId xmlns:a16="http://schemas.microsoft.com/office/drawing/2014/main" id="{E21922C8-1E61-B94E-91F7-9C5F13D4B66B}"/>
              </a:ext>
            </a:extLst>
          </p:cNvPr>
          <p:cNvSpPr txBox="1"/>
          <p:nvPr/>
        </p:nvSpPr>
        <p:spPr>
          <a:xfrm>
            <a:off x="4855779" y="5053669"/>
            <a:ext cx="3930869" cy="600164"/>
          </a:xfrm>
          <a:prstGeom prst="rect">
            <a:avLst/>
          </a:prstGeom>
          <a:noFill/>
        </p:spPr>
        <p:txBody>
          <a:bodyPr wrap="square" rtlCol="0">
            <a:spAutoFit/>
          </a:bodyPr>
          <a:lstStyle/>
          <a:p>
            <a:r>
              <a:rPr lang="en-US" sz="1100" dirty="0"/>
              <a:t>Proportion of structure variation that can be explained by environmental variables through correlation = deterministic, remaining proportion = stochastic</a:t>
            </a:r>
          </a:p>
        </p:txBody>
      </p:sp>
      <p:sp>
        <p:nvSpPr>
          <p:cNvPr id="7" name="TextBox 6">
            <a:extLst>
              <a:ext uri="{FF2B5EF4-FFF2-40B4-BE49-F238E27FC236}">
                <a16:creationId xmlns:a16="http://schemas.microsoft.com/office/drawing/2014/main" id="{AC6095A7-37E7-254D-9F82-E519C7D4DD3B}"/>
              </a:ext>
            </a:extLst>
          </p:cNvPr>
          <p:cNvSpPr txBox="1"/>
          <p:nvPr/>
        </p:nvSpPr>
        <p:spPr>
          <a:xfrm>
            <a:off x="838200" y="5040020"/>
            <a:ext cx="4017579" cy="600164"/>
          </a:xfrm>
          <a:prstGeom prst="rect">
            <a:avLst/>
          </a:prstGeom>
          <a:noFill/>
        </p:spPr>
        <p:txBody>
          <a:bodyPr wrap="square" rtlCol="0">
            <a:spAutoFit/>
          </a:bodyPr>
          <a:lstStyle/>
          <a:p>
            <a:r>
              <a:rPr lang="en-US" sz="1100" dirty="0"/>
              <a:t>If within treatment communities are very similar and between treatment communities are different = deterministic mechanisms (doesn’t say much for stochastic)</a:t>
            </a:r>
          </a:p>
        </p:txBody>
      </p:sp>
      <p:sp>
        <p:nvSpPr>
          <p:cNvPr id="8" name="TextBox 7">
            <a:extLst>
              <a:ext uri="{FF2B5EF4-FFF2-40B4-BE49-F238E27FC236}">
                <a16:creationId xmlns:a16="http://schemas.microsoft.com/office/drawing/2014/main" id="{62F95567-AAB9-864D-8DF5-39D5546D8361}"/>
              </a:ext>
            </a:extLst>
          </p:cNvPr>
          <p:cNvSpPr txBox="1"/>
          <p:nvPr/>
        </p:nvSpPr>
        <p:spPr>
          <a:xfrm>
            <a:off x="8577470" y="5040020"/>
            <a:ext cx="2776331" cy="769441"/>
          </a:xfrm>
          <a:prstGeom prst="rect">
            <a:avLst/>
          </a:prstGeom>
          <a:noFill/>
        </p:spPr>
        <p:txBody>
          <a:bodyPr wrap="square" rtlCol="0">
            <a:spAutoFit/>
          </a:bodyPr>
          <a:lstStyle/>
          <a:p>
            <a:r>
              <a:rPr lang="en-US" sz="1100" dirty="0"/>
              <a:t>Control geographic distance, find </a:t>
            </a:r>
            <a:r>
              <a:rPr lang="en-US" sz="1100" dirty="0" err="1"/>
              <a:t>corr</a:t>
            </a:r>
            <a:r>
              <a:rPr lang="en-US" sz="1100" dirty="0"/>
              <a:t> between environment/structure = enviro effect. Control environment, find </a:t>
            </a:r>
            <a:r>
              <a:rPr lang="en-US" sz="1100" dirty="0" err="1"/>
              <a:t>corr</a:t>
            </a:r>
            <a:r>
              <a:rPr lang="en-US" sz="1100" dirty="0"/>
              <a:t> between distance/structure = distance effect</a:t>
            </a:r>
          </a:p>
        </p:txBody>
      </p:sp>
      <p:sp>
        <p:nvSpPr>
          <p:cNvPr id="9" name="TextBox 8">
            <a:extLst>
              <a:ext uri="{FF2B5EF4-FFF2-40B4-BE49-F238E27FC236}">
                <a16:creationId xmlns:a16="http://schemas.microsoft.com/office/drawing/2014/main" id="{A184DD65-15AF-C648-9AC0-8F34EBCC856F}"/>
              </a:ext>
            </a:extLst>
          </p:cNvPr>
          <p:cNvSpPr txBox="1"/>
          <p:nvPr/>
        </p:nvSpPr>
        <p:spPr>
          <a:xfrm>
            <a:off x="838200" y="5809461"/>
            <a:ext cx="10515600" cy="830997"/>
          </a:xfrm>
          <a:prstGeom prst="rect">
            <a:avLst/>
          </a:prstGeom>
          <a:solidFill>
            <a:schemeClr val="accent4">
              <a:lumMod val="60000"/>
              <a:lumOff val="40000"/>
            </a:schemeClr>
          </a:solidFill>
        </p:spPr>
        <p:txBody>
          <a:bodyPr wrap="square" rtlCol="0">
            <a:spAutoFit/>
          </a:bodyPr>
          <a:lstStyle/>
          <a:p>
            <a:r>
              <a:rPr lang="en-US" sz="1200" dirty="0"/>
              <a:t>Problems: Type I usually applied with null model analysis (observed vs null expectations). Type II different processes (selection/dispersal) could produce similar patterns. Type III distance effect could also be due to other spatial effects or drift and unexplained variation could be due to unmeasured enviro variables, biotic interactions, drift </a:t>
            </a:r>
            <a:r>
              <a:rPr lang="en-US" sz="1200" dirty="0" err="1"/>
              <a:t>etc</a:t>
            </a:r>
            <a:r>
              <a:rPr lang="en-US" sz="1200" dirty="0"/>
              <a:t> + recent simulations shown it fails to make accurate predictions. General issues with unmeasured environmental variables causing distance effect to be over estimated. </a:t>
            </a:r>
            <a:r>
              <a:rPr lang="en-US" sz="1200" b="1" dirty="0"/>
              <a:t>Use MVA as exploratory tool with neutral and null approaches.</a:t>
            </a:r>
          </a:p>
        </p:txBody>
      </p:sp>
    </p:spTree>
    <p:extLst>
      <p:ext uri="{BB962C8B-B14F-4D97-AF65-F5344CB8AC3E}">
        <p14:creationId xmlns:p14="http://schemas.microsoft.com/office/powerpoint/2010/main" val="1101724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F5DFA-3140-3246-AB44-758088D2C105}"/>
              </a:ext>
            </a:extLst>
          </p:cNvPr>
          <p:cNvSpPr>
            <a:spLocks noGrp="1"/>
          </p:cNvSpPr>
          <p:nvPr>
            <p:ph type="title"/>
          </p:nvPr>
        </p:nvSpPr>
        <p:spPr>
          <a:solidFill>
            <a:schemeClr val="accent5">
              <a:lumMod val="60000"/>
              <a:lumOff val="40000"/>
            </a:schemeClr>
          </a:solidFill>
        </p:spPr>
        <p:txBody>
          <a:bodyPr/>
          <a:lstStyle/>
          <a:p>
            <a:r>
              <a:rPr lang="en-US" dirty="0"/>
              <a:t>Neutral Model Summary</a:t>
            </a:r>
          </a:p>
        </p:txBody>
      </p:sp>
      <p:graphicFrame>
        <p:nvGraphicFramePr>
          <p:cNvPr id="4" name="Table 3">
            <a:extLst>
              <a:ext uri="{FF2B5EF4-FFF2-40B4-BE49-F238E27FC236}">
                <a16:creationId xmlns:a16="http://schemas.microsoft.com/office/drawing/2014/main" id="{868FCB4C-AADB-074F-BF1A-75C7FF47F686}"/>
              </a:ext>
            </a:extLst>
          </p:cNvPr>
          <p:cNvGraphicFramePr>
            <a:graphicFrameLocks noGrp="1"/>
          </p:cNvGraphicFramePr>
          <p:nvPr>
            <p:extLst>
              <p:ext uri="{D42A27DB-BD31-4B8C-83A1-F6EECF244321}">
                <p14:modId xmlns:p14="http://schemas.microsoft.com/office/powerpoint/2010/main" val="3771204321"/>
              </p:ext>
            </p:extLst>
          </p:nvPr>
        </p:nvGraphicFramePr>
        <p:xfrm>
          <a:off x="838199" y="1752611"/>
          <a:ext cx="4321066" cy="1112520"/>
        </p:xfrm>
        <a:graphic>
          <a:graphicData uri="http://schemas.openxmlformats.org/drawingml/2006/table">
            <a:tbl>
              <a:tblPr firstRow="1" bandRow="1">
                <a:tableStyleId>{35758FB7-9AC5-4552-8A53-C91805E547FA}</a:tableStyleId>
              </a:tblPr>
              <a:tblGrid>
                <a:gridCol w="2015060">
                  <a:extLst>
                    <a:ext uri="{9D8B030D-6E8A-4147-A177-3AD203B41FA5}">
                      <a16:colId xmlns:a16="http://schemas.microsoft.com/office/drawing/2014/main" val="2964691957"/>
                    </a:ext>
                  </a:extLst>
                </a:gridCol>
                <a:gridCol w="2306006">
                  <a:extLst>
                    <a:ext uri="{9D8B030D-6E8A-4147-A177-3AD203B41FA5}">
                      <a16:colId xmlns:a16="http://schemas.microsoft.com/office/drawing/2014/main" val="1935236460"/>
                    </a:ext>
                  </a:extLst>
                </a:gridCol>
              </a:tblGrid>
              <a:tr h="370840">
                <a:tc>
                  <a:txBody>
                    <a:bodyPr/>
                    <a:lstStyle/>
                    <a:p>
                      <a:r>
                        <a:rPr lang="en-US" sz="1200" dirty="0"/>
                        <a:t>Spatially Implicit</a:t>
                      </a:r>
                    </a:p>
                  </a:txBody>
                  <a:tcPr/>
                </a:tc>
                <a:tc>
                  <a:txBody>
                    <a:bodyPr/>
                    <a:lstStyle/>
                    <a:p>
                      <a:r>
                        <a:rPr lang="en-US" sz="1200" dirty="0"/>
                        <a:t>Spatially Explicit</a:t>
                      </a:r>
                    </a:p>
                  </a:txBody>
                  <a:tcPr/>
                </a:tc>
                <a:extLst>
                  <a:ext uri="{0D108BD9-81ED-4DB2-BD59-A6C34878D82A}">
                    <a16:rowId xmlns:a16="http://schemas.microsoft.com/office/drawing/2014/main" val="1357909005"/>
                  </a:ext>
                </a:extLst>
              </a:tr>
              <a:tr h="370840">
                <a:tc>
                  <a:txBody>
                    <a:bodyPr/>
                    <a:lstStyle/>
                    <a:p>
                      <a:r>
                        <a:rPr lang="en-US" sz="1200" dirty="0"/>
                        <a:t>Hubbell’s Neutral Model</a:t>
                      </a:r>
                    </a:p>
                  </a:txBody>
                  <a:tcPr/>
                </a:tc>
                <a:tc>
                  <a:txBody>
                    <a:bodyPr/>
                    <a:lstStyle/>
                    <a:p>
                      <a:r>
                        <a:rPr lang="en-US" sz="1200" dirty="0" err="1"/>
                        <a:t>Rosindell</a:t>
                      </a:r>
                      <a:r>
                        <a:rPr lang="en-US" sz="1200" dirty="0"/>
                        <a:t> et al. (2008, 2013)</a:t>
                      </a:r>
                    </a:p>
                  </a:txBody>
                  <a:tcPr/>
                </a:tc>
                <a:extLst>
                  <a:ext uri="{0D108BD9-81ED-4DB2-BD59-A6C34878D82A}">
                    <a16:rowId xmlns:a16="http://schemas.microsoft.com/office/drawing/2014/main" val="4260153101"/>
                  </a:ext>
                </a:extLst>
              </a:tr>
              <a:tr h="370840">
                <a:tc>
                  <a:txBody>
                    <a:bodyPr/>
                    <a:lstStyle/>
                    <a:p>
                      <a:endParaRPr lang="en-US" sz="1200" dirty="0"/>
                    </a:p>
                  </a:txBody>
                  <a:tcPr/>
                </a:tc>
                <a:tc>
                  <a:txBody>
                    <a:bodyPr/>
                    <a:lstStyle/>
                    <a:p>
                      <a:r>
                        <a:rPr lang="en-US" sz="1200" dirty="0"/>
                        <a:t>Sloan et al. (2006, 2007)</a:t>
                      </a:r>
                    </a:p>
                  </a:txBody>
                  <a:tcPr/>
                </a:tc>
                <a:extLst>
                  <a:ext uri="{0D108BD9-81ED-4DB2-BD59-A6C34878D82A}">
                    <a16:rowId xmlns:a16="http://schemas.microsoft.com/office/drawing/2014/main" val="2213952008"/>
                  </a:ext>
                </a:extLst>
              </a:tr>
            </a:tbl>
          </a:graphicData>
        </a:graphic>
      </p:graphicFrame>
      <p:sp>
        <p:nvSpPr>
          <p:cNvPr id="5" name="TextBox 4">
            <a:extLst>
              <a:ext uri="{FF2B5EF4-FFF2-40B4-BE49-F238E27FC236}">
                <a16:creationId xmlns:a16="http://schemas.microsoft.com/office/drawing/2014/main" id="{381520F1-5778-AC43-AA28-5778A7896AC8}"/>
              </a:ext>
            </a:extLst>
          </p:cNvPr>
          <p:cNvSpPr txBox="1"/>
          <p:nvPr/>
        </p:nvSpPr>
        <p:spPr>
          <a:xfrm>
            <a:off x="867104" y="2823136"/>
            <a:ext cx="1961931" cy="1231106"/>
          </a:xfrm>
          <a:prstGeom prst="rect">
            <a:avLst/>
          </a:prstGeom>
          <a:noFill/>
        </p:spPr>
        <p:txBody>
          <a:bodyPr wrap="square" rtlCol="0">
            <a:spAutoFit/>
          </a:bodyPr>
          <a:lstStyle/>
          <a:p>
            <a:r>
              <a:rPr lang="en-US" sz="1200" dirty="0"/>
              <a:t>Dispersal only occurs between two distinct spatial scales, from the metacommunity to each local community</a:t>
            </a:r>
          </a:p>
          <a:p>
            <a:endParaRPr lang="en-US" sz="1200" dirty="0"/>
          </a:p>
        </p:txBody>
      </p:sp>
      <p:sp>
        <p:nvSpPr>
          <p:cNvPr id="6" name="TextBox 5">
            <a:extLst>
              <a:ext uri="{FF2B5EF4-FFF2-40B4-BE49-F238E27FC236}">
                <a16:creationId xmlns:a16="http://schemas.microsoft.com/office/drawing/2014/main" id="{B5B7C1A3-AD5E-2549-A366-BE193BB9496C}"/>
              </a:ext>
            </a:extLst>
          </p:cNvPr>
          <p:cNvSpPr txBox="1"/>
          <p:nvPr/>
        </p:nvSpPr>
        <p:spPr>
          <a:xfrm>
            <a:off x="2899541" y="2864742"/>
            <a:ext cx="2259724" cy="830997"/>
          </a:xfrm>
          <a:prstGeom prst="rect">
            <a:avLst/>
          </a:prstGeom>
          <a:noFill/>
        </p:spPr>
        <p:txBody>
          <a:bodyPr wrap="square" rtlCol="0">
            <a:spAutoFit/>
          </a:bodyPr>
          <a:lstStyle/>
          <a:p>
            <a:r>
              <a:rPr lang="en-US" sz="1200" dirty="0"/>
              <a:t>Dispersal occurs in multiscale structures, for instance, as migration between cells in a 2D grid</a:t>
            </a:r>
          </a:p>
        </p:txBody>
      </p:sp>
      <p:graphicFrame>
        <p:nvGraphicFramePr>
          <p:cNvPr id="7" name="Table 6">
            <a:extLst>
              <a:ext uri="{FF2B5EF4-FFF2-40B4-BE49-F238E27FC236}">
                <a16:creationId xmlns:a16="http://schemas.microsoft.com/office/drawing/2014/main" id="{BFA227E4-F871-FE4A-948C-9B139C25DDB8}"/>
              </a:ext>
            </a:extLst>
          </p:cNvPr>
          <p:cNvGraphicFramePr>
            <a:graphicFrameLocks noGrp="1"/>
          </p:cNvGraphicFramePr>
          <p:nvPr>
            <p:extLst>
              <p:ext uri="{D42A27DB-BD31-4B8C-83A1-F6EECF244321}">
                <p14:modId xmlns:p14="http://schemas.microsoft.com/office/powerpoint/2010/main" val="2606032549"/>
              </p:ext>
            </p:extLst>
          </p:nvPr>
        </p:nvGraphicFramePr>
        <p:xfrm>
          <a:off x="5229771" y="1749318"/>
          <a:ext cx="6124029" cy="1752600"/>
        </p:xfrm>
        <a:graphic>
          <a:graphicData uri="http://schemas.openxmlformats.org/drawingml/2006/table">
            <a:tbl>
              <a:tblPr firstRow="1" bandRow="1">
                <a:tableStyleId>{35758FB7-9AC5-4552-8A53-C91805E547FA}</a:tableStyleId>
              </a:tblPr>
              <a:tblGrid>
                <a:gridCol w="2350815">
                  <a:extLst>
                    <a:ext uri="{9D8B030D-6E8A-4147-A177-3AD203B41FA5}">
                      <a16:colId xmlns:a16="http://schemas.microsoft.com/office/drawing/2014/main" val="379645592"/>
                    </a:ext>
                  </a:extLst>
                </a:gridCol>
                <a:gridCol w="3773214">
                  <a:extLst>
                    <a:ext uri="{9D8B030D-6E8A-4147-A177-3AD203B41FA5}">
                      <a16:colId xmlns:a16="http://schemas.microsoft.com/office/drawing/2014/main" val="1601077295"/>
                    </a:ext>
                  </a:extLst>
                </a:gridCol>
              </a:tblGrid>
              <a:tr h="370840">
                <a:tc>
                  <a:txBody>
                    <a:bodyPr/>
                    <a:lstStyle/>
                    <a:p>
                      <a:r>
                        <a:rPr lang="en-US" sz="1200" dirty="0"/>
                        <a:t>Assumptions</a:t>
                      </a:r>
                    </a:p>
                  </a:txBody>
                  <a:tcPr/>
                </a:tc>
                <a:tc>
                  <a:txBody>
                    <a:bodyPr/>
                    <a:lstStyle/>
                    <a:p>
                      <a:endParaRPr lang="en-US" sz="1200" dirty="0"/>
                    </a:p>
                  </a:txBody>
                  <a:tcPr/>
                </a:tc>
                <a:extLst>
                  <a:ext uri="{0D108BD9-81ED-4DB2-BD59-A6C34878D82A}">
                    <a16:rowId xmlns:a16="http://schemas.microsoft.com/office/drawing/2014/main" val="1498447470"/>
                  </a:ext>
                </a:extLst>
              </a:tr>
              <a:tr h="370840">
                <a:tc>
                  <a:txBody>
                    <a:bodyPr/>
                    <a:lstStyle/>
                    <a:p>
                      <a:r>
                        <a:rPr lang="en-US" sz="1200" dirty="0"/>
                        <a:t>The neutrality assumption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Functional equivalence among different species</a:t>
                      </a:r>
                    </a:p>
                  </a:txBody>
                  <a:tcPr/>
                </a:tc>
                <a:extLst>
                  <a:ext uri="{0D108BD9-81ED-4DB2-BD59-A6C34878D82A}">
                    <a16:rowId xmlns:a16="http://schemas.microsoft.com/office/drawing/2014/main" val="4160065304"/>
                  </a:ext>
                </a:extLst>
              </a:tr>
              <a:tr h="370840">
                <a:tc>
                  <a:txBody>
                    <a:bodyPr/>
                    <a:lstStyle/>
                    <a:p>
                      <a:r>
                        <a:rPr lang="en-US" sz="1200" dirty="0"/>
                        <a:t>The point mutation assumption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Speciation takes place by point mutation</a:t>
                      </a:r>
                    </a:p>
                  </a:txBody>
                  <a:tcPr/>
                </a:tc>
                <a:extLst>
                  <a:ext uri="{0D108BD9-81ED-4DB2-BD59-A6C34878D82A}">
                    <a16:rowId xmlns:a16="http://schemas.microsoft.com/office/drawing/2014/main" val="3700922787"/>
                  </a:ext>
                </a:extLst>
              </a:tr>
              <a:tr h="370840">
                <a:tc>
                  <a:txBody>
                    <a:bodyPr/>
                    <a:lstStyle/>
                    <a:p>
                      <a:r>
                        <a:rPr lang="en-US" sz="1200" dirty="0"/>
                        <a:t>The zero-sum assumption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For every death there is a corresponding birth i.e. the community size does not change (some models relax this)</a:t>
                      </a:r>
                    </a:p>
                    <a:p>
                      <a:endParaRPr lang="en-US" sz="1200" dirty="0"/>
                    </a:p>
                  </a:txBody>
                  <a:tcPr/>
                </a:tc>
                <a:extLst>
                  <a:ext uri="{0D108BD9-81ED-4DB2-BD59-A6C34878D82A}">
                    <a16:rowId xmlns:a16="http://schemas.microsoft.com/office/drawing/2014/main" val="954982013"/>
                  </a:ext>
                </a:extLst>
              </a:tr>
            </a:tbl>
          </a:graphicData>
        </a:graphic>
      </p:graphicFrame>
      <mc:AlternateContent xmlns:mc="http://schemas.openxmlformats.org/markup-compatibility/2006">
        <mc:Choice xmlns:a14="http://schemas.microsoft.com/office/drawing/2010/main" Requires="a14">
          <p:graphicFrame>
            <p:nvGraphicFramePr>
              <p:cNvPr id="9" name="Table 8">
                <a:extLst>
                  <a:ext uri="{FF2B5EF4-FFF2-40B4-BE49-F238E27FC236}">
                    <a16:creationId xmlns:a16="http://schemas.microsoft.com/office/drawing/2014/main" id="{E925E23C-DA1F-CE41-BE33-95489FA45533}"/>
                  </a:ext>
                </a:extLst>
              </p:cNvPr>
              <p:cNvGraphicFramePr>
                <a:graphicFrameLocks noGrp="1"/>
              </p:cNvGraphicFramePr>
              <p:nvPr>
                <p:extLst>
                  <p:ext uri="{D42A27DB-BD31-4B8C-83A1-F6EECF244321}">
                    <p14:modId xmlns:p14="http://schemas.microsoft.com/office/powerpoint/2010/main" val="431823240"/>
                  </p:ext>
                </p:extLst>
              </p:nvPr>
            </p:nvGraphicFramePr>
            <p:xfrm>
              <a:off x="838199" y="3901401"/>
              <a:ext cx="4321066" cy="1550652"/>
            </p:xfrm>
            <a:graphic>
              <a:graphicData uri="http://schemas.openxmlformats.org/drawingml/2006/table">
                <a:tbl>
                  <a:tblPr firstRow="1" bandRow="1">
                    <a:tableStyleId>{35758FB7-9AC5-4552-8A53-C91805E547FA}</a:tableStyleId>
                  </a:tblPr>
                  <a:tblGrid>
                    <a:gridCol w="991923">
                      <a:extLst>
                        <a:ext uri="{9D8B030D-6E8A-4147-A177-3AD203B41FA5}">
                          <a16:colId xmlns:a16="http://schemas.microsoft.com/office/drawing/2014/main" val="1804347935"/>
                        </a:ext>
                      </a:extLst>
                    </a:gridCol>
                    <a:gridCol w="3329143">
                      <a:extLst>
                        <a:ext uri="{9D8B030D-6E8A-4147-A177-3AD203B41FA5}">
                          <a16:colId xmlns:a16="http://schemas.microsoft.com/office/drawing/2014/main" val="348575508"/>
                        </a:ext>
                      </a:extLst>
                    </a:gridCol>
                  </a:tblGrid>
                  <a:tr h="351772">
                    <a:tc>
                      <a:txBody>
                        <a:bodyPr/>
                        <a:lstStyle/>
                        <a:p>
                          <a:r>
                            <a:rPr lang="en-US" sz="1200" dirty="0"/>
                            <a:t>Parameters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Hubbell’s Neutral Model </a:t>
                          </a:r>
                        </a:p>
                      </a:txBody>
                      <a:tcPr/>
                    </a:tc>
                    <a:extLst>
                      <a:ext uri="{0D108BD9-81ED-4DB2-BD59-A6C34878D82A}">
                        <a16:rowId xmlns:a16="http://schemas.microsoft.com/office/drawing/2014/main" val="48011821"/>
                      </a:ext>
                    </a:extLst>
                  </a:tr>
                  <a:tr h="370840">
                    <a:tc>
                      <a:txBody>
                        <a:bodyPr/>
                        <a:lstStyle/>
                        <a:p>
                          <a:r>
                            <a:rPr lang="en-US" sz="1200" dirty="0"/>
                            <a:t>J</a:t>
                          </a:r>
                          <a:endParaRPr lang="en-US" sz="1200" i="1"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Number of individuals in the local community</a:t>
                          </a:r>
                        </a:p>
                      </a:txBody>
                      <a:tcPr/>
                    </a:tc>
                    <a:extLst>
                      <a:ext uri="{0D108BD9-81ED-4DB2-BD59-A6C34878D82A}">
                        <a16:rowId xmlns:a16="http://schemas.microsoft.com/office/drawing/2014/main" val="2601633170"/>
                      </a:ext>
                    </a:extLst>
                  </a:tr>
                  <a:tr h="370840">
                    <a:tc>
                      <a:txBody>
                        <a:bodyPr/>
                        <a:lstStyle/>
                        <a:p>
                          <a:r>
                            <a:rPr lang="en-US" sz="1200" dirty="0"/>
                            <a:t>m</a:t>
                          </a:r>
                          <a:endParaRPr lang="en-US" sz="1200" i="1" dirty="0"/>
                        </a:p>
                      </a:txBody>
                      <a:tcPr/>
                    </a:tc>
                    <a:tc>
                      <a:txBody>
                        <a:bodyPr/>
                        <a:lstStyle/>
                        <a:p>
                          <a:r>
                            <a:rPr lang="en-US" sz="1200" dirty="0"/>
                            <a:t>Immigration rate</a:t>
                          </a:r>
                        </a:p>
                      </a:txBody>
                      <a:tcPr/>
                    </a:tc>
                    <a:extLst>
                      <a:ext uri="{0D108BD9-81ED-4DB2-BD59-A6C34878D82A}">
                        <a16:rowId xmlns:a16="http://schemas.microsoft.com/office/drawing/2014/main" val="1370781592"/>
                      </a:ext>
                    </a:extLst>
                  </a:tr>
                  <a:tr h="370840">
                    <a:tc>
                      <a:txBody>
                        <a:bodyPr/>
                        <a:lstStyle/>
                        <a:p>
                          <a:pPr/>
                          <a14:m>
                            <m:oMathPara xmlns:m="http://schemas.openxmlformats.org/officeDocument/2006/math">
                              <m:oMathParaPr>
                                <m:jc m:val="left"/>
                              </m:oMathParaPr>
                              <m:oMath xmlns:m="http://schemas.openxmlformats.org/officeDocument/2006/math">
                                <m:r>
                                  <a:rPr lang="en-US" sz="1200" smtClean="0"/>
                                  <m:t>𝜃</m:t>
                                </m:r>
                              </m:oMath>
                            </m:oMathPara>
                          </a14:m>
                          <a:endParaRPr lang="en-US" sz="1200" dirty="0"/>
                        </a:p>
                      </a:txBody>
                      <a:tcPr/>
                    </a:tc>
                    <a:tc>
                      <a:txBody>
                        <a:bodyPr/>
                        <a:lstStyle/>
                        <a:p>
                          <a:r>
                            <a:rPr lang="en-US" sz="1200" dirty="0"/>
                            <a:t>Fundamental biodiversity number (calculate using metacommunity </a:t>
                          </a:r>
                          <a:r>
                            <a:rPr lang="en-US" sz="1200" dirty="0" err="1"/>
                            <a:t>Jm</a:t>
                          </a:r>
                          <a:r>
                            <a:rPr lang="en-US" sz="1200" dirty="0"/>
                            <a:t> size and speciation rate v)</a:t>
                          </a:r>
                        </a:p>
                      </a:txBody>
                      <a:tcPr/>
                    </a:tc>
                    <a:extLst>
                      <a:ext uri="{0D108BD9-81ED-4DB2-BD59-A6C34878D82A}">
                        <a16:rowId xmlns:a16="http://schemas.microsoft.com/office/drawing/2014/main" val="1035053847"/>
                      </a:ext>
                    </a:extLst>
                  </a:tr>
                </a:tbl>
              </a:graphicData>
            </a:graphic>
          </p:graphicFrame>
        </mc:Choice>
        <mc:Fallback>
          <p:graphicFrame>
            <p:nvGraphicFramePr>
              <p:cNvPr id="9" name="Table 8">
                <a:extLst>
                  <a:ext uri="{FF2B5EF4-FFF2-40B4-BE49-F238E27FC236}">
                    <a16:creationId xmlns:a16="http://schemas.microsoft.com/office/drawing/2014/main" id="{E925E23C-DA1F-CE41-BE33-95489FA45533}"/>
                  </a:ext>
                </a:extLst>
              </p:cNvPr>
              <p:cNvGraphicFramePr>
                <a:graphicFrameLocks noGrp="1"/>
              </p:cNvGraphicFramePr>
              <p:nvPr>
                <p:extLst>
                  <p:ext uri="{D42A27DB-BD31-4B8C-83A1-F6EECF244321}">
                    <p14:modId xmlns:p14="http://schemas.microsoft.com/office/powerpoint/2010/main" val="431823240"/>
                  </p:ext>
                </p:extLst>
              </p:nvPr>
            </p:nvGraphicFramePr>
            <p:xfrm>
              <a:off x="838199" y="3901401"/>
              <a:ext cx="4321066" cy="1550652"/>
            </p:xfrm>
            <a:graphic>
              <a:graphicData uri="http://schemas.openxmlformats.org/drawingml/2006/table">
                <a:tbl>
                  <a:tblPr firstRow="1" bandRow="1">
                    <a:tableStyleId>{35758FB7-9AC5-4552-8A53-C91805E547FA}</a:tableStyleId>
                  </a:tblPr>
                  <a:tblGrid>
                    <a:gridCol w="991923">
                      <a:extLst>
                        <a:ext uri="{9D8B030D-6E8A-4147-A177-3AD203B41FA5}">
                          <a16:colId xmlns:a16="http://schemas.microsoft.com/office/drawing/2014/main" val="1804347935"/>
                        </a:ext>
                      </a:extLst>
                    </a:gridCol>
                    <a:gridCol w="3329143">
                      <a:extLst>
                        <a:ext uri="{9D8B030D-6E8A-4147-A177-3AD203B41FA5}">
                          <a16:colId xmlns:a16="http://schemas.microsoft.com/office/drawing/2014/main" val="348575508"/>
                        </a:ext>
                      </a:extLst>
                    </a:gridCol>
                  </a:tblGrid>
                  <a:tr h="351772">
                    <a:tc>
                      <a:txBody>
                        <a:bodyPr/>
                        <a:lstStyle/>
                        <a:p>
                          <a:r>
                            <a:rPr lang="en-US" sz="1200" dirty="0"/>
                            <a:t>Parameters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Hubbell’s Neutral Model </a:t>
                          </a:r>
                        </a:p>
                      </a:txBody>
                      <a:tcPr/>
                    </a:tc>
                    <a:extLst>
                      <a:ext uri="{0D108BD9-81ED-4DB2-BD59-A6C34878D82A}">
                        <a16:rowId xmlns:a16="http://schemas.microsoft.com/office/drawing/2014/main" val="48011821"/>
                      </a:ext>
                    </a:extLst>
                  </a:tr>
                  <a:tr h="370840">
                    <a:tc>
                      <a:txBody>
                        <a:bodyPr/>
                        <a:lstStyle/>
                        <a:p>
                          <a:r>
                            <a:rPr lang="en-US" sz="1200" dirty="0"/>
                            <a:t>J</a:t>
                          </a:r>
                          <a:endParaRPr lang="en-US" sz="1200" i="1"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Number of individuals in the local community</a:t>
                          </a:r>
                        </a:p>
                      </a:txBody>
                      <a:tcPr/>
                    </a:tc>
                    <a:extLst>
                      <a:ext uri="{0D108BD9-81ED-4DB2-BD59-A6C34878D82A}">
                        <a16:rowId xmlns:a16="http://schemas.microsoft.com/office/drawing/2014/main" val="2601633170"/>
                      </a:ext>
                    </a:extLst>
                  </a:tr>
                  <a:tr h="370840">
                    <a:tc>
                      <a:txBody>
                        <a:bodyPr/>
                        <a:lstStyle/>
                        <a:p>
                          <a:r>
                            <a:rPr lang="en-US" sz="1200" dirty="0"/>
                            <a:t>m</a:t>
                          </a:r>
                          <a:endParaRPr lang="en-US" sz="1200" i="1" dirty="0"/>
                        </a:p>
                      </a:txBody>
                      <a:tcPr/>
                    </a:tc>
                    <a:tc>
                      <a:txBody>
                        <a:bodyPr/>
                        <a:lstStyle/>
                        <a:p>
                          <a:r>
                            <a:rPr lang="en-US" sz="1200" dirty="0"/>
                            <a:t>Immigration rate</a:t>
                          </a:r>
                        </a:p>
                      </a:txBody>
                      <a:tcPr/>
                    </a:tc>
                    <a:extLst>
                      <a:ext uri="{0D108BD9-81ED-4DB2-BD59-A6C34878D82A}">
                        <a16:rowId xmlns:a16="http://schemas.microsoft.com/office/drawing/2014/main" val="1370781592"/>
                      </a:ext>
                    </a:extLst>
                  </a:tr>
                  <a:tr h="457200">
                    <a:tc>
                      <a:txBody>
                        <a:bodyPr/>
                        <a:lstStyle/>
                        <a:p>
                          <a:endParaRPr lang="en-US"/>
                        </a:p>
                      </a:txBody>
                      <a:tcPr>
                        <a:blipFill>
                          <a:blip r:embed="rId2"/>
                          <a:stretch>
                            <a:fillRect t="-244444" r="-332911" b="-5556"/>
                          </a:stretch>
                        </a:blipFill>
                      </a:tcPr>
                    </a:tc>
                    <a:tc>
                      <a:txBody>
                        <a:bodyPr/>
                        <a:lstStyle/>
                        <a:p>
                          <a:r>
                            <a:rPr lang="en-US" sz="1200" dirty="0"/>
                            <a:t>Fundamental biodiversity number (calculate using metacommunity </a:t>
                          </a:r>
                          <a:r>
                            <a:rPr lang="en-US" sz="1200" dirty="0" err="1"/>
                            <a:t>Jm</a:t>
                          </a:r>
                          <a:r>
                            <a:rPr lang="en-US" sz="1200" dirty="0"/>
                            <a:t> size and speciation rate v)</a:t>
                          </a:r>
                        </a:p>
                      </a:txBody>
                      <a:tcPr/>
                    </a:tc>
                    <a:extLst>
                      <a:ext uri="{0D108BD9-81ED-4DB2-BD59-A6C34878D82A}">
                        <a16:rowId xmlns:a16="http://schemas.microsoft.com/office/drawing/2014/main" val="1035053847"/>
                      </a:ext>
                    </a:extLst>
                  </a:tr>
                </a:tbl>
              </a:graphicData>
            </a:graphic>
          </p:graphicFrame>
        </mc:Fallback>
      </mc:AlternateContent>
      <p:graphicFrame>
        <p:nvGraphicFramePr>
          <p:cNvPr id="12" name="Table 11">
            <a:extLst>
              <a:ext uri="{FF2B5EF4-FFF2-40B4-BE49-F238E27FC236}">
                <a16:creationId xmlns:a16="http://schemas.microsoft.com/office/drawing/2014/main" id="{9EAD179E-C731-4F4D-A5D9-A1F8D00BBDDC}"/>
              </a:ext>
            </a:extLst>
          </p:cNvPr>
          <p:cNvGraphicFramePr>
            <a:graphicFrameLocks noGrp="1"/>
          </p:cNvGraphicFramePr>
          <p:nvPr>
            <p:extLst>
              <p:ext uri="{D42A27DB-BD31-4B8C-83A1-F6EECF244321}">
                <p14:modId xmlns:p14="http://schemas.microsoft.com/office/powerpoint/2010/main" val="1943841779"/>
              </p:ext>
            </p:extLst>
          </p:nvPr>
        </p:nvGraphicFramePr>
        <p:xfrm>
          <a:off x="5223423" y="3652669"/>
          <a:ext cx="6139794" cy="2225040"/>
        </p:xfrm>
        <a:graphic>
          <a:graphicData uri="http://schemas.openxmlformats.org/drawingml/2006/table">
            <a:tbl>
              <a:tblPr firstRow="1" bandRow="1">
                <a:tableStyleId>{35758FB7-9AC5-4552-8A53-C91805E547FA}</a:tableStyleId>
              </a:tblPr>
              <a:tblGrid>
                <a:gridCol w="3069897">
                  <a:extLst>
                    <a:ext uri="{9D8B030D-6E8A-4147-A177-3AD203B41FA5}">
                      <a16:colId xmlns:a16="http://schemas.microsoft.com/office/drawing/2014/main" val="3948236029"/>
                    </a:ext>
                  </a:extLst>
                </a:gridCol>
                <a:gridCol w="3069897">
                  <a:extLst>
                    <a:ext uri="{9D8B030D-6E8A-4147-A177-3AD203B41FA5}">
                      <a16:colId xmlns:a16="http://schemas.microsoft.com/office/drawing/2014/main" val="1326308938"/>
                    </a:ext>
                  </a:extLst>
                </a:gridCol>
              </a:tblGrid>
              <a:tr h="370840">
                <a:tc>
                  <a:txBody>
                    <a:bodyPr/>
                    <a:lstStyle/>
                    <a:p>
                      <a:r>
                        <a:rPr lang="en-US" sz="1200" dirty="0"/>
                        <a:t>Used For</a:t>
                      </a:r>
                    </a:p>
                  </a:txBody>
                  <a:tcPr/>
                </a:tc>
                <a:tc>
                  <a:txBody>
                    <a:bodyPr/>
                    <a:lstStyle/>
                    <a:p>
                      <a:r>
                        <a:rPr lang="en-US" sz="1200" dirty="0"/>
                        <a:t>Fitting Methods</a:t>
                      </a:r>
                    </a:p>
                  </a:txBody>
                  <a:tcPr/>
                </a:tc>
                <a:extLst>
                  <a:ext uri="{0D108BD9-81ED-4DB2-BD59-A6C34878D82A}">
                    <a16:rowId xmlns:a16="http://schemas.microsoft.com/office/drawing/2014/main" val="497392299"/>
                  </a:ext>
                </a:extLst>
              </a:tr>
              <a:tr h="370840">
                <a:tc>
                  <a:txBody>
                    <a:bodyPr/>
                    <a:lstStyle/>
                    <a:p>
                      <a:r>
                        <a:rPr lang="en-US" sz="1200" dirty="0"/>
                        <a:t>Species-abundance distributions</a:t>
                      </a:r>
                    </a:p>
                  </a:txBody>
                  <a:tcPr/>
                </a:tc>
                <a:tc>
                  <a:txBody>
                    <a:bodyPr/>
                    <a:lstStyle/>
                    <a:p>
                      <a:r>
                        <a:rPr lang="en-US" sz="1200" dirty="0"/>
                        <a:t>Sampling theory</a:t>
                      </a:r>
                    </a:p>
                  </a:txBody>
                  <a:tcPr/>
                </a:tc>
                <a:extLst>
                  <a:ext uri="{0D108BD9-81ED-4DB2-BD59-A6C34878D82A}">
                    <a16:rowId xmlns:a16="http://schemas.microsoft.com/office/drawing/2014/main" val="2893341382"/>
                  </a:ext>
                </a:extLst>
              </a:tr>
              <a:tr h="370840">
                <a:tc>
                  <a:txBody>
                    <a:bodyPr/>
                    <a:lstStyle/>
                    <a:p>
                      <a:r>
                        <a:rPr lang="en-US" sz="1200" dirty="0"/>
                        <a:t>Species-area relationships</a:t>
                      </a:r>
                    </a:p>
                  </a:txBody>
                  <a:tcPr/>
                </a:tc>
                <a:tc>
                  <a:txBody>
                    <a:bodyPr/>
                    <a:lstStyle/>
                    <a:p>
                      <a:r>
                        <a:rPr lang="en-US" sz="1200" dirty="0"/>
                        <a:t>Derived analytical forms</a:t>
                      </a:r>
                    </a:p>
                  </a:txBody>
                  <a:tcPr/>
                </a:tc>
                <a:extLst>
                  <a:ext uri="{0D108BD9-81ED-4DB2-BD59-A6C34878D82A}">
                    <a16:rowId xmlns:a16="http://schemas.microsoft.com/office/drawing/2014/main" val="3441775014"/>
                  </a:ext>
                </a:extLst>
              </a:tr>
              <a:tr h="370840">
                <a:tc>
                  <a:txBody>
                    <a:bodyPr/>
                    <a:lstStyle/>
                    <a:p>
                      <a:r>
                        <a:rPr lang="en-US" sz="1200" dirty="0"/>
                        <a:t>Distance-decay relationships</a:t>
                      </a:r>
                    </a:p>
                  </a:txBody>
                  <a:tcPr/>
                </a:tc>
                <a:tc>
                  <a:txBody>
                    <a:bodyPr/>
                    <a:lstStyle/>
                    <a:p>
                      <a:r>
                        <a:rPr lang="en-US" sz="1200" dirty="0"/>
                        <a:t>Likelihood functions</a:t>
                      </a:r>
                    </a:p>
                  </a:txBody>
                  <a:tcPr/>
                </a:tc>
                <a:extLst>
                  <a:ext uri="{0D108BD9-81ED-4DB2-BD59-A6C34878D82A}">
                    <a16:rowId xmlns:a16="http://schemas.microsoft.com/office/drawing/2014/main" val="3514648990"/>
                  </a:ext>
                </a:extLst>
              </a:tr>
              <a:tr h="370840">
                <a:tc>
                  <a:txBody>
                    <a:bodyPr/>
                    <a:lstStyle/>
                    <a:p>
                      <a:r>
                        <a:rPr lang="en-US" sz="1200" dirty="0"/>
                        <a:t>Abundance-occupancy relationships</a:t>
                      </a:r>
                    </a:p>
                  </a:txBody>
                  <a:tcPr/>
                </a:tc>
                <a:tc>
                  <a:txBody>
                    <a:bodyPr/>
                    <a:lstStyle/>
                    <a:p>
                      <a:endParaRPr lang="en-US" sz="1200" dirty="0"/>
                    </a:p>
                  </a:txBody>
                  <a:tcPr/>
                </a:tc>
                <a:extLst>
                  <a:ext uri="{0D108BD9-81ED-4DB2-BD59-A6C34878D82A}">
                    <a16:rowId xmlns:a16="http://schemas.microsoft.com/office/drawing/2014/main" val="3608776778"/>
                  </a:ext>
                </a:extLst>
              </a:tr>
              <a:tr h="370840">
                <a:tc>
                  <a:txBody>
                    <a:bodyPr/>
                    <a:lstStyle/>
                    <a:p>
                      <a:r>
                        <a:rPr lang="en-US" sz="1200" dirty="0"/>
                        <a:t>Species turnover</a:t>
                      </a:r>
                    </a:p>
                  </a:txBody>
                  <a:tcPr/>
                </a:tc>
                <a:tc>
                  <a:txBody>
                    <a:bodyPr/>
                    <a:lstStyle/>
                    <a:p>
                      <a:endParaRPr lang="en-US" sz="1200" dirty="0"/>
                    </a:p>
                  </a:txBody>
                  <a:tcPr/>
                </a:tc>
                <a:extLst>
                  <a:ext uri="{0D108BD9-81ED-4DB2-BD59-A6C34878D82A}">
                    <a16:rowId xmlns:a16="http://schemas.microsoft.com/office/drawing/2014/main" val="3735325236"/>
                  </a:ext>
                </a:extLst>
              </a:tr>
            </a:tbl>
          </a:graphicData>
        </a:graphic>
      </p:graphicFrame>
      <p:sp>
        <p:nvSpPr>
          <p:cNvPr id="13" name="TextBox 12">
            <a:extLst>
              <a:ext uri="{FF2B5EF4-FFF2-40B4-BE49-F238E27FC236}">
                <a16:creationId xmlns:a16="http://schemas.microsoft.com/office/drawing/2014/main" id="{9B24B95E-BF69-144B-94C7-2923BCFE2C7C}"/>
              </a:ext>
            </a:extLst>
          </p:cNvPr>
          <p:cNvSpPr txBox="1"/>
          <p:nvPr/>
        </p:nvSpPr>
        <p:spPr>
          <a:xfrm>
            <a:off x="838199" y="5955086"/>
            <a:ext cx="10525018" cy="757130"/>
          </a:xfrm>
          <a:prstGeom prst="rect">
            <a:avLst/>
          </a:prstGeom>
          <a:solidFill>
            <a:schemeClr val="accent5">
              <a:lumMod val="60000"/>
              <a:lumOff val="40000"/>
            </a:schemeClr>
          </a:solidFill>
        </p:spPr>
        <p:txBody>
          <a:bodyPr wrap="square" rtlCol="0">
            <a:spAutoFit/>
          </a:bodyPr>
          <a:lstStyle/>
          <a:p>
            <a:pPr lvl="0">
              <a:lnSpc>
                <a:spcPct val="90000"/>
              </a:lnSpc>
              <a:spcBef>
                <a:spcPts val="1000"/>
              </a:spcBef>
              <a:buSzPts val="1800"/>
            </a:pPr>
            <a:r>
              <a:rPr lang="en-US" sz="1200" dirty="0"/>
              <a:t>Problems: Sampling effect = uncertainty due to a small sample size, but neutral models developed specifically for studying microbial communities. Microbial studies give contradicting results, some have shown stochastic processes are dominant while others show deterministic processes dominate. Niche and neutral processes have varying degrees of impact for different functional groups within a community (e.g. phototrophic vs heterotrophic) Solved by quantifying niche and neutral processes over a range of spatial/temporal scales, environmental gradients and/or different functional groups.</a:t>
            </a:r>
          </a:p>
        </p:txBody>
      </p:sp>
    </p:spTree>
    <p:extLst>
      <p:ext uri="{BB962C8B-B14F-4D97-AF65-F5344CB8AC3E}">
        <p14:creationId xmlns:p14="http://schemas.microsoft.com/office/powerpoint/2010/main" val="536279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BAF3E-EC92-4A4C-9BDB-BE180DF12EB4}"/>
              </a:ext>
            </a:extLst>
          </p:cNvPr>
          <p:cNvSpPr>
            <a:spLocks noGrp="1"/>
          </p:cNvSpPr>
          <p:nvPr>
            <p:ph type="title"/>
          </p:nvPr>
        </p:nvSpPr>
        <p:spPr>
          <a:solidFill>
            <a:srgbClr val="98FF30"/>
          </a:solidFill>
        </p:spPr>
        <p:txBody>
          <a:bodyPr/>
          <a:lstStyle/>
          <a:p>
            <a:r>
              <a:rPr lang="en-US" dirty="0"/>
              <a:t>Null Model Summary</a:t>
            </a:r>
          </a:p>
        </p:txBody>
      </p:sp>
      <p:graphicFrame>
        <p:nvGraphicFramePr>
          <p:cNvPr id="4" name="Table 3">
            <a:extLst>
              <a:ext uri="{FF2B5EF4-FFF2-40B4-BE49-F238E27FC236}">
                <a16:creationId xmlns:a16="http://schemas.microsoft.com/office/drawing/2014/main" id="{73CAC4C2-FF3C-544F-B16C-B4802E2A4CD9}"/>
              </a:ext>
            </a:extLst>
          </p:cNvPr>
          <p:cNvGraphicFramePr>
            <a:graphicFrameLocks noGrp="1"/>
          </p:cNvGraphicFramePr>
          <p:nvPr/>
        </p:nvGraphicFramePr>
        <p:xfrm>
          <a:off x="838198" y="1812742"/>
          <a:ext cx="10515601" cy="1198880"/>
        </p:xfrm>
        <a:graphic>
          <a:graphicData uri="http://schemas.openxmlformats.org/drawingml/2006/table">
            <a:tbl>
              <a:tblPr firstRow="1" bandRow="1">
                <a:tableStyleId>{08FB837D-C827-4EFA-A057-4D05807E0F7C}</a:tableStyleId>
              </a:tblPr>
              <a:tblGrid>
                <a:gridCol w="10515601">
                  <a:extLst>
                    <a:ext uri="{9D8B030D-6E8A-4147-A177-3AD203B41FA5}">
                      <a16:colId xmlns:a16="http://schemas.microsoft.com/office/drawing/2014/main" val="1163842263"/>
                    </a:ext>
                  </a:extLst>
                </a:gridCol>
              </a:tblGrid>
              <a:tr h="370840">
                <a:tc>
                  <a:txBody>
                    <a:bodyPr/>
                    <a:lstStyle/>
                    <a:p>
                      <a:r>
                        <a:rPr lang="en-US" sz="1200" dirty="0"/>
                        <a:t>Null Model Method</a:t>
                      </a:r>
                    </a:p>
                  </a:txBody>
                  <a:tcPr/>
                </a:tc>
                <a:extLst>
                  <a:ext uri="{0D108BD9-81ED-4DB2-BD59-A6C34878D82A}">
                    <a16:rowId xmlns:a16="http://schemas.microsoft.com/office/drawing/2014/main" val="1270292186"/>
                  </a:ext>
                </a:extLst>
              </a:tr>
              <a:tr h="370840">
                <a:tc>
                  <a:txBody>
                    <a:bodyPr/>
                    <a:lstStyle/>
                    <a:p>
                      <a:r>
                        <a:rPr lang="en-US" sz="1200" dirty="0"/>
                        <a:t>1. How similar/dissimilar are the community structures?</a:t>
                      </a:r>
                    </a:p>
                  </a:txBody>
                  <a:tcPr/>
                </a:tc>
                <a:extLst>
                  <a:ext uri="{0D108BD9-81ED-4DB2-BD59-A6C34878D82A}">
                    <a16:rowId xmlns:a16="http://schemas.microsoft.com/office/drawing/2014/main" val="425655462"/>
                  </a:ext>
                </a:extLst>
              </a:tr>
              <a:tr h="370840">
                <a:tc>
                  <a:txBody>
                    <a:bodyPr/>
                    <a:lstStyle/>
                    <a:p>
                      <a:r>
                        <a:rPr lang="en-US" sz="1200" dirty="0"/>
                        <a:t>2. While keeping species richness, species abundance and the sum of all taxon occurrence frequencies constant, randomly shuffle community data. If observed patterns are not statistically different from null expectations, the community dynamics are stochastic. Otherwise, they are deterministic</a:t>
                      </a:r>
                    </a:p>
                  </a:txBody>
                  <a:tcPr/>
                </a:tc>
                <a:extLst>
                  <a:ext uri="{0D108BD9-81ED-4DB2-BD59-A6C34878D82A}">
                    <a16:rowId xmlns:a16="http://schemas.microsoft.com/office/drawing/2014/main" val="3964036688"/>
                  </a:ext>
                </a:extLst>
              </a:tr>
            </a:tbl>
          </a:graphicData>
        </a:graphic>
      </p:graphicFrame>
      <p:graphicFrame>
        <p:nvGraphicFramePr>
          <p:cNvPr id="6" name="Table 5">
            <a:extLst>
              <a:ext uri="{FF2B5EF4-FFF2-40B4-BE49-F238E27FC236}">
                <a16:creationId xmlns:a16="http://schemas.microsoft.com/office/drawing/2014/main" id="{46783A65-5B61-DA42-8CBC-E6C5FD068CD7}"/>
              </a:ext>
            </a:extLst>
          </p:cNvPr>
          <p:cNvGraphicFramePr>
            <a:graphicFrameLocks noGrp="1"/>
          </p:cNvGraphicFramePr>
          <p:nvPr/>
        </p:nvGraphicFramePr>
        <p:xfrm>
          <a:off x="838198" y="3157341"/>
          <a:ext cx="4406464" cy="1483360"/>
        </p:xfrm>
        <a:graphic>
          <a:graphicData uri="http://schemas.openxmlformats.org/drawingml/2006/table">
            <a:tbl>
              <a:tblPr firstRow="1" bandRow="1">
                <a:tableStyleId>{08FB837D-C827-4EFA-A057-4D05807E0F7C}</a:tableStyleId>
              </a:tblPr>
              <a:tblGrid>
                <a:gridCol w="2850933">
                  <a:extLst>
                    <a:ext uri="{9D8B030D-6E8A-4147-A177-3AD203B41FA5}">
                      <a16:colId xmlns:a16="http://schemas.microsoft.com/office/drawing/2014/main" val="387044533"/>
                    </a:ext>
                  </a:extLst>
                </a:gridCol>
                <a:gridCol w="1555531">
                  <a:extLst>
                    <a:ext uri="{9D8B030D-6E8A-4147-A177-3AD203B41FA5}">
                      <a16:colId xmlns:a16="http://schemas.microsoft.com/office/drawing/2014/main" val="1682041336"/>
                    </a:ext>
                  </a:extLst>
                </a:gridCol>
              </a:tblGrid>
              <a:tr h="370840">
                <a:tc>
                  <a:txBody>
                    <a:bodyPr/>
                    <a:lstStyle/>
                    <a:p>
                      <a:r>
                        <a:rPr lang="en-US" sz="1200" dirty="0"/>
                        <a:t>Data Types</a:t>
                      </a:r>
                    </a:p>
                  </a:txBody>
                  <a:tcPr/>
                </a:tc>
                <a:tc>
                  <a:txBody>
                    <a:bodyPr/>
                    <a:lstStyle/>
                    <a:p>
                      <a:endParaRPr lang="en-US" sz="1200" dirty="0"/>
                    </a:p>
                  </a:txBody>
                  <a:tcPr/>
                </a:tc>
                <a:extLst>
                  <a:ext uri="{0D108BD9-81ED-4DB2-BD59-A6C34878D82A}">
                    <a16:rowId xmlns:a16="http://schemas.microsoft.com/office/drawing/2014/main" val="393410529"/>
                  </a:ext>
                </a:extLst>
              </a:tr>
              <a:tr h="370840">
                <a:tc>
                  <a:txBody>
                    <a:bodyPr/>
                    <a:lstStyle/>
                    <a:p>
                      <a:r>
                        <a:rPr lang="en-US" sz="1200" dirty="0"/>
                        <a:t>Incidence (presence/absence)</a:t>
                      </a:r>
                    </a:p>
                  </a:txBody>
                  <a:tcPr/>
                </a:tc>
                <a:tc>
                  <a:txBody>
                    <a:bodyPr/>
                    <a:lstStyle/>
                    <a:p>
                      <a:r>
                        <a:rPr lang="en-US" sz="1200" dirty="0"/>
                        <a:t>Phylogenetic</a:t>
                      </a:r>
                    </a:p>
                  </a:txBody>
                  <a:tcPr/>
                </a:tc>
                <a:extLst>
                  <a:ext uri="{0D108BD9-81ED-4DB2-BD59-A6C34878D82A}">
                    <a16:rowId xmlns:a16="http://schemas.microsoft.com/office/drawing/2014/main" val="1905743707"/>
                  </a:ext>
                </a:extLst>
              </a:tr>
              <a:tr h="370840">
                <a:tc>
                  <a:txBody>
                    <a:bodyPr/>
                    <a:lstStyle/>
                    <a:p>
                      <a:r>
                        <a:rPr lang="en-US" sz="1200" dirty="0"/>
                        <a:t>Abundance</a:t>
                      </a:r>
                    </a:p>
                  </a:txBody>
                  <a:tcPr/>
                </a:tc>
                <a:tc>
                  <a:txBody>
                    <a:bodyPr/>
                    <a:lstStyle/>
                    <a:p>
                      <a:r>
                        <a:rPr lang="en-US" sz="1200" dirty="0"/>
                        <a:t>Taxonomic</a:t>
                      </a:r>
                    </a:p>
                  </a:txBody>
                  <a:tcPr/>
                </a:tc>
                <a:extLst>
                  <a:ext uri="{0D108BD9-81ED-4DB2-BD59-A6C34878D82A}">
                    <a16:rowId xmlns:a16="http://schemas.microsoft.com/office/drawing/2014/main" val="2726699404"/>
                  </a:ext>
                </a:extLst>
              </a:tr>
              <a:tr h="370840">
                <a:tc>
                  <a:txBody>
                    <a:bodyPr/>
                    <a:lstStyle/>
                    <a:p>
                      <a:endParaRPr lang="en-US" sz="1200" dirty="0"/>
                    </a:p>
                  </a:txBody>
                  <a:tcPr/>
                </a:tc>
                <a:tc>
                  <a:txBody>
                    <a:bodyPr/>
                    <a:lstStyle/>
                    <a:p>
                      <a:r>
                        <a:rPr lang="en-US" sz="1200" dirty="0"/>
                        <a:t>Functional</a:t>
                      </a:r>
                    </a:p>
                  </a:txBody>
                  <a:tcPr/>
                </a:tc>
                <a:extLst>
                  <a:ext uri="{0D108BD9-81ED-4DB2-BD59-A6C34878D82A}">
                    <a16:rowId xmlns:a16="http://schemas.microsoft.com/office/drawing/2014/main" val="4256575114"/>
                  </a:ext>
                </a:extLst>
              </a:tr>
            </a:tbl>
          </a:graphicData>
        </a:graphic>
      </p:graphicFrame>
      <p:sp>
        <p:nvSpPr>
          <p:cNvPr id="7" name="TextBox 6">
            <a:extLst>
              <a:ext uri="{FF2B5EF4-FFF2-40B4-BE49-F238E27FC236}">
                <a16:creationId xmlns:a16="http://schemas.microsoft.com/office/drawing/2014/main" id="{1653927E-7E4E-DA48-BCD4-EE50BF7DE005}"/>
              </a:ext>
            </a:extLst>
          </p:cNvPr>
          <p:cNvSpPr txBox="1"/>
          <p:nvPr/>
        </p:nvSpPr>
        <p:spPr>
          <a:xfrm>
            <a:off x="5370786" y="3157341"/>
            <a:ext cx="5983013" cy="2492990"/>
          </a:xfrm>
          <a:prstGeom prst="rect">
            <a:avLst/>
          </a:prstGeom>
          <a:solidFill>
            <a:srgbClr val="98FF30"/>
          </a:solidFill>
        </p:spPr>
        <p:txBody>
          <a:bodyPr wrap="square" rtlCol="0">
            <a:spAutoFit/>
          </a:bodyPr>
          <a:lstStyle/>
          <a:p>
            <a:pPr marL="114300" lvl="0">
              <a:spcBef>
                <a:spcPts val="1000"/>
              </a:spcBef>
              <a:buSzPts val="1800"/>
            </a:pPr>
            <a:r>
              <a:rPr lang="en-US" sz="1200" dirty="0"/>
              <a:t>Problems: Developing randomization algorithms is difficult because results are sensitive to method. Too few constraints = so random that it is easy for the null expectation to be different from the observed pattern. Too many constraints = result could be close to the observed pattern. Null model analysis not well suited for large data sets due to false-positive signiﬁcant pairs and data autocorrelation. The choice of the appropriate regional species pool, should not be too small or too large. The majority of null modeling approaches have been developed based on incidence data. Abundance data contain more information on species associations, they could be more suitable for inferring the underlying community assembly mechanisms. Inclusion of abundance data in null model randomization is complicated. Null model analysis assumes strong interactions = communities that are signiﬁcantly different from null expectations. However, strong interactions, when combined with a variable immigration history, could produce an apparently random community structure. </a:t>
            </a:r>
          </a:p>
        </p:txBody>
      </p:sp>
      <p:pic>
        <p:nvPicPr>
          <p:cNvPr id="8" name="Picture 7">
            <a:extLst>
              <a:ext uri="{FF2B5EF4-FFF2-40B4-BE49-F238E27FC236}">
                <a16:creationId xmlns:a16="http://schemas.microsoft.com/office/drawing/2014/main" id="{AFA69C28-26A7-A943-A9E2-F969C5F0E0FC}"/>
              </a:ext>
            </a:extLst>
          </p:cNvPr>
          <p:cNvPicPr>
            <a:picLocks noChangeAspect="1"/>
          </p:cNvPicPr>
          <p:nvPr/>
        </p:nvPicPr>
        <p:blipFill>
          <a:blip r:embed="rId2"/>
          <a:stretch>
            <a:fillRect/>
          </a:stretch>
        </p:blipFill>
        <p:spPr>
          <a:xfrm>
            <a:off x="838198" y="4640701"/>
            <a:ext cx="4226244" cy="2000025"/>
          </a:xfrm>
          <a:prstGeom prst="rect">
            <a:avLst/>
          </a:prstGeom>
        </p:spPr>
      </p:pic>
      <p:sp>
        <p:nvSpPr>
          <p:cNvPr id="9" name="TextBox 8">
            <a:extLst>
              <a:ext uri="{FF2B5EF4-FFF2-40B4-BE49-F238E27FC236}">
                <a16:creationId xmlns:a16="http://schemas.microsoft.com/office/drawing/2014/main" id="{E3EA1E60-FD8D-4D46-9384-93BE478690B0}"/>
              </a:ext>
            </a:extLst>
          </p:cNvPr>
          <p:cNvSpPr txBox="1"/>
          <p:nvPr/>
        </p:nvSpPr>
        <p:spPr>
          <a:xfrm>
            <a:off x="5370786" y="5796050"/>
            <a:ext cx="5983013" cy="646331"/>
          </a:xfrm>
          <a:prstGeom prst="rect">
            <a:avLst/>
          </a:prstGeom>
          <a:solidFill>
            <a:srgbClr val="98FF30"/>
          </a:solidFill>
        </p:spPr>
        <p:txBody>
          <a:bodyPr wrap="square" rtlCol="0">
            <a:spAutoFit/>
          </a:bodyPr>
          <a:lstStyle/>
          <a:p>
            <a:r>
              <a:rPr lang="en-US" sz="1200" dirty="0"/>
              <a:t>&lt; Null-model-based quantitative framework for community assembly processes. Used beta-nearest taxon index and </a:t>
            </a:r>
            <a:r>
              <a:rPr lang="en-US" sz="1200" dirty="0" err="1"/>
              <a:t>Raup</a:t>
            </a:r>
            <a:r>
              <a:rPr lang="en-US" sz="1200" dirty="0"/>
              <a:t>-Crick based metric for parsing the influence of deterministic and stochastic processes using phylogenetic and taxonomic data.</a:t>
            </a:r>
          </a:p>
        </p:txBody>
      </p:sp>
    </p:spTree>
    <p:extLst>
      <p:ext uri="{BB962C8B-B14F-4D97-AF65-F5344CB8AC3E}">
        <p14:creationId xmlns:p14="http://schemas.microsoft.com/office/powerpoint/2010/main" val="13908704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859</Words>
  <Application>Microsoft Macintosh PowerPoint</Application>
  <PresentationFormat>Widescreen</PresentationFormat>
  <Paragraphs>74</Paragraphs>
  <Slides>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Modelling Neutral and Non-Neutral Mechanisms of Community Assembly</vt:lpstr>
      <vt:lpstr>Inferring Ecological Stochasticity (adapted from Zhou, 2017)</vt:lpstr>
      <vt:lpstr>Multivariate Analysis Summary</vt:lpstr>
      <vt:lpstr>Neutral Model Summary</vt:lpstr>
      <vt:lpstr>Null Model Summary</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Modelling Neutral and Non-Neutral Mechanisms of Community Assembly</dc:title>
  <dc:creator>Amy Bo Tinky Solman</dc:creator>
  <cp:lastModifiedBy>Amy Bo Tinky Solman</cp:lastModifiedBy>
  <cp:revision>2</cp:revision>
  <dcterms:created xsi:type="dcterms:W3CDTF">2020-11-27T15:41:00Z</dcterms:created>
  <dcterms:modified xsi:type="dcterms:W3CDTF">2020-11-27T15:44:02Z</dcterms:modified>
</cp:coreProperties>
</file>